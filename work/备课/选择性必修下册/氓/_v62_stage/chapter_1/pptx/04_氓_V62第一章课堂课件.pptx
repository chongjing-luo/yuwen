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【V6.2页ID】C101｜第一章｜两个人怎样走近婚事｜4分钟
【本页不可替代的意义】
让第一章先作为一段完整相遇进入，并由每名学生辨认两个人物的行动主体，形成后续细读的真实初稿
【删除本页会失去什么】
没有整章先行，后面三个意义句群会重新退化为词义卡，学生也没有可以修订的初始行动轮廓
【相邻合并测试】
不能并入C102：C101必须先保持全章未知和完整声音；若首屏即突出贸丝与谋，初读注意会被第一处转折预先收窄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【场面与走位】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承接、发卡与教师完整听读：55秒；学生完整朗读并圈划：75秒；同桌核对行动主体：45秒；回诗修订与两条现场分享：45秒；教师引用原话收束并转场：20秒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【听者同步任务】
同桌发言时，只检查行动主体；全班分享时，核对自己是否漏掉同一原词。
【证据位置】
03A第一章初读卡及教材第一章旁批
【回到人物和故事】
到这一页末，学生能够说出男子来、女子送、两人谈婚期的大致轮廓，但仍保留词义和判断问题
【后续真实调用】
C102—C104逐段调用圈划初稿；C105用同一张初读卡检验人物行动能否重新讲成故事
【自然切页句】
先看第一处：诗让我们先看见他做什么，女子随后又告诉我们什么？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【V6.2页ID】C102｜抱布而来，是为了什么？｜6分钟
【本页不可替代的意义】
让学生从重复的‘贸丝’和转折字‘匪’读出诗句怎样由眼前动作转到婚事来意，并守住此刻证据边界
【删除本页会失去什么】
若把两句分开或直接给译文，学生会失去‘贸丝—匪—谋’形成的叙事转弯，也无法建立初见判断的证据边界
【相邻合并测试】
旧两页可以无损合并为本页；但不能再并入C103，因为贸丝到谋婚是来意转折，送涉至处理的是女子行动的空间长度，学习困难和感官动作不同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【场面与走位】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承接、发单与读题：30秒；个人自然口译并圈转折字：70秒；双人分读与互相核对：50秒；学生分享及教师定点释义：95秒；个人修订和边界处理：65秒；回诗重读、故事回接与转场：50秒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【听者同步任务】
分读时听清动作与来意是否分开；全班分享时核对自己的‘匪’是否真正承担了转折。
【证据位置】
03B第一章细读单C102区域及教材词旁批注
【回到人物和故事】
男子以贸丝的样子走近，女子告诉我们，他真正来同她商量婚事；故事从一次带着转折的接近开始
【后续真实调用】
C105旁白必须讲清男子怎样来；全文回看第一章时重新比较出场印象与后来行为，但不把推断冒充明写
【自然切页句】
来意已经说清。接下来，诗不写一句‘她很投入’，只让三个动词把一段路铺开。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【V6.2页ID】C103｜她把他送了多远？｜5分钟
【本页不可替代的意义】
让学生用身体或笔迹使送、涉、至连续发生，获得女子主动远送的空间经验，再把距离感翻回原句和人物行动
【删除本页会失去什么】
若只口译地名或并入对话页，送、涉、至的动作长度会消失，学生只能获得‘女子送他’这一条扁平信息
【相邻合并测试】
不能并入C102或C104：本页唯一价值来自身体/笔迹形成空间连续性，前后两页分别处理来意转折和完整对话，感官任务不可互换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【场面与走位】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承接原句与说明低虚构行线：30秒；个人手指移动和笔迹连线：60秒；同桌互说并核对三个动作：45秒；教师定点释义和文本边界：65秒；学生自然话分享与个人修订：55秒；回诗重读、故事回接与转场：45秒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【听者同步任务】
只听人物主体和送、涉、至三个动作是否齐全，不评价画得是否好看。
【证据位置】
03B第一章细读单C103区域
【回到人物和故事】
女子不只送别，还渡过淇水，一直把男子送到顿丘；她的投入先被诗写成了一段路
【后续真实调用】
C105章末旁白必须讲清女子怎样回应；全文回看第一章时用这段路讨论投入，但不把投入写成后来伤害的责任
【自然切页句】
她一直送到顿丘，婚事却没有当场定下。接下来，看她怎样把话继续说下去。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【V6.2页ID】C104｜她怎样把婚事继续说下去？｜7分钟
【本页不可替代的意义】
让学生把两句作为一轮完整话语自然口译并读出三层言语行动，理解婚事怎样暂缓又被约定，同时保存‘无怒’的解释边界
【删除本页会失去什么】
若把两句拆成两个页面或只讲词义，学生会失去一轮完整对话的声音和婚事推进，也会误把‘良媒’、‘无怒’、‘秋期’存成三条孤立知识
【相邻合并测试】
旧N017、N018应合并为本页；但不能再并入C105，因为本页负责生成和校准对话声音，C105负责撤去局部支架后重建整章，两者证据状态不同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【场面与走位】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承接、完整连读与交代问题：35秒；个人自然口译：90秒；双人读听轮换、反馈和改读：85秒；学生分享与教师定点释义：105秒；个人修订及无怒边界：65秒；再次合读、故事回接与转场：40秒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【听者同步任务】
在教师归纳前，只指出哪一处意思听清或没听清，并回到相应原词；不拿预设分类给同伴判分。
【证据位置】
03B第一章细读单C104区域及教材‘无怒’旁问号
【回到人物和故事】
婚事没有在顿丘立刻完成，却也没有被拒绝；女子解释条件、安抚对方，最后把秋天定作婚期
【后续真实调用】
C105旁白要讲清婚事怎样暂缓又约定；第五章C503固定翻回‘无怒’，用后来事实重新判断它值得警惕但仍不足以证明什么
【自然切页句】
来、送、解释、安抚、约期都已经发生。现在把局部提示收起来，听一听第一章能不能重新成为一段故事。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【V6.2页ID】C105｜再读第一章，把这场相遇讲完整｜5分钟
【本页不可替代的意义】
用一次完整重读和合书自然旁白检验局部理解能否重新成为故事，并生成后续各章真实调用的故事轨道第一格
【删除本页会失去什么】
没有撤去局部支架后的整章重建，前四页的词义、空间和声音仍可能彼此分散，也无法为第二章提供真实学生故事输入
【相邻合并测试】
旧N019、N021及N020必要部分已合并为本页；不能再拆成排序、档案和旁白三页，因为三者检验的是同一整章重建，拆开会重复程序和故事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【场面与走位】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【听者同步任务】
只核对来、送、婚事暂缓与约定三处是否连成故事；全班听章意时比较措辞，不抄教师统一答案。
【证据位置】
03B第一章细读单C105区域和六章故事轨道第一格
【回到人物和故事】
第一章完整写出男子带着贸丝动作来谋婚、女子远送并说明媒妁条件、安抚男子，最后约定秋期
【后续真实调用】
C201开头直接打开六章故事轨道第一格；第六章C606将本格汇入六章母轨道，全文S01再用它重建女子完整经历
【自然切页句】
第一格先留在这里。下一章，约定之后的日子从等待复关开始。
【声明边界】桌面排演稿；不声称真实学生已经理解、参与或学会。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078992"/>
            <a:ext cx="10588752" cy="4005072"/>
          </a:xfrm>
          <a:prstGeom prst="roundRect">
            <a:avLst>
              <a:gd name="adj" fmla="val 1142"/>
            </a:avLst>
          </a:prstGeom>
          <a:solidFill>
            <a:srgbClr val="FFFCF7"/>
          </a:solidFill>
          <a:ln w="13335">
            <a:solidFill>
              <a:srgbClr val="E5DA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463040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152144" y="2093976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152144" y="2724912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152144" y="3355848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152144" y="3986784"/>
            <a:ext cx="9893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1" name="Shape 9"/>
          <p:cNvSpPr/>
          <p:nvPr/>
        </p:nvSpPr>
        <p:spPr>
          <a:xfrm>
            <a:off x="914400" y="5532120"/>
            <a:ext cx="164592" cy="164592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4681728" y="5532120"/>
            <a:ext cx="164592" cy="164592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54315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划一划她做的事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909560" y="543153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同桌只核对：这是谁做的？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3474720" y="608990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暂时不懂的词，先留一个问号。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抱布而来，是为了什么？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22960" y="1170432"/>
            <a:ext cx="10543032" cy="2103120"/>
          </a:xfrm>
          <a:prstGeom prst="roundRect">
            <a:avLst>
              <a:gd name="adj" fmla="val 2174"/>
            </a:avLst>
          </a:prstGeom>
          <a:solidFill>
            <a:srgbClr val="38312A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527048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115568" y="2359152"/>
            <a:ext cx="9957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E372E"/>
          </a:solidFill>
          <a:ln w="13970">
            <a:solidFill>
              <a:srgbClr val="AC8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诗先让我们看见什么？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4498848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303A3D"/>
          </a:solidFill>
          <a:ln w="13970">
            <a:solidFill>
              <a:srgbClr val="456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DDE9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女子随后告诉我们什么？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8174736" y="3977640"/>
            <a:ext cx="3218688" cy="1170432"/>
          </a:xfrm>
          <a:prstGeom prst="roundRect">
            <a:avLst>
              <a:gd name="adj" fmla="val 3906"/>
            </a:avLst>
          </a:prstGeom>
          <a:solidFill>
            <a:srgbClr val="40302D"/>
          </a:solidFill>
          <a:ln w="13970">
            <a:solidFill>
              <a:srgbClr val="9C45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4270248"/>
            <a:ext cx="30358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F0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哪个字，让话转了弯？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3017520" y="5815584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5DAC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先说成自己的自然话，再回到原词。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22960" y="120700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188720" y="2176272"/>
            <a:ext cx="9811512" cy="0"/>
          </a:xfrm>
          <a:prstGeom prst="line">
            <a:avLst/>
          </a:prstGeom>
          <a:noFill/>
          <a:ln w="12700">
            <a:solidFill>
              <a:srgbClr val="D2C1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743200"/>
            <a:ext cx="2697480" cy="2697480"/>
          </a:xfrm>
          <a:prstGeom prst="ellipse">
            <a:avLst/>
          </a:prstGeom>
          <a:solidFill>
            <a:srgbClr val="EFE4D2"/>
          </a:solidFill>
          <a:ln w="12700">
            <a:solidFill>
              <a:srgbClr val="EFE4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4745736" y="2743200"/>
            <a:ext cx="2697480" cy="2697480"/>
          </a:xfrm>
          <a:prstGeom prst="ellipse">
            <a:avLst/>
          </a:prstGeom>
          <a:solidFill>
            <a:srgbClr val="DDE9E9"/>
          </a:solidFill>
          <a:ln w="12700">
            <a:solidFill>
              <a:srgbClr val="DDE9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456F7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涉</a:t>
            </a:r>
            <a:endParaRPr lang="en-US" sz="4900" dirty="0"/>
          </a:p>
        </p:txBody>
      </p:sp>
      <p:sp>
        <p:nvSpPr>
          <p:cNvPr id="11" name="Shape 9"/>
          <p:cNvSpPr/>
          <p:nvPr/>
        </p:nvSpPr>
        <p:spPr>
          <a:xfrm>
            <a:off x="8257032" y="2743200"/>
            <a:ext cx="2697480" cy="2697480"/>
          </a:xfrm>
          <a:prstGeom prst="ellipse">
            <a:avLst/>
          </a:prstGeom>
          <a:solidFill>
            <a:srgbClr val="F0DDD5"/>
          </a:solidFill>
          <a:ln w="12700">
            <a:solidFill>
              <a:srgbClr val="F0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3374136"/>
            <a:ext cx="2697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9C453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至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2880360" y="5715000"/>
            <a:ext cx="6428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用这三个字，把这段路说出来。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241F"/>
          </a:solidFill>
          <a:ln w="12700">
            <a:solidFill>
              <a:srgbClr val="2924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04672" y="1143000"/>
            <a:ext cx="10579608" cy="2011680"/>
          </a:xfrm>
          <a:prstGeom prst="roundRect">
            <a:avLst>
              <a:gd name="adj" fmla="val 2273"/>
            </a:avLst>
          </a:prstGeom>
          <a:solidFill>
            <a:srgbClr val="FFFCF7"/>
          </a:solidFill>
          <a:ln w="13335">
            <a:solidFill>
              <a:srgbClr val="D2C1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51560" y="2295144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194560" y="3547872"/>
            <a:ext cx="7799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这四小句，各在做什么？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515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DDE9E9"/>
          </a:solidFill>
          <a:ln w="13335">
            <a:solidFill>
              <a:srgbClr val="45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6F7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64208" y="4626864"/>
            <a:ext cx="1353312" cy="0"/>
          </a:xfrm>
          <a:prstGeom prst="line">
            <a:avLst/>
          </a:prstGeom>
          <a:noFill/>
          <a:ln w="13970">
            <a:solidFill>
              <a:srgbClr val="456F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FE4D2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4626864"/>
            <a:ext cx="1353312" cy="0"/>
          </a:xfrm>
          <a:prstGeom prst="line">
            <a:avLst/>
          </a:prstGeom>
          <a:noFill/>
          <a:ln w="13970">
            <a:solidFill>
              <a:srgbClr val="AC8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E1E7D9"/>
          </a:solidFill>
          <a:ln w="13335">
            <a:solidFill>
              <a:srgbClr val="6477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75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50608" y="4626864"/>
            <a:ext cx="1353312" cy="0"/>
          </a:xfrm>
          <a:prstGeom prst="line">
            <a:avLst/>
          </a:prstGeom>
          <a:noFill/>
          <a:ln w="13970">
            <a:solidFill>
              <a:srgbClr val="6477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4233672"/>
            <a:ext cx="2340864" cy="676656"/>
          </a:xfrm>
          <a:prstGeom prst="roundRect">
            <a:avLst>
              <a:gd name="adj" fmla="val 6757"/>
            </a:avLst>
          </a:prstGeom>
          <a:solidFill>
            <a:srgbClr val="F0DDD5"/>
          </a:solidFill>
          <a:ln w="13335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44348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C45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893808" y="4626864"/>
            <a:ext cx="1353312" cy="0"/>
          </a:xfrm>
          <a:prstGeom prst="line">
            <a:avLst/>
          </a:prstGeom>
          <a:noFill/>
          <a:ln w="13970">
            <a:solidFill>
              <a:srgbClr val="9C45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5184648"/>
            <a:ext cx="7891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自己先分，再把相连的意思合起来。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37560" y="5797296"/>
            <a:ext cx="5513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一人读，一人听；交换，再读。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47472"/>
            <a:ext cx="9464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再读第一章，把这场相遇讲完整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857232" y="4572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50" b="1" dirty="0">
                <a:solidFill>
                  <a:srgbClr val="F6F0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　1 / 6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13232" y="1097280"/>
            <a:ext cx="7040880" cy="4434840"/>
          </a:xfrm>
          <a:prstGeom prst="roundRect">
            <a:avLst>
              <a:gd name="adj" fmla="val 1031"/>
            </a:avLst>
          </a:prstGeom>
          <a:solidFill>
            <a:srgbClr val="38312A"/>
          </a:solidFill>
          <a:ln w="13335">
            <a:solidFill>
              <a:srgbClr val="AC8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8132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41832" y="218541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41832" y="288950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941832" y="35935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41832" y="4297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8119872" y="1353312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C855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合书讲30秒</a:t>
            </a:r>
            <a:endParaRPr lang="en-US" sz="3100" dirty="0"/>
          </a:p>
        </p:txBody>
      </p:sp>
      <p:sp>
        <p:nvSpPr>
          <p:cNvPr id="12" name="Shape 10"/>
          <p:cNvSpPr/>
          <p:nvPr/>
        </p:nvSpPr>
        <p:spPr>
          <a:xfrm>
            <a:off x="8156448" y="2331720"/>
            <a:ext cx="329184" cy="329184"/>
          </a:xfrm>
          <a:prstGeom prst="ellipse">
            <a:avLst/>
          </a:prstGeom>
          <a:solidFill>
            <a:srgbClr val="AC8550"/>
          </a:solidFill>
          <a:ln w="12700">
            <a:solidFill>
              <a:srgbClr val="AC8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236829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05088" y="22585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他怎样来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156448" y="3136392"/>
            <a:ext cx="329184" cy="329184"/>
          </a:xfrm>
          <a:prstGeom prst="ellipse">
            <a:avLst/>
          </a:prstGeom>
          <a:solidFill>
            <a:srgbClr val="456F7C"/>
          </a:solidFill>
          <a:ln w="12700">
            <a:solidFill>
              <a:srgbClr val="456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317296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05088" y="30632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她怎样送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56448" y="3941064"/>
            <a:ext cx="329184" cy="329184"/>
          </a:xfrm>
          <a:prstGeom prst="ellipse">
            <a:avLst/>
          </a:prstGeom>
          <a:solidFill>
            <a:srgbClr val="9C4538"/>
          </a:solidFill>
          <a:ln w="12700">
            <a:solidFill>
              <a:srgbClr val="9C45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644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05088" y="3867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6F0E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婚事怎样暂缓又约定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119872" y="49377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dirty="0">
                <a:solidFill>
                  <a:srgbClr val="DDE9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听者只补一个真正遗漏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713232" y="58978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1783080" y="6163056"/>
            <a:ext cx="1124712" cy="0"/>
          </a:xfrm>
          <a:prstGeom prst="line">
            <a:avLst/>
          </a:prstGeom>
          <a:noFill/>
          <a:ln w="25400">
            <a:solidFill>
              <a:srgbClr val="AC8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8541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C85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64992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7328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46904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28816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10728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13064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92640" y="6163056"/>
            <a:ext cx="1124712" cy="0"/>
          </a:xfrm>
          <a:prstGeom prst="line">
            <a:avLst/>
          </a:prstGeom>
          <a:noFill/>
          <a:ln w="12700">
            <a:solidFill>
              <a:srgbClr val="766D63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94976" y="581558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66D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《氓》V6.2第一章课堂课件</dc:title>
  <dc:subject>《氓》V6.2第一章逐句讲读</dc:subject>
  <dc:creator>语文备课系统</dc:creator>
  <cp:lastModifiedBy>语文备课系统</cp:lastModifiedBy>
  <cp:revision>1</cp:revision>
  <dcterms:created xsi:type="dcterms:W3CDTF">2026-08-13T17:02:20Z</dcterms:created>
  <dcterms:modified xsi:type="dcterms:W3CDTF">2026-08-13T17:02:20Z</dcterms:modified>
</cp:coreProperties>
</file>
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【V6.5页ID】O01｜物理页1｜4分钟
【页面功能】
从小学至高中广泛唤回爱情、婚姻文学，让每个人先拥有一条可说的旧经验。
【学生主动作】
检索篇名和一句故事；写它谈到怎样的相遇或共同生活
【可见产物】
个人文学回忆单
【首次后用】
O02立即读取
【删除损失】
删除后快想者会垄断发言
【主视觉职责】
开放的个人文学记忆
【插图资格】
无
【教师逐字稿】
今天先不急着翻到新课。请从小学一直想到高中：读过的语文课文、小说或整本书里，哪些作品写过爱情，哪些写过婚姻？先写篇名，再用一句平常话把故事唤回来；最后添几个词：它让你想到爱情或婚姻里的什么。这里不需要先下一个很深的结论，也没有规定你必须想到哪一种主题；你真正想到什么，就先写什么。先写一篇；还能想起，就继续往下写。现在教室安静两分半。（教师退到侧后方巡视，不报篇名。）一时想不起，可以翻一翻本班读过的篇目目录。只记得情节，也先把情节留下，下一页听同学怎么说以后，再补最后一栏。
【真实场景】
屏幕只保留三列含义和开放行线；教师在说明结束后停止说话，沿后排缓慢巡视，不替学生列作品，也不把口头示范词写上屏幕。
（只发03A爱情与婚姻文学回忆单）
（静默150秒）
（最后30秒只向空白者指明目录位置）
（示意全班保留未完成处）
【时间盒】
说明篇名、故事和朴素主题：45秒；个人静默检索：150秒；开放目录恢复与收束：45秒
【现场分支】
想不起：指向篇目目录；仍空白者保留空白，下一页先听同伴，再把自己真实记得的一处补回来。
写影视作品：轻声问有没有读过它的文学原作；能定位就写原作，不能定位先放在纸边，不公开否定。
只写情节：轻声追问‘这段故事让你想到爱情或婚姻里的什么’，允许只添一个自然词，不要求论证。
【听者任务】
此页没有听者任务；每个人先保护自己的回忆时间。
【证据位置】
O01文学回忆单
【自然切页句】
每个人手里先有了一点自己的文学记忆。现在先说给身边的人听，再把不同的故事带到全班。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【V6.5页ID】O02｜物理页2｜7分钟
【页面功能】
让每个人低压说出一次，并让全班扩展爱情与婚姻文学版图。
【学生主动作】
同桌各说一篇；四人合并差异并向全班贡献增量
【可见产物】
班级文学长卷
【首次后用】
O03引用学生原话
【删除损失】
删除后全员声音或公共广度至少失去一项
【主视觉职责】
现场板书文学长卷
【插图资格】
无
【教师逐字稿】
先和同桌互相说一遍：‘《什么》让我想到爱情或婚姻中的什么。’说的人可以看自己的纸，听的人只在没听清时问一句：‘你想到的是什么？’一分钟后交换。（等待。）现在前后四个人一起听一圈，每个人都把自己的一篇说完。你们不需要选最好的一篇，只留下两三条彼此不同的篇目或说法。（教师巡视，确认沉默者也有低压入口。）接下来我们把教室里的文学版图展开。每组只带来一条：可以是黑板上还没有的篇目，也可以是同一篇新的主题。请先说篇名，再读你们保留的那句自然话。我只在黑板写篇名和你们真正说出的关键词，此刻不分类。（按组收集约八至十二条，遇到重复时请该组换用保留的另一条；没有新增者如实说‘我们先听记’。）听见自己没想到的作品或说法，请在个人清单下补一项。现在安静看黑板：它不是老师列出的书单，是刚才从你们的话里长出来的。
【真实场景】
同桌和四人组同时开口，教师在教室中间巡视；公共阶段教师回到黑板侧面，只记录篇名和学生主题关键词。屏幕始终只保留一句表达支架，不显示分组编号或管理流程。
（同桌各说一遍）
（四人组每人说一篇并保留两三条不同材料）
（各组向全班贡献一条新篇目或不同主题）
（教师同步记录篇名与学生关键词）
（全班静看黑板并个人补写）
【时间盒】
说明句式与同桌互说：70秒；四人组每人完整说一篇：117秒；各组贡献与教师准确记录：186秒；静看黑板并完成个人补写：47秒
【现场分支】
完全重复：小组内允许保留；公共阶段改报另一条材料。若确无新增，小组只听记，不制造差异。
主题太长：教师只问‘最想留下哪几个词’，由学生自己把句子收短后再记。
暂时空白：先复述同伴的一篇，再说自己真实记得的一个情节；同伴可追问它让人想到什么，但不替他编结论。
少数人包办：四人组按自然座位依次说一轮；公共贡献可以由未在前面开口的人读出本组句子。
【听者任务】
小组内听清每个人的作品和主题；公共阶段只补一项自己原先没有想到的篇目或说法。
【证据位置】
黑板文学长卷；O01回忆单的新增栏
【自然切页句】
这些故事先留在黑板上。现在由我沿着你们真正说过的话，看看这张文学版图上出现了哪些方向。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【V6.5页ID】O03｜物理页3｜4分钟
【页面功能】
教师依据现场作品后置归纳，并从广泛爱情主题转向共同生活的新问题。
【学生主动作】
核对教师是否准确引用；听清共同生活的新问题
【可见产物】
班级主题谱照片
【首次后用】
S04重新投影
【删除损失】
删除后导入成为篇目堆积
【主视觉职责】
由现场主题谱转出的一个文学问题
【插图资格】
无
【教师逐字稿】
请把目光留在黑板上。刚才大家说出的作品很多，我只沿着你们真正留下的词来整理。（教师指向黑板上真实存在的条目。）比如，你们提到《____》，留下的是____；《____》旁边写的是____。这些词里，有些在写相遇，有些在写阻隔或选择；如果黑板上还出现了相守、共同生活或离开，我也只按大家原来的话说。请大家帮我做一件简单的事：我有没有把哪篇作品记错、漏掉？（等待事实纠错；有则当场改写，没有则不追问。）这就是我们今天这一刻想起的爱情与婚姻文学。现在我再提出一个黑板还没有替我们回答的问题。（切出本页。）相遇以后呢？当爱情走进共同生活，日子会怎样改变两个人？今天的新故事，就由一位更早的女子回头讲起她的婚姻。
【真实场景】
开始时投影熄暗，教师站在黑板文学长卷一侧逐项指认；事实纠错完成后拍照保存，才切出本页的开放问题。
（熄暗投影并指向黑板）
（引用至少三处真实篇名与学生关键词）
（只开放误记或漏记的事实纠错）
（拍摄主题谱）
（切出新的婚姻阅读问题）
【时间盒】
教师引用现场作品归纳：150秒；学生事实纠错或确认：45秒；教师改写与转场：45秒
【现场分支】
现场主题单一：如实说‘今天我们先想起的大多停在相遇’，再指出新文本将带我们看婚后的日子；不补造不存在的作品类别。
教师记错或漏记：请学生只读出原来的篇名和主题词，教师当场改正，不扩展为作品深析。
无人纠错：不追逼产生异议；确认这是今天这一刻的文学版图，拍照保存。
【听者任务】
核对教师是否准确引用本班篇名与关键词；随后听清‘共同生活怎样改变两个人’是今天新增的问题，不是刚才发言的标准答案。
【证据位置】
黑板主题谱及其照片
【自然切页句】
让我们认识这位更早的讲述者。她的故事，题目只有一个字。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【V6.5页ID】O04｜物理页4｜1分钟
【页面功能】
从许多旧故事走到一位先秦女子的声音面前，完成题名、正音与共同翻页。
【学生主动作】
读准méng；定位首句
【可见产物】
教材题名与首句
【首次后用】
O05立即起读
【删除损失】
删除会失去明确的审美门槛
【主视觉职责】
题名与留白
【插图资格】
无
【教师逐字稿】
刚才那面黑板上，有许多相遇，也有共同生活里的选择。现在，我们认识一位更早的讲述者。她的故事收在《诗经·卫风》里，题目只有一个字——氓。这个字在这里读méng。请翻到课文，在题名旁轻轻写下读音，再找到第一句‘氓之蚩蚩’。先让题目停在这里，故事由她自己说。
【真实场景】
切入纯题名页后停两秒；教师从黑板侧面走回教室中央，正音后巡视学生是否定位第一句。
（切入题名页并停顿）
（正音méng）
（学生翻书定位）
（确认第一句）
【时间盒】
揭题与停顿：15秒；正音与出处：20秒；翻书定位第一句：25秒
【现场分支】
追问题义：回应‘先让她把故事说完，题目放在全文中再看。’
翻错页：教师走近报页码，不让已定位学生齐声催促。
【听者任务】
听清题名读音和出处，并定位同一首诗的第一句。
【证据位置】
教材题名旁注音及第一句定位
【自然切页句】
这首诗有六章。先不替她概括，让她自己从第一句说到最后一句。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【V6.5页ID】O05｜物理页5｜3分钟
【页面功能】
不中断地接收第一至三章，让初见、等待、迁嫁和劝告先作为声音发生。
【学生主动作】
眼随声走；只在真实停顿处留点或问号
【可见产物】
教材停点
【首次后用】
O06无声接续
【删除损失】
删除会失去开放接收
【主视觉职责】
第一至三章原诗
【插图资格】
无
【教师逐字稿】
这一遍，眼睛跟着原诗，耳朵听她把话说下去。哪一句让你停了一下，就在教材旁点一个点，或画一个问号；没有停顿处，也只管继续听。现在从‘氓之蚩蚩’开始。
氓之蚩蚩，抱布贸丝。匪来贸丝，来即我谋。送子涉淇，至于顿丘。匪我愆期，子无良媒。将子无怒，秋以为期。
乘彼垝垣，以望复关。不见复关，泣涕涟涟。既见复关，载笑载言。尔卜尔筮，体无咎言。以尔车来，以我贿迁。
桑之未落，其叶沃若。于嗟鸠兮，无食桑葚！于嗟女兮，无与士耽！士之耽兮，犹可说也。女之耽兮，不可说也！
【真实场景】
教师站到侧后方连续朗读，屏幕只显示原诗；光点只停在当前行开头，不逐字追光。第三章末无声切页，不停讲。
（示意学生看教材与屏幕）
（连续朗读前三章）
（光点停在当前行首）
（无声切入O06）
【时间盒】
说明听读方式：20秒；连续朗读前三章：150秒；无声切页：10秒
【现场分支】
学生举手解释：以手势请他把问题留在原句旁，朗读继续。
走神：光点停在当前行首，学生从光点处重新进入，不公开点名。
【听者任务】
一直听到第三章末；只在自己的教材留下停顿记号，不讨论。
【证据位置】
教材第一至第三章原句旁
【自然切页句】
（无声切页，朗读不断。）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【V6.5页ID】O06｜物理页6｜3分钟
【页面功能】
无缝接收第四至六章并让末句落下。
【学生主动作】
继续听读；末句后确认停点
【可见产物】
教材停点
【首次后用】
O07取回
【删除损失】
删除会把全诗压成婚前故事
【主视觉职责】
第四至六章原诗
【插图资格】
无
【教师逐字稿】
桑之落矣，其黄而陨。自我徂尔，三岁食贫。淇水汤汤，渐车帷裳。女也不爽，士贰其行。士也罔极，二三其德。
三岁为妇，靡室劳矣。夙兴夜寐，靡有朝矣。言既遂矣，至于暴矣。兄弟不知，咥其笑矣。静言思之，躬自悼矣。
及尔偕老，老使我怨。淇则有岸，隰则有泮。总角之宴，言笑晏晏。信誓旦旦，不思其反。反是不思，亦已焉哉！
（末句后静默十五秒。）现在看一眼自己留下的那个点或问号。没有找到，也先保留空白。
【真实场景】
教师保持O05的站位和声音，不在换页后重新说明任务；末句读完放下手，守住静默十五秒，再轻声提示确认停顿处。
（连续朗读第四至第六章）
（末句后静默15秒）
（学生确认停顿处）
（切入O07）
【时间盒】
连续朗读后三章：145秒；末句后静默：15秒；确认停顿处：20秒
【现场分支】
立即评论或发笑：教师不训斥，以停顿和手势守住十五秒，评论留到O07。
没有记号：允许空白，不追问情绪，不让学生借同桌的句子冒充自己的第一印象。
【听者任务】
一直听到末句；静默以后才确认个人停顿处。
【证据位置】
教材第四至第六章原句旁
【自然切页句】
哪一句把你留了下来？把第一次听见的《氓》，留在纸上。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【V6.5页ID】O07｜物理页7｜3分钟
【页面功能】
保存每个人第一次真正听见的句子，不让三问覆盖个人起点。
【学生主动作】
抄下一句；接写我看见、听见或想问
【可见产物】
个人初听卡
【首次后用】
O08引用
【删除损失】
删除会失去真实接收起点
【主视觉职责】
一句原诗与个人留白
【插图资格】
无
【教师逐字稿】
现在才发《氓》初听卡。请接过来，不必翻面。如果有一句把你留了下来，就把它完整抄下，再接一句自然话：‘我看见……’‘我听见……’或者‘我想问……’。不要猜老师最喜欢哪一句。暂时没有找到，也可以写‘尚未找到’，先听同桌说完，再决定要不要补。（静默书写五十五秒。）现在两个人各说一次。听的人不评价深不深，只补记一个自己原先没有注意到的地方。（交换完成后，教师读出两三份停在不同诗句的文字。）这些话先留在黑板右侧，下一页我们从这里继续。
【真实场景】
完整听读结束后，教师才发03B《氓》初听卡；屏幕为大面积留白。交流后，教师只读真实文字并抄两三个关键词在黑板右侧，不作主题归纳。
（发下03B《氓》初听卡）
（个人静默书写）
（同桌各说一次）
（听者补记不同之处）
（读出两三份真实文字并留在黑板右侧）
【时间盒】
发下初听卡：10秒；个人书写：55秒；同桌交换与补记：70秒；教师读出真实文字并保留：45秒
【现场分支】
尚未找到：先听同桌；仍没有就保留‘尚未找到’，不复制同桌句子。
只写情绪词：追问‘是哪一句的哪个画面或声音让你这样写’，有依据再补，不直接替写。
两人完全相同：允许相同；听者可补记‘我们停在同一句，但理由不同/相同’，不制造差异。
【听者任务】
复述自己听见的一个不同注意点；不替同伴解释全诗。
【证据位置】
O07初听卡；黑板右侧的真实初听关键词
【自然切页句】
六章已经完整地响过，大家停下的地方也留在这里。现在我们把这首诗慢慢读懂。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【V6.5页ID】O08｜物理页8｜2分钟
【页面功能】
把三问变成读后生成的全文导航：先讲经历，再看生活，最后追原因。
【学生主动作】
保存三问；暂不抢答
【可见产物】
三问书签
【首次后用】
六章积证并由S02—S04回收
【删除损失】
删除后细读缺少共同方向
【主视觉职责】
三个自然问题
【插图资格】
无
【教师逐字稿】
刚才，有同学停在‘____’，写下‘____’；也有同学在‘____’旁留下一个问题：‘____？’这些是我们第一次听见她时真正停下来的地方。（教师只引用O07黑板右侧的真实文字，不补造。）六章已经完整地响过。接下来慢慢读懂它，我们始终回来回答三个问题：她经历了什么？她婚后的不幸，在生活中是什么样子？这场婚姻为什么走到这一步？现在才发三问阅读书签，请接过来，把三问留好。第一问跟着事情走；第二问要看她具体过着怎样的日子；第三问要等事实一件件出现以后再判断。此刻不急着给答案。
【真实场景】
开始时屏幕仍停在O07，教师指向黑板右侧真实初听文字并读出两三份；引用完成后才切出三问页，并在此刻首次发下03C三问阅读书签。
（指向并引用真实初听文字）
（切出三问页）
（首次发下03C三问阅读书签）
（学生保存三问）
【时间盒】
引用真实初听文字：35秒；呈现并读出三问：35秒；发书签并保存三问：35秒；说明后续取回：15秒
【现场分支】
初听文字都集中在一处：如实引用同一处的不同说法，不假称全班已经覆盖三问。
抢答原因：请学生把原话写在第三问旁，标‘初步判断’，不当场确认。
追问为何现在才发：回应‘先让整首诗自己说完，再用问题慢慢读懂它。’
【听者任务】
核对教师引用确实来自刚才的同学文字，并保存三问的稳定措辞。
【证据位置】
O07初听文字；O08现场首次发下的03C三问阅读书签
【自然切页句】
问题已经留下。再带上这首诗最低限度的身份，我们就从第一章慢慢读起。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【V6.5页ID】C101｜物理页9｜5分钟
【页面功能】
让第一章完整进入，并确认女子怎样用第一人称讲两个人的行动。
【学生主动作】
完整读章；圈男子动作、划女子动作
【可见产物】
第一章行动初稿
【首次后用】
C102—C104
【删除损失】
删除会使逐句讲解没有整章轮廓
【主视觉职责】
整章原诗与圈划
【插图资格】
无
【教师逐字稿】
我们已经知道，《氓》是一位女子回头讲自己的婚姻。现在不急着把第一章拆开，请翻到第一章。先听我把这一章完整读一遍，眼睛只跟着诗句走。随后请你自己再读一遍：男子做的事，用圈轻轻标出来；女子做的事，用线划出来。遇到不懂的词，先留一个问号，不要让一个词拦住整章。现在听读。（教师完整读完，停三秒。）轮到你们自己读。读完后，同桌只互相问一件事：‘这一处是谁做的？’不要替对方翻译，也不要给人物贴标签。（巡视并等待。）请看回自己的诗句。如果刚才标错了主体，就改回来；如果同桌找到了你漏掉的动作，回诗补一处。我们先听两位同学各说一个自己最确定的动作。（引用现场原话。）第一章已经有了一个很粗的轮廓：有人来，有人送，两个人还谈到了婚事。那些问号先留着，接下来让原词自己把故事说清。
【真实场景】
承接O09，教师只发03A第一章初读卡；屏幕呈现整章原诗。教师读时站在屏幕侧面，学生圈划时退到后排，不在诗句上预做颜色答案。
（发03A第一章初读卡）
（教师完整读章后静默三秒）
（学生独立读并圈划）
（同桌只核对主体）
（引用两条现场动作后收束）
【时间盒】
承接、发卡与教师完整听读：69秒；学生完整朗读并圈划：94秒；同桌核对行动主体：56秒；回诗修订与两条现场分享：56秒；教师引用原话收束并转场：25秒
【现场分支】
生词阻断：请学生先留问号并把整章读完；词义按C102—C104所在原句解决。
主体混淆：只追问‘诗中是谁在用“我”说话、她把谁称作“子”’，让学生自行回诗改画。
直接评价男子：回应‘这个判断先放在诗边，眼下只把本章写出的动作找准。’
【听者任务】
同桌发言时，只检查行动主体；全班分享时，核对自己是否漏掉同一原词。
【证据位置】
03A第一章初读卡及教材第一章旁批
【自然切页句】
先看第一处：诗让我们先看见他做什么，女子随后又告诉我们什么？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【V6.5页ID】C102｜物理页10｜5分钟
【页面功能】
从重复的‘贸丝’和‘匪—谋’读出叙事转弯，并守住初见证据边界。
【学生主动作】
自然口译；圈转折字并说叙事次序
【可见产物】
叙事转弯句
【首次后用】
C105与C503
【删除损失】
删除会压平初次接近的叙述方式
【主视觉职责】
原词转弯
【插图资格】
I01待A/B
【教师逐字稿】
请看第一章开头两句。先不要等我翻译，把它们在细读单上说成一句自然话；如果一时说不完整，先写‘谁做了什么’。再圈出一个让意思转过去的字。现在安静七十秒。（教师退到过道巡视，不在屏幕上显示释义。）好，请同桌两人分着读：一位读诗先让我们看见的动作，一位读女子随后说明的来意，再交换。谁愿意先说自己的自然话？（等待，引用学生真实表达。）我们把几个词校准一下：‘氓’在这里指诗中的男主人公；‘蚩蚩’是忠厚的样子，是眼前的出场印象；‘贸’是交易、交换；‘匪’是不是；‘即’是靠近；‘谋’在这里是商量婚事。请回到自己刚才那句话，只改一处你认为还不准确的地方；原来已经准确，就在旁边补出托住它的原词。（等待修订。）现在再读：‘氓之蚩蚩，抱布贸丝。匪来贸丝，来即我谋。’哪一个字让话转弯？是‘匪’。诗先让我们看见抱布贸丝，女子随后说明来意是商量婚事。此刻，我们可以说到这里；不能只凭这两句就断言他的一生，也不能把后来全部结局提前倒回来。故事刚开始，他来了。接下来，诗不先写她的心情，只写她把他送了多远。
【真实场景】
C101圈划完成后，教师发03B第一章细读单。屏幕只显示两句原诗和三个问题；释义始终只由教师在学生尝试后口头给出，学生写在教材对应词旁。
（发03B细读单）
（静默等待个人自然口译）
（两人分句朗读）
（引用真实学生表达后再定点释义）
（学生亲自修订并回读）
【时间盒】
承接、发单与读题：25秒；个人自然口译并圈转折字：58秒；双人分读与互相核对：42秒；学生分享及教师定点释义：79秒；个人修订和边界处理：54秒；回诗重读、故事回接与转场：42秒
【现场分支】
逐词堆叠：只问‘这两句里谁先做了什么，女子随后说明什么’，让学生重新组织成自然话。
直接写成装老实欺骗：追问哪几个字足以证明完整人格和预谋；证据不足就降为‘出场看起来忠厚，来意由贸丝转到谋婚’。
原译已经准确：不强迫换色或改错，允许保留，并补一处原词证据或解释边界。
【听者任务】
分读时听清动作与来意是否分开；全班分享时核对自己的‘匪’是否真正承担了转折。
【证据位置】
03B第一章细读单C102区域及教材词旁批注
【自然切页句】
来意已经说清。接下来，诗不写一句‘她很投入’，只让三个动词把一段路铺开。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【V6.5页ID】C103｜物理页11｜4分钟
【页面功能】
让‘送—涉—至’成为身体可感的空间长度，看见女子主动投入。
【学生主动作】
用指尖或笔迹连三个动词；说成一句自然话
【可见产物】
送行线
【首次后用】
C105
【删除损失】
删除会把远送压成‘她送他’
【主视觉职责】
三个原词之间的空间
【插图资格】
I02待A/B
【教师逐字稿】
来意说清以后，女子怎样回应？请只看这一句：‘送子涉淇，至于顿丘。’先别急着写‘她很爱他’，让三个动词自己走起来。请在细读单上找到‘送、涉、至’，用手指先走一遍，再用一条笔迹把它们接起来；补上是谁在行动。屏幕没有箭头，方向和距离也不要凭空画，只保存诗中真正写出的次序。（教师巡视并等待。）同桌互相说一遍这段路，听者只检查三个动作有没有少一个。（等待。）我们校准三个词：‘涉’是渡过，‘淇’是淇水，‘顿丘’是地名。诗没有告诉我们精确里程，却让‘送—涉—至’连续发生。谁愿意用一句平常话，把这段路说出来？（引用两种现场说法。）你们可能说‘她送他渡过淇水，一直送到顿丘’，也可能用别的自然话；只要三个动作和人物不丢，就让自己的句子保留下来。回到原诗，再读一次。女子的投入，诗没有先写成一个标签，而是写成一段越过淇水的送行。她一直送到顿丘，婚事却没有当场定下。下面两句，是她怎样把话继续说下去。
【真实场景】
屏幕把三个原词分开放置但不连线。教师先用手悬空示范‘手指可以移动’，不替学生画路线；学生落笔时教师走入过道。
（指向原句而不预画箭头）
（学生手指预走后落笔）
（同桌互说并只查漏动作）
（定点解释三个词）
（引用现场自然话并回读）
【时间盒】
承接原句与说明低虚构行线：24秒；个人手指移动和笔迹连线：48秒；同桌互说并核对三个动作：36秒；教师定点释义和文本边界：52秒；学生自然话分享与个人修订：44秒；回诗重读、故事回接与转场：36秒
【现场分支】
画成精确地图：请删去诗中没有的村落、方向和里程，只保留渡淇、至顿丘的行动次序。
只写她很爱他：先让学生读出送、涉、至并说清路，再允许把投入作为有依据的印象留下。
不愿画线：允许只用手指依次点三个词，随后把动作说成一句话；不以绘画能力评价。
【听者任务】
只听人物主体和送、涉、至三个动作是否齐全，不评价画得是否好看。
【证据位置】
03B第一章细读单C103区域
【自然切页句】
她一直送到顿丘，婚事却没有当场定下。接下来，看她怎样把话继续说下去。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【V6.5页ID】C104｜物理页12｜5分钟
【页面功能】
把四小句读成说明条件、安抚和另约的一轮完整话语。
【学生主动作】
完整自然口译；同桌听一处含义是否清楚
【可见产物】
对话与声音标记
【首次后用】
C105与C503
【删除损失】
删除会失去女子怎样主动推进婚事
【主视觉职责】
完整话语而非四条注释
【插图资格】
无
【教师逐字稿】
她送到顿丘，为什么婚期没有立刻定下？请把下面两句连起来读：‘匪我愆期，子无良媒。将子无怒，秋以为期。’先自己把整轮话说成自然话，再用自己的词写一写：这四小句，各在做什么？哪些意思可以合在一起？屏幕和细读单都没有替你分好。现在安静九十秒。（教师巡视，保持屏幕无译文、无分类词。）请两人一组，一位朗读女子的话，一位做听者。第一遍读完，听者只说哪一处意思没有听清；读者只改一个地方，再读一次，然后交换。（等待读听轮换。）谁愿意先读出自己的分法和自然话？（引用不同分法，追问托住它的原词，不先给分类。）现在校准词义：‘愆期’是拖延婚期；‘良媒’是合适的媒人；‘将’这里读qiāng，是愿、请；‘无’同‘毋’，不要；‘以……为期’是把……定作婚期。请回到自己刚才的口译和分法，改准一处；原本准确就保留。听过大家的说法以后，我们可以把这轮话暂且收成三层：她先解释婚期为什么不能立刻定下，接着安抚对方，最后把婚期约在秋天。这个归纳放在你们说过以后；如果你的措辞更贴近原句，可以保留自己的话。再看‘将子无怒’：它至少让我们知道，女子在安抚对方，或预期对方会怒。这个细节值得留到全文后重看；但这一句没有写愤怒的程度，更没有写具体伤害，不能把后文提前画进来。请在‘无怒’旁留一个小问号。最后把两句再读一次，让听者真正听见这轮话怎样把婚事继续推向秋天。第一章的所有句子已经读过，现在让它重新成为一段完整的话。
【真实场景】
屏幕完整并列两句。教师先静默等待自然口译；读听轮换时站到教室侧后方，等学生完成第一遍和反馈后才解释词义。
（完整连读两句）
（静默等待个人自然口译）
（双人读听轮换并只改一处）
（学生分享后教师定点释义）
（在无怒旁留问号并再次合读）
【时间盒】
承接、完整连读与交代问题：25秒；个人自然口译：64秒；双人读听轮换、反馈和改读：61秒；学生分享与教师定点释义：75秒；个人修订及无怒边界：46秒；再次合读、故事回接与转场：29秒
【现场分支】
读成拒婚：请学生把‘秋以为期’接回前句，重说婚事是结束了还是另有约定。
无怒等同婚前暴力：确认这是一处值得追问的信号，同时要求把说法降到诗句能证明的‘安抚或预期愤怒’，具体程度留待后文。
第二遍没有变化：只要三层已经听清，可以诚实保留第一遍，不为完成程序制造修改。
暂时不愿朗读：允许先做听者，在对方读完后指出自己实际听清的一层；第二轮再选择是否朗读。
【听者任务】
在教师归纳前，只指出哪一处意思听清或没听清，并回到相应原词；不拿预设分类给同伴判分。
【证据位置】
03B第一章细读单C104区域及教材‘无怒’旁问号
【自然切页句】
来、送、解释、安抚、约期都已经发生。现在把局部提示收起来，听一听第一章能不能重新成为一段故事。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【V6.5页ID】C105｜物理页13｜5分钟
【页面功能】
示范怎样把局部词句重新讲成人物、动作和结果连贯的一章。
【学生主动作】
合书讲来—送—约；真实断点处返诗补说
【可见产物】
第一章章意
【首次后用】
C201
【删除损失】
删除后前四页仍是碎片
【主视觉职责】
第一次完整章意示范
【插图资格】
无
【教师逐字稿】
第一章每一句都已经读过。请先只看屏幕和教材，完整读一遍第一章。（教师领起第一句，随后让学生连续读完。）读完了，请把教材合上，把03A初读卡和03B细读单一起翻到背面，压在桌角；同桌互相看一眼，确认桌面上不再露出原诗。（等待纸面支架全部撤去。）请看我这里。（教师按B键熄暗屏幕。）现在用三十秒把这一章讲给同桌听。只讲三件事：他怎样来，她怎样送，婚事怎样暂缓又约定。听者不要接管故事，只在对方说完后补一个真正遗漏的地方；如果已经完整，就如实说‘我没有找到遗漏’。两人交换。（教师巡视，等待双方完成。）请讲述者暂时只打开教材，找到刚才遗漏的那一句；找到后立即合书，再补说一次，03A和03B仍保持背面朝上。现在把03B翻回来，只在六章故事轨道第一格写下自己的自然话，不需要模仿屏幕，也不要抄活动名称；03A仍扣住。（等待书写。）谁愿意读出自己的第一章一句话？（引用两条现场章意，在黑板保留不同措辞，并只修正事实断点。）我们共同说到的是：男子带着贸丝的动作来商量婚事；女子送他渡过淇水，说明媒妁条件，安抚对方，最后把婚期约在秋天。这个整理来自你们已经讲出的事件，不是要替换每个人的句子。请把第一格留好，下一章还会接着生长。至于‘蚩蚩’、贸丝与谋婚、‘无怒’这些早期细节，不在这里另设一份以后无人读取的个人标记；第五章出现明确的婚后事实时，我们会共同翻回原句。第一章的约定已经落在秋天；第二章，等待开始了。
【真实场景】
屏幕先显示整章原诗；完整重读后学生合上教材，并把03A初读卡、03B细读单同时翻到背面，由同桌确认桌面无原诗；教师再按B键熄暗屏幕。检索完成后只按脚本逐项恢复必要材料。
（完整重读第一章）
（合上教材并将03A、03B同时翻到背面）
（同桌确认桌面不露原诗）
（按B键熄暗屏幕）
（学生在全部支架撤去后旁白）
（听者只补一处或诚实确认完整）
（只开教材定位后立即合书补说）
（只翻回03B写故事轨道，03A仍扣住）
【时间盒】
完整重读第一章：45秒；交代旁白与听者边界：30秒；两人轮流三十秒旁白：75秒；听者补缺、回诗与补说：55秒；写自然章意与故事轨道第一格：50秒；引用学生章意、保存第一格并转场：45秒
【现场分支】
完全空白：允许先说最清楚的一段，再开书只找它前面和后面各发生了什么，不抄整章。
听者直接代讲：立即改问‘你只找到哪一个断点’，把回诗和补说权还给原讲述者。
没有遗漏：允许诚实确认完整；原讲述者在章意旁补一个支撑原词，不制造修改。
用后来结局定性：请暂时只保留第一章能证明的事实和印象；第五章C503出现后来事实时再共同回看固定原词。
【听者任务】
只核对来、送、婚事暂缓与约定三处是否连成故事；全班听章意时比较措辞，不抄教师统一答案。
【证据位置】
03B第一章细读单C105区域和六章故事轨道第一格
【自然切页句】
第一格先留在这里。下一章，约定之后的日子从等待复关开始。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【V6.5页ID】C201｜物理页14｜5分钟
【页面功能】
从秋期进入登垣等待，使‘乘—望’成为具体站位与视线。
【学生主动作】
整章读；留下三个动作和一道视线
【可见产物】
动作与视线初稿
【首次后用】
C202
【删除损失】
删除会让哭笑失去等待空间
【主视觉职责】
垝垣到复关的视线
【插图资格】
I03待A/B
【教师逐字稿】
第一章的婚期已经约在秋天。请先看一眼故事轨道第一格，不添新内容。第二章会把故事带到哪里？现在不要拿新的学习卡，只看屏幕和教材，听我把五句完整读一遍；眼睛跟着诗句走。（教师完整读章，末句后停两秒。）请你们自己完整读一遍。读完以后我才发03A；在卡上写三个你最确定的人物动作，按先后排开。一时只找到一两个，也照实留下。（读后发卡，静默书写。）请两位同学各读一个自己写下的原词；听的人只核对它是不是人物真正做的事。（引用现场原词，不补整章答案。）现在看03A上的首句：‘乘彼垝垣，以望复关。’借教材注释把它说成一句自然话，再只画一道目光：人站在哪里，望向哪里？不要画行走路线。（等待。）同桌互看，只问：人物站在哪里？线指向哪里？若画成已经走到复关，回到‘乘’和‘望’改回来。我们再校准四个词：‘乘’是登上，‘垝垣’是残破的墙，‘以’是来、用来；‘复关’是男子所住的地方，诗中借地名指向他。请沿自己画的目光重读首句。约定以后，她登上残墙，向复关望去。接下来，同一个方向上的不见与既见，会让她发生什么变化？
【真实场景】
屏幕只呈现完整第二章和开放动作提示。教师范读、学生整读结束后才发03A；动作、自然话和视线全部写在03A，教材只供阅读和注释定位。
（打开第一章故事轨道第一格）
（教师完整读第二章）
（学生完整朗读）
（读后发03A）
（学生在03A写动作、口译并画目光）
（同桌核对站位与方向）
（教师后置校词并回读）
【时间盒】
承接第一格与教师完整读章：38秒；学生完整朗读：38秒；读后发03A并写三个动作：58秒；引用动作初稿：29秒；首句自然口译和画目光：58秒；同桌核对、教师校词与故事回接：79秒
【现场分支】
只找到一两个动作：允许保留，不要求为凑够三个而抄词；同桌发言后再回诗补一个。
先写情绪词：若是泣、笑等实际动作可以保留；若只写伤心、高兴，追问原诗中人物做了什么。
画成行走路线：请用手分别按住‘乘’和‘望’，把人物留在垝垣上，只留下朝复关的目光。
不会画：允许只写‘垝垣 —望→ 复关’，不评价绘画能力。
【听者任务】
初稿只核对是否为原诗人物动作；视线只核对站位、方向和‘望’的原词依据。
【证据位置】
03A第二章初读与视线卡
【自然切页句】
目光落向复关。现在把‘不见’和‘既见’放在一起，看这两句怎样突然转过去，又能不能被耳朵听出来。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【V6.5页ID】C202｜物理页15｜5分钟
【页面功能】
用正面对照读清条件变化怎样触发泣涕与笑言。
【学生主动作】
对齐四组原词；试读并说听见的转轴
【可见产物】
条件—动作对照
【首次后用】
C206
【删除损失】
删除会丢失第二章最强情态转折
【主视觉职责】
两组正面对照
【插图资格】
无
【教师逐字稿】
请看同一个方向上的两句：‘不见复关，泣涕涟涟。既见复关，载笑载言。’先把每句说成自己的自然话，再在原诗里圈出彼此照应的词。不要先写伤心和高兴；先写没看见什么、已经看见什么，她实际做了什么。（静默等待。）请同桌一人读上句、一人读下句，只问：什么变化触发了她？她的动作怎样变？谁愿意读出自己圈的两组词？（引用现场原词。）我们校准：泣涕是哭泣流泪，涟涟是泪流不断；既是已经，两个载加强语气。若你的自然话只有情绪，请补上触发和动作。现在不再另开一张朗读程序页。每个人只在诗边标一处：你想让声音从哪里转过去？可以改变停顿、重音或语速，只选一处，旁边写托住它的原词。（等待轻声试读。）两人一组，第一位连读两句，第二位闭眼，只说‘我在____附近听见了变化’，或诚实说‘没有听出来’；读的人据此只改一处，再读一遍。然后交换，让每个人都读一次、听一次、改一次。（等待。）请一组愿意的同学呈现第二遍，听者只报原词。（引用真实声音。）两种读法可以不同，只要原词站得住，耳朵也真能听见。她由不见而泣、既见而笑，这一下转折已经从纸面进入声音。下面，婚事还要经过占问，并真正走向迁移。
【真实场景】
C201完成后才发03B。屏幕始终保留两句原诗，上半先服务圈词，下半只用一句话开启盲听；教师不示范标准读法，不切换独立程序页。
（发03B）
（学生自然口译并圈原词）
（双人上下对读）
（教师引用原词后校词）
（每人标一处声音变化）
（双方各完成一次盲听、反馈和改读）
（引用一组真实声音）
【时间盒】
承接视线与个人自然口译圈词：63秒；双人对读和触发互问：44秒；学生分享、教师定点释义与修订：53秒；个人单点朗读设计和轻声试读：34秒；双方盲听、反馈和各自改读：69秒；真实声音分享、故事回接与转场：37秒
【现场分支】
只贴情绪标签：追问哪一个变化触发、人物实际做了什么，使说法回到不见/既见和泣涕/笑言。
圈满所有词：只保留能与下句某词形成关系的两三处，并说清为什么相照应。
模仿教师：教师拒绝先示范，只问想突出哪个原词，允许不同声音方案。
没有听出来：如实记录，读者只改一处再读；第二遍仍不明显就留问号，不追加第三轮。
【听者任务】
先核对触发条件和人物动作；闭眼后只定位声音变化附近的原词，或如实报告未听出。
【证据位置】
03B C202区和教材原词、朗读标记
【自然切页句】
见与不见的变化已经能被耳朵听见。下面把两句连起来：一次占问之后，婚事又怎样走向了实际迁移？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【V6.5页ID】C204｜物理页16｜6分钟
【页面功能】
准确理解本次卜筮，并沿‘以尔/以我’读清占问到迁嫁的因序。
【学生主动作】
区分双方主体、物件与动作；口头连接因序
【可见产物】
两句因序
【首次后用】
C206
【删除损失】
删除会把无咎—车来—贿迁压成泛泛成婚
【主视觉职责】
三节点因序
【插图资格】
仅抽象因序示意
【教师逐字稿】
第二章最后两句要连起来读：‘尔卜尔筮，体无咎言。以尔车来，以我贿迁。’第一句有四项不能靠猜的知识：卜，是用龟甲占问；筮，是用蓍草占卦；体，是显示的兆象；咎言，是不祥之语。支架到这里为止，完整意思请你自己组织。先按谁做什么、结果怎样，把第一句说成自然话，再写：这次占问得到什么结果？（等待。）同桌只核对四项有没有错位。谁愿意读自己的句子？（引用后校准。）如果你写了‘一定幸福、保证以后’，圈起来；原句只写这次没有不祥。没有越界的同学不必制造错误，只在无咎言旁补‘这次’。接着看第二句。不要先说‘他们结婚了’，请沿‘以尔’和‘以我’分成两边，在03B写清每边是谁、带着什么、做什么。（等待。）现在校准：贿是财物，这里指嫁妆；迁是迁往男子家。同桌一人指‘以尔’一侧，一人指‘以我’一侧，只检查主体、物件、动作有没有放错；不需要交换表演。最后一起合读原句，再把两句连成一句自然的故事话：占问写了什么，接着发生什么？（引用两条现场表达。）这次占问无不祥，婚事继续；车来、财物迁，女子的生活位置也随之改变。第二章已经走到迁移，现在撤去局部支架，看整章能不能重新成为一段故事。
【真实场景】
屏幕同时显示两句。四项文化词卡只提供必要知识；第二句下方保留两条完全开放的主体—物件—动作栏。学生先写，教师后置时间边界和贿、迁释义。
（连读两句）
（教师给四项最小文化支架）
（学生独立口译占问）
（同桌核对名物）
（教师后置时间边界）
（学生拆分以尔/以我双方动作）
（同桌有界核对并合句）
（回到占问—迁移因序）
【时间盒】
连读两句与最小文化支架：41秒；个人占问口译和结果：56秒；同桌名物核对、分享与时间限定：64秒；个人拆分以尔和以我：56秒；同桌对应核对与教师校词：60秒；两句合回故事、个人修订与转场：83秒
【现场分支】
无法组织占问句：只提供‘你—卜筮—兆象—无不祥’四个位置，不念完成句。
直接推出幸福：只问原句写的是哪一次、有没有写后来生活，把说法降回当次结果。
压成他们结婚：追问以尔和以我各是谁的动作，车和贿在哪一边，先拆开再合。
嫁妆归属错位：请按住‘以我’，把贿移回这一侧，不直接报完整译文。
【听者任务】
占问部分只核对四项名物；迁移部分只核对两侧主体、物件和动作；都不提前讨论后来婚姻。
【证据位置】
03B C204区
【自然切页句】
占问无不祥，车来、财物迁，第二章已经走到实际迁移。现在收起局部提示，把等待到迁移完整讲一次。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【V6.5页ID】C206｜物理页17｜4分钟
【页面功能】
把第一、二章接成‘约定怎样成为等待与迁移’，避免第二次复制章末模板。
【学生主动作】
两人分讲两章；共同补一句章间因果
【可见产物】
两章接力口述
【首次后用】
C301
【删除损失】
删除会失去跨章因果
【主视觉职责】
章间铰链
【插图资格】
无
【教师逐字稿】
先把教材摊开，目光从第一章末尾的‘秋以为期’移到第二章开头。这个‘秋期’不是一句孤零零的约定，它把远送后的婚期和登垣等待接在了一起。现在同桌两人接力：一人只讲第一章——他怎样来，她怎样送，两个人怎样约；另一人从‘秋以为期’接住，讲她怎样等、怎样由不见到既见，婚事又怎样走到迁移。说话时可以看诗，不必背，也不再互相审一轮稿。两个人都讲完，只共同补一句：前一章的哪件事，使后一章的等待成为必然？我请两组把接力讲给全班听。听众只听章与章之间有没有真正接上。我们最后留下的不是两张格式相同的章卡，而是一条因果：约定了秋期，所以她等待；见到复关、卜筮无咎、车来贿迁，约定才走进生活。
【真实场景】
屏幕只保留此刻要读的原诗、问题或学生现场作品；教师在说完邀请后退到侧面，把阅读、书写和沉默真实还给学生。
（教师承接前页）
（学生完成主动作）
（公开少量真实材料）
（教师据原诗归纳）
（自然切页）
【时间盒】
完整课堂过程：240秒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教材第一、二章旁的章间箭头
【自然切页句】
故事已经走到迁嫁。可是第三章没有立刻写婚后的事，眼前先出现了一树桑叶。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【V6.5页ID】C301｜物理页18｜4分钟
【页面功能】
发现迁嫁之后诗没有立即写婚后事件，而先转入物象和劝告。
【学生主动作】
完整读章；留下物象和换声句
【可见产物】
换声初稿
【首次后用】
C302—C303
【删除损失】
删除会把比兴变成教师答案
【主视觉职责】
第三章完整换声
【插图资格】
无
【教师逐字稿】
第二章最后，车来了，财物迁了，女子的生活也换了地方。请从故事轨道把前两格连着说一遍，然后只看第三章。先不要问桑叶象征什么，也不要找手法；让五句诗完整地响一遍。读到你自己觉得说话方式变了，可以轻轻停半拍；没有这种感觉，就照原来的节奏读完。（教师范读后，全班个人低声再读。）现在才落笔：迁嫁以后，眼前最先出现了什么？哪一句开始不像叙事，像是在劝告？每一项都抄回一个原词或原句。没有听出转折，可以留问号。同桌只检查你写的是不是这五句里的东西，不替你解释。（等待核对与修订。）我们先保留两件事：桑叶先进入眼前，声音随后改变。它为什么这样写，先不急着回答。
【真实场景】
屏幕只显示第三章全文和两个读后问题；教师范读时站在侧面，学生低声读和落笔时退到后排，不在屏幕上染色提示答案。
（连说前两章故事轨道）
（教师完整范读）
（学生个人完整低声读）
（读后才写两项初稿）
（同桌只核对来源）
（学生亲自修订）
【时间盒】
恢复前两章故事位置：35秒；教师范读与学生完整低声读：85秒；个人读后生成：55秒；同桌来源核对和修订：40秒；引用初稿并转场：25秒
【现场分支】
没有听出变化：声音栏诚实留问号，只写最先看见的物象；C303再用两句对读帮助耳朵发现。
先报比兴：把术语暂放纸边，追问初读时先看见哪一物、从哪句开始听见劝告。
写活动词：将‘朗读、圈词’改成诗中真实出现的物象或一句原诗。
【听者任务】
只核对同伴所写物象和转折句是否来自第三章，不评判解释深浅。
【证据位置】
03C C301区
【自然切页句】
先不越过这片桑叶。它还没有落，叶子正是‘沃若’。这个词究竟让你看见什么？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【V6.5页ID】C302｜物理页19｜4分钟
【页面功能】
从‘沃若’形成色泽、质地和生命感，再留下可由后文检验的联想。
【学生主动作】
写两个感官词；留下一种可能
【可见产物】
桑叶假设
【首次后用】
C402真修订
【删除损失】
删除会退回标准象征义
【主视觉职责】
青润桑叶与原词
【插图资格】
I04a待A/B
【教师逐字稿】
把这句先说成自然话。‘沃若’是润泽的样子。现在先不写象征，不让一个熟悉答案盖住眼前的叶子。请静静看这行诗十秒，想一想它的色泽、质地和生命状态；在纸上写两个能被‘沃若’托住的词。（静默十秒后继续等待。）有了感觉，才允许联想：它可能让你想到怎样的青春、情感或关系状态？请留下两种可能，每一种旁边都写出刚才哪个词托住它。同桌只问一句：‘你的联想从沃若的哪一种感觉生出来？’不替对方选择。（等待。）如果你写的是‘桑叶就是爱情’，请把话放轻，改成‘可能让我想到……’；找不到依据，也可以删去联想，保留感官词和问号。第四章还有‘黄而陨’，我们会带着今天的两种想法回来筛选。
【真实场景】
屏幕只放大原句、沃若词义和两个开放问题；教师说完后真正静默，学生纸上有两项假设位，屏幕不显示范例。
（个人自然口译）
（静默观察十秒）
（写两个感官词）
（写两项可能联想）
（同桌只追问依据）
（学生改弱或保留问号）
【时间盒】
个人口译与词义校准：44秒；静默观察和感官词：43秒；两项假设独立生成：63秒；同桌依据追问：43秒；个人修订和转场：47秒
【现场分支】
只写固定象征：将‘就是’改成‘可能让我想到’，再补一项不同层次的可能或诚实问号。
无感官依据：先删去联想，只保留沃若所能托住的颜色、质地或生命状态。
没有联想：允许只写感官词和问号，第四章对照黄而陨后再生成。
【听者任务】
只追问联想的感官依据，不判断谁的象征义更像标准答案。
【证据位置】
03C C302区桑叶假设卡
【自然切页句】
桑叶的意思先不封口。下一句，一声‘于嗟’落在斑鸠身上；再一声，又落到了谁身上？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【V6.5页ID】C303｜物理页20｜6分钟
【页面功能】
沿连续五句体验劝告由桑、鸠抵达女子，再后置命名比兴。
【学生主动作】
遮句比较或接读；说少了什么
【可见产物】
由物及人的结构句
【首次后用】
C305与C306
【删除损失】
删除会使比兴只剩术语
【主视觉职责】
有无前两句的真实听读差异
【插图资格】
无
【教师逐字稿】
请先看教材，把‘桑之未落’到‘无与士耽’连起来读一遍。读完，请用一张空白纸盖住前两句，只让教材里的‘于嗟女兮，无与士耽’露出来；投影也只保留这一句，不会替你把被遮住的内容亮着。先读这一句，写下：这声劝告怎样落下？（教师退开，等待首答。）现在移开纸，恢复前两句，再把三句连读一遍：你又多听见了什么？请写成‘多了______，因为原诗中的______’。（等待比较。）请两位同学读自己的句子；其他人只听他是否回到了原词。现在才校准三个字词：‘于嗟’读xū jiē，是感叹词；‘无’同‘毋’，是不要；‘耽’是沉溺。再看完整句群：眼前的桑叶引来斑鸠，写斑鸠的劝告又把声音送到女子身边。由物起声、再引到所咏，是‘兴’；物与人的处境互相映照，又含着‘比’。这个名称放在你们亲自经历有无前两句的差异以后，才不是一条悬空的定义。最后回到教材连读三句，让两声‘于嗟’从物来到人。
【真实场景】
屏幕只保留此刻要读的原诗、问题或学生现场作品；教师在说完邀请后退到侧面，把阅读、书写和沉默真实还给学生。
（连读三句并圈重复声音）
（教师定点正音释词）
（学生遮句比较并静写）
（两人接读后公开两份原词证据）
（教师后置命名比兴）
（全班重读三句）
【时间盒】
连读、圈声与释词：70秒；遮句比较和个人静写：100秒；接读、公开与追问原词：90秒；后置命名、重读和转场：100秒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教材三句旁的‘多了什么—原词依据’句
【自然切页句】
声音已经从物来到人。接下来，两句同样写‘耽’，脱身的处境却并不相同。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【V6.5页ID】C305｜物理页21｜5分钟
【页面功能】
从相同‘耽/说’和不同‘士/女、可/不可’读出处境不对等。
【学生主动作】
写一条只陈述诗中处境的对照句
【可见产物】
处境判断
【首次后用】
第四、五章验证并由S03回收
【删除损失】
删除会把劝女归为天性论
【主视觉职责】
两句并排
【插图资格】
无
【教师逐字稿】
最后两句要并在一起读。‘说’在这里读tuō，同‘脱’，是摆脱、脱身。先各自口译，再圈出完全相同的词，框住真正改变结果的词。（等待。）请用一句现代话，只说诗中明写的处境差异，不解释为什么。原因写成‘后文待证’。（等待生成。）交换看同桌的句子，只做一件事：若看见‘女性天生、她活该、因为她沉溺所以他才……’这样的越界词，把那个词轻轻圈出来，不替对方重写。作者自己删改，回到士/女、犹可/不可。（等待修订。）这两句写明：同样沉溺，男子尚可脱身，女子却更难脱身。它没有写女性天生如何；更不能把女子的投入变成男子后来失信或粗暴的原因。为什么难，第四、第五章会让婚后的日子一件件出现。
【真实场景】
屏幕两句左右或上下正面对举，只给说的通假义；原因栏在学习单保持空白，教师站在两句中线位置主持对照。
（个人口译）
（圈同词框异词）
（写无归因处境句）
（同桌只圈越界词）
（作者亲自删改）
（连读校验并保存待证）
【时间盒】
个人口译与通假义：58秒；同异词圈框：50秒；无归因处境句生成：63秒；同桌越界词核查：46秒；作者修订与教师边界校准：58秒；连读和转场：25秒
【现场分支】
性别本质化：圈出‘天生’，改回诗中明写的士/女、可/不可处境差异。
受伤者归责：立即删去女子投入导致男子伤害的因果，把造成伤害与退出困难分开。
追问原因：把问题登记为后文待证；不凭第三章补造婚后结构。
【听者任务】
只检查同伴是否准确陈述处境差异、是否加入无证归因；不提供完整改写句。
【证据位置】
03C C305区
【自然切页句】
五句诗已经逐句走过。现在撤去局部提示，把桑叶、两声劝告和脱身差异讲回女子的一段回望。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【V6.5页ID】C306｜物理页22｜3分钟
【页面功能】
连接迁嫁与回望劝告，理解叙事暂停后如何反观经历。
【学生主动作】
合书口述换声与劝告；判断这是谁的回望
【可见产物】
跨章解释
【首次后用】
C401
【删除损失】
删除会让第三章悬成孤立劝诫
【主视觉职责】
迁嫁到回望的折返
【插图资格】
无
【教师逐字稿】
把第二章最后一句和第三章连起来读：‘以尔车来，以我贿迁。桑之未落，其叶沃若。’婚事刚走到迁嫁，诗却不急着交代后来发生什么，而让桑叶、斑鸠和一声声‘于嗟’来到眼前。请合上书，用一分钟说清这一停：她先看见怎样的桑叶；劝告怎样由斑鸠转向女子；同一个‘耽’字为什么落在男女身上却写出不同的脱身处境。这里不再同桌报断点、返诗、改卡，我只请两位同学各说一段。听的时候想一件事：这段劝告像是故事当时就有人说给她听，还是她经历以后回头说给自己、也说给后来的人听？回到原诗，我们能稳妥地说：叙事暂时停住，回望和劝告进入了故事；至于作者是否只指某一个固定对象，不必强行钉死。
【真实场景】
屏幕只保留此刻要读的原诗、问题或学生现场作品；教师在说完邀请后退到侧面，把阅读、书写和沉默真实还给学生。
（教师承接前页）
（学生完成主动作）
（公开少量真实材料）
（教师据原诗归纳）
（自然切页）
【时间盒】
完整课堂过程：180秒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教材第二、三章之间的跨章说明
【自然切页句】
这份回望还只是警告。第四章，桑叶真正落下，婚后的生活也随之出现。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【V6.5页ID】C401｜物理页23｜4分钟
【页面功能】
先找到重现的桑，再区分生活事实和责任判断。
【学生主动作】
整章读；圈物象、画事实、框判断
【可见产物】
章内三区
【首次后用】
C402—C404_405
【删除损失】
删除会失去事实与判断的边界
【主视觉职责】
完整第四章三区
【插图资格】
无
【教师逐字稿】
第三章最后，我们留下两件还不能封口的东西：一张‘沃若’桑叶的双假设卡，一个‘为什么女子更难脱身’的问号。请先把它们放在手边，不急着打开答案。现在让第四章五句诗完整地响一遍。第一遍只听它写了哪些生活；第二遍再留意，女子是否一直都在讲事情，还是有一句开始说她对这段关系的看法。（教师范读，学生再完整低声读。）现在才落笔：桑叶有了什么新样子？抄下原词。再抄一句你听来不像只在讲事情、而像在判断的话。暂时听不出来，就把问号留在这里。同桌只核对是不是第四章里的原词原句，不替对方解释。（等待核对和修订。）我们先把大家找到的句子留在纸上，不急着裁定。接下来从那片桑叶重新读起，让这五句自己告诉我们，她经历了什么，又怎样说起两个人。
【真实场景】
屏幕只呈现第四章全文和两个读后入口；教师范读时站到侧面，学生落笔前不染色、不画分区。
（取回第三章桑叶卡和待证问号）
（教师完整范读）
（学生个人完整低声读）
（读后才写状态与判断初稿）
（同桌只核对原句来源）
（学生亲自修订）
【时间盒】
恢复第三章两份待证材料：30秒；教师范读和学生完整朗读：85秒；个人生成两项初稿：55秒；同桌来源核对和修订：40秒；引用现场原句并转场：30秒
【现场分支】
只写悲伤或变心：把抽象词收回，先抄桑叶新状态和你认为声音变硬的完整原句。
判断起点不同：允许暂存两个位置，不由教师投票裁决；C404比较‘不爽/贰’时再修。
直接归因女子沉溺：先停止因果判断，本页只登记经历与判断的先后，不把第三章的耽变成伤害责任。
【听者任务】
只检查同伴是否抄自第四章、是否写成原词原句，不评判解释深浅。
【证据位置】
04D C401区
【自然切页句】
先回到那片桑叶。第三章它‘沃若’，这一章却‘黄而陨’；你原来的两种想法，经得住这一落吗？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【V6.5页ID】C402｜物理页24｜5分钟
【页面功能】
用后文真正检验前文的桑叶解释，经历后文改变前文。
【学生主动作】
保留、改写或撤回旧假设；补新依据
【可见产物】
桑叶解释修订
【首次后用】
C406与S06
【删除损失】
删除会让意象理解仍是猜答案
【主视觉职责】
同枝前后状态
【插图资格】
I04c待A/B
【教师逐字稿】
请把第三章的桑叶卡真正翻回来，不要另起一张新纸。左边读‘桑之未落，其叶沃若’，右边读‘桑之落矣，其黄而陨’。‘陨’是坠落。两句用同样的节拍各读两遍，圈出相互顶住的词：未落与落，沃若与黄而陨。（等待对读。）现在看你原来的两种可能。第四章来了以后，每一种是保留、改写，还是撤回？请直接在旧稿上动笔，旁边补第四章的一处原词，或者补一句位置说明：前一句在迁嫁后的劝告开端，后一句在婚后回顾开端。（等待个人修订。）同桌只追问：新句究竟改变了你哪一处？若没有改变，也要说它怎样加强了你的解释。不同答案可以并存，但‘桑叶就是……’这样一锤定音的话要放轻。我们此刻可以说，桑叶荣枯让人联想到青春、情感或关系状态的变化，也把叙事从婚前带到婚后；究竟偏重哪一层，要让全文语境托住。
【真实场景】
屏幕左右只放两句和最低词义；学生桌面必须打开第三章原卡，用另一颜色在原稿上修订，教师不投影成品解释。
（打开第三章旧桑叶卡）
（两句同节拍对读）
（圈两组状态词）
（学生在旧稿上双色修订）
（同桌只追问新句造成的改变）
（学生补证或降低判断强度）
【时间盒】
恢复旧稿与两句对读：54秒；圈状态词并校准陨：46秒；个人保留改写撤回：83秒；同桌追问语境依据：54秒；学生再修与教师后置归纳：63秒
【现场分支】
只等标准答案：请先比较自己两项旧稿受到新句怎样影响；教师不替你选青春、爱情或关系中的一个。
两项完全一样：把第二项改到不同层次，或诚实撤回，只保留一项有前后句支撑的解释。
没有修改：允许保留，但必须补写黄而陨怎样加强或限制旧解释，不为形式制造改动。
【听者任务】
只追问新句与章内位置怎样影响旧解，不投票选唯一象征义。
【证据位置】
03C旧桑叶卡双色修订＋04D C402区
【自然切页句】
桑叶由盛转衰，诗也从劝告走进日子。接下来的两句，一句压着多年，一句忽然把淇水推到眼前。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【V6.5页ID】C403｜物理页25｜5分钟
【页面功能】
让多年生活与当下渡水片刻同时存在。
【学生主动作】
听长时与展开的声音；写双时间旁白
【可见产物】
双时间旁白
【首次后用】
C404_405与S02
【删除损失】
删除会让责任判断缺少婚后事实
【主视觉职责】
多年与片刻并置
【插图资格】
I05待A/B
【教师逐字稿】
先把两句说准。‘徂’是往，‘食贫’是过贫苦生活；‘汤汤’读shāng shāng，写水势浩大；‘渐’读jiān，是浸湿；帷裳是车旁的帷幔。现在不急着分析。左半教室读第一句，把‘三岁’读得能让人感到日子很长；右半教室读第二句，让‘汤汤’有水势，但不要喊。交换一次，其余人闭眼听：哪一句像把多年压在四字里，哪一句把一个瞬间推到眼前？（等待两轮朗读和听者落笔。）请每人写两句第三人称旁白：一句只说多年里发生什么，一句只说淇水这一刻看见什么。写完同桌只圈一个诗中找不到的词，比如离开、归家、被赶走、向东向西；作者自己决定删除或改弱。（等待修订。）我们可以看见长期食贫，也可以看见浩荡淇水浸湿车帷；诗没有告诉我们这次渡水的方向，更没有在这里写完她是否离开。事实站稳以后，下一句才开始辨明责任。
【真实场景】
屏幕左右显示多年与一刻两句；两半教室交替朗读，学生写旁白时屏幕仍保留原句和最低词义作为边界。
（个人自然口译）
（教师定点校音释义）
（左右半班分部朗读）
（交换声音角色）
（个人写双镜头旁白）
（同桌只圈越界词）
（作者亲自修订）
【时间盒】
个人口译和定点释义：61秒；两轮分部朗读与闭眼听：64秒；个人双镜头旁白：61秒；同桌越界词核查：39秒；作者修订、分享与转场：75秒
【现场分支】
把三岁只算三年：按教材语境校准为多年，不把诗中概数锁成精确年限。
补写归家离开：圈出无原句依据的方向或结局词，改回淇水、水势和车帷被浸的事实。
不愿变化朗读：允许准确平读，并承担闭眼听者任务；体验不强制表演。
【听者任务】
听辨长期压缩与瞬间展开；核查旁白是否越过原句补写方向、动机或结局。
【证据位置】
04D C403区
【自然切页句】
多年食贫，淇水浸帷，这是她讲出的经历。紧接着，她不再只讲发生了什么，而开始说：谁没有差错，谁的行为变了。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【V6.5页ID】C404_405｜物理页26｜7分钟
【页面功能】
把四组词连成逐步加重的责任证据链。
【学生主动作】
排序着色四组词；用自然话说清责任
【可见产物】
责任证据链
【首次后用】
C406与S03
【删除损失】
拆页会把同一判断切碎并重复核查
【主视觉职责】
四词递进链
【插图资格】
无
【教师逐字稿】
把两句连读，不要先抄现成释义。请在四个词下面各写一个你此刻能确定的短义；不确定就留问号。再用一深一浅两种颜色标出：哪一个词在说女子，哪些词在说男子。（教师巡视，不报答案，等待首答。）我们听两份。现在逐词校准：‘爽’在这里是差错，‘贰其行’是行为前后不一，‘罔极’是没有准则，‘二三其德’是品行反复无常。请把自己原来的短义改准；原来准确就保留。词义清楚以后，再问一个更重要的问题：这两句怎样由‘女子有没有差错’走到‘男子的行为和品行怎样变化’？请在原词之间自己画出关系，不必照某一种箭头。谁愿意到黑板上画？全班若不同意，只能用上下句调整。最后用一句平常话说清责任：食贫和渡水写她承受的生活，‘贰、罔极、二三其德’才直接指向男子的失信与反复。请再读两句，让词义、语势和责任判断一起落稳。
【真实场景】
屏幕只保留此刻要读的原诗、问题或学生现场作品；教师在说完邀请后退到侧面，把阅读、书写和沉默真实还给学生。
（学生先写四个短义并标主体）
（教师等待后抽取两份首答）
（教师逐词校准而不替写责任句）
（学生亲自画关系并公开质询）
（教师守住责任边界）
（全班连读收束）
【时间盒】
连读与个人短义首答：105秒；公开两份首答与逐词校准：115秒；个人画关系与黑板质询：120秒；责任边界、重读与转场：80秒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教材四词短义、主体标记和学生自画关系
【自然切页句】
桑叶、生活事实和责任判断已经齐了。下一页，只把这三层讲回一个完整故事。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【V6.5页ID】C406｜物理页27｜4分钟
【页面功能】
在教师三层板书模型后，独立完成第四章章意。
【学生主动作】
合书口述物象—生活—责任；返诗补一处
【可见产物】
第四章章意
【首次后用】
C501与S03
【删除损失】
删除会使第四章三层关系散开
【主视觉职责】
三层板书
【插图资格】
无
【教师逐字稿】
请先看黑板，我只搭一个没有答案的三层架子：物象变化、婚后生活、责任判断。第一层，桑叶由什么变成什么；第二层，她嫁过去以后经历了怎样的日子和哪一个渡水片刻；第三层，诗怎样分清两个人的行为。现在把书合上四十五秒，自己在心里连成一段，再说给自己听。这里不再进行一次全员同桌审稿；我随机请一位同学讲，讲到真正断开的地方，全班只帮他指出应回哪一句诗。他打开书找到那一句，合上书自己补完。请注意，章意不是‘桑叶象征爱情破灭’这一句标签，而要让桑叶落下、三岁食贫、淇水浸帷和‘不爽—二三其德’依次发生。最后我用黑板把大家的话压成三个短语，但不替你们写成统一标准句。
【真实场景】
屏幕只保留此刻要读的原诗、问题或学生现场作品；教师在说完邀请后退到侧面，把阅读、书写和沉默真实还给学生。
（教师承接前页）
（学生完成主动作）
（公开少量真实材料）
（教师据原诗归纳）
（自然切页）
【时间盒】
完整课堂过程：240秒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黑板三层模型与个人口述
【自然切页句】
第四章已经把失衡和责任说清。第五章会把‘三岁’拆成每一天，又让屋外的笑声传进来。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【V6.5页ID】C501｜物理页28｜4分钟
【页面功能】
完整听见第五章，并定位动作和声音的主体。
【学生主动作】
整章读；标主体、动作和声音来源
【可见产物】
空间声音初稿
【首次后用】
C502—C504
【删除损失】
删除会让不幸仍是标签
【主视觉职责】
第五章完整声场
【插图资格】
无
【教师逐字稿】
第四章说到男子的行为反复无常。第五章不先讲一个抽象结论，而是把门推开，让我们看见日子怎样过。请让五句诗完整响一遍；读的时候先不圈‘苦’‘惨’这些词，只听谁在做事，谁的声音从外面传来，什么时候声音收进女子心里。（教师范读，学生低声完整再读。）现在才落笔：抄一个会在生活中反复发生的动作；再抄一处你觉得声音已经转入她内心的原句。不确定可以留问号。同桌只核对是否来自第五章，不替对方讲答案。（等待修订。）我们先保留一条大致路径：日常劳作在前，男子和家人的声音进入，最后只剩她静下来思量。每一步究竟怎样写，继续往下走。
【真实场景】
屏幕只显示第五章全文与两个读后入口；教师不预先染色人物，不投影生活处境分类。
（读取第四章故事轨道第四格）
（教师完整范读）
（学生完整低声读）
（读后才写两项初稿）
（同桌只核对原句来源）
（学生亲自修订）
【时间盒】
承接第四格：25秒；教师和学生完整读章：90秒；个人生成两项初稿：60秒；同桌来源核对和修订：40秒；引用现场原句与转场：25秒
【现场分支】
只写很辛苦：请改回诗中人物实际做的动作，例如起、寐，或抄一整句。
把兄弟理解成所有家人：本页只保留诗中明确的兄弟，不扩大到所有家人。
提前补写身体暴力：先回到‘暴’这一字；具体伤害方式诗中没有写，C503会守住边界。
【听者任务】
只核对动作和转折句是否来自第五章，不评价情绪是否深刻。
【证据位置】
05E C501区
【自然切页句】
先不走向兄弟的笑声。前两句只写一天从什么时候开始、什么时候结束，却说这一天重复了许多年。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【V6.5页ID】C502｜物理页29｜5分钟
【页面功能】
把夙兴—夜寐拉成一天首尾，再叠入三岁与靡有朝的多年重复。
【学生主动作】
完成嵌套时间线；口头概括日常
【可见产物】
嵌套时间线
【首次后用】
C505与S02
【删除损失】
删除会失去日常劳作的时间结构
【主视觉职责】
一天叠入多年
【插图资格】
I06须重审
【教师逐字稿】
先借注释把两句说成自然话。三岁是多年；靡是没有；室劳是家务劳动；夙是早，兴是起身，夜寐是晚睡，朝在这里是一日。现在请两位同学分站教室前后：一位从‘夙兴’开始，一位在另一端接‘夜寐’；全班不齐读，只在两句末尾低声接出‘靡’。交换一次。听的人闭眼：一天从哪里开始，到哪里结束？哪个字让这种日子不只发生一天？（完成声场与等待。）现在每人写一句第三人称旁白，要同时有一天和多年，不添加具体家务清单。若写成‘贤妻无怨无悔、勤劳是她的美德’，同桌可以圈出美化劳苦或替人物补心情的词，作者自己改回长期家务、早起晚睡、没有一天例外的事实。（等待修订。）诗写她承担多年家务与时间负担；赞许一个人的勤勉，不能让不均衡的劳动从画面里消失。
【真实场景】
屏幕左右拉开夙兴与夜寐；两位学生在教室两端读，全班只在靡处低声回响，随后个人写生活旁白。
（个人借注释口译）
（教师定点校词）
（两位学生分站早晚两端）
（全班只接两声靡）
（交换两端朗读）
（个人写生活旁白）
（同桌圈美化或补写词）
（作者亲自修订）
【时间盒】
口译与词义校准：64秒；两轮空间声场与闭眼听：72秒；个人生活旁白：61秒；同桌用词核查：39秒；作者修订、分享和转场：64秒
【现场分支】
赞美贤惠盖过负担：允许保留赞许，但另写清劳动是否长期集中、时间是否有休止。
虚构具体家务：删去诗中未写的做饭、洗衣等清单，回到室劳、夙兴、夜寐。
不愿走位：留在座位用手指向早晚两端朗读，并承担闭眼听者任务。
【听者任务】
听早晚跨度和靡的无例外感；核查生活旁白是否美化劳苦或虚构细节。
【证据位置】
05E C502区
【自然切页句】
多年这样生活以后，下一句忽然写‘既遂’和‘至于暴’。一个人的愿望满足了，另一个人的日子却走向哪里？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【V6.5页ID】C503｜物理页30｜6分钟
【页面功能】
读清既遂—至暴的变化，并有限回看婚前警讯而不倒推预谋。
【学生主动作】
任选一处婚前细节；写现在能说明与仍不能说明
【可见产物】
有限回看双行句
【首次后用】
C505与S03
【删除损失】
删除会失去审慎与证据边界
【主视觉职责】
今昔证据边界
【插图资格】
无
【教师逐字稿】
先读‘言既遂矣，至于暴矣’。‘言’是助词，‘遂’是如愿、顺心，‘暴’是粗暴；这句明写婚事如愿以后，他的行为走到了粗暴。现在翻回第一章，只选一处早期细节：抱布而来、来即我谋，或者‘将子无怒’。在纸上写两行：后来再看，这一处能让你多留意什么；只凭这一处，又有什么不能确定？屏幕只留两个空栏，我先不报示范答案。（教师等待个人完成。）三位同学各读一处，听众只做一件事：追问他的判断由哪个原词托住。现在教师再校准证据强度。后来的‘至暴、二三其德’能使我们重新审视早期细节，提醒承诺要由长期行动核验；但早期细节不能倒推为已经证实的预谋，更不能把后来伤害归责于女子没有预见。婚前审慎，是承认人不能预知未来的情况下认真观察，不是要求受伤者为没有看穿一切负责。请把自己的两行改得更准确。
【真实场景】
屏幕只保留此刻要读的原诗、问题或学生现场作品；教师在说完邀请后退到侧面，把阅读、书写和沉默真实还给学生。
（教师先释本句而不提供回看结论）
（学生翻回第一章选一处并写双行）
（教师静默等待）
（三人公开、全班只追问原词）
（教师后置校准证据强度）
（学生亲自修订）
【时间盒】
本句释义与翻回第一章：65秒；个人双行首答：105秒；三份公开与原词追问：95秒；边界校准、修订和转场：95秒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教材第一、五章之间的有限回看双行句
【自然切页句】
男子的变化已经写明。第五章还有另一重孤立：外面的笑声散去以后，她只能独自思量。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【V6.5页ID】C504｜物理页31｜5分钟
【页面功能】
用全课唯一声场体验外部笑声退去后女子独自思量。
【学生主动作】
听外声—沉默—内声；静写第三人称处境
【可见产物】
声音层次与处境句
【首次后用】
C505、S02与S03
【删除损失】
删除会失去社会孤立的声音经验
【主视觉职责】
声场与留白
【插图资格】
I07须重审
【教师逐字稿】
先把字音和词义说准：咥读xì，是笑的样子；躬是自身；悼是悲伤。现在全课只做这一次声场。教室两侧克制地低读‘兄弟不知，咥其笑矣’，不是表演嘲笑；声音完全退去后，真正沉默三秒，再由中间一位同学读‘静言思之，躬自悼矣’。其余人闭眼听，不忙着判断。（完成声场与静默。）请睁眼，只在纸上画三格：外声——沉默——内声，再用第三人称写一句：此刻的她处在怎样的位置？不交换，不审稿，也不要求讲自己的家庭。诗只写兄弟不了解而笑，随后她静思、自悼；我们可以由此看见理解和托举的缺席，却不能虚构她怎样求助、所有家人怎样拒绝。最重的一笔，不是更响的控诉，而是笑声过去，只剩一个人面对自己的悲伤。
【真实场景】
屏幕只保留此刻要读的原诗、问题或学生现场作品；教师在说完邀请后退到侧面，把阅读、书写和沉默真实还给学生。
（教师承接前页）
（学生完成主动作）
（公开少量真实材料）
（教师据原诗归纳）
（自然切页）
【时间盒】
完整课堂过程：300秒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教材第五章旁的外声—沉默—内声三格
【自然切页句】
把这间屋子里的时间、声音和人物留下。下一页，我们用一小段生活把许多年写出来。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【V6.5页ID】C505｜物理页32｜4分钟
【页面功能】
把第五章转译成不虚构的生活片段，直接供全文第二问使用。
【学生主动作】
合书写40—60字生活片段；匿名猜回原句
【可见产物】
第五章生活片段
【首次后用】
S02直接展读
【删除损失】
删除会使全文活动重新从零写
【主视觉职责】
学生文字
【插图资格】
无
【教师逐字稿】
第五章已经不用再做一次同构的章末互审。请看四个原句锚点：夙兴夜寐、靡有朝矣；言既遂矣、至于暴矣；兄弟不知、咥其笑矣；静言思之、躬自悼矣。现在合上书，用第三人称写四十到六十字，题目就是‘一间屋子里的许多年’。写她每天怎样过，男子怎样变化，外面的笑声退去后她怎样独自思量；不要添具体家务清单、具体伤害方式或诗中没有的求助过程。教师安静巡视，不让同桌互相改。时间到后只匿名投影两份，我读给大家听，请全班说它能回到哪一句诗；暂时不评价辞藻高低。这段生活文字不是另一个装饰性任务，它会在全文第二问直接展出，用来把‘不幸’从标签还原成可观察的日常。
【真实场景】
屏幕只保留此刻要读的原诗、问题或学生现场作品；教师在说完邀请后退到侧面，把阅读、书写和沉默真实还给学生。
（教师承接前页）
（学生完成主动作）
（公开少量真实材料）
（教师据原诗归纳）
（自然切页）
【时间盒】
完整课堂过程：240秒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第五章生活片段卡
【自然切页句】
生活已经写到最深处。第六章不再增加新的日常事件，她开始重新看旧愿、旧事和誓言。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【V6.5页ID】C601｜物理页33｜4分钟
【页面功能】
发现末章不再新增生活事件，而在重新评价旧愿、旧事和誓言。
【学生主动作】
整章读；标旧事与可能收束句
【可见产物】
回望初稿
【首次后用】
C602—C605
【删除损失】
删除会使末章被拆成名句
【主视觉职责】
第六章完整回望
【插图资格】
无
【教师逐字稿】
第五章最后，她静下来，只能独自思量。第六章会不会立刻斩断过去？请先不要只等最后一句，让五句完整地走一次。读时听一听：她把哪些旧事重新放回眼前，哪一句才真正把全诗收住。（教师完整范读，学生再低声完整读。）现在才落笔：抄一处回到过去的原句，再抄一处真正收束全诗的原句；在末句旁只留一个你最初听见的声音词，听不准就留问号。同桌只核对是不是原句、时间是否真的回到过去，不替对方命名情绪。（等待。）我们先不把末句叫成觉醒或离开。女子要先重新经过偕老、边界、少年言笑和誓言，结尾才会到来。
【真实场景】
屏幕只呈现第六章全文和两个读后入口；教师不突出末句，学生落笔前不染色时间层。
（读取第五格）
（教师完整范读）
（学生完整低声读）
（读后才摘过去句和收束句）
（同桌只核对来源与时间）
（学生亲自修订）
【时间盒】
承接第五格：25秒；教师和学生完整读章：90秒；个人两项初稿：60秒；同桌来源核对和修订：40秒；引用原句与转场：25秒
【现场分支】
只等亦已焉哉：先抄一处更早的旧事句，让停止之前的核验过程保留下来。
直接写已经离开：退回原句，只写收束声音；是否实际离开待C605区分。
情绪词互相不同：保留疲惫、怨、清醒等不同初听，不以投票选唯一。
【听者任务】
只核对原句和时间位置，不替同伴给末句定性。
【证据位置】
06F C601区
【自然切页句】
先看第一个回环：同一个‘老’字，一边是愿望，一边为什么成了怨？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【V6.5页ID】C602｜物理页34｜4分钟
【页面功能】
从同一‘老’字读出旧愿怎样折成现实怨意。
【学生主动作】
接读两个老；写旧愿与现实双行
【可见产物】
同词反折
【首次后用】
C606_S01与S06
【删除损失】
删除会失去末章时间折返
【主视觉职责】
同词复现
【插图资格】
无
【教师逐字稿】
请一组同学接读：前半句读‘及尔偕老’，后半句接‘老使我怨’。同一个‘老’字出现两次，先不要听我解释。每个人写两小行：第一次读到‘老’，你看见怎样的将来；第二次再读到‘老’，眼前的生活变成了什么？（教师等待个人落笔。）请两位同学读自己的两行，听众只指出他是否让两个‘老’落在了不同的时间里。现在听教师示范一次：前半句把声音送向共同的将来，后半句却让同一个字折回已经发生的怨与生活。请根据刚才听见的差别，自定一处停顿，再读。这里不急着只记一个‘反讽’标签；最要紧的是，一个字重新出现，旧愿便在后来现实中改变了声音。第六章正从这里开始检验过去。
【真实场景】
屏幕只保留此刻要读的原诗、问题或学生现场作品；教师在说完邀请后退到侧面，把阅读、书写和沉默真实还给学生。
（一组接读两个‘老’）
（学生双行静写）
（两份公开并辨时间）
（教师后置朗读示范）
（学生自定停顿重读）
（回接第六章）
【时间盒】
接读与个人双行首答：85秒；两份公开与时间辨认：60秒；教师示范和学生重读：65秒；文学归纳与转场：30秒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教材第六章旁的两个‘老’字双行批注
【自然切页句】
旧愿折回现实以后，诗忽然写淇水有岸、湿地有边。先把地貌看清，再谈它怎样接住前后文。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【V6.5页ID】C603｜物理页35｜5分钟
【页面功能】
先看清有界地貌，再形成能接前后文的一种或两种解释。
【学生主动作】
选择或并列解释；写前后文依据
【可见产物】
有依据解释
【首次后用】
C606_S01与S06
【删除损失】
删除会把自然图景变现代口号
【主视觉职责】
无人地貌与多解
【插图资格】
I09待A/B
【教师逐字稿】
先把字面说准：隰读xí，是低湿的地方；泮读pàn，同畔，是边、岸。淇水有岸，低湿地有边。请先独立写一种可能：诗为什么在偕老与怨之后忽然说自然有界？你的解释要接回前一句或后面的回忆。（等待首解。）四人组轮流只读自己的解释和所接原句；听到不同想法，再补第二种。组内不要投票，把两种解释分别问清：它靠哪个词，怎样接前后文？最后每个人给更能说服自己的一个轻轻加圈，也可以并列，但要写保留理由。（等待。）教材允许两种理解：可反衬男子心意无常、没有限制；也可反衬女子若偕老将产生无边怨苦。它们不是随意猜测，都要经过全章语境。这里不要直接改写成现代口号‘做人要有边界’；先让诗自己的怨、反与信誓说话。
【真实场景】
屏幕只显示原句、词义和开放问题；学生先个人写，四人组交流时屏幕不出现两种成品解释，教师最后才归纳。
（个人字面口译）
（教师校音释义）
（个人写第一种解释）
（四人轮读证据）
（每人补第二种解释）
（个人排序或并列）
（教师后置多解）
【时间盒】
口译与词义：46秒；个人第一种解释：63秒；四人证据轮读：71秒；个人补解和排序：58秒；公开两种衔接：29秒；教师后置归纳：33秒
【现场分支】
直接写现代边界：追问原句在偕老、怨和后文誓言之间怎样衔接，先恢复诗内意义。
只有一种解释：先保留，听见同伴或教师后再补第二种，不要求假装认同。
用人数判对错：取消表决，只比较各自接哪一句、靠哪个词。
【听者任务】
只追问解释的前后文落点和原词，不替全班选唯一答案。
【证据位置】
06F C603区
【自然切页句】
自然边界之后，时间突然退回少年。她为什么在最痛的时候，还把当初的言笑和信誓完整地记起？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【V6.5页ID】C604｜物理页36｜5分钟
【页面功能】
同时保存旧日确有欢乐誓言和后来行为应受核验。
【学生主动作】
完成旧日事实与后来事实双栏；讨论两个极端答案
【可见产物】
双真相句
【首次后用】
C605与S03
【删除损失】
删除会扁平化人物记忆
【主视觉职责】
双栏事实
【插图资格】
I08待A/B
【教师逐字稿】
先把词说准：总角是少年时代；宴是欢乐；晏晏是和悦的样子；旦旦是诚恳的样子；反是违背。屏幕上的六张原词卡还没有分组。请在纸上画两处：‘她记得的旧日’和‘后来核验出的事实’，把原词抄到你认为合适的位置；若一张卡让你犹豫，就暂放在中间并写一个问号。（教师等待个人首排。）现在同桌只挑一张彼此放置不同的卡，说清各自依据；不急着让一方服从。请两位同学把有分歧的卡放到黑板。我们回到第六章和前文校准：女子确实记得少年时的欢乐与当初的信誓，后来也确实看见违誓、粗暴和反复。请各自修订。最后写一句能同时容纳两件真的话：过去的欢乐不必全判作假，后来行为也不能因此免责。共同记忆可以解释为何难以割舍，却不能替失信免责；正因为她记得‘信誓旦旦’，‘反’才如此清楚。
【真实场景】
屏幕只保留此刻要读的原诗、问题或学生现场作品；教师在说完邀请后退到侧面，把阅读、书写和沉默真实还给学生。
（教师只校词，不分组）
（学生独立放置六张原词卡）
（教师等待）
（同桌比较一张分歧卡）
（公开分歧并返诗校准）
（个人修订并写双真相句）
【时间盒】
词义校准和个人首排：100秒；同桌比较一张分歧卡：55秒；公开分歧与返诗校准：75秒；个人修订、归纳和转场：70秒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六张原词卡的个人首排、修订与双真相句
【自然切页句】
旧日和后来都被保存下来。现在读最后两句，看她怎样让判断真正停住。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【V6.5页ID】C605｜物理页37｜5分钟
【页面功能】
读清反—不思—已的收束，并区分停止判断与实际离开。
【学生主动作】
选择停顿与声线；写诗写到与没有写到
【可见产物】
停止判断边界
【首次后用】
C606_S01、S03与S08
【删除损失】
删除会把末句变成觉醒出走标签
【主视觉职责】
末句与静默
【插图资格】
无
【教师逐字稿】
把最后两句连读。‘反’是违背，‘是’指这件事，‘已’是停止、了结；‘焉哉’连用，让声音在末尾收住。请先用自己的话翻译末句，再在纸上写两行：到‘亦已焉哉’，诗明确写出了女子怎样的判断；至于她后来怎样生活、去了哪里，诗有没有继续叙述？屏幕只有两个问题，没有替你填答案。（教师等待个人完成。）请听两份，若发言越过原诗，听者只问：‘这一步写在哪个词里？’现在教师校准：末句写到她对这段关系作出停止的判断；诗没有交代后来实际怎样行动、去了哪里。两种朗读都可以成立：一种决绝，一种疲惫而清醒；但都不能靠声音补写诗中没有的情节。请选择自己的停顿，再读末句。让‘亦已焉哉’停在证据边界上，而不是被我们续写成一个现成结局。
【真实场景】
屏幕只保留此刻要读的原诗、问题或学生现场作品；教师在说完邀请后退到侧面，把阅读、书写和沉默真实还给学生。
（连读末两句并定点释词）
（学生自然口译和边界双行首答）
（教师沉默等待）
（公开两份并追问原词）
（教师后置校准写到/未写到）
（学生自选声线重读）
【时间盒】
连读、释词和自然口译：70秒；个人边界双行首答：75秒；公开两份与原词追问：65秒；后置校准、自选朗读和转场：90秒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教材末句旁的写到/未写到双行与自选停顿
【自然切页句】
末句已经停住。现在回看六章，只让各章的人物、动作和转折在黑板上重新相接。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【V6.5页ID】C606_S01｜物理页38｜10分钟
【页面功能】
只进行一次全诗人生统整，让六章成为有转折、有因果的长卷。
【学生主动作】
六组各承担一章；沿长卷低声完整讲并画因果箭头
【可见产物】
六章人生长卷
【首次后用】
S02与S03
【删除损失】
删除会失去全文第一问，拆页会重复重建
【主视觉职责】
现场六章长卷
【插图资格】
无
【教师逐字稿】
第六章落下以后，我们只做一次全诗人生统整。黑板上只有六个章次，没有现成概括。六个小组各承担一章，重新打开原诗，只留下三样东西：这一章里的主要人物、关键动作、它使人生向哪里转了一步。先各组准备，不照抄标题，也不把章意压成一个抽象标签。（教师分组巡视，等待各组生成。）从第一章开始，各组依次把自己的短语和原句放到长卷上；后一组必须先用一句话接住前一组，再贴本章。听众若觉得没有接上，只能指出缺了哪一个动作或结果。六章全部出现后，我再引用你们的词追问两处：哪一步改变了后来？哪一处是回望而非新事件？我们现场画因果箭头，不提前规定唯一一支。最后每个人沿长卷低声给自己讲一遍，在你认为最重要的一处画箭头并写原句。末章边界沿用刚才的结论，不把没有写出的后来补进长卷。这张现场作品回答第一问，下一页不再重写六句人生。
【真实场景】
屏幕只保留此刻要读的原诗、问题或学生现场作品；教师在说完邀请后退到侧面，把阅读、书写和沉默真实还给学生。
（黑板只留六个空章次）
（六组返诗准备人物、动作与转折）
（教师巡视但不报章意）
（六组依次接续并贴入长卷）
（全班追问两处转折并现场画箭头）
（个人沿长卷低声复述并留原句）
【时间盒】
说明合同与六组返诗准备：135秒；六组依次接续人生长卷：240秒；全班追问转折与现场画箭头：120秒；个人复述、留箭头与转场：105秒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六章人生长卷与个人因果箭头
【自然切页句】
经历已经连成一条人生。现在回到第二问：这些不幸若落在每天的生活里，究竟是什么样子？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【V6.5页ID】S02｜物理页39｜8分钟
【页面功能】
把贫苦、劳作、粗暴、嘲笑和孤立还原为可观察的日常。
【学生主动作】
取回或重写生活片段；匿名猜回原句并说明依据
【可见产物】
婚后生活证据展
【首次后用】
S03
【删除损失】
删除会让不幸停在抽象名词
【主视觉职责】
匿名学生文字
【插图资格】
无
【教师逐字稿】
‘贫苦、劳作、粗暴、嘲笑、孤立’都是正确的词，但如果只剩这些词，我们仍看不见她怎样生活。先看我示范一条：‘夙兴夜寐，靡有朝矣’不必改写成‘她很勤劳’，可以写成‘天还没有全亮，她已经起身；夜深下来，这一天仍没有真正停住。这样的日子一日接一日。’这只是示范写法，不能添诗外的家务细节。现在取回第五章那张‘一间屋子里的许多年’，愿意的话也可另选一句改写。稍后匿名投影三到四份，全班不猜作者，只猜它背后的原诗，并说明哪一个细节把你带回去。若猜不回，作者就要把文字收紧到原句；若一句文字能被准确猜回，我们才算把抽象不幸还原为可观察、又有证据的日常。教师最后归拢生活负担、关系伤害与支持缺失，不把三者混成一个‘惨’字。
【真实场景】
屏幕只保留此刻要读的原诗、问题或学生现场作品；教师在说完邀请后退到侧面，把阅读、书写和沉默真实还给学生。
（教师承接前页）
（学生完成主动作）
（公开少量真实材料）
（教师据原诗归纳）
（自然切页）
【时间盒】
完整课堂过程：480秒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匿名婚后生活证据展
【自然切页句】
我们已经看见不幸怎样落在每天。第三问不能列一串标签，要沿时间追问：它为什么一步步走到这里？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【V6.5页ID】S03｜物理页40｜12分钟
【页面功能】
沿时间放置警讯、伤害、持续阻力、支持缺失和解释边界，形成不归责受伤者的原因结构。
【学生主动作】
个人先写原因；小组放原句证据并质询因果箭头
【可见产物】
原因证据长卷
【首次后用】
S04
【删除损失】
删除会失去用户要求的整体原因结构
【主视觉职责】
动态时间长卷
【插图资格】
无
【教师逐字稿】
先不要看任何预制答案，请个人写下你认为最重要的一两个原因。现在黑板铺开一条时间长卷：相识、承诺、共同生活、失衡、缺少托举、停止判断。四组各拿一组原句卡，把证据放到最合适的位置，再画一支你们认为成立的因果箭头。第一组处理婚前值得观察的信息和审慎；第二组处理承诺与后来行为的表里不一；第三组处理长期投入、已有共同记忆为什么使停止更难，以及不对等怎样可能被继续利用；第四组处理兄弟不知而笑、理解与托举缺席，以及女子最后的判断。每组放完，全班只质询箭头：这条因果是原诗明写、可以推断，还是已经越界？教师最后守住三条边界：投入和沉没成本解释为什么更难停下，不能解释男子为何伤害；婚前细节值得警惕，不等于已证预谋；‘亦已焉哉’写停止判断，不等于诗写明实际出走。原因因此不是一堆补丁，而是一条有时间、有责任、有阻力的结构。
【真实场景】
屏幕只保留此刻要读的原诗、问题或学生现场作品；教师在说完邀请后退到侧面，把阅读、书写和沉默真实还给学生。
（教师承接前页）
（学生完成主动作）
（公开少量真实材料）
（教师据原诗归纳）
（自然切页）
【时间盒】
完整课堂过程：720秒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全文原因证据长卷
【自然切页句】
从反面的结构看清问题以后，我们回到开课时的文学版图，讨论一段良好的共同生活需要哪些支点。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【V6.5页ID】S04｜物理页41｜10分钟
【页面功能】
让每个人先以一处原诗提出关系条件，再由小组形成一张共同生活支点卡。
【学生主动作】
每人依次说原诗与关系条件；四人都说过后每组只留一张支点卡
【可见产物】
每组唯一支点卡与班级平衡结构
【首次后用】
S08只引用
【删除损失】
删除会使导入成为孤儿并失去婚姻讨论
【主视觉职责】
学生支点卡形成的公共平衡结构
【插图资格】
无
【教师逐字稿】
请重新看开课时那张由你们自己说出来的文学主题谱。那时我们从许多作品谈到相遇、等待、阻隔和选择，并留下一个问题：相爱以后，怎样共同生活？现在不再写一份新的三行表。给每个人一分钟，翻回《氓》，只选一处最让你警醒或珍惜的原诗，在书旁点一下。（教师守静默。）四人一组，按座位依次开口，每个人用半分钟完成两句话：‘我选的是——；它让我觉得，共同生活需要——。’只谈作品或第三人称关系，不采集个人恋爱、婚姻和家庭经历。听的人先不评价；四个人都说过，讨论才开始。你们可以追问依据，可以把相近意见合并，也可以保留分歧；最后每组只留一张支点卡，写成‘好的共同生活，需要______；《氓》中的______让我们看见缺少它会怎样。’（教师巡视，确认四人开口以后才发卡。）各组把唯一一张卡放到公共平衡结构旁。全班只做两件事：把意思相近的卡靠近；请彼此冲突的卡各用一处原诗说明。教师最后沿学生卡后置归纳，不预列唯一答案：可能出现审慎了解、言行相符、共同承担、责任不转嫁、理解与托举等支点；没有出现在学生证据中的词，不为凑完整而硬加。这不是婚姻模板，而是我们借《氓》辨认良好共同生活条件的一次文学讨论。最后再看开课主题谱：我们从‘故事写了什么’走到了‘这样的关系怎样才能站稳’。
【真实场景】
屏幕只保留此刻要读的原诗、问题或学生现场作品；教师在说完邀请后退到侧面，把阅读、书写和沉默真实还给学生。
（重投影开课主题谱并提出共同生活问题）
（个人返诗静选一处依据）
（四人按座位依次开口且不抢评）
（四人都说过后小组才讨论）
（每组只制作一张支点卡）
（全班聚类或保留冲突卡）
（教师沿学生证据后置归纳并回扣开课）
【时间盒】
重看主题谱、返诗静选：90秒；四人依次完整开口：150秒；组内追问并形成唯一支点卡：150秒；全班放卡、聚类与证据冲突：150秒；教师后置归纳并回扣开课：60秒
【现场分支】
暂时没有答案：允许先回到原句圈出最确定的一处，再用不完整但真实的话开口。
判断越过原诗：请说出依据；找不到相应原词时，把断言降为问题或可能。
【听者任务】
四人轮说时先听完每个人的原句和关系条件；讨论时只追问原诗依据，不采集同伴私人经历。
【证据位置】
每组唯一一张关系支点卡与班级平衡结构
【自然切页句】
这场讨论从原诗走向了共同生活。现在把《诗经》的身份和读诗所需的字词分别收回来。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【V6.5页ID】S05A｜物理页42｜5分钟
【页面功能】
检验《诗经》四项最低身份能否离开注释说清，并修复真实空项。
【学生主动作】
合书独立回答四问；开书自修后合书串说
【可见产物】
《诗经》身份检索修复稿
【首次后用】
S06知识图与S08终读
【删除损失】
删除会把看过背景知识冒充记住
【主视觉职责】
四个开放检索问题
【插图资格】
无
【教师逐字稿】
先合上教材，不翻注释。屏幕上只有四个问题：《诗经》是什么？有多少篇？分哪三类？《氓》收在哪里？请独立写下真正记住的内容；不确定就留空，不和同桌互报。（等待作答。）现在同桌只比较哪一项答案不同，在分歧旁画问号，不靠声音大决定对错。（等待比较。）请打开教材和注释，自己修复空项或问号；原来正确就保留，不为留下修改痕迹而制造错误。现在教师准确收束四项最低身份：《诗经》是我国最早的诗歌总集，共三百零五篇，内容分风、雅、颂，《氓》出自《卫风》。请只补自己真实缺少的项，再合上书用一句话把四项串起来。下一页只处理会阻断原句理解和终读的字词，不把两种检索挤在一起。
【真实场景】
屏幕只保留此刻要读的原诗、问题或学生现场作品；教师在说完邀请后退到侧面，把阅读、书写和沉默真实还给学生。
（学生合书独立回答四问）
（教师沉默等待）
（同桌只标分歧不裁答案）
（学生开书自修）
（教师准确揭示四项文化答案）
（个人合书串说一次）
【时间盒】
合书独立检索：80秒；同桌比较分歧：45秒；开书自修：65秒；教师准确收束与个人补项：70秒；个人合书串说与转场：40秒
【现场分支】
暂时没有答案：允许先回到原句圈出最确定的一处，再用不完整但真实的话开口。
判断越过原诗：请说出依据；找不到相应原词时，把断言降为问题或可能。
【听者任务】
同桌只找出分歧项；打开教材以前不报自己确信的答案，不让同伴跟写。
【证据位置】
《诗经》四项身份检索修复稿
【自然切页句】
作品的身份已经说清。现在只处理那些会让原句读不准、说不清的字词。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【V6.5页ID】S05B｜物理页43｜6分钟
【页面功能】
检验两个自选核心字词能否读准、释准并回到原句，只修复真实共性错项。
【学生主动作】
任选两词写音义原句；持教材核对并圈终读提醒
【可见产物】
两词修复稿与终读提醒
【首次后用】
S08终读
【删除损失】
删除会使字词知识仍散在逐页活动中
【主视觉职责】
十词选择场与两词回句
【插图资格】
无
【教师逐字稿】
屏幕上有十个我们已经在逐句细读中遇过的字词。不要十个全抄，每人只任选两个：先写读音，再写它在句中的意思，最后把它放回所在的原句；一时想不起原句，可以写出前后两个关键字。（等待首答。）现在同桌交换，只用教材和注释核对三件事：音是否准，意思是否适合这句话，原句是否找对。发现问题，作者自己改；两个人都不确定，就在词旁画星号。（等待修订。）我只收集全班真实留下星号的词，不按预设把十个重新讲一遍。请报词，也报它所在的原句。（收集三到五个共性错项。）教师逐个准确校准：每讲一个读音或句中义，都立即把它送回人物动作和上下句，不讲孤立词典义。最后每人圈出一个最会影响终读的字音或词义，轻声把它所在的整句读准。现在你手里的不是十个待背词条，而是两个已经回到诗中的词，和一个能校准终读的提醒。
【真实场景】
屏幕只保留此刻要读的原诗、问题或学生现场作品；教师在说完邀请后退到侧面，把阅读、书写和沉默真实还给学生。
（每人只选两个词独立写音义和原句）
（教师等待首答）
（同桌持教材核对三项）
（作者亲自修订并标共性疑问）
（教师只讲真实高频错项）
（个人圈终读提醒并读准整句）
【时间盒】
任选两词独立首答：90秒；同桌持书核对与本人修订：80秒；收集共性疑问：40秒；教师把高频错项送回原句：110秒；圈终读提醒并读准整句：40秒
【现场分支】
暂时没有答案：允许先回到原句圈出最确定的一处，再用不完整但真实的话开口。
判断越过原诗：请说出依据；找不到相应原词时，把断言降为问题或可能。
【听者任务】
核对同伴的音、句中义和原句位置；不替作者改写，也不把孤立词典义当成句中义。
【证据位置】
两词音义原句修复稿与一个终读提醒
【自然切页句】
字词已经回到原句。下一页不抄清单，要看这些诗句怎样成为这样一首诗。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【V6.5页ID】S06｜物理页44｜8分钟
【页面功能】
把逐句经验收成可复习的叙事、比兴、复现反折和声音知识图。
【学生主动作】
各组为一块补原句例子；个人标一个不稳项
【可见产物】
全班语文知识图
【首次后用】
S08带走一处语言发现
【删除损失】
删除会使知识只散落在活动里
【主视觉职责】
关系线与原词
【插图资格】
无
【教师逐字稿】
黑板分成四区：六章第一人称叙事、桑叶比兴与前后对照、复现回环与意义反折、四言叠词与叙事抒情。此刻四区只有名称，没有例句。四个小组各认领一区，翻回已经细读过的页面，选一处最能说明它的原诗，并准备回答：这处写法让人物、时间或声音多了什么？不要先等老师报例子。（等待补例。）请各组贴出原句并解释。其他组可以提出更贴切的原句，但不能只报术语。现在教师依据现场材料后置校准：第一人称六章叙事让女子以回望串起人生；‘沃若—黄而陨’和两声‘于嗟’让比兴、对照与由物及人可见；两个‘老’以及‘信誓—不思—反是不思’让复现发生意义反折；涟涟、汤汤、晏晏、旦旦等叠词和四言节奏，使叙事与抒情在声音里交织。每一次命名都要立即说回它帮助我们看见的人物变化。最后每人只标一个仍不稳的区，不再誊抄一张重复汇编。
【真实场景】
屏幕只保留此刻要读的原诗、问题或学生现场作品；教师在说完邀请后退到侧面，把阅读、书写和沉默真实还给学生。
（黑板只显示四区名称和空例位）
（四组返诗选例并准备文学作用）
（教师等待而不报代表例）
（四组贴句并解释）
（教师引用现场材料后置命名校准）
（个人标一个不稳区）
【时间盒】
说明四区与小组返诗选例：120秒；四组贴句、解释与互补：170秒；教师后置命名与人物回接：145秒；个人不稳项与转场：45秒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教师学生共建语文知识图
【自然切页句】
知识已经从原诗里长成一张图。最后一页不再誊抄，只留一个真正改变或仍愿追问的问题。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【V6.5页ID】S08｜物理页45｜6分钟
【页面功能】
每人只留下一个改变或问题，再让全诗完整响起并安静结束。
【学生主动作】
二选一写一句；至少180秒完整朗读
【可见产物】
终课一句与完整终读
【首次后用】
真实试教评估
【删除损失】
删除会失去个人出口和整体声音
【主视觉职责】
原诗与留白
【插图资格】
无
【教师逐字稿】
请把前面的学习材料轻轻合在一起，不再抄写三问答案、关系支点和知识图。最后只做一个选择：写下一处改变最大的理解，或者留下一个你仍愿意追问的问题。可以关于女子、男子、婚姻结构，也可以关于桑叶、叠词、叙事声音；只要是真实的，不必把两项都写满。（教师安静等待。）我请两三位同学读出自己的那一句，听众不评价、不补充，只让不同的声音并排留下。现在翻回全文，先看一眼你刚才在字词检索中圈出的终读提醒。接下来至少三分钟，从‘氓之蚩蚩’连续读到‘亦已焉哉’，中途不切屏、不插问、不总结。读到末句以后，教师和学生一起停住，让沉默真正发生。我们不追加一条口号，也不替这位女子续写诗中没有写出的后来。她的声音落在这里，课也落在这里。
【真实场景】
屏幕只保留此刻要读的原诗、问题或学生现场作品；教师在说完邀请后退到侧面，把阅读、书写和沉默真实还给学生。
（教师承接前页）
（学生完成主动作）
（公开少量真实材料）
（教师据原诗归纳）
（自然切页）
【时间盒】
完整课堂过程：360秒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个人终课一句与完整终读
【自然切页句】
（‘亦已焉哉’落下。教师停顿，不追加口号。）下课。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67F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初见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我们还记得哪些爱情与婚姻故事？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1481328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67F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从小学想到高中：课文、小说、整本书……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24128" y="2240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483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篇名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840480" y="2587752"/>
            <a:ext cx="7132320" cy="0"/>
          </a:xfrm>
          <a:prstGeom prst="line">
            <a:avLst/>
          </a:prstGeom>
          <a:noFill/>
          <a:ln w="19050">
            <a:solidFill>
              <a:srgbClr val="DED0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483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一句话唤回故事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840480" y="3639312"/>
            <a:ext cx="7132320" cy="0"/>
          </a:xfrm>
          <a:prstGeom prst="line">
            <a:avLst/>
          </a:prstGeom>
          <a:noFill/>
          <a:ln w="19050">
            <a:solidFill>
              <a:srgbClr val="DED0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4343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它谈到怎样的相遇或共同生活？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840480" y="4690872"/>
            <a:ext cx="7132320" cy="0"/>
          </a:xfrm>
          <a:prstGeom prst="line">
            <a:avLst/>
          </a:prstGeom>
          <a:noFill/>
          <a:ln w="19050">
            <a:solidFill>
              <a:srgbClr val="E9DD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71500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先写一篇；还能想起，就继续往下写。</a:t>
            </a:r>
            <a:endParaRPr lang="en-US" sz="2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初见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让更多故事在教室里相遇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05840" y="1600200"/>
            <a:ext cx="10104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《　　　　　　》让我想到爱情或婚姻中的　　　　　　　　　。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960120" y="3108960"/>
            <a:ext cx="10149840" cy="0"/>
          </a:xfrm>
          <a:prstGeom prst="line">
            <a:avLst/>
          </a:prstGeom>
          <a:noFill/>
          <a:ln w="15240">
            <a:solidFill>
              <a:srgbClr val="C5B39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3703320"/>
            <a:ext cx="2468880" cy="1097280"/>
          </a:xfrm>
          <a:prstGeom prst="ellipse">
            <a:avLst/>
          </a:prstGeom>
          <a:solidFill>
            <a:srgbClr val="383129"/>
          </a:solidFill>
          <a:ln w="20320">
            <a:solidFill>
              <a:srgbClr val="A67F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4005072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身边说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3474720" y="4251960"/>
            <a:ext cx="1207008" cy="0"/>
          </a:xfrm>
          <a:prstGeom prst="line">
            <a:avLst/>
          </a:prstGeom>
          <a:noFill/>
          <a:ln w="17780">
            <a:solidFill>
              <a:srgbClr val="C5B39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81728" y="3703320"/>
            <a:ext cx="2468880" cy="1097280"/>
          </a:xfrm>
          <a:prstGeom prst="ellipse">
            <a:avLst/>
          </a:prstGeom>
          <a:solidFill>
            <a:srgbClr val="383129"/>
          </a:solidFill>
          <a:ln w="20320">
            <a:solidFill>
              <a:srgbClr val="446E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4005072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合并不同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7150608" y="4251960"/>
            <a:ext cx="1207008" cy="0"/>
          </a:xfrm>
          <a:prstGeom prst="line">
            <a:avLst/>
          </a:prstGeom>
          <a:noFill/>
          <a:ln w="17780">
            <a:solidFill>
              <a:srgbClr val="C5B39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57616" y="3703320"/>
            <a:ext cx="2468880" cy="1097280"/>
          </a:xfrm>
          <a:prstGeom prst="ellipse">
            <a:avLst/>
          </a:prstGeom>
          <a:solidFill>
            <a:srgbClr val="725260"/>
          </a:solidFill>
          <a:ln w="20320">
            <a:solidFill>
              <a:srgbClr val="E9DD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22208" y="4005072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带来一条新篇目或新说法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14400" y="562356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ED0B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让教室里的文学版图，从你们的话里长出来。</a:t>
            </a:r>
            <a:endParaRPr lang="en-US" sz="2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67F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初见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相遇以后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10360152" cy="3429000"/>
          </a:xfrm>
          <a:prstGeom prst="roundRect">
            <a:avLst>
              <a:gd name="adj" fmla="val 1333"/>
            </a:avLst>
          </a:prstGeom>
          <a:solidFill>
            <a:srgbClr val="FFFCF7"/>
          </a:solidFill>
          <a:ln w="15240">
            <a:solidFill>
              <a:srgbClr val="A67F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331720"/>
            <a:ext cx="9445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爱情走进共同生活，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371600" y="3337560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日子会怎样改变两个人？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914400" y="5596128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B7167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先让旧故事留在黑板上。新的故事，由一位女子自己说。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初见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1371600" y="1828800"/>
            <a:ext cx="94457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4114800" y="3246120"/>
            <a:ext cx="3959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spc="300" kern="0" dirty="0">
                <a:solidFill>
                  <a:srgbClr val="EFE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méng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926080" y="4206240"/>
            <a:ext cx="6336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ED0B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《诗经·卫风》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初见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第一次完整听读｜第一至第三章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777240" y="1234440"/>
            <a:ext cx="10652760" cy="4800600"/>
          </a:xfrm>
          <a:prstGeom prst="roundRect">
            <a:avLst>
              <a:gd name="adj" fmla="val 952"/>
            </a:avLst>
          </a:prstGeom>
          <a:solidFill>
            <a:srgbClr val="383129"/>
          </a:solidFill>
          <a:ln w="14605">
            <a:solidFill>
              <a:srgbClr val="A67F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453896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氓之蚩蚩，抱布贸丝。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033272" y="1744675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匪来贸丝，来即我谋。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033272" y="2035454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送子涉淇，至于顿丘。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033272" y="2326234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匪我愆期，子无良媒。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033272" y="2617013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将子无怒，秋以为期。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033272" y="2907792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乘彼垝垣，以望复关。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033272" y="3198571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不见复关，泣涕涟涟。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033272" y="3489350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既见复关，载笑载言。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033272" y="3780130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尔卜尔筮，体无咎言。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1033272" y="4070909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以尔车来，以我贿迁。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033272" y="4361688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033272" y="4652467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于嗟鸠兮，无食桑葚！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033272" y="4943246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于嗟女兮，无与士耽！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1033272" y="5234026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士之耽兮，犹可说也。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033272" y="5524805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女之耽兮，不可说也！</a:t>
            </a:r>
            <a:endParaRPr lang="en-US" sz="2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初见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第一次完整听读｜第四至第六章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777240" y="1234440"/>
            <a:ext cx="10652760" cy="4800600"/>
          </a:xfrm>
          <a:prstGeom prst="roundRect">
            <a:avLst>
              <a:gd name="adj" fmla="val 952"/>
            </a:avLst>
          </a:prstGeom>
          <a:solidFill>
            <a:srgbClr val="383129"/>
          </a:solidFill>
          <a:ln w="14605">
            <a:solidFill>
              <a:srgbClr val="725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453896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桑之落矣，其黄而陨。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033272" y="1744675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自我徂尔，三岁食贫。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033272" y="2035454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淇水汤汤，渐车帷裳。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033272" y="2326234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女也不爽，士贰其行。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033272" y="2617013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士也罔极，二三其德。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033272" y="2907792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三岁为妇，靡室劳矣。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033272" y="3198571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夙兴夜寐，靡有朝矣。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033272" y="3489350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言既遂矣，至于暴矣。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033272" y="3780130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兄弟不知，咥其笑矣。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1033272" y="4070909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静言思之，躬自悼矣。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033272" y="4361688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及尔偕老，老使我怨。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033272" y="4652467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淇则有岸，隰则有泮。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033272" y="4943246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总角之宴，言笑晏晏。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1033272" y="5234026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信誓旦旦，不思其反。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033272" y="5524805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反是不思，亦已焉哉！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67F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初见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把第一次听见的《氓》留在纸上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60120" y="1572768"/>
            <a:ext cx="10241280" cy="1920240"/>
          </a:xfrm>
          <a:prstGeom prst="roundRect">
            <a:avLst>
              <a:gd name="adj" fmla="val 2381"/>
            </a:avLst>
          </a:prstGeom>
          <a:solidFill>
            <a:srgbClr val="FFFCF7"/>
          </a:solidFill>
          <a:ln w="13970">
            <a:solidFill>
              <a:srgbClr val="C5B3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214884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“　　　　　　　　　　　　　　　　　　　　　　　　”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051560" y="4251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A67F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我看见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1097280" y="5029200"/>
            <a:ext cx="1828800" cy="0"/>
          </a:xfrm>
          <a:prstGeom prst="line">
            <a:avLst/>
          </a:prstGeom>
          <a:noFill/>
          <a:ln w="16510">
            <a:solidFill>
              <a:srgbClr val="A67F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4251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我听见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4754880" y="5029200"/>
            <a:ext cx="1828800" cy="0"/>
          </a:xfrm>
          <a:prstGeom prst="line">
            <a:avLst/>
          </a:prstGeom>
          <a:noFill/>
          <a:ln w="16510">
            <a:solidFill>
              <a:srgbClr val="446E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4251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我想问</a:t>
            </a:r>
            <a:endParaRPr lang="en-US" sz="2500" dirty="0"/>
          </a:p>
        </p:txBody>
      </p:sp>
      <p:sp>
        <p:nvSpPr>
          <p:cNvPr id="13" name="Shape 11"/>
          <p:cNvSpPr/>
          <p:nvPr/>
        </p:nvSpPr>
        <p:spPr>
          <a:xfrm>
            <a:off x="8412480" y="5029200"/>
            <a:ext cx="1828800" cy="0"/>
          </a:xfrm>
          <a:prstGeom prst="line">
            <a:avLst/>
          </a:prstGeom>
          <a:noFill/>
          <a:ln w="16510">
            <a:solidFill>
              <a:srgbClr val="7252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66928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只留下一处真正让你停住的声音。</a:t>
            </a:r>
            <a:endParaRPr lang="en-US" sz="2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初见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读懂六章，我们要回答什么？</a:t>
            </a:r>
            <a:endParaRPr lang="en-US" sz="3700" dirty="0"/>
          </a:p>
        </p:txBody>
      </p:sp>
      <p:sp>
        <p:nvSpPr>
          <p:cNvPr id="6" name="Text 4"/>
          <p:cNvSpPr/>
          <p:nvPr/>
        </p:nvSpPr>
        <p:spPr>
          <a:xfrm>
            <a:off x="1143000" y="1618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874520" y="1883664"/>
            <a:ext cx="685800" cy="0"/>
          </a:xfrm>
          <a:prstGeom prst="line">
            <a:avLst/>
          </a:prstGeom>
          <a:noFill/>
          <a:ln w="30480">
            <a:solidFill>
              <a:srgbClr val="A67F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1572768"/>
            <a:ext cx="7909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她经历了什么？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143000" y="3035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CE9E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1874520" y="3300984"/>
            <a:ext cx="685800" cy="0"/>
          </a:xfrm>
          <a:prstGeom prst="line">
            <a:avLst/>
          </a:prstGeom>
          <a:noFill/>
          <a:ln w="30480">
            <a:solidFill>
              <a:srgbClr val="446E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2990088"/>
            <a:ext cx="7909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她婚后的不幸，在生活中是什么样子？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43000" y="4453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DDE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1874520" y="4718304"/>
            <a:ext cx="685800" cy="0"/>
          </a:xfrm>
          <a:prstGeom prst="line">
            <a:avLst/>
          </a:prstGeom>
          <a:noFill/>
          <a:ln w="30480">
            <a:solidFill>
              <a:srgbClr val="7252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8920" y="4407408"/>
            <a:ext cx="7909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这场婚姻为什么走到这一步？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14400" y="5779008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ED0B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先跟着事情走，再看日子，最后追问原因。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67F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第一章｜两个人怎样走近婚事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4251960"/>
          </a:xfrm>
          <a:prstGeom prst="roundRect">
            <a:avLst>
              <a:gd name="adj" fmla="val 1075"/>
            </a:avLst>
          </a:prstGeom>
          <a:solidFill>
            <a:srgbClr val="FFFCF7"/>
          </a:solidFill>
          <a:ln w="14605">
            <a:solidFill>
              <a:srgbClr val="A67F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787652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氓之蚩蚩，抱布贸丝。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33272" y="2446020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匪来贸丝，来即我谋。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33272" y="3104388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送子涉淇，至于顿丘。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33272" y="3762756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匪我愆期，子无良媒。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033272" y="4421124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将子无怒，秋以为期。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14400" y="5742432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67F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圈一圈他做的事｜划一划她做的事</a:t>
            </a:r>
            <a:endParaRPr lang="en-US" sz="2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67F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贸丝，还是来谋？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60120" y="182880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A67F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抱布贸丝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864608" y="1755648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9447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446520" y="1828800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来即我谋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1371600" y="2971800"/>
            <a:ext cx="9098280" cy="0"/>
          </a:xfrm>
          <a:prstGeom prst="line">
            <a:avLst/>
          </a:prstGeom>
          <a:noFill/>
          <a:ln w="17780">
            <a:solidFill>
              <a:srgbClr val="C5B3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3337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51483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诗先让我们看见的动作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4526280" y="3337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9447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话在这里转弯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6537960" y="3337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51483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女子随后说明的来意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914400" y="502920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先说成自己的自然话：此刻能看见什么，还不能断言什么？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67F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她把他送了多远？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508760" y="3218688"/>
            <a:ext cx="9144000" cy="0"/>
          </a:xfrm>
          <a:prstGeom prst="line">
            <a:avLst/>
          </a:prstGeom>
          <a:noFill/>
          <a:ln w="27940">
            <a:solidFill>
              <a:srgbClr val="C5B39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2395728"/>
            <a:ext cx="1600200" cy="1600200"/>
          </a:xfrm>
          <a:prstGeom prst="ellipse">
            <a:avLst/>
          </a:prstGeom>
          <a:solidFill>
            <a:srgbClr val="FFFCF7"/>
          </a:solidFill>
          <a:ln w="31750">
            <a:solidFill>
              <a:srgbClr val="A67F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779776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A67F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5486400" y="2395728"/>
            <a:ext cx="1600200" cy="1600200"/>
          </a:xfrm>
          <a:prstGeom prst="ellipse">
            <a:avLst/>
          </a:prstGeom>
          <a:solidFill>
            <a:srgbClr val="FFFCF7"/>
          </a:solidFill>
          <a:ln w="31750">
            <a:solidFill>
              <a:srgbClr val="446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2779776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涉</a:t>
            </a:r>
            <a:endParaRPr lang="en-US" sz="4200" dirty="0"/>
          </a:p>
        </p:txBody>
      </p:sp>
      <p:sp>
        <p:nvSpPr>
          <p:cNvPr id="11" name="Shape 9"/>
          <p:cNvSpPr/>
          <p:nvPr/>
        </p:nvSpPr>
        <p:spPr>
          <a:xfrm>
            <a:off x="9738360" y="2395728"/>
            <a:ext cx="1600200" cy="1600200"/>
          </a:xfrm>
          <a:prstGeom prst="ellipse">
            <a:avLst/>
          </a:prstGeom>
          <a:solidFill>
            <a:srgbClr val="FFFCF7"/>
          </a:solidFill>
          <a:ln w="31750">
            <a:solidFill>
              <a:srgbClr val="7252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38360" y="2779776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至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5074920" y="4023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淇水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144000" y="4023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顿丘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4400" y="525780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不用‘她很投入’替代这段路。让三个动词自己走起来。</a:t>
            </a:r>
            <a:endParaRPr lang="en-US" sz="2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67F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她怎样把婚事继续说下去？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691640"/>
            <a:ext cx="3337560" cy="2331720"/>
          </a:xfrm>
          <a:prstGeom prst="roundRect">
            <a:avLst>
              <a:gd name="adj" fmla="val 1961"/>
            </a:avLst>
          </a:prstGeom>
          <a:solidFill>
            <a:srgbClr val="EFE3CF"/>
          </a:solidFill>
          <a:ln w="15240">
            <a:solidFill>
              <a:srgbClr val="A67F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574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匪我愆期，子无良媒。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280160" y="3383280"/>
            <a:ext cx="2331720" cy="0"/>
          </a:xfrm>
          <a:prstGeom prst="line">
            <a:avLst/>
          </a:prstGeom>
          <a:noFill/>
          <a:ln w="15875">
            <a:solidFill>
              <a:srgbClr val="A67F4A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72000" y="1691640"/>
            <a:ext cx="3337560" cy="2331720"/>
          </a:xfrm>
          <a:prstGeom prst="roundRect">
            <a:avLst>
              <a:gd name="adj" fmla="val 1961"/>
            </a:avLst>
          </a:prstGeom>
          <a:solidFill>
            <a:srgbClr val="DCE9E8"/>
          </a:solidFill>
          <a:ln w="15240">
            <a:solidFill>
              <a:srgbClr val="446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20574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5074920" y="3383280"/>
            <a:ext cx="2331720" cy="0"/>
          </a:xfrm>
          <a:prstGeom prst="line">
            <a:avLst/>
          </a:prstGeom>
          <a:noFill/>
          <a:ln w="15875">
            <a:solidFill>
              <a:srgbClr val="446E7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8366760" y="1691640"/>
            <a:ext cx="3337560" cy="2331720"/>
          </a:xfrm>
          <a:prstGeom prst="roundRect">
            <a:avLst>
              <a:gd name="adj" fmla="val 1961"/>
            </a:avLst>
          </a:prstGeom>
          <a:solidFill>
            <a:srgbClr val="E9DDE2"/>
          </a:solidFill>
          <a:ln w="15240">
            <a:solidFill>
              <a:srgbClr val="7252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0" y="20574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秋以为期。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8869680" y="3383280"/>
            <a:ext cx="2331720" cy="0"/>
          </a:xfrm>
          <a:prstGeom prst="line">
            <a:avLst/>
          </a:prstGeom>
          <a:noFill/>
          <a:ln w="15875">
            <a:solidFill>
              <a:srgbClr val="72526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914400" y="498348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先说成自己的话，再试着分一分：她怎样把婚事继续说下去？</a:t>
            </a:r>
            <a:endParaRPr lang="en-US" sz="2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把第一章讲成一段故事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3154680"/>
          </a:xfrm>
          <a:prstGeom prst="roundRect">
            <a:avLst>
              <a:gd name="adj" fmla="val 1449"/>
            </a:avLst>
          </a:prstGeom>
          <a:solidFill>
            <a:srgbClr val="383129"/>
          </a:solidFill>
          <a:ln w="14605">
            <a:solidFill>
              <a:srgbClr val="A67F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527048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氓之蚩蚩，抱布贸丝。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033272" y="2070202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匪来贸丝，来即我谋。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1033272" y="2613355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送子涉淇，至于顿丘。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1033272" y="3156509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匪我愆期，子无良媒。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1033272" y="3699662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将子无怒，秋以为期。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914400" y="5074920"/>
            <a:ext cx="10360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合书讲清：他怎样来，她怎样送，两个人怎样约。</a:t>
            </a:r>
            <a:endParaRPr lang="en-US" sz="2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46E78"/>
          </a:solidFill>
          <a:ln w="12700">
            <a:solidFill>
              <a:srgbClr val="446E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46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第二章｜她站在哪里等？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4251960"/>
          </a:xfrm>
          <a:prstGeom prst="roundRect">
            <a:avLst>
              <a:gd name="adj" fmla="val 1075"/>
            </a:avLst>
          </a:prstGeom>
          <a:solidFill>
            <a:srgbClr val="FFFCF7"/>
          </a:solidFill>
          <a:ln w="14605">
            <a:solidFill>
              <a:srgbClr val="446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787652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乘彼垝垣，以望复关。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33272" y="2446020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不见复关，泣涕涟涟。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33272" y="3104388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既见复关，载笑载言。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33272" y="3762756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尔卜尔筮，体无咎言。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033272" y="4421124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以尔车来，以我贿迁。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14400" y="5742432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乘—望—不见｜她站在哪里，目光投向哪里？</a:t>
            </a:r>
            <a:endParaRPr lang="en-US" sz="2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46E78"/>
          </a:solidFill>
          <a:ln w="12700">
            <a:solidFill>
              <a:srgbClr val="446E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46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不见｜既见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481328"/>
            <a:ext cx="5074920" cy="3429000"/>
          </a:xfrm>
          <a:prstGeom prst="roundRect">
            <a:avLst>
              <a:gd name="adj" fmla="val 1333"/>
            </a:avLst>
          </a:prstGeom>
          <a:solidFill>
            <a:srgbClr val="DCE9E8"/>
          </a:solidFill>
          <a:ln w="15240">
            <a:solidFill>
              <a:srgbClr val="446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8288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不见复关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097280" y="278892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泣涕涟涟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355080" y="1481328"/>
            <a:ext cx="5074920" cy="3429000"/>
          </a:xfrm>
          <a:prstGeom prst="roundRect">
            <a:avLst>
              <a:gd name="adj" fmla="val 1333"/>
            </a:avLst>
          </a:prstGeom>
          <a:solidFill>
            <a:srgbClr val="E9DDE2"/>
          </a:solidFill>
          <a:ln w="15240">
            <a:solidFill>
              <a:srgbClr val="7252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8288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既见复关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675120" y="278892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载笑载言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5358384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哪些原词彼此照应？声音从哪里真正转过去？</a:t>
            </a:r>
            <a:endParaRPr lang="en-US" sz="2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46E78"/>
          </a:solidFill>
          <a:ln w="12700">
            <a:solidFill>
              <a:srgbClr val="446E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卜筮以后，婚事怎样走到迁移？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143000" y="3337560"/>
            <a:ext cx="9875520" cy="0"/>
          </a:xfrm>
          <a:prstGeom prst="line">
            <a:avLst/>
          </a:prstGeom>
          <a:noFill/>
          <a:ln w="20320">
            <a:solidFill>
              <a:srgbClr val="C5B39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2807208"/>
            <a:ext cx="1051560" cy="1051560"/>
          </a:xfrm>
          <a:prstGeom prst="ellipse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574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卜筮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40690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尔卜尔筮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870960" y="2807208"/>
            <a:ext cx="1051560" cy="1051560"/>
          </a:xfrm>
          <a:prstGeom prst="ellipse">
            <a:avLst/>
          </a:prstGeom>
          <a:solidFill>
            <a:srgbClr val="657653"/>
          </a:solidFill>
          <a:ln w="12700">
            <a:solidFill>
              <a:srgbClr val="6576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05200" y="20574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无咎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13760" y="40690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体无咎言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736080" y="2807208"/>
            <a:ext cx="1051560" cy="1051560"/>
          </a:xfrm>
          <a:prstGeom prst="ellipse">
            <a:avLst/>
          </a:prstGeom>
          <a:solidFill>
            <a:srgbClr val="446E78"/>
          </a:solidFill>
          <a:ln w="12700">
            <a:solidFill>
              <a:srgbClr val="446E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0320" y="20574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车来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278880" y="40690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以尔车来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601200" y="2807208"/>
            <a:ext cx="1051560" cy="1051560"/>
          </a:xfrm>
          <a:prstGeom prst="ellipse">
            <a:avLst/>
          </a:prstGeom>
          <a:solidFill>
            <a:srgbClr val="725260"/>
          </a:solidFill>
          <a:ln w="12700">
            <a:solidFill>
              <a:srgbClr val="7252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20574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贿迁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44000" y="40690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以我贿迁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539496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辨清双方主体，再把占问到迁嫁说成因序。</a:t>
            </a:r>
            <a:endParaRPr lang="en-US" sz="2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46E78"/>
          </a:solidFill>
          <a:ln w="12700">
            <a:solidFill>
              <a:srgbClr val="446E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46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两章接力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481328"/>
            <a:ext cx="5074920" cy="3429000"/>
          </a:xfrm>
          <a:prstGeom prst="roundRect">
            <a:avLst>
              <a:gd name="adj" fmla="val 1333"/>
            </a:avLst>
          </a:prstGeom>
          <a:solidFill>
            <a:srgbClr val="DCE9E8"/>
          </a:solidFill>
          <a:ln w="15240">
            <a:solidFill>
              <a:srgbClr val="446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8288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第一章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097280" y="278892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来—送—约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355080" y="1481328"/>
            <a:ext cx="5074920" cy="3429000"/>
          </a:xfrm>
          <a:prstGeom prst="roundRect">
            <a:avLst>
              <a:gd name="adj" fmla="val 1333"/>
            </a:avLst>
          </a:prstGeom>
          <a:solidFill>
            <a:srgbClr val="E9DDE2"/>
          </a:solidFill>
          <a:ln w="15240">
            <a:solidFill>
              <a:srgbClr val="7252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8288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第二章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675120" y="278892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等—见—迁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5358384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‘秋以为期’，怎样把两章接成一条因果？</a:t>
            </a:r>
            <a:endParaRPr lang="en-US" sz="2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653"/>
          </a:solidFill>
          <a:ln w="12700">
            <a:solidFill>
              <a:srgbClr val="6576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576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第三章｜故事为什么先停在桑叶前？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4251960"/>
          </a:xfrm>
          <a:prstGeom prst="roundRect">
            <a:avLst>
              <a:gd name="adj" fmla="val 1075"/>
            </a:avLst>
          </a:prstGeom>
          <a:solidFill>
            <a:srgbClr val="FFFCF7"/>
          </a:solidFill>
          <a:ln w="14605">
            <a:solidFill>
              <a:srgbClr val="6576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787652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33272" y="2446020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于嗟鸠兮，无食桑葚。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33272" y="3104388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于嗟女兮，无与士耽。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33272" y="3762756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士之耽兮，犹可说也。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033272" y="4421124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女之耽兮，不可说也。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14400" y="5742432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5765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故事刚走到迁嫁，为什么先让一树桑叶进入眼前？</a:t>
            </a:r>
            <a:endParaRPr lang="en-US" sz="2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653"/>
          </a:solidFill>
          <a:ln w="12700">
            <a:solidFill>
              <a:srgbClr val="6576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576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10360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65765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377440" y="3337560"/>
            <a:ext cx="7434072" cy="0"/>
          </a:xfrm>
          <a:prstGeom prst="line">
            <a:avLst/>
          </a:prstGeom>
          <a:noFill/>
          <a:ln w="15240">
            <a:solidFill>
              <a:srgbClr val="DED0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25196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色泽、质地、生命感｜先留下感受，再留下可能。</a:t>
            </a:r>
            <a:endParaRPr lang="en-US" sz="2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653"/>
          </a:solidFill>
          <a:ln w="12700">
            <a:solidFill>
              <a:srgbClr val="6576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蒙住前两句，少了什么？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E9DDE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于嗟女兮，无与士耽！</a:t>
            </a:r>
            <a:endParaRPr lang="en-US" sz="4500" dirty="0"/>
          </a:p>
        </p:txBody>
      </p:sp>
      <p:sp>
        <p:nvSpPr>
          <p:cNvPr id="7" name="Shape 5"/>
          <p:cNvSpPr/>
          <p:nvPr/>
        </p:nvSpPr>
        <p:spPr>
          <a:xfrm>
            <a:off x="1051560" y="2971800"/>
            <a:ext cx="4526280" cy="1143000"/>
          </a:xfrm>
          <a:prstGeom prst="roundRect">
            <a:avLst>
              <a:gd name="adj" fmla="val 4000"/>
            </a:avLst>
          </a:prstGeom>
          <a:solidFill>
            <a:srgbClr val="383129"/>
          </a:solidFill>
          <a:ln w="15240">
            <a:solidFill>
              <a:srgbClr val="7252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2971800"/>
            <a:ext cx="4526280" cy="1143000"/>
          </a:xfrm>
          <a:prstGeom prst="roundRect">
            <a:avLst>
              <a:gd name="adj" fmla="val 4000"/>
            </a:avLst>
          </a:prstGeom>
          <a:solidFill>
            <a:srgbClr val="383129"/>
          </a:solidFill>
          <a:ln w="15240">
            <a:solidFill>
              <a:srgbClr val="A67F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318211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只读这一句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25880" y="357530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E9DDE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声音怎样落下？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858000" y="318211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再恢复前两句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858000" y="357530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你又多听见了什么？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14400" y="507492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先遮住，再恢复；请让原词替你回答。</a:t>
            </a:r>
            <a:endParaRPr 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653"/>
          </a:solidFill>
          <a:ln w="12700">
            <a:solidFill>
              <a:srgbClr val="6576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576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21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同是‘耽’，两个人都能脱身吗？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481328"/>
            <a:ext cx="5074920" cy="3429000"/>
          </a:xfrm>
          <a:prstGeom prst="roundRect">
            <a:avLst>
              <a:gd name="adj" fmla="val 1333"/>
            </a:avLst>
          </a:prstGeom>
          <a:solidFill>
            <a:srgbClr val="DCE9E8"/>
          </a:solidFill>
          <a:ln w="15240">
            <a:solidFill>
              <a:srgbClr val="446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8288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士之耽兮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097280" y="278892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犹可说也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355080" y="1481328"/>
            <a:ext cx="5074920" cy="3429000"/>
          </a:xfrm>
          <a:prstGeom prst="roundRect">
            <a:avLst>
              <a:gd name="adj" fmla="val 1333"/>
            </a:avLst>
          </a:prstGeom>
          <a:solidFill>
            <a:srgbClr val="E9DDE2"/>
          </a:solidFill>
          <a:ln w="15240">
            <a:solidFill>
              <a:srgbClr val="7252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8288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女之耽兮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675120" y="278892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不可说也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5358384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同样的‘耽/说’，哪些词改变了两人的脱身处境？</a:t>
            </a:r>
            <a:endParaRPr lang="en-US" sz="2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653"/>
          </a:solidFill>
          <a:ln w="12700">
            <a:solidFill>
              <a:srgbClr val="6576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22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故事为什么在这里停了一停？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3154680"/>
          </a:xfrm>
          <a:prstGeom prst="roundRect">
            <a:avLst>
              <a:gd name="adj" fmla="val 1449"/>
            </a:avLst>
          </a:prstGeom>
          <a:solidFill>
            <a:srgbClr val="383129"/>
          </a:solidFill>
          <a:ln w="14605">
            <a:solidFill>
              <a:srgbClr val="6576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527048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033272" y="2070202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于嗟鸠兮，无食桑葚。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1033272" y="2613355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于嗟女兮，无与士耽。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1033272" y="3156509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士之耽兮，犹可说也。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1033272" y="3699662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女之耽兮，不可说也。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914400" y="5074920"/>
            <a:ext cx="10360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迁嫁以后——桑叶、斑鸠、女子的劝告｜这是谁的回望？</a:t>
            </a:r>
            <a:endParaRPr lang="en-US" sz="2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58B3E"/>
          </a:solidFill>
          <a:ln w="12700">
            <a:solidFill>
              <a:srgbClr val="B58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58B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23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第四章｜桑叶落下以后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4251960"/>
          </a:xfrm>
          <a:prstGeom prst="roundRect">
            <a:avLst>
              <a:gd name="adj" fmla="val 1075"/>
            </a:avLst>
          </a:prstGeom>
          <a:solidFill>
            <a:srgbClr val="FFFCF7"/>
          </a:solidFill>
          <a:ln w="14605">
            <a:solidFill>
              <a:srgbClr val="B58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787652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桑之落矣，其黄而陨。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33272" y="2446020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自我徂尔，三岁食贫。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33272" y="3104388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淇水汤汤，渐车帷裳。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33272" y="3762756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女也不爽，士贰其行。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033272" y="4421124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士也罔极，二三其德。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14400" y="5742432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58B3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圈桑叶的新状态｜画生活事实｜框第一处责任判断</a:t>
            </a:r>
            <a:endParaRPr lang="en-US" sz="2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58B3E"/>
          </a:solidFill>
          <a:ln w="12700">
            <a:solidFill>
              <a:srgbClr val="B58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58B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24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沃若｜黄而陨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481328"/>
            <a:ext cx="5074920" cy="3429000"/>
          </a:xfrm>
          <a:prstGeom prst="roundRect">
            <a:avLst>
              <a:gd name="adj" fmla="val 1333"/>
            </a:avLst>
          </a:prstGeom>
          <a:solidFill>
            <a:srgbClr val="DCE9E8"/>
          </a:solidFill>
          <a:ln w="15240">
            <a:solidFill>
              <a:srgbClr val="446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8288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097280" y="278892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其叶沃若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355080" y="1481328"/>
            <a:ext cx="5074920" cy="3429000"/>
          </a:xfrm>
          <a:prstGeom prst="roundRect">
            <a:avLst>
              <a:gd name="adj" fmla="val 1333"/>
            </a:avLst>
          </a:prstGeom>
          <a:solidFill>
            <a:srgbClr val="E9DDE2"/>
          </a:solidFill>
          <a:ln w="15240">
            <a:solidFill>
              <a:srgbClr val="7252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8288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桑之落矣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675120" y="278892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其黄而陨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5358384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翻回原来的想法：保留、改写，还是撤回？</a:t>
            </a:r>
            <a:endParaRPr lang="en-US" sz="2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58B3E"/>
          </a:solidFill>
          <a:ln w="12700">
            <a:solidFill>
              <a:srgbClr val="B58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58B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25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三岁食贫｜淇水汤汤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481328"/>
            <a:ext cx="5074920" cy="3429000"/>
          </a:xfrm>
          <a:prstGeom prst="roundRect">
            <a:avLst>
              <a:gd name="adj" fmla="val 1333"/>
            </a:avLst>
          </a:prstGeom>
          <a:solidFill>
            <a:srgbClr val="DCE9E8"/>
          </a:solidFill>
          <a:ln w="15240">
            <a:solidFill>
              <a:srgbClr val="446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8288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三岁食贫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097280" y="278892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一句压着许多年的生活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355080" y="1481328"/>
            <a:ext cx="5074920" cy="3429000"/>
          </a:xfrm>
          <a:prstGeom prst="roundRect">
            <a:avLst>
              <a:gd name="adj" fmla="val 1333"/>
            </a:avLst>
          </a:prstGeom>
          <a:solidFill>
            <a:srgbClr val="E9DDE2"/>
          </a:solidFill>
          <a:ln w="15240">
            <a:solidFill>
              <a:srgbClr val="7252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8288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淇水汤汤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675120" y="278892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一句展开渡水的一刻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5358384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用一句自然话，让多年与当下同时存在。</a:t>
            </a:r>
            <a:endParaRPr lang="en-US" sz="2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58B3E"/>
          </a:solidFill>
          <a:ln w="12700">
            <a:solidFill>
              <a:srgbClr val="B58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26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不爽｜贰行｜罔极｜二三其德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914400" y="1645920"/>
            <a:ext cx="4754880" cy="1051560"/>
          </a:xfrm>
          <a:prstGeom prst="roundRect">
            <a:avLst>
              <a:gd name="adj" fmla="val 4348"/>
            </a:avLst>
          </a:prstGeom>
          <a:solidFill>
            <a:srgbClr val="383129"/>
          </a:solidFill>
          <a:ln w="15875">
            <a:solidFill>
              <a:srgbClr val="A67F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883664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不爽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337560" y="2258568"/>
            <a:ext cx="1828800" cy="0"/>
          </a:xfrm>
          <a:prstGeom prst="line">
            <a:avLst/>
          </a:prstGeom>
          <a:noFill/>
          <a:ln w="15875">
            <a:solidFill>
              <a:srgbClr val="A67F4A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6492240" y="1645920"/>
            <a:ext cx="4754880" cy="1051560"/>
          </a:xfrm>
          <a:prstGeom prst="roundRect">
            <a:avLst>
              <a:gd name="adj" fmla="val 4348"/>
            </a:avLst>
          </a:prstGeom>
          <a:solidFill>
            <a:srgbClr val="383129"/>
          </a:solidFill>
          <a:ln w="15875">
            <a:solidFill>
              <a:srgbClr val="7252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1883664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二三其德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8915400" y="2258568"/>
            <a:ext cx="1828800" cy="0"/>
          </a:xfrm>
          <a:prstGeom prst="line">
            <a:avLst/>
          </a:prstGeom>
          <a:noFill/>
          <a:ln w="15875">
            <a:solidFill>
              <a:srgbClr val="72526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914400" y="3154680"/>
            <a:ext cx="4754880" cy="1051560"/>
          </a:xfrm>
          <a:prstGeom prst="roundRect">
            <a:avLst>
              <a:gd name="adj" fmla="val 4348"/>
            </a:avLst>
          </a:prstGeom>
          <a:solidFill>
            <a:srgbClr val="383129"/>
          </a:solidFill>
          <a:ln w="15875">
            <a:solidFill>
              <a:srgbClr val="446E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3392424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贰行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3337560" y="3767328"/>
            <a:ext cx="1828800" cy="0"/>
          </a:xfrm>
          <a:prstGeom prst="line">
            <a:avLst/>
          </a:prstGeom>
          <a:noFill/>
          <a:ln w="15875">
            <a:solidFill>
              <a:srgbClr val="446E78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492240" y="3154680"/>
            <a:ext cx="4754880" cy="1051560"/>
          </a:xfrm>
          <a:prstGeom prst="roundRect">
            <a:avLst>
              <a:gd name="adj" fmla="val 4348"/>
            </a:avLst>
          </a:prstGeom>
          <a:solidFill>
            <a:srgbClr val="383129"/>
          </a:solidFill>
          <a:ln w="15875">
            <a:solidFill>
              <a:srgbClr val="9447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3392424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罔极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8915400" y="3767328"/>
            <a:ext cx="1828800" cy="0"/>
          </a:xfrm>
          <a:prstGeom prst="line">
            <a:avLst/>
          </a:prstGeom>
          <a:noFill/>
          <a:ln w="15875">
            <a:solidFill>
              <a:srgbClr val="94473B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914400" y="516636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先说准每个词，再用原句画出：语意怎样一步步加重？</a:t>
            </a:r>
            <a:endParaRPr lang="en-US" sz="2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58B3E"/>
          </a:solidFill>
          <a:ln w="12700">
            <a:solidFill>
              <a:srgbClr val="B58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27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桑叶落下以后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3291840" cy="2423160"/>
          </a:xfrm>
          <a:prstGeom prst="roundRect">
            <a:avLst>
              <a:gd name="adj" fmla="val 1887"/>
            </a:avLst>
          </a:prstGeom>
          <a:solidFill>
            <a:srgbClr val="383129"/>
          </a:solidFill>
          <a:ln w="15240">
            <a:solidFill>
              <a:srgbClr val="6576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0848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物象变化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1325880" y="3246120"/>
            <a:ext cx="2286000" cy="0"/>
          </a:xfrm>
          <a:prstGeom prst="line">
            <a:avLst/>
          </a:prstGeom>
          <a:noFill/>
          <a:ln w="15240">
            <a:solidFill>
              <a:srgbClr val="657653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617720" y="1691640"/>
            <a:ext cx="3291840" cy="2423160"/>
          </a:xfrm>
          <a:prstGeom prst="roundRect">
            <a:avLst>
              <a:gd name="adj" fmla="val 1887"/>
            </a:avLst>
          </a:prstGeom>
          <a:solidFill>
            <a:srgbClr val="383129"/>
          </a:solidFill>
          <a:ln w="15240">
            <a:solidFill>
              <a:srgbClr val="446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20848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婚后生活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120640" y="3246120"/>
            <a:ext cx="2286000" cy="0"/>
          </a:xfrm>
          <a:prstGeom prst="line">
            <a:avLst/>
          </a:prstGeom>
          <a:noFill/>
          <a:ln w="15240">
            <a:solidFill>
              <a:srgbClr val="446E7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8412480" y="1691640"/>
            <a:ext cx="3291840" cy="2423160"/>
          </a:xfrm>
          <a:prstGeom prst="roundRect">
            <a:avLst>
              <a:gd name="adj" fmla="val 1887"/>
            </a:avLst>
          </a:prstGeom>
          <a:solidFill>
            <a:srgbClr val="383129"/>
          </a:solidFill>
          <a:ln w="15240">
            <a:solidFill>
              <a:srgbClr val="7252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41080" y="20848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责任判断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8915400" y="3246120"/>
            <a:ext cx="2286000" cy="0"/>
          </a:xfrm>
          <a:prstGeom prst="line">
            <a:avLst/>
          </a:prstGeom>
          <a:noFill/>
          <a:ln w="15240">
            <a:solidFill>
              <a:srgbClr val="72526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914400" y="516636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合书四十五秒，把三层讲成一段。</a:t>
            </a:r>
            <a:endParaRPr lang="en-US" sz="3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25260"/>
          </a:solidFill>
          <a:ln w="12700">
            <a:solidFill>
              <a:srgbClr val="7252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2526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28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第五章｜谁在忙，谁在笑，谁在独自思量？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4251960"/>
          </a:xfrm>
          <a:prstGeom prst="roundRect">
            <a:avLst>
              <a:gd name="adj" fmla="val 1075"/>
            </a:avLst>
          </a:prstGeom>
          <a:solidFill>
            <a:srgbClr val="FFFCF7"/>
          </a:solidFill>
          <a:ln w="14605">
            <a:solidFill>
              <a:srgbClr val="725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787652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三岁为妇，靡室劳矣。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33272" y="2446020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夙兴夜寐，靡有朝矣。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33272" y="3104388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言既遂矣，至于暴矣。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33272" y="3762756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兄弟不知，咥其笑矣。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033272" y="4421124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静言思之，躬自悼矣。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14400" y="5742432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谁在忙？谁在笑？谁在独自思量？</a:t>
            </a:r>
            <a:endParaRPr lang="en-US" sz="2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25260"/>
          </a:solidFill>
          <a:ln w="12700">
            <a:solidFill>
              <a:srgbClr val="7252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2526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29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一天，叠成许多年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005840" y="1828800"/>
            <a:ext cx="10058400" cy="2651760"/>
          </a:xfrm>
          <a:prstGeom prst="roundRect">
            <a:avLst>
              <a:gd name="adj" fmla="val 1724"/>
            </a:avLst>
          </a:prstGeom>
          <a:solidFill>
            <a:srgbClr val="EFE3CF"/>
          </a:solidFill>
          <a:ln w="13970">
            <a:solidFill>
              <a:srgbClr val="A67F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2468880"/>
            <a:ext cx="8046720" cy="1371600"/>
          </a:xfrm>
          <a:prstGeom prst="roundRect">
            <a:avLst>
              <a:gd name="adj" fmla="val 3333"/>
            </a:avLst>
          </a:prstGeom>
          <a:solidFill>
            <a:srgbClr val="FFFCF7"/>
          </a:solidFill>
          <a:ln w="13970">
            <a:solidFill>
              <a:srgbClr val="446E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20116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A67F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三岁为妇｜靡有朝矣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2423160" y="288036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夙兴　　　　　　　　　　　　　　夜寐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914400" y="516636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把一天的首尾，叠进一日又一日。</a:t>
            </a:r>
            <a:endParaRPr lang="en-US" sz="2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25260"/>
          </a:solidFill>
          <a:ln w="12700">
            <a:solidFill>
              <a:srgbClr val="7252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2526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后来发生的事，让你怎样回看最初？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481328"/>
            <a:ext cx="5074920" cy="3429000"/>
          </a:xfrm>
          <a:prstGeom prst="roundRect">
            <a:avLst>
              <a:gd name="adj" fmla="val 1333"/>
            </a:avLst>
          </a:prstGeom>
          <a:solidFill>
            <a:srgbClr val="DCE9E8"/>
          </a:solidFill>
          <a:ln w="15240">
            <a:solidFill>
              <a:srgbClr val="446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8288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现在能说明什么？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097280" y="278892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________________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________________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355080" y="1481328"/>
            <a:ext cx="5074920" cy="3429000"/>
          </a:xfrm>
          <a:prstGeom prst="roundRect">
            <a:avLst>
              <a:gd name="adj" fmla="val 1333"/>
            </a:avLst>
          </a:prstGeom>
          <a:solidFill>
            <a:srgbClr val="E9DDE2"/>
          </a:solidFill>
          <a:ln w="15240">
            <a:solidFill>
              <a:srgbClr val="7252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8288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仍不能断言什么？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675120" y="278892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________________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________________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5358384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只选一处早期细节，让后来的事实改变目光，也让原词守住边界。</a:t>
            </a:r>
            <a:endParaRPr lang="en-US" sz="2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25260"/>
          </a:solidFill>
          <a:ln w="12700">
            <a:solidFill>
              <a:srgbClr val="7252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31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外面的声音退去以后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9DDE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兄弟不知，咥其笑矣。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5138928" y="19019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C5B39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三秒沉默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223760" y="182880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DCE9E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静言思之，躬自悼矣。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1097280" y="3108960"/>
            <a:ext cx="9966960" cy="0"/>
          </a:xfrm>
          <a:prstGeom prst="line">
            <a:avLst/>
          </a:prstGeom>
          <a:noFill/>
          <a:ln w="13970">
            <a:solidFill>
              <a:srgbClr val="C5B3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25196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外面的声音退去以后，空间里只剩下谁？</a:t>
            </a:r>
            <a:endParaRPr lang="en-US" sz="3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25260"/>
          </a:solidFill>
          <a:ln w="12700">
            <a:solidFill>
              <a:srgbClr val="7252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32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一间屋子里的许多年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960120" y="1417320"/>
            <a:ext cx="10241280" cy="3611880"/>
          </a:xfrm>
          <a:prstGeom prst="roundRect">
            <a:avLst>
              <a:gd name="adj" fmla="val 1266"/>
            </a:avLst>
          </a:prstGeom>
          <a:solidFill>
            <a:srgbClr val="383129"/>
          </a:solidFill>
          <a:ln w="15240">
            <a:solidFill>
              <a:srgbClr val="725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7830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夙兴夜寐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3721608" y="17830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FDDD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既遂至暴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208776" y="17830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9DDE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兄弟不知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695944" y="17830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CE9E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躬自悼矣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554480" y="2880360"/>
            <a:ext cx="9052560" cy="0"/>
          </a:xfrm>
          <a:prstGeom prst="line">
            <a:avLst/>
          </a:prstGeom>
          <a:noFill/>
          <a:ln w="13970">
            <a:solidFill>
              <a:srgbClr val="C5B39B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554480" y="3977640"/>
            <a:ext cx="9052560" cy="0"/>
          </a:xfrm>
          <a:prstGeom prst="line">
            <a:avLst/>
          </a:prstGeom>
          <a:noFill/>
          <a:ln w="13970">
            <a:solidFill>
              <a:srgbClr val="C5B39B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914400" y="544068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四十到六十字｜不添具体家务，不添诗外伤害。</a:t>
            </a:r>
            <a:endParaRPr lang="en-US" sz="2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94473B"/>
          </a:solidFill>
          <a:ln w="12700">
            <a:solidFill>
              <a:srgbClr val="9447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447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33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第六章｜她把哪些旧事重新放回眼前？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4251960"/>
          </a:xfrm>
          <a:prstGeom prst="roundRect">
            <a:avLst>
              <a:gd name="adj" fmla="val 1075"/>
            </a:avLst>
          </a:prstGeom>
          <a:solidFill>
            <a:srgbClr val="FFFCF7"/>
          </a:solidFill>
          <a:ln w="14605">
            <a:solidFill>
              <a:srgbClr val="9447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787652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及尔偕老，老使我怨。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33272" y="2446020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淇则有岸，隰则有泮。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33272" y="3104388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总角之宴，言笑晏晏。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33272" y="3762756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信誓旦旦，不思其反。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033272" y="4421124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反是不思，亦已焉哉。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14400" y="5742432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47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她把哪些旧愿、旧事和誓言重新放回眼前？</a:t>
            </a:r>
            <a:endParaRPr lang="en-US" sz="2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94473B"/>
          </a:solidFill>
          <a:ln w="12700">
            <a:solidFill>
              <a:srgbClr val="9447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447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34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及尔偕老｜老使我怨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481328"/>
            <a:ext cx="5074920" cy="3429000"/>
          </a:xfrm>
          <a:prstGeom prst="roundRect">
            <a:avLst>
              <a:gd name="adj" fmla="val 1333"/>
            </a:avLst>
          </a:prstGeom>
          <a:solidFill>
            <a:srgbClr val="DCE9E8"/>
          </a:solidFill>
          <a:ln w="15240">
            <a:solidFill>
              <a:srgbClr val="446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8288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及尔偕老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097280" y="278892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第一个‘老’：________________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355080" y="1481328"/>
            <a:ext cx="5074920" cy="3429000"/>
          </a:xfrm>
          <a:prstGeom prst="roundRect">
            <a:avLst>
              <a:gd name="adj" fmla="val 1333"/>
            </a:avLst>
          </a:prstGeom>
          <a:solidFill>
            <a:srgbClr val="E9DDE2"/>
          </a:solidFill>
          <a:ln w="15240">
            <a:solidFill>
              <a:srgbClr val="7252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8288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老使我怨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675120" y="278892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第二个‘老’：________________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5358384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同一个字，前后两次分别让你看见怎样的生活？</a:t>
            </a:r>
            <a:endParaRPr lang="en-US" sz="2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94473B"/>
          </a:solidFill>
          <a:ln w="12700">
            <a:solidFill>
              <a:srgbClr val="9447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447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35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淇则有岸，隰则有泮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3154680"/>
          </a:xfrm>
          <a:prstGeom prst="roundRect">
            <a:avLst>
              <a:gd name="adj" fmla="val 1449"/>
            </a:avLst>
          </a:prstGeom>
          <a:solidFill>
            <a:srgbClr val="FFFCF7"/>
          </a:solidFill>
          <a:ln w="14605">
            <a:solidFill>
              <a:srgbClr val="9447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555748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淇则有岸，隰则有泮。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914400" y="5074920"/>
            <a:ext cx="10360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47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先看清有岸、有泮的地貌，再用前后文托住解释。</a:t>
            </a:r>
            <a:endParaRPr lang="en-US" sz="2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94473B"/>
          </a:solidFill>
          <a:ln w="12700">
            <a:solidFill>
              <a:srgbClr val="9447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447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36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旧日欢乐与后来失信，能否同时为真？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1600200" cy="777240"/>
          </a:xfrm>
          <a:prstGeom prst="roundRect">
            <a:avLst>
              <a:gd name="adj" fmla="val 5882"/>
            </a:avLst>
          </a:prstGeom>
          <a:solidFill>
            <a:srgbClr val="EFE3CF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830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A67F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信誓旦旦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2587752" y="1554480"/>
            <a:ext cx="1600200" cy="777240"/>
          </a:xfrm>
          <a:prstGeom prst="roundRect">
            <a:avLst>
              <a:gd name="adj" fmla="val 5882"/>
            </a:avLst>
          </a:prstGeom>
          <a:solidFill>
            <a:srgbClr val="E9DDE2"/>
          </a:solidFill>
          <a:ln w="12700">
            <a:solidFill>
              <a:srgbClr val="7252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79192" y="17830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二三其德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4489704" y="1554480"/>
            <a:ext cx="1600200" cy="777240"/>
          </a:xfrm>
          <a:prstGeom prst="roundRect">
            <a:avLst>
              <a:gd name="adj" fmla="val 5882"/>
            </a:avLst>
          </a:prstGeom>
          <a:solidFill>
            <a:srgbClr val="DCE9E8"/>
          </a:solidFill>
          <a:ln w="12700">
            <a:solidFill>
              <a:srgbClr val="446E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81144" y="17830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言笑晏晏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6391656" y="1554480"/>
            <a:ext cx="1600200" cy="777240"/>
          </a:xfrm>
          <a:prstGeom prst="roundRect">
            <a:avLst>
              <a:gd name="adj" fmla="val 5882"/>
            </a:avLst>
          </a:prstGeom>
          <a:solidFill>
            <a:srgbClr val="EFDDD5"/>
          </a:solidFill>
          <a:ln w="12700">
            <a:solidFill>
              <a:srgbClr val="9447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3096" y="17830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9447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至于暴矣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8293608" y="1554480"/>
            <a:ext cx="1600200" cy="777240"/>
          </a:xfrm>
          <a:prstGeom prst="roundRect">
            <a:avLst>
              <a:gd name="adj" fmla="val 5882"/>
            </a:avLst>
          </a:prstGeom>
          <a:solidFill>
            <a:srgbClr val="E1E7D9"/>
          </a:solidFill>
          <a:ln w="12700">
            <a:solidFill>
              <a:srgbClr val="6576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5048" y="17830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65765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总角之宴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0195560" y="1554480"/>
            <a:ext cx="1600200" cy="777240"/>
          </a:xfrm>
          <a:prstGeom prst="roundRect">
            <a:avLst>
              <a:gd name="adj" fmla="val 5882"/>
            </a:avLst>
          </a:prstGeom>
          <a:solidFill>
            <a:srgbClr val="E9DDE2"/>
          </a:solidFill>
          <a:ln w="12700">
            <a:solidFill>
              <a:srgbClr val="7252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87000" y="17830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不思其反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14400" y="2926080"/>
            <a:ext cx="4846320" cy="1508760"/>
          </a:xfrm>
          <a:prstGeom prst="roundRect">
            <a:avLst>
              <a:gd name="adj" fmla="val 3030"/>
            </a:avLst>
          </a:prstGeom>
          <a:solidFill>
            <a:srgbClr val="FFFCF7"/>
          </a:solidFill>
          <a:ln w="13970">
            <a:solidFill>
              <a:srgbClr val="446E7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2926080"/>
            <a:ext cx="4846320" cy="1508760"/>
          </a:xfrm>
          <a:prstGeom prst="roundRect">
            <a:avLst>
              <a:gd name="adj" fmla="val 3030"/>
            </a:avLst>
          </a:prstGeom>
          <a:solidFill>
            <a:srgbClr val="FFFCF7"/>
          </a:solidFill>
          <a:ln w="13970">
            <a:solidFill>
              <a:srgbClr val="7252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33832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她记得的旧日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6675120" y="33832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后来核验出的事实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14400" y="525780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先独立放置；有犹豫，就让那张原词卡暂时停在中间。</a:t>
            </a:r>
            <a:endParaRPr lang="en-US" sz="2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94473B"/>
          </a:solidFill>
          <a:ln w="12700">
            <a:solidFill>
              <a:srgbClr val="9447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37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反是不思，亦已焉哉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信誓旦旦，不思其反。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E9DDE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反是不思，亦已焉哉！</a:t>
            </a:r>
            <a:endParaRPr lang="en-US" sz="4300" dirty="0"/>
          </a:p>
        </p:txBody>
      </p:sp>
      <p:sp>
        <p:nvSpPr>
          <p:cNvPr id="8" name="Shape 6"/>
          <p:cNvSpPr/>
          <p:nvPr/>
        </p:nvSpPr>
        <p:spPr>
          <a:xfrm>
            <a:off x="960120" y="3703320"/>
            <a:ext cx="4800600" cy="1005840"/>
          </a:xfrm>
          <a:prstGeom prst="roundRect">
            <a:avLst>
              <a:gd name="adj" fmla="val 4545"/>
            </a:avLst>
          </a:prstGeom>
          <a:solidFill>
            <a:srgbClr val="383129"/>
          </a:solidFill>
          <a:ln w="13970">
            <a:solidFill>
              <a:srgbClr val="A67F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3703320"/>
            <a:ext cx="4800600" cy="1005840"/>
          </a:xfrm>
          <a:prstGeom prst="roundRect">
            <a:avLst>
              <a:gd name="adj" fmla="val 4545"/>
            </a:avLst>
          </a:prstGeom>
          <a:solidFill>
            <a:srgbClr val="383129"/>
          </a:solidFill>
          <a:ln w="13970">
            <a:solidFill>
              <a:srgbClr val="446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399592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诗写到了什么？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675120" y="399592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诗没有继续写什么？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525780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先让自己的回答停在原词能够托住的地方。</a:t>
            </a:r>
            <a:endParaRPr lang="en-US" sz="3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94473B"/>
          </a:solidFill>
          <a:ln w="12700">
            <a:solidFill>
              <a:srgbClr val="9447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38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她的一生，怎样走到‘亦已焉哉’？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051560" y="3429000"/>
            <a:ext cx="10058400" cy="0"/>
          </a:xfrm>
          <a:prstGeom prst="line">
            <a:avLst/>
          </a:prstGeom>
          <a:noFill/>
          <a:ln w="17780">
            <a:solidFill>
              <a:srgbClr val="C5B39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926080"/>
            <a:ext cx="1298448" cy="960120"/>
          </a:xfrm>
          <a:prstGeom prst="ellipse">
            <a:avLst/>
          </a:prstGeom>
          <a:solidFill>
            <a:srgbClr val="383129"/>
          </a:solidFill>
          <a:ln w="20320">
            <a:solidFill>
              <a:srgbClr val="A67F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182112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第一章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2560320" y="2926080"/>
            <a:ext cx="1298448" cy="960120"/>
          </a:xfrm>
          <a:prstGeom prst="ellipse">
            <a:avLst/>
          </a:prstGeom>
          <a:solidFill>
            <a:srgbClr val="383129"/>
          </a:solidFill>
          <a:ln w="20320">
            <a:solidFill>
              <a:srgbClr val="446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33472" y="3182112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第二章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4462272" y="2926080"/>
            <a:ext cx="1298448" cy="960120"/>
          </a:xfrm>
          <a:prstGeom prst="ellipse">
            <a:avLst/>
          </a:prstGeom>
          <a:solidFill>
            <a:srgbClr val="383129"/>
          </a:solidFill>
          <a:ln w="20320">
            <a:solidFill>
              <a:srgbClr val="6576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35424" y="3182112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第三章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6364224" y="2926080"/>
            <a:ext cx="1298448" cy="960120"/>
          </a:xfrm>
          <a:prstGeom prst="ellipse">
            <a:avLst/>
          </a:prstGeom>
          <a:solidFill>
            <a:srgbClr val="383129"/>
          </a:solidFill>
          <a:ln w="20320">
            <a:solidFill>
              <a:srgbClr val="B58B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7376" y="3182112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第四章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266176" y="2926080"/>
            <a:ext cx="1298448" cy="960120"/>
          </a:xfrm>
          <a:prstGeom prst="ellipse">
            <a:avLst/>
          </a:prstGeom>
          <a:solidFill>
            <a:srgbClr val="383129"/>
          </a:solidFill>
          <a:ln w="20320">
            <a:solidFill>
              <a:srgbClr val="7252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9328" y="3182112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第五章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0168128" y="2926080"/>
            <a:ext cx="1298448" cy="960120"/>
          </a:xfrm>
          <a:prstGeom prst="ellipse">
            <a:avLst/>
          </a:prstGeom>
          <a:solidFill>
            <a:srgbClr val="725260"/>
          </a:solidFill>
          <a:ln w="20320">
            <a:solidFill>
              <a:srgbClr val="9447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0" y="3182112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第六章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14400" y="5074920"/>
            <a:ext cx="10360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每组为一章留下人物、动作和转折；长卷完成后再画因果箭头。</a:t>
            </a:r>
            <a:endParaRPr lang="en-US" sz="2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1483F"/>
          </a:solidFill>
          <a:ln w="12700">
            <a:solidFill>
              <a:srgbClr val="5148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39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她婚后的不幸，在生活中是什么样子？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22960" y="1325880"/>
            <a:ext cx="6903720" cy="4434840"/>
          </a:xfrm>
          <a:prstGeom prst="roundRect">
            <a:avLst>
              <a:gd name="adj" fmla="val 1031"/>
            </a:avLst>
          </a:prstGeom>
          <a:solidFill>
            <a:srgbClr val="FFFCF7"/>
          </a:solidFill>
          <a:ln w="13970">
            <a:solidFill>
              <a:srgbClr val="446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737360"/>
            <a:ext cx="6172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一段匿名生活文字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1325880" y="2788920"/>
            <a:ext cx="5897880" cy="0"/>
          </a:xfrm>
          <a:prstGeom prst="line">
            <a:avLst/>
          </a:prstGeom>
          <a:noFill/>
          <a:ln w="15240">
            <a:solidFill>
              <a:srgbClr val="DED0B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325880" y="3794760"/>
            <a:ext cx="5897880" cy="0"/>
          </a:xfrm>
          <a:prstGeom prst="line">
            <a:avLst/>
          </a:prstGeom>
          <a:noFill/>
          <a:ln w="15240">
            <a:solidFill>
              <a:srgbClr val="DED0BC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325880" y="4800600"/>
            <a:ext cx="5897880" cy="0"/>
          </a:xfrm>
          <a:prstGeom prst="line">
            <a:avLst/>
          </a:prstGeom>
          <a:noFill/>
          <a:ln w="15240">
            <a:solidFill>
              <a:srgbClr val="DED0BC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8138160" y="1645920"/>
            <a:ext cx="3154680" cy="3611880"/>
          </a:xfrm>
          <a:prstGeom prst="roundRect">
            <a:avLst>
              <a:gd name="adj" fmla="val 1449"/>
            </a:avLst>
          </a:prstGeom>
          <a:solidFill>
            <a:srgbClr val="DCE9E8"/>
          </a:solidFill>
          <a:ln w="13970">
            <a:solidFill>
              <a:srgbClr val="446E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8200" y="214884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猜回原诗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8503920" y="33375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哪一个生活细节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把你带了回去？</a:t>
            </a:r>
            <a:endParaRPr lang="en-US" sz="2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1483F"/>
          </a:solidFill>
          <a:ln w="12700">
            <a:solidFill>
              <a:srgbClr val="5148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40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这场婚姻为什么走到这一步？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1143000" y="1691640"/>
            <a:ext cx="9902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先独立写下，你认为最重要的一两个原因。</a:t>
            </a:r>
            <a:endParaRPr lang="en-US" sz="3500" dirty="0"/>
          </a:p>
        </p:txBody>
      </p:sp>
      <p:sp>
        <p:nvSpPr>
          <p:cNvPr id="7" name="Shape 5"/>
          <p:cNvSpPr/>
          <p:nvPr/>
        </p:nvSpPr>
        <p:spPr>
          <a:xfrm>
            <a:off x="1965960" y="3063240"/>
            <a:ext cx="8257032" cy="0"/>
          </a:xfrm>
          <a:prstGeom prst="line">
            <a:avLst/>
          </a:prstGeom>
          <a:noFill/>
          <a:ln w="15240">
            <a:solidFill>
              <a:srgbClr val="C5B39B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965960" y="4160520"/>
            <a:ext cx="8257032" cy="0"/>
          </a:xfrm>
          <a:prstGeom prst="line">
            <a:avLst/>
          </a:prstGeom>
          <a:noFill/>
          <a:ln w="15240">
            <a:solidFill>
              <a:srgbClr val="C5B39B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914400" y="534924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先不看框架。写完以后，再把原句放回时间、质询因果。</a:t>
            </a:r>
            <a:endParaRPr lang="en-US" sz="27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1483F"/>
          </a:solidFill>
          <a:ln w="12700">
            <a:solidFill>
              <a:srgbClr val="5148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41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相爱以后，怎样共同生活？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每个人都先开口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3703320" y="1417320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一处原诗　＋　一个关系条件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366760" y="14173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A67F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一组只留一张卡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1033272" y="2514600"/>
            <a:ext cx="749808" cy="749808"/>
          </a:xfrm>
          <a:prstGeom prst="ellipse">
            <a:avLst/>
          </a:prstGeom>
          <a:solidFill>
            <a:srgbClr val="446E78"/>
          </a:solidFill>
          <a:ln w="12700">
            <a:solidFill>
              <a:srgbClr val="446E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84832" y="2514600"/>
            <a:ext cx="749808" cy="749808"/>
          </a:xfrm>
          <a:prstGeom prst="ellipse">
            <a:avLst/>
          </a:prstGeom>
          <a:solidFill>
            <a:srgbClr val="657653"/>
          </a:solidFill>
          <a:ln w="12700">
            <a:solidFill>
              <a:srgbClr val="65765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36392" y="2514600"/>
            <a:ext cx="749808" cy="749808"/>
          </a:xfrm>
          <a:prstGeom prst="ellipse">
            <a:avLst/>
          </a:prstGeom>
          <a:solidFill>
            <a:srgbClr val="725260"/>
          </a:solidFill>
          <a:ln w="12700">
            <a:solidFill>
              <a:srgbClr val="7252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87952" y="2514600"/>
            <a:ext cx="749808" cy="749808"/>
          </a:xfrm>
          <a:prstGeom prst="ellipse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2889504"/>
            <a:ext cx="1097280" cy="0"/>
          </a:xfrm>
          <a:prstGeom prst="line">
            <a:avLst/>
          </a:prstGeom>
          <a:noFill/>
          <a:ln w="25400">
            <a:solidFill>
              <a:srgbClr val="C5B39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2587752"/>
            <a:ext cx="640080" cy="594360"/>
          </a:xfrm>
          <a:prstGeom prst="chevron">
            <a:avLst/>
          </a:prstGeom>
          <a:solidFill>
            <a:srgbClr val="C5B39B"/>
          </a:solidFill>
          <a:ln w="12700">
            <a:solidFill>
              <a:srgbClr val="C5B39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52360" y="2331720"/>
            <a:ext cx="3383280" cy="1143000"/>
          </a:xfrm>
          <a:prstGeom prst="roundRect">
            <a:avLst>
              <a:gd name="adj" fmla="val 4000"/>
            </a:avLst>
          </a:prstGeom>
          <a:solidFill>
            <a:srgbClr val="EFE3CF"/>
          </a:solidFill>
          <a:ln w="15240">
            <a:solidFill>
              <a:srgbClr val="A67F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0" y="259689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好的共同生活，需要______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97280" y="4069080"/>
            <a:ext cx="9994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一段良好的共同生活，需要哪些支点？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914400" y="525780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四个人都说过以后，讨论才开始。</a:t>
            </a:r>
            <a:endParaRPr lang="en-US" sz="27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1483F"/>
          </a:solidFill>
          <a:ln w="12700">
            <a:solidFill>
              <a:srgbClr val="5148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42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《诗经》，我们真正记住了什么？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04672" y="1572768"/>
            <a:ext cx="2468880" cy="960120"/>
          </a:xfrm>
          <a:prstGeom prst="roundRect">
            <a:avLst>
              <a:gd name="adj" fmla="val 4762"/>
            </a:avLst>
          </a:prstGeom>
          <a:solidFill>
            <a:srgbClr val="FFFCF7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87452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它是什么？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3621024" y="1572768"/>
            <a:ext cx="2468880" cy="960120"/>
          </a:xfrm>
          <a:prstGeom prst="roundRect">
            <a:avLst>
              <a:gd name="adj" fmla="val 4762"/>
            </a:avLst>
          </a:prstGeom>
          <a:solidFill>
            <a:srgbClr val="FFFCF7"/>
          </a:solidFill>
          <a:ln w="12700">
            <a:solidFill>
              <a:srgbClr val="446E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187452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有多少篇？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437376" y="1572768"/>
            <a:ext cx="2468880" cy="960120"/>
          </a:xfrm>
          <a:prstGeom prst="roundRect">
            <a:avLst>
              <a:gd name="adj" fmla="val 4762"/>
            </a:avLst>
          </a:prstGeom>
          <a:solidFill>
            <a:srgbClr val="FFFCF7"/>
          </a:solidFill>
          <a:ln w="12700">
            <a:solidFill>
              <a:srgbClr val="6576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187452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分哪三类？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253728" y="1572768"/>
            <a:ext cx="2468880" cy="960120"/>
          </a:xfrm>
          <a:prstGeom prst="roundRect">
            <a:avLst>
              <a:gd name="adj" fmla="val 4762"/>
            </a:avLst>
          </a:prstGeom>
          <a:solidFill>
            <a:srgbClr val="FFFCF7"/>
          </a:solidFill>
          <a:ln w="12700">
            <a:solidFill>
              <a:srgbClr val="7252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81744" y="187452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《氓》收在哪里？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005840" y="3429000"/>
            <a:ext cx="10104120" cy="0"/>
          </a:xfrm>
          <a:prstGeom prst="line">
            <a:avLst/>
          </a:prstGeom>
          <a:noFill/>
          <a:ln w="15240">
            <a:solidFill>
              <a:srgbClr val="DED0BC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005840" y="4343400"/>
            <a:ext cx="10104120" cy="0"/>
          </a:xfrm>
          <a:prstGeom prst="line">
            <a:avLst/>
          </a:prstGeom>
          <a:noFill/>
          <a:ln w="15240">
            <a:solidFill>
              <a:srgbClr val="DED0BC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914400" y="525780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447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先合书独立写；不确定，可以留空。</a:t>
            </a:r>
            <a:endParaRPr lang="en-US" sz="2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1483F"/>
          </a:solidFill>
          <a:ln w="12700">
            <a:solidFill>
              <a:srgbClr val="5148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43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把核心字词送回原句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愆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1143000" y="2276856"/>
            <a:ext cx="1188720" cy="0"/>
          </a:xfrm>
          <a:prstGeom prst="line">
            <a:avLst/>
          </a:prstGeom>
          <a:noFill/>
          <a:ln w="13970">
            <a:solidFill>
              <a:srgbClr val="DED0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63240" y="160020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3291840" y="2276856"/>
            <a:ext cx="1188720" cy="0"/>
          </a:xfrm>
          <a:prstGeom prst="line">
            <a:avLst/>
          </a:prstGeom>
          <a:noFill/>
          <a:ln w="13970">
            <a:solidFill>
              <a:srgbClr val="DED0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160020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筮</a:t>
            </a:r>
            <a:endParaRPr lang="en-US" sz="3300" dirty="0"/>
          </a:p>
        </p:txBody>
      </p:sp>
      <p:sp>
        <p:nvSpPr>
          <p:cNvPr id="11" name="Shape 9"/>
          <p:cNvSpPr/>
          <p:nvPr/>
        </p:nvSpPr>
        <p:spPr>
          <a:xfrm>
            <a:off x="5440680" y="2276856"/>
            <a:ext cx="1188720" cy="0"/>
          </a:xfrm>
          <a:prstGeom prst="line">
            <a:avLst/>
          </a:prstGeom>
          <a:noFill/>
          <a:ln w="13970">
            <a:solidFill>
              <a:srgbClr val="DED0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60920" y="160020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说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7589520" y="2276856"/>
            <a:ext cx="1188720" cy="0"/>
          </a:xfrm>
          <a:prstGeom prst="line">
            <a:avLst/>
          </a:prstGeom>
          <a:noFill/>
          <a:ln w="13970">
            <a:solidFill>
              <a:srgbClr val="DED0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0" y="160020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徂</a:t>
            </a:r>
            <a:endParaRPr lang="en-US" sz="3300" dirty="0"/>
          </a:p>
        </p:txBody>
      </p:sp>
      <p:sp>
        <p:nvSpPr>
          <p:cNvPr id="15" name="Shape 13"/>
          <p:cNvSpPr/>
          <p:nvPr/>
        </p:nvSpPr>
        <p:spPr>
          <a:xfrm>
            <a:off x="9738360" y="2276856"/>
            <a:ext cx="1188720" cy="0"/>
          </a:xfrm>
          <a:prstGeom prst="line">
            <a:avLst/>
          </a:prstGeom>
          <a:noFill/>
          <a:ln w="13970">
            <a:solidFill>
              <a:srgbClr val="DED0B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10896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汤汤</a:t>
            </a:r>
            <a:endParaRPr lang="en-US" sz="2500" dirty="0"/>
          </a:p>
        </p:txBody>
      </p:sp>
      <p:sp>
        <p:nvSpPr>
          <p:cNvPr id="17" name="Shape 15"/>
          <p:cNvSpPr/>
          <p:nvPr/>
        </p:nvSpPr>
        <p:spPr>
          <a:xfrm>
            <a:off x="1143000" y="3785616"/>
            <a:ext cx="1188720" cy="0"/>
          </a:xfrm>
          <a:prstGeom prst="line">
            <a:avLst/>
          </a:prstGeom>
          <a:noFill/>
          <a:ln w="13970">
            <a:solidFill>
              <a:srgbClr val="DED0B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63240" y="310896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渐</a:t>
            </a:r>
            <a:endParaRPr lang="en-US" sz="3300" dirty="0"/>
          </a:p>
        </p:txBody>
      </p:sp>
      <p:sp>
        <p:nvSpPr>
          <p:cNvPr id="19" name="Shape 17"/>
          <p:cNvSpPr/>
          <p:nvPr/>
        </p:nvSpPr>
        <p:spPr>
          <a:xfrm>
            <a:off x="3291840" y="3785616"/>
            <a:ext cx="1188720" cy="0"/>
          </a:xfrm>
          <a:prstGeom prst="line">
            <a:avLst/>
          </a:prstGeom>
          <a:noFill/>
          <a:ln w="13970">
            <a:solidFill>
              <a:srgbClr val="DED0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0" y="310896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爽</a:t>
            </a:r>
            <a:endParaRPr lang="en-US" sz="3300" dirty="0"/>
          </a:p>
        </p:txBody>
      </p:sp>
      <p:sp>
        <p:nvSpPr>
          <p:cNvPr id="21" name="Shape 19"/>
          <p:cNvSpPr/>
          <p:nvPr/>
        </p:nvSpPr>
        <p:spPr>
          <a:xfrm>
            <a:off x="5440680" y="3785616"/>
            <a:ext cx="1188720" cy="0"/>
          </a:xfrm>
          <a:prstGeom prst="line">
            <a:avLst/>
          </a:prstGeom>
          <a:noFill/>
          <a:ln w="13970">
            <a:solidFill>
              <a:srgbClr val="DED0B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60920" y="310896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暴</a:t>
            </a:r>
            <a:endParaRPr lang="en-US" sz="3300" dirty="0"/>
          </a:p>
        </p:txBody>
      </p:sp>
      <p:sp>
        <p:nvSpPr>
          <p:cNvPr id="23" name="Shape 21"/>
          <p:cNvSpPr/>
          <p:nvPr/>
        </p:nvSpPr>
        <p:spPr>
          <a:xfrm>
            <a:off x="7589520" y="3785616"/>
            <a:ext cx="1188720" cy="0"/>
          </a:xfrm>
          <a:prstGeom prst="line">
            <a:avLst/>
          </a:prstGeom>
          <a:noFill/>
          <a:ln w="13970">
            <a:solidFill>
              <a:srgbClr val="DED0B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09760" y="310896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泮</a:t>
            </a:r>
            <a:endParaRPr lang="en-US" sz="3300" dirty="0"/>
          </a:p>
        </p:txBody>
      </p:sp>
      <p:sp>
        <p:nvSpPr>
          <p:cNvPr id="25" name="Shape 23"/>
          <p:cNvSpPr/>
          <p:nvPr/>
        </p:nvSpPr>
        <p:spPr>
          <a:xfrm>
            <a:off x="9738360" y="3785616"/>
            <a:ext cx="1188720" cy="0"/>
          </a:xfrm>
          <a:prstGeom prst="line">
            <a:avLst/>
          </a:prstGeom>
          <a:noFill/>
          <a:ln w="13970">
            <a:solidFill>
              <a:srgbClr val="DED0B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25780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9447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任选两个：读音｜句中义｜原句。先凭记忆，再用教材修复。</a:t>
            </a:r>
            <a:endParaRPr lang="en-US" sz="27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1483F"/>
          </a:solidFill>
          <a:ln w="12700">
            <a:solidFill>
              <a:srgbClr val="5148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44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这首诗，为什么成为这样一首诗？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777240" y="1371600"/>
            <a:ext cx="5102352" cy="1600200"/>
          </a:xfrm>
          <a:prstGeom prst="roundRect">
            <a:avLst>
              <a:gd name="adj" fmla="val 2857"/>
            </a:avLst>
          </a:prstGeom>
          <a:solidFill>
            <a:srgbClr val="EFE3CF"/>
          </a:solidFill>
          <a:ln w="13335">
            <a:solidFill>
              <a:srgbClr val="A67F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27632"/>
            <a:ext cx="4645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67F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六章第一人称叙事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05840" y="2267712"/>
            <a:ext cx="4645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原诗：________________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373368" y="1371600"/>
            <a:ext cx="5102352" cy="1600200"/>
          </a:xfrm>
          <a:prstGeom prst="roundRect">
            <a:avLst>
              <a:gd name="adj" fmla="val 2857"/>
            </a:avLst>
          </a:prstGeom>
          <a:solidFill>
            <a:srgbClr val="E1E7D9"/>
          </a:solidFill>
          <a:ln w="13335">
            <a:solidFill>
              <a:srgbClr val="6576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01968" y="1627632"/>
            <a:ext cx="4645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5765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桑叶比兴与对照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601968" y="2267712"/>
            <a:ext cx="4645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原诗：________________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777240" y="3566160"/>
            <a:ext cx="5102352" cy="1600200"/>
          </a:xfrm>
          <a:prstGeom prst="roundRect">
            <a:avLst>
              <a:gd name="adj" fmla="val 2857"/>
            </a:avLst>
          </a:prstGeom>
          <a:solidFill>
            <a:srgbClr val="E9DDE2"/>
          </a:solidFill>
          <a:ln w="13335">
            <a:solidFill>
              <a:srgbClr val="7252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822192"/>
            <a:ext cx="4645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复现、回环、反折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05840" y="4462272"/>
            <a:ext cx="4645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原诗：________________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6373368" y="3566160"/>
            <a:ext cx="5102352" cy="1600200"/>
          </a:xfrm>
          <a:prstGeom prst="roundRect">
            <a:avLst>
              <a:gd name="adj" fmla="val 2857"/>
            </a:avLst>
          </a:prstGeom>
          <a:solidFill>
            <a:srgbClr val="DCE9E8"/>
          </a:solidFill>
          <a:ln w="13335">
            <a:solidFill>
              <a:srgbClr val="446E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1968" y="3822192"/>
            <a:ext cx="4645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四言与叠词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601968" y="4462272"/>
            <a:ext cx="4645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原诗：________________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14400" y="576072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请为每一块，补回一处已经读过的原诗。</a:t>
            </a:r>
            <a:endParaRPr lang="en-US" sz="2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1483F"/>
          </a:solidFill>
          <a:ln w="12700">
            <a:solidFill>
              <a:srgbClr val="5148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45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读完《氓》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097280" y="178308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一处改变最大的理解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5715000" y="184708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C5B39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或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629400" y="178308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DCE9E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一个仍愿追问的问题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1508760" y="2971800"/>
            <a:ext cx="9098280" cy="0"/>
          </a:xfrm>
          <a:prstGeom prst="line">
            <a:avLst/>
          </a:prstGeom>
          <a:noFill/>
          <a:ln w="13970">
            <a:solidFill>
              <a:srgbClr val="C5B3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840480"/>
            <a:ext cx="10177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从“氓之蚩蚩”读到“亦已焉哉”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914400" y="525780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E9DDE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然后，让全诗完整响起。</a:t>
            </a:r>
            <a:endParaRPr lang="en-US" sz="3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语文备课系统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《氓》V6.5完整课堂课件</dc:title>
  <dc:subject>《诗经·卫风·氓》完整课堂课件；无插图功能审查候选</dc:subject>
  <dc:creator>语文备课系统</dc:creator>
  <cp:lastModifiedBy>语文备课系统</cp:lastModifiedBy>
  <cp:revision>1</cp:revision>
  <dcterms:created xsi:type="dcterms:W3CDTF">2026-08-13T19:50:38Z</dcterms:created>
  <dcterms:modified xsi:type="dcterms:W3CDTF">2026-08-13T19:50:38Z</dcterms:modified>
</cp:coreProperties>
</file>
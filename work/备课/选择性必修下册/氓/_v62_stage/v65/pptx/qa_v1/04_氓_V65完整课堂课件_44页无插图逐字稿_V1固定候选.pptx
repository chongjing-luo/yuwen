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【V6.5页ID】O01｜物理页1｜4分钟
【页面功能】
从小学至高中广泛唤回爱情、婚姻文学，让每个人先拥有一条可说的旧经验。
【学生主动作】
检索篇名和一句故事；写它谈到怎样的相遇或共同生活
【可见产物】
个人文学回忆单
【首次后用】
O02立即读取
【删除损失】
删除后快想者会垄断发言
【主视觉职责】
开放的个人文学记忆
【插图资格】
无
【教师逐字稿】
今天先不急着翻到新课。请从小学一直想到高中：读过的语文课文、小说或整本书里，哪些作品写过爱情，哪些写过婚姻？先写篇名，再用一句平常话把故事唤回来；最后添几个词：它让你想到爱情或婚姻里的什么。这里不需要先下一个很深的结论，也没有规定你必须想到哪一种主题；你真正想到什么，就先写什么。先写一篇；还能想起，就继续往下写。现在教室安静两分半。（教师退到侧后方巡视，不报篇名。）一时想不起，可以翻一翻本班读过的篇目目录。只记得情节，也先把情节留下，下一页听同学怎么说以后，再补最后一栏。
【真实场景】
屏幕只保留三列含义和开放行线；教师在说明结束后停止说话，沿后排缓慢巡视，不替学生列作品，也不把口头示范词写上屏幕。
（只发03A爱情与婚姻文学回忆单）
（静默150秒）
（最后30秒只向空白者指明目录位置）
（示意全班保留未完成处）
【时间盒】
说明篇名、故事和朴素主题：45秒；个人静默检索：150秒；开放目录恢复与收束：45秒
【现场分支】
想不起：指向篇目目录；仍空白者保留空白，下一页先听同伴，再把自己真实记得的一处补回来。
写影视作品：轻声问有没有读过它的文学原作；能定位就写原作，不能定位先放在纸边，不公开否定。
只写情节：轻声追问‘这段故事让你想到爱情或婚姻里的什么’，允许只添一个自然词，不要求论证。
【听者任务】
此页没有听者任务；每个人先保护自己的回忆时间。
【证据位置】
O01文学回忆单
【自然切页句】
每个人手里先有了一点自己的文学记忆。现在先说给身边的人听，再把不同的故事带到全班。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【V6.5页ID】O02｜物理页2｜7分钟
【页面功能】
让每个人低压说出一次，并让全班扩展爱情与婚姻文学版图。
【学生主动作】
同桌各说一篇；四人合并差异并向全班贡献增量
【可见产物】
班级文学长卷
【首次后用】
O03引用学生原话
【删除损失】
删除后全员声音或公共广度至少失去一项
【主视觉职责】
现场板书文学长卷
【插图资格】
无
【教师逐字稿】
先和同桌互相说一遍：‘《什么》让我想到爱情或婚姻中的什么。’说的人可以看自己的纸，听的人只在没听清时问一句：‘你想到的是什么？’一分钟后交换。（等待。）现在前后四个人一起听一圈，每个人都把自己的一篇说完。你们不需要选最好的一篇，只留下两三条彼此不同的篇目或说法。（教师巡视，确认沉默者也有低压入口。）接下来我们把教室里的文学版图展开。每组只带来一条：可以是黑板上还没有的篇目，也可以是同一篇新的主题。请先说篇名，再读你们保留的那句自然话。我只在黑板写篇名和你们真正说出的关键词，此刻不分类。（按组收集约八至十二条，遇到重复时请该组换用保留的另一条；没有新增者如实说‘我们先听记’。）听见自己没想到的作品或说法，请在个人清单下补一项。现在安静看黑板：它不是老师列出的书单，是刚才从你们的话里长出来的。
【真实场景】
同桌和四人组同时开口，教师在教室中间巡视；公共阶段教师回到黑板侧面，只记录篇名和学生主题关键词。屏幕始终只保留一句表达支架，不显示分组编号或管理流程。
（同桌各说一遍）
（四人组每人说一篇并保留两三条不同材料）
（各组向全班贡献一条新篇目或不同主题）
（教师同步记录篇名与学生关键词）
（全班静看黑板并个人补写）
【时间盒】
说明句式与同桌互说：70秒；四人组每人完整说一篇：117秒；各组贡献与教师准确记录：186秒；静看黑板并完成个人补写：47秒
【现场分支】
完全重复：小组内允许保留；公共阶段改报另一条材料。若确无新增，小组只听记，不制造差异。
主题太长：教师只问‘最想留下哪几个词’，由学生自己把句子收短后再记。
暂时空白：先复述同伴的一篇，再说自己真实记得的一个情节；同伴可追问它让人想到什么，但不替他编结论。
少数人包办：四人组按自然座位依次说一轮；公共贡献可以由未在前面开口的人读出本组句子。
【听者任务】
小组内听清每个人的作品和主题；公共阶段只补一项自己原先没有想到的篇目或说法。
【证据位置】
黑板文学长卷；O01回忆单的新增栏
【自然切页句】
这些故事先留在黑板上。现在由我沿着你们真正说过的话，看看这张文学版图上出现了哪些方向。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【V6.5页ID】O03｜物理页3｜4分钟
【页面功能】
教师依据现场作品后置归纳，并从广泛爱情主题转向共同生活的新问题。
【学生主动作】
核对教师是否准确引用；听清共同生活的新问题
【可见产物】
班级主题谱照片
【首次后用】
S04重新投影
【删除损失】
删除后导入成为篇目堆积
【主视觉职责】
由现场主题谱转出的一个文学问题
【插图资格】
无
【教师逐字稿】
请把目光留在黑板上。刚才大家说出的作品很多，我只沿着你们真正留下的词来整理。（教师指向黑板上真实存在的条目。）比如，你们提到《____》，留下的是____；《____》旁边写的是____。这些词里，有些在写相遇，有些在写阻隔或选择；如果黑板上还出现了相守、共同生活或离开，我也只按大家原来的话说。请大家帮我做一件简单的事：我有没有把哪篇作品记错、漏掉？（等待事实纠错；有则当场改写，没有则不追问。）这就是我们今天这一刻想起的爱情与婚姻文学。现在我再提出一个黑板还没有替我们回答的问题。（切出本页。）相遇以后呢？当爱情走进共同生活，日子会怎样改变两个人？今天的新故事，就由一位更早的女子回头讲起她的婚姻。
【真实场景】
开始时投影熄暗，教师站在黑板文学长卷一侧逐项指认；事实纠错完成后拍照保存，才切出本页的开放问题。
（熄暗投影并指向黑板）
（引用至少三处真实篇名与学生关键词）
（只开放误记或漏记的事实纠错）
（拍摄主题谱）
（切出新的婚姻阅读问题）
【时间盒】
教师引用现场作品归纳：150秒；学生事实纠错或确认：45秒；教师改写与转场：45秒
【现场分支】
现场主题单一：如实说‘今天我们先想起的大多停在相遇’，再指出新文本将带我们看婚后的日子；不补造不存在的作品类别。
教师记错或漏记：请学生只读出原来的篇名和主题词，教师当场改正，不扩展为作品深析。
无人纠错：不追逼产生异议；确认这是今天这一刻的文学版图，拍照保存。
【听者任务】
核对教师是否准确引用本班篇名与关键词；随后听清‘共同生活怎样改变两个人’是今天新增的问题，不是刚才发言的标准答案。
【证据位置】
黑板主题谱及其照片
【自然切页句】
让我们认识这位更早的讲述者。她的故事，题目只有一个字。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【V6.5页ID】O04｜物理页4｜1分钟
【页面功能】
从许多旧故事走到一位先秦女子的声音面前，完成题名、正音与共同翻页。
【学生主动作】
读准méng；定位首句
【可见产物】
教材题名与首句
【首次后用】
O05立即起读
【删除损失】
删除会失去明确的审美门槛
【主视觉职责】
题名与留白
【插图资格】
无
【教师逐字稿】
刚才那面黑板上，有许多相遇，也有共同生活里的选择。现在，我们认识一位更早的讲述者。她的故事收在《诗经·卫风》里，题目只有一个字——氓。这个字在这里读méng。请翻到课文，在题名旁轻轻写下读音，再找到第一句‘氓之蚩蚩’。先让题目停在这里，故事由她自己说。
【真实场景】
切入纯题名页后停两秒；教师从黑板侧面走回教室中央，正音后巡视学生是否定位第一句。
（切入题名页并停顿）
（正音méng）
（学生翻书定位）
（确认第一句）
【时间盒】
揭题与停顿：15秒；正音与出处：20秒；翻书定位第一句：25秒
【现场分支】
追问题义：回应‘先让她把故事说完，题目放在全文中再看。’
翻错页：教师走近报页码，不让已定位学生齐声催促。
【听者任务】
听清题名读音和出处，并定位同一首诗的第一句。
【证据位置】
教材题名旁注音及第一句定位
【自然切页句】
这首诗有六章。先不替她概括，让她自己从第一句说到最后一句。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【V6.5页ID】O05｜物理页5｜3分钟
【页面功能】
不中断地接收第一至三章，让初见、等待、迁嫁和劝告先作为声音发生。
【学生主动作】
眼随声走；只在真实停顿处留点或问号
【可见产物】
教材停点
【首次后用】
O06无声接续
【删除损失】
删除会失去开放接收
【主视觉职责】
第一至三章原诗
【插图资格】
无
【教师逐字稿】
这一遍，眼睛跟着原诗，耳朵听她把话说下去。哪一句让你停了一下，就在教材旁点一个点，或画一个问号；没有停顿处，也只管继续听。现在从‘氓之蚩蚩’开始。
氓之蚩蚩，抱布贸丝。匪来贸丝，来即我谋。送子涉淇，至于顿丘。匪我愆期，子无良媒。将子无怒，秋以为期。
乘彼垝垣，以望复关。不见复关，泣涕涟涟。既见复关，载笑载言。尔卜尔筮，体无咎言。以尔车来，以我贿迁。
桑之未落，其叶沃若。于嗟鸠兮，无食桑葚！于嗟女兮，无与士耽！士之耽兮，犹可说也。女之耽兮，不可说也！
【真实场景】
教师站到侧后方连续朗读，屏幕只显示原诗；光点只停在当前行开头，不逐字追光。第三章末无声切页，不停讲。
（示意学生看教材与屏幕）
（连续朗读前三章）
（光点停在当前行首）
（无声切入O06）
【时间盒】
说明听读方式：20秒；连续朗读前三章：150秒；无声切页：10秒
【现场分支】
学生举手解释：以手势请他把问题留在原句旁，朗读继续。
走神：光点停在当前行首，学生从光点处重新进入，不公开点名。
【听者任务】
一直听到第三章末；只在自己的教材留下停顿记号，不讨论。
【证据位置】
教材第一至第三章原句旁
【自然切页句】
（无声切页，朗读不断。）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【V6.5页ID】O06｜物理页6｜3分钟
【页面功能】
无缝接收第四至六章并让末句落下。
【学生主动作】
继续听读；末句后确认停点
【可见产物】
教材停点
【首次后用】
O07取回
【删除损失】
删除会把全诗压成婚前故事
【主视觉职责】
第四至六章原诗
【插图资格】
无
【教师逐字稿】
桑之落矣，其黄而陨。自我徂尔，三岁食贫。淇水汤汤，渐车帷裳。女也不爽，士贰其行。士也罔极，二三其德。
三岁为妇，靡室劳矣。夙兴夜寐，靡有朝矣。言既遂矣，至于暴矣。兄弟不知，咥其笑矣。静言思之，躬自悼矣。
及尔偕老，老使我怨。淇则有岸，隰则有泮。总角之宴，言笑晏晏。信誓旦旦，不思其反。反是不思，亦已焉哉！
（末句后静默十五秒。）现在看一眼自己留下的那个点或问号。没有找到，也先保留空白。
【真实场景】
教师保持O05的站位和声音，不在换页后重新说明任务；末句读完放下手，守住静默十五秒，再轻声提示确认停顿处。
（连续朗读第四至第六章）
（末句后静默15秒）
（学生确认停顿处）
（切入O07）
【时间盒】
连续朗读后三章：145秒；末句后静默：15秒；确认停顿处：20秒
【现场分支】
立即评论或发笑：教师不训斥，以停顿和手势守住十五秒，评论留到O07。
没有记号：允许空白，不追问情绪，不让学生借同桌的句子冒充自己的第一印象。
【听者任务】
一直听到末句；静默以后才确认个人停顿处。
【证据位置】
教材第四至第六章原句旁
【自然切页句】
哪一句把你留了下来？把第一次听见的《氓》，留在纸上。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【V6.5页ID】O07｜物理页7｜3分钟
【页面功能】
保存每个人第一次真正听见的句子，不让三问覆盖个人起点。
【学生主动作】
抄下一句；接写我看见、听见或想问
【可见产物】
个人初听卡
【首次后用】
O08引用
【删除损失】
删除会失去真实接收起点
【主视觉职责】
一句原诗与个人留白
【插图资格】
无
【教师逐字稿】
现在才发《氓》初听卡。请接过来，不必翻面。如果有一句把你留了下来，就把它完整抄下，再接一句自然话：‘我看见……’‘我听见……’或者‘我想问……’。不要猜老师最喜欢哪一句。暂时没有找到，也可以写‘尚未找到’，先听同桌说完，再决定要不要补。（静默书写五十五秒。）现在两个人各说一次。听的人不评价深不深，只补记一个自己原先没有注意到的地方。（交换完成后，教师读出两三份停在不同诗句的文字。）这些话先留在黑板右侧，下一页我们从这里继续。
【真实场景】
完整听读结束后，教师才发03B《氓》初听卡；屏幕为大面积留白。交流后，教师只读真实文字并抄两三个关键词在黑板右侧，不作主题归纳。
（发下03B《氓》初听卡）
（个人静默书写）
（同桌各说一次）
（听者补记不同之处）
（读出两三份真实文字并留在黑板右侧）
【时间盒】
发下初听卡：10秒；个人书写：55秒；同桌交换与补记：70秒；教师读出真实文字并保留：45秒
【现场分支】
尚未找到：先听同桌；仍没有就保留‘尚未找到’，不复制同桌句子。
只写情绪词：追问‘是哪一句的哪个画面或声音让你这样写’，有依据再补，不直接替写。
两人完全相同：允许相同；听者可补记‘我们停在同一句，但理由不同/相同’，不制造差异。
【听者任务】
复述自己听见的一个不同注意点；不替同伴解释全诗。
【证据位置】
O07初听卡；黑板右侧的真实初听关键词
【自然切页句】
六章已经完整地响过，大家停下的地方也留在这里。现在我们把这首诗慢慢读懂。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【V6.5页ID】O08｜物理页8｜2分钟
【页面功能】
把三问变成读后生成的全文导航：先讲经历，再看生活，最后追原因。
【学生主动作】
保存三问；暂不抢答
【可见产物】
三问书签
【首次后用】
六章积证并由S02—S04回收
【删除损失】
删除后细读缺少共同方向
【主视觉职责】
三个自然问题
【插图资格】
无
【教师逐字稿】
刚才，有同学停在‘____’，写下‘____’；也有同学在‘____’旁留下一个问题：‘____？’这些是我们第一次听见她时真正停下来的地方。（教师只引用O07黑板右侧的真实文字，不补造。）六章已经完整地响过。接下来慢慢读懂它，我们始终回来回答三个问题：她经历了什么？她婚后的不幸，在生活中是什么样子？这场婚姻为什么走到这一步？现在才发三问阅读书签，请接过来，把三问留好。第一问跟着事情走；第二问要看她具体过着怎样的日子；第三问要等事实一件件出现以后再判断。此刻不急着给答案。
【真实场景】
开始时屏幕仍停在O07，教师指向黑板右侧真实初听文字并读出两三份；引用完成后才切出三问页，并在此刻首次发下03C三问阅读书签。
（指向并引用真实初听文字）
（切出三问页）
（首次发下03C三问阅读书签）
（学生保存三问）
【时间盒】
引用真实初听文字：35秒；呈现并读出三问：35秒；发书签并保存三问：35秒；说明后续取回：15秒
【现场分支】
初听文字都集中在一处：如实引用同一处的不同说法，不假称全班已经覆盖三问。
抢答原因：请学生把原话写在第三问旁，标‘初步判断’，不当场确认。
追问为何现在才发：回应‘先让整首诗自己说完，再用问题慢慢读懂它。’
【听者任务】
核对教师引用确实来自刚才的同学文字，并保存三问的稳定措辞。
【证据位置】
O07初听文字；O08现场首次发下的03C三问阅读书签
【自然切页句】
问题已经留下。再带上这首诗最低限度的身份，我们就从第一章慢慢读起。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【V6.5页ID】C101｜物理页9｜5分钟
【页面功能】
让第一章完整进入，并确认女子怎样用第一人称讲两个人的行动。
【学生主动作】
完整读章；圈男子动作、划女子动作
【可见产物】
第一章行动初稿
【首次后用】
C102—C104
【删除损失】
删除会使逐句讲解没有整章轮廓
【主视觉职责】
整章原诗与圈划
【插图资格】
无
【教师逐字稿】
我们已经知道，《氓》是一位女子回头讲自己的婚姻。现在不急着把第一章拆开，请翻到第一章。先听我把这一章完整读一遍，眼睛只跟着诗句走。随后请你自己再读一遍：男子做的事，用圈轻轻标出来；女子做的事，用线划出来。遇到不懂的词，先留一个问号，不要让一个词拦住整章。现在听读。（教师完整读完，停三秒。）轮到你们自己读。读完后，同桌只互相问一件事：‘这一处是谁做的？’不要替对方翻译，也不要给人物贴标签。（巡视并等待。）请看回自己的诗句。如果刚才标错了主体，就改回来；如果同桌找到了你漏掉的动作，回诗补一处。我们先听两位同学各说一个自己最确定的动作。（引用现场原话。）第一章已经有了一个很粗的轮廓：有人来，有人送，两个人还谈到了婚事。那些问号先留着，接下来让原词自己把故事说清。
【真实场景】
承接O09，教师只发03A第一章初读卡；屏幕呈现整章原诗。教师读时站在屏幕侧面，学生圈划时退到后排，不在诗句上预做颜色答案。
（发03A第一章初读卡）
（教师完整读章后静默三秒）
（学生独立读并圈划）
（同桌只核对主体）
（引用两条现场动作后收束）
【时间盒】
承接、发卡与教师完整听读：69秒；学生完整朗读并圈划：94秒；同桌核对行动主体：56秒；回诗修订与两条现场分享：56秒；教师引用原话收束并转场：25秒
【现场分支】
生词阻断：请学生先留问号并把整章读完；词义按C102—C104所在原句解决。
主体混淆：只追问‘诗中是谁在用“我”说话、她把谁称作“子”’，让学生自行回诗改画。
直接评价男子：回应‘这个判断先放在诗边，眼下只把本章写出的动作找准。’
【听者任务】
同桌发言时，只检查行动主体；全班分享时，核对自己是否漏掉同一原词。
【证据位置】
03A第一章初读卡及教材第一章旁批
【自然切页句】
先看第一处：诗让我们先看见他做什么，女子随后又告诉我们什么？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【V6.5页ID】C102｜物理页10｜5分钟
【页面功能】
从重复的‘贸丝’和‘匪—谋’读出叙事转弯，并守住初见证据边界。
【学生主动作】
自然口译；圈转折字并说叙事次序
【可见产物】
叙事转弯句
【首次后用】
C105与C503
【删除损失】
删除会压平初次接近的叙述方式
【主视觉职责】
原词转弯
【插图资格】
I01待A/B
【教师逐字稿】
请看第一章开头两句。先不要等我翻译，把它们在细读单上说成一句自然话；如果一时说不完整，先写‘谁做了什么’。再圈出一个让意思转过去的字。现在安静七十秒。（教师退到过道巡视，不在屏幕上显示释义。）好，请同桌两人分着读：一位读诗先让我们看见的动作，一位读女子随后说明的来意，再交换。谁愿意先说自己的自然话？（等待，引用学生真实表达。）我们把几个词校准一下：‘氓’在这里指诗中的男主人公；‘蚩蚩’是忠厚的样子，是眼前的出场印象；‘贸’是交易、交换；‘匪’是不是；‘即’是靠近；‘谋’在这里是商量婚事。请回到自己刚才那句话，只改一处你认为还不准确的地方；原来已经准确，就在旁边补出托住它的原词。（等待修订。）现在再读：‘氓之蚩蚩，抱布贸丝。匪来贸丝，来即我谋。’哪一个字让话转弯？是‘匪’。诗先让我们看见抱布贸丝，女子随后说明来意是商量婚事。此刻，我们可以说到这里；不能只凭这两句就断言他的一生，也不能把后来全部结局提前倒回来。故事刚开始，他来了。接下来，诗不先写她的心情，只写她把他送了多远。
【真实场景】
C101圈划完成后，教师发03B第一章细读单。屏幕只显示两句原诗和三个问题；释义始终只由教师在学生尝试后口头给出，学生写在教材对应词旁。
（发03B细读单）
（静默等待个人自然口译）
（两人分句朗读）
（引用真实学生表达后再定点释义）
（学生亲自修订并回读）
【时间盒】
承接、发单与读题：25秒；个人自然口译并圈转折字：58秒；双人分读与互相核对：42秒；学生分享及教师定点释义：79秒；个人修订和边界处理：54秒；回诗重读、故事回接与转场：42秒
【现场分支】
逐词堆叠：只问‘这两句里谁先做了什么，女子随后说明什么’，让学生重新组织成自然话。
直接写成装老实欺骗：追问哪几个字足以证明完整人格和预谋；证据不足就降为‘出场看起来忠厚，来意由贸丝转到谋婚’。
原译已经准确：不强迫换色或改错，允许保留，并补一处原词证据或解释边界。
【听者任务】
分读时听清动作与来意是否分开；全班分享时核对自己的‘匪’是否真正承担了转折。
【证据位置】
03B第一章细读单C102区域及教材词旁批注
【自然切页句】
来意已经说清。接下来，诗不写一句‘她很投入’，只让三个动词把一段路铺开。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【V6.5页ID】C103｜物理页11｜4分钟
【页面功能】
让‘送—涉—至’成为身体可感的空间长度，看见女子主动投入。
【学生主动作】
用指尖或笔迹连三个动词；说成一句自然话
【可见产物】
送行线
【首次后用】
C105
【删除损失】
删除会把远送压成‘她送他’
【主视觉职责】
三个原词之间的空间
【插图资格】
I02待A/B
【教师逐字稿】
来意说清以后，女子怎样回应？请只看这一句：‘送子涉淇，至于顿丘。’先别急着写‘她很爱他’，让三个动词自己走起来。请在细读单上找到‘送、涉、至’，用手指先走一遍，再用一条笔迹把它们接起来；补上是谁在行动。屏幕没有箭头，方向和距离也不要凭空画，只保存诗中真正写出的次序。（教师巡视并等待。）同桌互相说一遍这段路，听者只检查三个动作有没有少一个。（等待。）我们校准三个词：‘涉’是渡过，‘淇’是淇水，‘顿丘’是地名。诗没有告诉我们精确里程，却让‘送—涉—至’连续发生。谁愿意用一句平常话，把这段路说出来？（引用两种现场说法。）你们可能说‘她送他渡过淇水，一直送到顿丘’，也可能用别的自然话；只要三个动作和人物不丢，就让自己的句子保留下来。回到原诗，再读一次。女子的投入，诗没有先写成一个标签，而是写成一段越过淇水的送行。她一直送到顿丘，婚事却没有当场定下。下面两句，是她怎样把话继续说下去。
【真实场景】
屏幕把三个原词分开放置但不连线。教师先用手悬空示范‘手指可以移动’，不替学生画路线；学生落笔时教师走入过道。
（指向原句而不预画箭头）
（学生手指预走后落笔）
（同桌互说并只查漏动作）
（定点解释三个词）
（引用现场自然话并回读）
【时间盒】
承接原句与说明低虚构行线：24秒；个人手指移动和笔迹连线：48秒；同桌互说并核对三个动作：36秒；教师定点释义和文本边界：52秒；学生自然话分享与个人修订：44秒；回诗重读、故事回接与转场：36秒
【现场分支】
画成精确地图：请删去诗中没有的村落、方向和里程，只保留渡淇、至顿丘的行动次序。
只写她很爱他：先让学生读出送、涉、至并说清路，再允许把投入作为有依据的印象留下。
不愿画线：允许只用手指依次点三个词，随后把动作说成一句话；不以绘画能力评价。
【听者任务】
只听人物主体和送、涉、至三个动作是否齐全，不评价画得是否好看。
【证据位置】
03B第一章细读单C103区域
【自然切页句】
她一直送到顿丘，婚事却没有当场定下。接下来，看她怎样把话继续说下去。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【V6.5页ID】C104｜物理页12｜5分钟
【页面功能】
把四小句读成说明条件、安抚和另约的一轮完整话语。
【学生主动作】
完整自然口译；同桌听一处含义是否清楚
【可见产物】
对话与声音标记
【首次后用】
C105与C503
【删除损失】
删除会失去女子怎样主动推进婚事
【主视觉职责】
完整话语而非四条注释
【插图资格】
无
【教师逐字稿】
她送到顿丘，为什么婚期没有立刻定下？请把下面两句连起来读：‘匪我愆期，子无良媒。将子无怒，秋以为期。’先自己把整轮话说成自然话，再用自己的词写一写：这四小句，各在做什么？哪些意思可以合在一起？屏幕和细读单都没有替你分好。现在安静九十秒。（教师巡视，保持屏幕无译文、无分类词。）请两人一组，一位朗读女子的话，一位做听者。第一遍读完，听者只说哪一处意思没有听清；读者只改一个地方，再读一次，然后交换。（等待读听轮换。）谁愿意先读出自己的分法和自然话？（引用不同分法，追问托住它的原词，不先给分类。）现在校准词义：‘愆期’是拖延婚期；‘良媒’是合适的媒人；‘将’这里读qiāng，是愿、请；‘无’同‘毋’，不要；‘以……为期’是把……定作婚期。请回到自己刚才的口译和分法，改准一处；原本准确就保留。听过大家的说法以后，我们可以把这轮话暂且收成三层：她先解释婚期为什么不能立刻定下，接着安抚对方，最后把婚期约在秋天。这个归纳放在你们说过以后；如果你的措辞更贴近原句，可以保留自己的话。再看‘将子无怒’：它至少让我们知道，女子在安抚对方，或预期对方会怒。这个细节值得留到全文后重看；但这一句没有写愤怒的程度，更没有写具体伤害，不能把后文提前画进来。请在‘无怒’旁留一个小问号。最后把两句再读一次，让听者真正听见这轮话怎样把婚事继续推向秋天。第一章的所有句子已经读过，现在让它重新成为一段完整的话。
【真实场景】
屏幕完整并列两句。教师先静默等待自然口译；读听轮换时站到教室侧后方，等学生完成第一遍和反馈后才解释词义。
（完整连读两句）
（静默等待个人自然口译）
（双人读听轮换并只改一处）
（学生分享后教师定点释义）
（在无怒旁留问号并再次合读）
【时间盒】
承接、完整连读与交代问题：25秒；个人自然口译：64秒；双人读听轮换、反馈和改读：61秒；学生分享与教师定点释义：75秒；个人修订及无怒边界：46秒；再次合读、故事回接与转场：29秒
【现场分支】
读成拒婚：请学生把‘秋以为期’接回前句，重说婚事是结束了还是另有约定。
无怒等同婚前暴力：确认这是一处值得追问的信号，同时要求把说法降到诗句能证明的‘安抚或预期愤怒’，具体程度留待后文。
第二遍没有变化：只要三层已经听清，可以诚实保留第一遍，不为完成程序制造修改。
暂时不愿朗读：允许先做听者，在对方读完后指出自己实际听清的一层；第二轮再选择是否朗读。
【听者任务】
在教师归纳前，只指出哪一处意思听清或没听清，并回到相应原词；不拿预设分类给同伴判分。
【证据位置】
03B第一章细读单C104区域及教材‘无怒’旁问号
【自然切页句】
来、送、解释、安抚、约期都已经发生。现在把局部提示收起来，听一听第一章能不能重新成为一段故事。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【V6.5页ID】C105｜物理页13｜5分钟
【页面功能】
示范怎样把局部词句重新讲成人物、动作和结果连贯的一章。
【学生主动作】
合书讲来—送—约；真实断点处返诗补说
【可见产物】
第一章章意
【首次后用】
C201
【删除损失】
删除后前四页仍是碎片
【主视觉职责】
第一次完整章意示范
【插图资格】
无
【教师逐字稿】
第一章每一句都已经读过。请先只看屏幕和教材，完整读一遍第一章。（教师领起第一句，随后让学生连续读完。）读完了，请把教材合上，把03A初读卡和03B细读单一起翻到背面，压在桌角；同桌互相看一眼，确认桌面上不再露出原诗。（等待纸面支架全部撤去。）请看我这里。（教师按B键熄暗屏幕。）现在用三十秒把这一章讲给同桌听。只讲三件事：他怎样来，她怎样送，婚事怎样暂缓又约定。听者不要接管故事，只在对方说完后补一个真正遗漏的地方；如果已经完整，就如实说‘我没有找到遗漏’。两人交换。（教师巡视，等待双方完成。）请讲述者暂时只打开教材，找到刚才遗漏的那一句；找到后立即合书，再补说一次，03A和03B仍保持背面朝上。现在把03B翻回来，只在六章故事轨道第一格写下自己的自然话，不需要模仿屏幕，也不要抄活动名称；03A仍扣住。（等待书写。）谁愿意读出自己的第一章一句话？（引用两条现场章意，在黑板保留不同措辞，并只修正事实断点。）我们共同说到的是：男子带着贸丝的动作来商量婚事；女子送他渡过淇水，说明媒妁条件，安抚对方，最后把婚期约在秋天。这个整理来自你们已经讲出的事件，不是要替换每个人的句子。请把第一格留好，下一章还会接着生长。至于‘蚩蚩’、贸丝与谋婚、‘无怒’这些早期细节，不在这里另设一份以后无人读取的个人标记；第五章出现明确的婚后事实时，我们会共同翻回原句。第一章的约定已经落在秋天；第二章，等待开始了。
【真实场景】
屏幕先显示整章原诗；完整重读后学生合上教材，并把03A初读卡、03B细读单同时翻到背面，由同桌确认桌面无原诗；教师再按B键熄暗屏幕。检索完成后只按脚本逐项恢复必要材料。
（完整重读第一章）
（合上教材并将03A、03B同时翻到背面）
（同桌确认桌面不露原诗）
（按B键熄暗屏幕）
（学生在全部支架撤去后旁白）
（听者只补一处或诚实确认完整）
（只开教材定位后立即合书补说）
（只翻回03B写故事轨道，03A仍扣住）
【时间盒】
完整重读第一章：45秒；交代旁白与听者边界：30秒；两人轮流三十秒旁白：75秒；听者补缺、回诗与补说：55秒；写自然章意与故事轨道第一格：50秒；引用学生章意、保存第一格并转场：45秒
【现场分支】
完全空白：允许先说最清楚的一段，再开书只找它前面和后面各发生了什么，不抄整章。
听者直接代讲：立即改问‘你只找到哪一个断点’，把回诗和补说权还给原讲述者。
没有遗漏：允许诚实确认完整；原讲述者在章意旁补一个支撑原词，不制造修改。
用后来结局定性：请暂时只保留第一章能证明的事实和印象；第五章C503出现后来事实时再共同回看固定原词。
【听者任务】
只核对来、送、婚事暂缓与约定三处是否连成故事；全班听章意时比较措辞，不抄教师统一答案。
【证据位置】
03B第一章细读单C105区域和六章故事轨道第一格
【自然切页句】
第一格先留在这里。下一章，约定之后的日子从等待复关开始。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【V6.5页ID】C201｜物理页14｜5分钟
【页面功能】
从秋期进入登垣等待，使‘乘—望’成为具体站位与视线。
【学生主动作】
整章读；留下三个动作和一道视线
【可见产物】
动作与视线初稿
【首次后用】
C202
【删除损失】
删除会让哭笑失去等待空间
【主视觉职责】
垝垣到复关的视线
【插图资格】
I03待A/B
【教师逐字稿】
第一章的婚期已经约在秋天。请先看一眼故事轨道第一格，不添新内容。第二章会把故事带到哪里？现在不要拿新的学习卡，只看屏幕和教材，听我把五句完整读一遍；眼睛跟着诗句走。（教师完整读章，末句后停两秒。）请你们自己完整读一遍。读完以后我才发03A；在卡上写三个你最确定的人物动作，按先后排开。一时只找到一两个，也照实留下。（读后发卡，静默书写。）请两位同学各读一个自己写下的原词；听的人只核对它是不是人物真正做的事。（引用现场原词，不补整章答案。）现在看03A上的首句：‘乘彼垝垣，以望复关。’借教材注释把它说成一句自然话，再只画一道目光：人站在哪里，望向哪里？不要画行走路线。（等待。）同桌互看，只问：人物站在哪里？线指向哪里？若画成已经走到复关，回到‘乘’和‘望’改回来。我们再校准四个词：‘乘’是登上，‘垝垣’是残破的墙，‘以’是来、用来；‘复关’是男子所住的地方，诗中借地名指向他。请沿自己画的目光重读首句。约定以后，她登上残墙，向复关望去。接下来，同一个方向上的不见与既见，会让她发生什么变化？
【真实场景】
屏幕只呈现完整第二章和开放动作提示。教师范读、学生整读结束后才发03A；动作、自然话和视线全部写在03A，教材只供阅读和注释定位。
（打开第一章故事轨道第一格）
（教师完整读第二章）
（学生完整朗读）
（读后发03A）
（学生在03A写动作、口译并画目光）
（同桌核对站位与方向）
（教师后置校词并回读）
【时间盒】
承接第一格与教师完整读章：38秒；学生完整朗读：38秒；读后发03A并写三个动作：58秒；引用动作初稿：29秒；首句自然口译和画目光：58秒；同桌核对、教师校词与故事回接：79秒
【现场分支】
只找到一两个动作：允许保留，不要求为凑够三个而抄词；同桌发言后再回诗补一个。
先写情绪词：若是泣、笑等实际动作可以保留；若只写伤心、高兴，追问原诗中人物做了什么。
画成行走路线：请用手分别按住‘乘’和‘望’，把人物留在垝垣上，只留下朝复关的目光。
不会画：允许只写‘垝垣 —望→ 复关’，不评价绘画能力。
【听者任务】
初稿只核对是否为原诗人物动作；视线只核对站位、方向和‘望’的原词依据。
【证据位置】
03A第二章初读与视线卡
【自然切页句】
目光落向复关。现在把‘不见’和‘既见’放在一起，看这两句怎样突然转过去，又能不能被耳朵听出来。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【V6.5页ID】C202｜物理页15｜5分钟
【页面功能】
用正面对照读清条件变化怎样触发泣涕与笑言。
【学生主动作】
对齐四组原词；试读并说听见的转轴
【可见产物】
条件—动作对照
【首次后用】
C206
【删除损失】
删除会丢失第二章最强情态转折
【主视觉职责】
两组正面对照
【插图资格】
无
【教师逐字稿】
请看同一个方向上的两句：‘不见复关，泣涕涟涟。既见复关，载笑载言。’先把每句说成自己的自然话，再在原诗里圈出彼此照应的词。不要先写伤心和高兴；先写没看见什么、已经看见什么，她实际做了什么。（静默等待。）请同桌一人读上句、一人读下句，只问：什么变化触发了她？她的动作怎样变？谁愿意读出自己圈的两组词？（引用现场原词。）我们校准：泣涕是哭泣流泪，涟涟是泪流不断；既是已经，两个载加强语气。若你的自然话只有情绪，请补上触发和动作。现在不再另开一张朗读程序页。每个人只在诗边标一处：你想让声音从哪里转过去？可以改变停顿、重音或语速，只选一处，旁边写托住它的原词。（等待轻声试读。）两人一组，第一位连读两句，第二位闭眼，只说‘我在____附近听见了变化’，或诚实说‘没有听出来’；读的人据此只改一处，再读一遍。然后交换，让每个人都读一次、听一次、改一次。（等待。）请一组愿意的同学呈现第二遍，听者只报原词。（引用真实声音。）两种读法可以不同，只要原词站得住，耳朵也真能听见。她由不见而泣、既见而笑，这一下转折已经从纸面进入声音。下面，婚事还要经过占问，并真正走向迁移。
【真实场景】
C201完成后才发03B。屏幕始终保留两句原诗，上半先服务圈词，下半只用一句话开启盲听；教师不示范标准读法，不切换独立程序页。
（发03B）
（学生自然口译并圈原词）
（双人上下对读）
（教师引用原词后校词）
（每人标一处声音变化）
（双方各完成一次盲听、反馈和改读）
（引用一组真实声音）
【时间盒】
承接视线与个人自然口译圈词：63秒；双人对读和触发互问：44秒；学生分享、教师定点释义与修订：53秒；个人单点朗读设计和轻声试读：34秒；双方盲听、反馈和各自改读：69秒；真实声音分享、故事回接与转场：37秒
【现场分支】
只贴情绪标签：追问哪一个变化触发、人物实际做了什么，使说法回到不见/既见和泣涕/笑言。
圈满所有词：只保留能与下句某词形成关系的两三处，并说清为什么相照应。
模仿教师：教师拒绝先示范，只问想突出哪个原词，允许不同声音方案。
没有听出来：如实记录，读者只改一处再读；第二遍仍不明显就留问号，不追加第三轮。
【听者任务】
先核对触发条件和人物动作；闭眼后只定位声音变化附近的原词，或如实报告未听出。
【证据位置】
03B C202区和教材原词、朗读标记
【自然切页句】
见与不见的变化已经能被耳朵听见。下面把两句连起来：一次占问之后，婚事又怎样走向了实际迁移？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【V6.5页ID】C204｜物理页16｜6分钟
【页面功能】
准确理解本次卜筮，并沿‘以尔/以我’读清占问到迁嫁的因序。
【学生主动作】
区分双方主体、物件与动作；口头连接因序
【可见产物】
两句因序
【首次后用】
C206
【删除损失】
删除会把无咎—车来—贿迁压成泛泛成婚
【主视觉职责】
三节点因序
【插图资格】
仅抽象因序示意
【教师逐字稿】
第二章最后两句要连起来读：‘尔卜尔筮，体无咎言。以尔车来，以我贿迁。’第一句有四项不能靠猜的知识：卜，是用龟甲占问；筮，是用蓍草占卦；体，是显示的兆象；咎言，是不祥之语。支架到这里为止，完整意思请你自己组织。先按谁做什么、结果怎样，把第一句说成自然话，再写：这次占问得到什么结果？（等待。）同桌只核对四项有没有错位。谁愿意读自己的句子？（引用后校准。）如果你写了‘一定幸福、保证以后’，圈起来；原句只写这次没有不祥。没有越界的同学不必制造错误，只在无咎言旁补‘这次’。接着看第二句。不要先说‘他们结婚了’，请沿‘以尔’和‘以我’分成两边，在03B写清每边是谁、带着什么、做什么。（等待。）现在校准：贿是财物，这里指嫁妆；迁是迁往男子家。同桌一人指‘以尔’一侧，一人指‘以我’一侧，只检查主体、物件、动作有没有放错；不需要交换表演。最后一起合读原句，再把两句连成一句自然的故事话：占问写了什么，接着发生什么？（引用两条现场表达。）这次占问无不祥，婚事继续；车来、财物迁，女子的生活位置也随之改变。第二章已经走到迁移，现在撤去局部支架，看整章能不能重新成为一段故事。
【真实场景】
屏幕同时显示两句。四项文化词卡只提供必要知识；第二句下方保留两条完全开放的主体—物件—动作栏。学生先写，教师后置时间边界和贿、迁释义。
（连读两句）
（教师给四项最小文化支架）
（学生独立口译占问）
（同桌核对名物）
（教师后置时间边界）
（学生拆分以尔/以我双方动作）
（同桌有界核对并合句）
（回到占问—迁移因序）
【时间盒】
连读两句与最小文化支架：41秒；个人占问口译和结果：56秒；同桌名物核对、分享与时间限定：64秒；个人拆分以尔和以我：56秒；同桌对应核对与教师校词：60秒；两句合回故事、个人修订与转场：83秒
【现场分支】
无法组织占问句：只提供‘你—卜筮—兆象—无不祥’四个位置，不念完成句。
直接推出幸福：只问原句写的是哪一次、有没有写后来生活，把说法降回当次结果。
压成他们结婚：追问以尔和以我各是谁的动作，车和贿在哪一边，先拆开再合。
嫁妆归属错位：请按住‘以我’，把贿移回这一侧，不直接报完整译文。
【听者任务】
占问部分只核对四项名物；迁移部分只核对两侧主体、物件和动作；都不提前讨论后来婚姻。
【证据位置】
03B C204区
【自然切页句】
占问无不祥，车来、财物迁，第二章已经走到实际迁移。现在收起局部提示，把等待到迁移完整讲一次。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【V6.5页ID】C206｜物理页17｜4分钟
【页面功能】
把第一、二章接成‘约定怎样成为等待与迁移’，避免第二次复制章末模板。
【学生主动作】
两人分讲两章；共同补一句章间因果
【可见产物】
两章接力口述
【首次后用】
C301
【删除损失】
删除会失去跨章因果
【主视觉职责】
章间铰链
【插图资格】
无
【教师逐字稿】
先把教材摊开，目光从第一章末尾的‘秋以为期’移到第二章开头。这个‘秋期’不是一句孤零零的约定，它把远送后的婚期和登垣等待接在了一起。现在同桌两人接力：一人只讲第一章——他怎样来，她怎样送，两个人怎样约；另一人从‘秋以为期’接住，讲她怎样等、怎样由不见到既见，婚事又怎样走到迁移。说话时可以看诗，不必背，也不再互相审一轮稿。两个人都讲完，只共同补一句：前一章的哪件事，使后一章的等待成为必然？我请两组把接力讲给全班听。听众只听章与章之间有没有真正接上。我们最后留下的不是两张格式相同的章卡，而是一条因果：约定了秋期，所以她等待；见到复关、卜筮无咎、车来贿迁，约定才走进生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教材第一、二章旁的章间箭头
【自然切页句】
故事已经走到迁嫁。可是第三章没有立刻写婚后的事，眼前先出现了一树桑叶。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【V6.5页ID】C301｜物理页18｜4分钟
【页面功能】
发现迁嫁之后诗没有立即写婚后事件，而先转入物象和劝告。
【学生主动作】
完整读章；留下物象和换声句
【可见产物】
换声初稿
【首次后用】
C302—C303
【删除损失】
删除会把比兴变成教师答案
【主视觉职责】
第三章完整换声
【插图资格】
无
【教师逐字稿】
第二章最后，车来了，财物迁了，女子的生活也换了地方。请从故事轨道把前两格连着说一遍，然后只看第三章。先不要问桑叶象征什么，也不要找手法；让五句诗完整地响一遍。读到你自己觉得说话方式变了，可以轻轻停半拍；没有这种感觉，就照原来的节奏读完。（教师范读后，全班个人低声再读。）现在才落笔：迁嫁以后，眼前最先出现了什么？哪一句开始不像叙事，像是在劝告？每一项都抄回一个原词或原句。没有听出转折，可以留问号。同桌只检查你写的是不是这五句里的东西，不替你解释。（等待核对与修订。）我们先保留两件事：桑叶先进入眼前，声音随后改变。它为什么这样写，先不急着回答。
【真实场景】
屏幕只显示第三章全文和两个读后问题；教师范读时站在侧面，学生低声读和落笔时退到后排，不在屏幕上染色提示答案。
（连说前两章故事轨道）
（教师完整范读）
（学生个人完整低声读）
（读后才写两项初稿）
（同桌只核对来源）
（学生亲自修订）
【时间盒】
恢复前两章故事位置：35秒；教师范读与学生完整低声读：85秒；个人读后生成：55秒；同桌来源核对和修订：40秒；引用初稿并转场：25秒
【现场分支】
没有听出变化：声音栏诚实留问号，只写最先看见的物象；C303再用两句对读帮助耳朵发现。
先报比兴：把术语暂放纸边，追问初读时先看见哪一物、从哪句开始听见劝告。
写活动词：将‘朗读、圈词’改成诗中真实出现的物象或一句原诗。
【听者任务】
只核对同伴所写物象和转折句是否来自第三章，不评判解释深浅。
【证据位置】
03C C301区
【自然切页句】
先不越过这片桑叶。它还没有落，叶子正是‘沃若’。这个词究竟让你看见什么？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【V6.5页ID】C302｜物理页19｜4分钟
【页面功能】
从‘沃若’形成色泽、质地和生命感，再留下可由后文检验的联想。
【学生主动作】
写两个感官词；留下一种可能
【可见产物】
桑叶假设
【首次后用】
C402真修订
【删除损失】
删除会退回标准象征义
【主视觉职责】
青润桑叶与原词
【插图资格】
I04a待A/B
【教师逐字稿】
把这句先说成自然话。‘沃若’是润泽的样子。现在先不写象征，不让一个熟悉答案盖住眼前的叶子。请静静看这行诗十秒，想一想它的色泽、质地和生命状态；在纸上写两个能被‘沃若’托住的词。（静默十秒后继续等待。）有了感觉，才允许联想：它可能让你想到怎样的青春、情感或关系状态？请留下两种可能，每一种旁边都写出刚才哪个词托住它。同桌只问一句：‘你的联想从沃若的哪一种感觉生出来？’不替对方选择。（等待。）如果你写的是‘桑叶就是爱情’，请把话放轻，改成‘可能让我想到……’；找不到依据，也可以删去联想，保留感官词和问号。第四章还有‘黄而陨’，我们会带着今天的两种想法回来筛选。
【真实场景】
屏幕只放大原句、沃若词义和两个开放问题；教师说完后真正静默，学生纸上有两项假设位，屏幕不显示范例。
（个人自然口译）
（静默观察十秒）
（写两个感官词）
（写两项可能联想）
（同桌只追问依据）
（学生改弱或保留问号）
【时间盒】
个人口译与词义校准：44秒；静默观察和感官词：43秒；两项假设独立生成：63秒；同桌依据追问：43秒；个人修订和转场：47秒
【现场分支】
只写固定象征：将‘就是’改成‘可能让我想到’，再补一项不同层次的可能或诚实问号。
无感官依据：先删去联想，只保留沃若所能托住的颜色、质地或生命状态。
没有联想：允许只写感官词和问号，第四章对照黄而陨后再生成。
【听者任务】
只追问联想的感官依据，不判断谁的象征义更像标准答案。
【证据位置】
03C C302区桑叶假设卡
【自然切页句】
桑叶的意思先不封口。下一句，一声‘于嗟’落在斑鸠身上；再一声，又落到了谁身上？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【V6.5页ID】C303｜物理页20｜6分钟
【页面功能】
沿连续五句体验劝告由桑、鸠抵达女子，再后置命名比兴。
【学生主动作】
遮句比较或接读；说少了什么
【可见产物】
由物及人的结构句
【首次后用】
C305与C306
【删除损失】
删除会使比兴只剩术语
【主视觉职责】
连续句群的声音移动
【插图资格】
无
【教师逐字稿】
请先把三句说成自然话。‘于嗟’读xū jiē，是一声感叹；‘无’同‘毋’，是不要；‘耽’是沉溺。斑鸠食桑葚易昏醉是教材旧说，只看它在诗里怎样引出劝告。（等待。）圈住两声于嗟，框住鸠和女，再把两种劝告接好。两人一组，一人读斑鸠句，一人接女子句，交换一次。现在把手轻放在学习单上，蒙住桑叶和斑鸠，只让同桌读‘于嗟女兮，无与士耽’。你真实听见了什么变化？可以说画面、回声少了，也可以说直劝更利落；只要回到一处原词。（等待。）同桌只问：你说的变化在原诗哪里？有依据就写‘能找到，不改’，没有就亲自改。等你们先听见以后再命名：由物引出所咏是兴，物与人的相似又引发比的联想。女子的劝告正是从桑叶和斑鸠的一声叹息中走到人身边。
【真实场景】
屏幕只放三句原诗和递进问题；学生在自己的学习单上真实遮住前两句，不另开A/B程序页。
（个人自然口译）
（圈声音框对象与劝告）
（双人接读并交换）
（手遮前两句听直劝）
（个人写变化和原词）
（同桌依据追问）
（按需修订后教师命名）
【时间盒】
口译与最低词义：56秒；圈框与两轮接读：70秒；蒙句听辨和个人原词：77秒；同桌依据追问与按需修订：60秒；公开两种判断、后置命名和重读：97秒
【现场分支】
只报术语：划去术语，补写蒙句后真正少掉的一幅画或一声回响。
认为完全一样：分别说原诗和直劝第一眼看见什么、第一耳听见谁；仍认为一样可以保留。
偏爱直劝：允许保留更直接，同时指出原诗多出的具体画面或回声，不统一审美。
【听者任务】
只问声音落点和蒙句变化能否在原词中找到；不替同伴报完整关系，不强制修改。
【证据位置】
03C C303区
【自然切页句】
劝告已经从物来到人。最后两句把男子和女子并排放在同一个‘耽’字里，却给出两个相反结果。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【V6.5页ID】C305｜物理页21｜5分钟
【页面功能】
从相同‘耽/说’和不同‘士/女、可/不可’读出处境不对等。
【学生主动作】
写一条只陈述诗中处境的对照句
【可见产物】
处境判断
【首次后用】
第四、五章验证并由S03回收
【删除损失】
删除会把劝女归为天性论
【主视觉职责】
两句并排
【插图资格】
无
【教师逐字稿】
最后两句要并在一起读。‘说’在这里读tuō，同‘脱’，是摆脱、脱身。先各自口译，再圈出完全相同的词，框住真正改变结果的词。（等待。）请用一句现代话，只说诗中明写的处境差异，不解释为什么。原因写成‘后文待证’。（等待生成。）交换看同桌的句子，只做一件事：若看见‘女性天生、她活该、因为她沉溺所以他才……’这样的越界词，把那个词轻轻圈出来，不替对方重写。作者自己删改，回到士/女、犹可/不可。（等待修订。）这两句写明：同样沉溺，男子尚可脱身，女子却更难脱身。它没有写女性天生如何；更不能把女子的投入变成男子后来失信或粗暴的原因。为什么难，第四、第五章会让婚后的日子一件件出现。
【真实场景】
屏幕两句左右或上下正面对举，只给说的通假义；原因栏在学习单保持空白，教师站在两句中线位置主持对照。
（个人口译）
（圈同词框异词）
（写无归因处境句）
（同桌只圈越界词）
（作者亲自删改）
（连读校验并保存待证）
【时间盒】
个人口译与通假义：58秒；同异词圈框：50秒；无归因处境句生成：63秒；同桌越界词核查：46秒；作者修订与教师边界校准：58秒；连读和转场：25秒
【现场分支】
性别本质化：圈出‘天生’，改回诗中明写的士/女、可/不可处境差异。
受伤者归责：立即删去女子投入导致男子伤害的因果，把造成伤害与退出困难分开。
追问原因：把问题登记为后文待证；不凭第三章补造婚后结构。
【听者任务】
只检查同伴是否准确陈述处境差异、是否加入无证归因；不提供完整改写句。
【证据位置】
03C C305区
【自然切页句】
五句诗已经逐句走过。现在撤去局部提示，把桑叶、两声劝告和脱身差异讲回女子的一段回望。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【V6.5页ID】C306｜物理页22｜3分钟
【页面功能】
连接迁嫁与回望劝告，理解叙事暂停后如何反观经历。
【学生主动作】
合书口述换声与劝告；判断这是谁的回望
【可见产物】
跨章解释
【首次后用】
C401
【删除损失】
删除会让第三章悬成孤立劝诫
【主视觉职责】
迁嫁到回望的折返
【插图资格】
无
【教师逐字稿】
把第二章最后一句和第三章连起来读：‘以尔车来，以我贿迁。桑之未落，其叶沃若。’婚事刚走到迁嫁，诗却不急着交代后来发生什么，而让桑叶、斑鸠和一声声‘于嗟’来到眼前。请合上书，用一分钟说清这一停：她先看见怎样的桑叶；劝告怎样由斑鸠转向女子；同一个‘耽’字为什么落在男女身上却写出不同的脱身处境。这里不再同桌报断点、返诗、改卡，我只请两位同学各说一段。听的时候想一件事：这段劝告像是故事当时就有人说给她听，还是她经历以后回头说给自己、也说给后来的人听？回到原诗，我们能稳妥地说：叙事暂时停住，回望和劝告进入了故事；至于作者是否只指某一个固定对象，不必强行钉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完整课堂过程：180秒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教材第二、三章之间的跨章说明
【自然切页句】
这份回望还只是警告。第四章，桑叶真正落下，婚后的生活也随之出现。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【V6.5页ID】C401｜物理页23｜4分钟
【页面功能】
先找到重现的桑，再区分生活事实和责任判断。
【学生主动作】
整章读；圈物象、画事实、框判断
【可见产物】
章内三区
【首次后用】
C402—C404_405
【删除损失】
删除会失去事实与判断的边界
【主视觉职责】
完整第四章三区
【插图资格】
无
【教师逐字稿】
第三章最后，我们留下两件还不能封口的东西：一张‘沃若’桑叶的双假设卡，一个‘为什么女子更难脱身’的问号。请先把它们放在手边，不急着打开答案。现在让第四章五句诗完整地响一遍。第一遍只听它写了哪些生活；第二遍再留意，女子是否一直都在讲事情，还是有一句开始说她对这段关系的看法。（教师范读，学生再完整低声读。）现在才落笔：桑叶有了什么新样子？抄下原词。再抄一句你听来不像只在讲事情、而像在判断的话。暂时听不出来，就把问号留在这里。同桌只核对是不是第四章里的原词原句，不替对方解释。（等待核对和修订。）我们先把大家找到的句子留在纸上，不急着裁定。接下来从那片桑叶重新读起，让这五句自己告诉我们，她经历了什么，又怎样说起两个人。
【真实场景】
屏幕只呈现第四章全文和两个读后入口；教师范读时站到侧面，学生落笔前不染色、不画分区。
（取回第三章桑叶卡和待证问号）
（教师完整范读）
（学生个人完整低声读）
（读后才写状态与判断初稿）
（同桌只核对原句来源）
（学生亲自修订）
【时间盒】
恢复第三章两份待证材料：30秒；教师范读和学生完整朗读：85秒；个人生成两项初稿：55秒；同桌来源核对和修订：40秒；引用现场原句并转场：30秒
【现场分支】
只写悲伤或变心：把抽象词收回，先抄桑叶新状态和你认为声音变硬的完整原句。
判断起点不同：允许暂存两个位置，不由教师投票裁决；C404比较‘不爽/贰’时再修。
直接归因女子沉溺：先停止因果判断，本页只登记经历与判断的先后，不把第三章的耽变成伤害责任。
【听者任务】
只检查同伴是否抄自第四章、是否写成原词原句，不评判解释深浅。
【证据位置】
04D C401区
【自然切页句】
先回到那片桑叶。第三章它‘沃若’，这一章却‘黄而陨’；你原来的两种想法，经得住这一落吗？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【V6.5页ID】C402｜物理页24｜5分钟
【页面功能】
用后文真正检验前文的桑叶解释，经历后文改变前文。
【学生主动作】
保留、改写或撤回旧假设；补新依据
【可见产物】
桑叶解释修订
【首次后用】
C406与S06
【删除损失】
删除会让意象理解仍是猜答案
【主视觉职责】
同枝前后状态
【插图资格】
I04c待A/B
【教师逐字稿】
请把第三章的桑叶卡真正翻回来，不要另起一张新纸。左边读‘桑之未落，其叶沃若’，右边读‘桑之落矣，其黄而陨’。‘陨’是坠落。两句用同样的节拍各读两遍，圈出相互顶住的词：未落与落，沃若与黄而陨。（等待对读。）现在看你原来的两种可能。第四章来了以后，每一种是保留、改写，还是撤回？请直接在旧稿上动笔，旁边补第四章的一处原词，或者补一句位置说明：前一句在迁嫁后的劝告开端，后一句在婚后回顾开端。（等待个人修订。）同桌只追问：新句究竟改变了你哪一处？若没有改变，也要说它怎样加强了你的解释。不同答案可以并存，但‘桑叶就是……’这样一锤定音的话要放轻。我们此刻可以说，桑叶荣枯让人联想到青春、情感或关系状态的变化，也把叙事从婚前带到婚后；究竟偏重哪一层，要让全文语境托住。
【真实场景】
屏幕左右只放两句和最低词义；学生桌面必须打开第三章原卡，用另一颜色在原稿上修订，教师不投影成品解释。
（打开第三章旧桑叶卡）
（两句同节拍对读）
（圈两组状态词）
（学生在旧稿上双色修订）
（同桌只追问新句造成的改变）
（学生补证或降低判断强度）
【时间盒】
恢复旧稿与两句对读：54秒；圈状态词并校准陨：46秒；个人保留改写撤回：83秒；同桌追问语境依据：54秒；学生再修与教师后置归纳：63秒
【现场分支】
只等标准答案：请先比较自己两项旧稿受到新句怎样影响；教师不替你选青春、爱情或关系中的一个。
两项完全一样：把第二项改到不同层次，或诚实撤回，只保留一项有前后句支撑的解释。
没有修改：允许保留，但必须补写黄而陨怎样加强或限制旧解释，不为形式制造改动。
【听者任务】
只追问新句与章内位置怎样影响旧解，不投票选唯一象征义。
【证据位置】
03C旧桑叶卡双色修订＋04D C402区
【自然切页句】
桑叶由盛转衰，诗也从劝告走进日子。接下来的两句，一句压着多年，一句忽然把淇水推到眼前。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【V6.5页ID】C403｜物理页25｜5分钟
【页面功能】
让多年生活与当下渡水片刻同时存在。
【学生主动作】
听长时与展开的声音；写双时间旁白
【可见产物】
双时间旁白
【首次后用】
C404_405与S02
【删除损失】
删除会让责任判断缺少婚后事实
【主视觉职责】
多年与片刻并置
【插图资格】
I05待A/B
【教师逐字稿】
先把两句说准。‘徂’是往，‘食贫’是过贫苦生活；‘汤汤’读shāng shāng，写水势浩大；‘渐’读jiān，是浸湿；帷裳是车旁的帷幔。现在不急着分析。左半教室读第一句，把‘三岁’读得能让人感到日子很长；右半教室读第二句，让‘汤汤’有水势，但不要喊。交换一次，其余人闭眼听：哪一句像把多年压在四字里，哪一句把一个瞬间推到眼前？（等待两轮朗读和听者落笔。）请每人写两句第三人称旁白：一句只说多年里发生什么，一句只说淇水这一刻看见什么。写完同桌只圈一个诗中找不到的词，比如离开、归家、被赶走、向东向西；作者自己决定删除或改弱。（等待修订。）我们可以看见长期食贫，也可以看见浩荡淇水浸湿车帷；诗没有告诉我们这次渡水的方向，更没有在这里写完她是否离开。事实站稳以后，下一句才开始辨明责任。
【真实场景】
屏幕左右显示多年与一刻两句；两半教室交替朗读，学生写旁白时屏幕仍保留原句和最低词义作为边界。
（个人自然口译）
（教师定点校音释义）
（左右半班分部朗读）
（交换声音角色）
（个人写双镜头旁白）
（同桌只圈越界词）
（作者亲自修订）
【时间盒】
个人口译和定点释义：61秒；两轮分部朗读与闭眼听：64秒；个人双镜头旁白：61秒；同桌越界词核查：39秒；作者修订、分享与转场：75秒
【现场分支】
把三岁只算三年：按教材语境校准为多年，不把诗中概数锁成精确年限。
补写归家离开：圈出无原句依据的方向或结局词，改回淇水、水势和车帷被浸的事实。
不愿变化朗读：允许准确平读，并承担闭眼听者任务；体验不强制表演。
【听者任务】
听辨长期压缩与瞬间展开；核查旁白是否越过原句补写方向、动机或结局。
【证据位置】
04D C403区
【自然切页句】
多年食贫，淇水浸帷，这是她讲出的经历。紧接着，她不再只讲发生了什么，而开始说：谁没有差错，谁的行为变了。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【V6.5页ID】C404_405｜物理页26｜7分钟
【页面功能】
把四组词连成逐步加重的责任证据链。
【学生主动作】
排序着色四组词；用自然话说清责任
【可见产物】
责任证据链
【首次后用】
C406与S03
【删除损失】
拆页会把同一判断切碎并重复核查
【主视觉职责】
四词递进链
【插图资格】
无
【教师逐字稿】
这四个词要连在一起读，不能拆成两张互不相干的词义卡。先看‘女也不爽’：爽在这里是差错，女子说自己没有差错。再看‘士贰其行’：贰不是数字二，而是行为不专一、前后不一。‘罔极’是没有准则，‘二三其德’把反复无常直接写进了他的品行。请用四种深浅把它们排成一条加重的证据链，再用一句平常话说清：诗中谁没有差错，谁的行为又怎样从前后不一走到反复无常。先个人排，再请一位同学到黑板移动四张原词卡；全班若不同意，只能引用上下句调整次序。这里还要守住责任边界：女子经历食贫、渡水，说明她承受了什么；男子的‘贰、罔极、二三’，才直接说明谁应为失信和反复负责。请再连读两句，让词义、语势和责任判断一次落稳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黑板四词递进链与教材旁的一句责任判断
【自然切页句】
桑叶、生活事实和责任判断已经齐了。下一页，我们只用这一章的三层关系讲成一段话。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【V6.5页ID】C406｜物理页27｜4分钟
【页面功能】
在教师三层板书模型后，独立完成第四章章意。
【学生主动作】
合书口述物象—生活—责任；返诗补一处
【可见产物】
第四章章意
【首次后用】
C501与S03
【删除损失】
删除会使第四章三层关系散开
【主视觉职责】
三层板书
【插图资格】
无
【教师逐字稿】
请先看黑板，我只搭一个没有答案的三层架子：物象变化、婚后生活、责任判断。第一层，桑叶由什么变成什么；第二层，她嫁过去以后经历了怎样的日子和哪一个渡水片刻；第三层，诗怎样分清两个人的行为。现在把书合上四十五秒，自己在心里连成一段，再说给自己听。这里不再进行一次全员同桌审稿；我随机请一位同学讲，讲到真正断开的地方，全班只帮他指出应回哪一句诗。他打开书找到那一句，合上书自己补完。请注意，章意不是‘桑叶象征爱情破灭’这一句标签，而要让桑叶落下、三岁食贫、淇水浸帷和‘不爽—二三其德’依次发生。最后我用黑板把大家的话压成三个短语，但不替你们写成统一标准句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黑板三层模型与个人口述
【自然切页句】
第四章已经把失衡和责任说清。第五章会把‘三岁’拆成每一天，又让屋外的笑声传进来。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【V6.5页ID】C501｜物理页28｜4分钟
【页面功能】
完整听见第五章，并定位动作和声音的主体。
【学生主动作】
整章读；标主体、动作和声音来源
【可见产物】
空间声音初稿
【首次后用】
C502—C504
【删除损失】
删除会让不幸仍是标签
【主视觉职责】
第五章完整声场
【插图资格】
无
【教师逐字稿】
第四章说到男子的行为反复无常。第五章不先讲一个抽象结论，而是把门推开，让我们看见日子怎样过。请让五句诗完整响一遍；读的时候先不圈‘苦’‘惨’这些词，只听谁在做事，谁的声音从外面传来，什么时候声音收进女子心里。（教师范读，学生低声完整再读。）现在才落笔：抄一个会在生活中反复发生的动作；再抄一处你觉得声音已经转入她内心的原句。不确定可以留问号。同桌只核对是否来自第五章，不替对方讲答案。（等待修订。）我们先保留一条大致路径：日常劳作在前，男子和家人的声音进入，最后只剩她静下来思量。每一步究竟怎样写，继续往下走。
【真实场景】
屏幕只显示第五章全文与两个读后入口；教师不预先染色人物，不投影生活处境分类。
（读取第四章故事轨道第四格）
（教师完整范读）
（学生完整低声读）
（读后才写两项初稿）
（同桌只核对原句来源）
（学生亲自修订）
【时间盒】
承接第四格：25秒；教师和学生完整读章：90秒；个人生成两项初稿：60秒；同桌来源核对和修订：40秒；引用现场原句与转场：25秒
【现场分支】
只写很辛苦：请改回诗中人物实际做的动作，例如起、寐，或抄一整句。
把兄弟理解成所有家人：本页只保留诗中明确的兄弟，不扩大到所有家人。
提前补写身体暴力：先回到‘暴’这一字；具体伤害方式诗中没有写，C503会守住边界。
【听者任务】
只核对动作和转折句是否来自第五章，不评价情绪是否深刻。
【证据位置】
05E C501区
【自然切页句】
先不走向兄弟的笑声。前两句只写一天从什么时候开始、什么时候结束，却说这一天重复了许多年。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【V6.5页ID】C502｜物理页29｜5分钟
【页面功能】
把夙兴—夜寐拉成一天首尾，再叠入三岁与靡有朝的多年重复。
【学生主动作】
完成嵌套时间线；口头概括日常
【可见产物】
嵌套时间线
【首次后用】
C505与S02
【删除损失】
删除会失去日常劳作的时间结构
【主视觉职责】
一天叠入多年
【插图资格】
I06须重审
【教师逐字稿】
先借注释把两句说成自然话。三岁是多年；靡是没有；室劳是家务劳动；夙是早，兴是起身，夜寐是晚睡，朝在这里是一日。现在请两位同学分站教室前后：一位从‘夙兴’开始，一位在另一端接‘夜寐’；全班不齐读，只在两句末尾低声接出‘靡’。交换一次。听的人闭眼：一天从哪里开始，到哪里结束？哪个字让这种日子不只发生一天？（完成声场与等待。）现在每人写一句第三人称旁白，要同时有一天和多年，不添加具体家务清单。若写成‘贤妻无怨无悔、勤劳是她的美德’，同桌可以圈出美化劳苦或替人物补心情的词，作者自己改回长期家务、早起晚睡、没有一天例外的事实。（等待修订。）诗写她承担多年家务与时间负担；赞许一个人的勤勉，不能让不均衡的劳动从画面里消失。
【真实场景】
屏幕左右拉开夙兴与夜寐；两位学生在教室两端读，全班只在靡处低声回响，随后个人写生活旁白。
（个人借注释口译）
（教师定点校词）
（两位学生分站早晚两端）
（全班只接两声靡）
（交换两端朗读）
（个人写生活旁白）
（同桌圈美化或补写词）
（作者亲自修订）
【时间盒】
口译与词义校准：64秒；两轮空间声场与闭眼听：72秒；个人生活旁白：61秒；同桌用词核查：39秒；作者修订、分享和转场：64秒
【现场分支】
赞美贤惠盖过负担：允许保留赞许，但另写清劳动是否长期集中、时间是否有休止。
虚构具体家务：删去诗中未写的做饭、洗衣等清单，回到室劳、夙兴、夜寐。
不愿走位：留在座位用手指向早晚两端朗读，并承担闭眼听者任务。
【听者任务】
听早晚跨度和靡的无例外感；核查生活旁白是否美化劳苦或虚构细节。
【证据位置】
05E C502区
【自然切页句】
多年这样生活以后，下一句忽然写‘既遂’和‘至于暴’。一个人的愿望满足了，另一个人的日子却走向哪里？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【V6.5页ID】C503｜物理页30｜6分钟
【页面功能】
读清既遂—至暴的变化，并有限回看婚前警讯而不倒推预谋。
【学生主动作】
任选一处婚前细节；写现在能说明与仍不能说明
【可见产物】
有限回看双行句
【首次后用】
C505与S03
【删除损失】
删除会失去审慎与证据边界
【主视觉职责】
今昔证据边界
【插图资格】
无
【教师逐字稿】
‘言既遂矣，至于暴矣’，先按字面读清：言是助词，遂是顺心、满足，暴是粗暴。婚事如愿以后，他的行为走到了粗暴。后见事实会改变我们回看开头的眼光，但不能把怀疑写成已经证实的预谋。请从第一章只选一处：抱布而来、急切谋婚，或者女子说‘将子无怒’。在纸上写两行：现在回看，这一处值得我们警惕什么；仅凭这一处，仍不能证明什么。三位同学各承担一处，读出自己的两行，全班把三处拼齐，不再三人轮换互审。教师最后只校准证据强度：婚前审慎不是要求人预知未来；后来‘至暴、二三其德’是诗中明确的责任证据，早期细节只能说明值得观察、承诺需要由长期行动核验，不能反过来责怪女子没有看穿一切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教材第一、五章之间的有限回看双行句
【自然切页句】
男子的变化已经写明。第五章还有另一重孤立：外面的笑声散去以后，她只能独自思量。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【V6.5页ID】C504｜物理页31｜5分钟
【页面功能】
用全课唯一声场体验外部笑声退去后女子独自思量。
【学生主动作】
听外声—沉默—内声；静写第三人称处境
【可见产物】
声音层次与处境句
【首次后用】
C505、S02与S03
【删除损失】
删除会失去社会孤立的声音经验
【主视觉职责】
声场与留白
【插图资格】
I07须重审
【教师逐字稿】
先把字音和词义说准：咥读xì，是笑的样子；躬是自身；悼是悲伤。现在全课只做这一次声场。教室两侧克制地低读‘兄弟不知，咥其笑矣’，不是表演嘲笑；声音完全退去后，真正沉默三秒，再由中间一位同学读‘静言思之，躬自悼矣’。其余人闭眼听，不忙着判断。（完成声场与静默。）请睁眼，只在纸上画三格：外声——沉默——内声，再用第三人称写一句：此刻的她处在怎样的位置？不交换，不审稿，也不要求讲自己的家庭。诗只写兄弟不了解而笑，随后她静思、自悼；我们可以由此看见理解和托举的缺席，却不能虚构她怎样求助、所有家人怎样拒绝。最重的一笔，不是更响的控诉，而是笑声过去，只剩一个人面对自己的悲伤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教材第五章旁的外声—沉默—内声三格
【自然切页句】
把这间屋子里的时间、声音和人物留下。下一页，我们用一小段生活把许多年写出来。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【V6.5页ID】C505｜物理页32｜4分钟
【页面功能】
把第五章转译成不虚构的生活片段，直接供全文第二问使用。
【学生主动作】
合书写40—60字生活片段；匿名猜回原句
【可见产物】
第五章生活片段
【首次后用】
S02直接展读
【删除损失】
删除会使全文活动重新从零写
【主视觉职责】
学生文字
【插图资格】
无
【教师逐字稿】
第五章已经不用再做一次同构的章末互审。请看四个原句锚点：夙兴夜寐、靡有朝矣；言既遂矣、至于暴矣；兄弟不知、咥其笑矣；静言思之、躬自悼矣。现在合上书，用第三人称写四十到六十字，题目就是‘一间屋子里的许多年’。写她每天怎样过，男子怎样变化，外面的笑声退去后她怎样独自思量；不要添具体家务清单、具体伤害方式或诗中没有的求助过程。教师安静巡视，不让同桌互相改。时间到后只匿名投影两份，我读给大家听，请全班说它能回到哪一句诗；暂时不评价辞藻高低。这段生活文字不是另一个装饰性任务，它会在全文第二问直接展出，用来把‘不幸’从标签还原成可观察的日常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第五章生活片段卡
【自然切页句】
生活已经写到最深处。第六章不再增加新的日常事件，她开始重新看旧愿、旧事和誓言。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【V6.5页ID】C601｜物理页33｜4分钟
【页面功能】
发现末章不再新增生活事件，而在重新评价旧愿、旧事和誓言。
【学生主动作】
整章读；标旧事与可能收束句
【可见产物】
回望初稿
【首次后用】
C602—C605
【删除损失】
删除会使末章被拆成名句
【主视觉职责】
第六章完整回望
【插图资格】
无
【教师逐字稿】
第五章最后，她静下来，只能独自思量。第六章会不会立刻斩断过去？请先不要只等最后一句，让五句完整地走一次。读时听一听：她把哪些旧事重新放回眼前，哪一句才真正把全诗收住。（教师完整范读，学生再低声完整读。）现在才落笔：抄一处回到过去的原句，再抄一处真正收束全诗的原句；在末句旁只留一个你最初听见的声音词，听不准就留问号。同桌只核对是不是原句、时间是否真的回到过去，不替对方命名情绪。（等待。）我们先不把末句叫成觉醒或离开。女子要先重新经过偕老、边界、少年言笑和誓言，结尾才会到来。
【真实场景】
屏幕只呈现第六章全文和两个读后入口；教师不突出末句，学生落笔前不染色时间层。
（读取第五格）
（教师完整范读）
（学生完整低声读）
（读后才摘过去句和收束句）
（同桌只核对来源与时间）
（学生亲自修订）
【时间盒】
承接第五格：25秒；教师和学生完整读章：90秒；个人两项初稿：60秒；同桌来源核对和修订：40秒；引用原句与转场：25秒
【现场分支】
只等亦已焉哉：先抄一处更早的旧事句，让停止之前的核验过程保留下来。
直接写已经离开：退回原句，只写收束声音；是否实际离开待C605区分。
情绪词互相不同：保留疲惫、怨、清醒等不同初听，不以投票选唯一。
【听者任务】
只核对原句和时间位置，不替同伴给末句定性。
【证据位置】
06F C601区
【自然切页句】
先看第一个回环：同一个‘老’字，一边是愿望，一边为什么成了怨？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【V6.5页ID】C602｜物理页34｜4分钟
【页面功能】
从同一‘老’字读出旧愿怎样折成现实怨意。
【学生主动作】
接读两个老；写旧愿与现实双行
【可见产物】
同词反折
【首次后用】
C606_S01与S06
【删除损失】
删除会失去末章时间折返
【主视觉职责】
同词复现
【插图资格】
无
【教师逐字稿】
请一组同学接读：前半句读‘及尔偕老’，后半句接‘老使我怨’。同一个‘老’字第一次落在共同的旧愿里，第二次却落在现实的怨意里。我们不做全班人人改读，只再听我示范一次：前半句把声音送向将来，后半句让‘老’字折回已经发生的生活。请每个人写两小行：第一个‘老’原来许诺怎样的生活；第二个‘老’如今带回哪一种现实。这里不要求统一成‘反讽’一个标签，先让词在前后位置里改变意义。请两位同学读自己的两行，听众只指出他是否把旧愿和后来现实分开。最后再齐读一次：一字复现，时间却已经折返；第六章正是在这样的折返中检验过去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完整课堂过程：240秒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教材第六章旁的两个‘老’字双行批注
【自然切页句】
旧愿折回现实以后，诗忽然写淇水有岸、湿地有边。先把这幅地貌看清，再谈它可能怎样接住前后文。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【V6.5页ID】C603｜物理页35｜5分钟
【页面功能】
先看清有界地貌，再形成能接前后文的一种或两种解释。
【学生主动作】
选择或并列解释；写前后文依据
【可见产物】
有依据解释
【首次后用】
C606_S01与S06
【删除损失】
删除会把自然图景变现代口号
【主视觉职责】
无人地貌与多解
【插图资格】
I09待A/B
【教师逐字稿】
先把字面说准：隰读xí，是低湿的地方；泮读pàn，同畔，是边、岸。淇水有岸，低湿地有边。请先独立写一种可能：诗为什么在偕老与怨之后忽然说自然有界？你的解释要接回前一句或后面的回忆。（等待首解。）四人组轮流只读自己的解释和所接原句；听到不同想法，再补第二种。组内不要投票，把两种解释分别问清：它靠哪个词，怎样接前后文？最后每个人给更能说服自己的一个轻轻加圈，也可以并列，但要写保留理由。（等待。）教材允许两种理解：可反衬男子心意无常、没有限制；也可反衬女子若偕老将产生无边怨苦。它们不是随意猜测，都要经过全章语境。这里不要直接改写成现代口号‘做人要有边界’；先让诗自己的怨、反与信誓说话。
【真实场景】
屏幕只显示原句、词义和开放问题；学生先个人写，四人组交流时屏幕不出现两种成品解释，教师最后才归纳。
（个人字面口译）
（教师校音释义）
（个人写第一种解释）
（四人轮读证据）
（每人补第二种解释）
（个人排序或并列）
（教师后置多解）
【时间盒】
口译与词义：46秒；个人第一种解释：63秒；四人证据轮读：71秒；个人补解和排序：58秒；公开两种衔接：29秒；教师后置归纳：33秒
【现场分支】
直接写现代边界：追问原句在偕老、怨和后文誓言之间怎样衔接，先恢复诗内意义。
只有一种解释：先保留，听见同伴或教师后再补第二种，不要求假装认同。
用人数判对错：取消表决，只比较各自接哪一句、靠哪个词。
【听者任务】
只追问解释的前后文落点和原词，不替全班选唯一答案。
【证据位置】
06F C603区
【自然切页句】
自然边界之后，时间突然退回少年。她为什么在最痛的时候，还把当初的言笑和信誓完整地记起？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【V6.5页ID】C604｜物理页36｜5分钟
【页面功能】
同时保存旧日确有欢乐誓言和后来行为应受核验。
【学生主动作】
完成旧日事实与后来事实双栏；讨论两个极端答案
【可见产物】
双真相句
【首次后用】
C605与S03
【删除损失】
删除会扁平化人物记忆
【主视觉职责】
双栏事实
【插图资格】
I08待A/B
【教师逐字稿】
先把词说准：总角是少年时代；宴是欢乐；晏晏是和悦的样子；旦旦是诚恳的样子；反是违背。现在把纸分成两栏：左边只写她确实记住了什么，右边只写今天核验出了什么行为事实。不要先判断当初内心是真是假。（等待。）同桌交换，各找一种越界：如果写‘过去全是假的’，问言笑晏晏在叙述者记忆里是否真实；如果写‘曾经美好，所以还应该坚持’，问不思其反能否被过去抵消。作者自己改成一句能同时容纳两件真的话。（等待。）我们听两句。她保存少年欢乐和当初信誓，也确认后来行为违背。共同记忆可以解释为什么难以割舍，却不能替失信免责。正因为她记得信誓旦旦，‘反’才如此清楚。
【真实场景】
屏幕左右为旧日相册和今日核验；学生个人先写，教师不讨论男子当初主观真伪，只守经验与行为事实。
（个人口译两句）
（教师校词）
（个人完成旧日/今日双栏）
（同桌圈两类越界词）
（作者写双真相句）
（公开听两句）
（教师后置责任边界）
【时间盒】
口译与词义：58秒；个人双栏：71秒；同桌越界核查：46秒；作者修订：46秒；公开抽样与归纳：54秒；转场：25秒
【现场分支】
断言过去全假：把主观动机改为叙述者确实保存的言笑晏晏与信誓旦旦。
美好成为继续理由：补回不思其反，区分为何难舍与后来行为责任。
追问当初誓言真假：允许保留问题，诗只提供誓言呈现与后来违背，不直接证明当初心理。
【听者任务】
只核查是否抹除真实记忆或用记忆替后来免责，不判断当初动机。
【证据位置】
06F C604区
【自然切页句】
旧日没有被删掉，违誓也没有被稀释。最后一句便不再是突然的口号：她把‘反’和‘不思’再说一次，然后说‘亦已焉哉’。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【V6.5页ID】C605｜物理页37｜5分钟
【页面功能】
读清反—不思—已的收束，并区分停止判断与实际离开。
【学生主动作】
选择停顿与声线；写诗写到与没有写到
【可见产物】
停止判断边界
【首次后用】
C606_S01、S03与S08
【删除损失】
删除会把末句变成觉醒出走标签
【主视觉职责】
末句与静默
【插图资格】
无
【教师逐字稿】
把两句并在一起读。圈出回来一次又一次的词：信誓、反、不思。‘是’指这，指誓言；‘已’是止、了结；焉、哉两个语气词连用，加强收束。请先用自然话写清：她经过什么核验，才说到此为止？（等待。）现在做两种声音实验。同一句‘反是不思，亦已焉哉’，第一遍读得疲惫、克制，像把许多话沉下去；第二遍读得清醒、决绝，像判断终于站稳。两人轮换，听者闭眼，只报实际听见什么，以及在已、焉、哉哪处听见；不要评谁最好。（等待双声与改读。）每个人最后可以选择一种，也可以写两种声音先后交叠，再只改一处。最后写边界：诗写出了什么，没有继续写什么。请把‘她已经离家并开始新生活’改回文本：她形成停止这段关系的判断；怎样实际离开、后来怎样生活，诗没有叙述。她的清醒不因现实行动未写而减少，阅读的诚实也不能因我们希望她离开就补写结局。
【真实场景】
屏幕两句并列；学生先圈回环词和写判断链，双人完成两种声音的盲听，边界写在学习单，不上屏预给。
（并读两句并圈回环词）
（个人写判断形成链）
（双人第一种声线）
（交换第二种声线）
（听者只报听感位置）
（个人选择或融合并改读）
（写诗写/未写边界）
【时间盒】
词义与回环定位：50秒；个人判断链：50秒；双声盲听：72秒；个人改读：39秒；事实边界写作：46秒；分享归纳与转场：43秒
【现场分支】
只读爽快决绝：保留，再试一次疲惫克制，比较已、焉、哉的收束是否多出层次。
只读无力悲伤：保留痛与倦，再回到已的停止义，看判断是否已经形成。
补写实际离开：将事实降回形成停止判断；行动方式和后来生活标为诗未写。
【听者任务】
只报实际听见的声音及原词位置，不选择最佳演法；核查停止判断与实际行动是否混淆。
【证据位置】
06F C605区
【自然切页句】
结尾已经逐字走到。现在收起所有局部解释，看看能否从偕老愿望一路讲到亦已焉哉，并把六章故事真正合拢。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【V6.5页ID】C606_S01｜物理页38｜10分钟
【页面功能】
只进行一次全诗人生统整，让六章成为有转折、有因果的长卷。
【学生主动作】
六组各承担一章；沿长卷低声完整讲并画因果箭头
【可见产物】
六章人生长卷
【首次后用】
S02与S03
【删除损失】
删除会失去全文第一问，拆页会重复重建
【主视觉职责】
现场六章长卷
【插图资格】
无
【教师逐字稿】
第六章落下以后，我们只做一次全诗人生统整。六个小组各承担一章：不写格式相同的章卡，只在黑板长卷上留下人物、关键动作和这一章带来的转折。第一组从相识议婚开始，第二组接等待迁嫁，第三组说明叙事为什么转为劝告，第四组写婚后失衡和责任判断，第五组写多年劳作、粗暴、外笑与自悼，第六组把旧愿、旧事、誓言和‘亦已焉哉’接到终点。每组说完，我只追问两处真正的转折，现场把因果箭头画出来。长卷完成后，每个人沿六段低声给自己讲一遍，在你认为最改变后来生活的一步处画一支箭头，并写出原句。注意结尾边界：诗写她形成停止判断，没有写出后来实际去了哪里。这张人生长卷已经回答第一问，下一页不再要求重写六句人生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完整课堂过程：600秒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六章人生长卷与个人因果箭头
【自然切页句】
经历已经连成一条人生。现在回到第二问：这些不幸若落在每天的生活里，究竟是什么样子？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【V6.5页ID】S02｜物理页39｜8分钟
【页面功能】
把贫苦、劳作、粗暴、嘲笑和孤立还原为可观察的日常。
【学生主动作】
取回或重写生活片段；匿名猜回原句并说明依据
【可见产物】
婚后生活证据展
【首次后用】
S03
【删除损失】
删除会让不幸停在抽象名词
【主视觉职责】
匿名学生文字
【插图资格】
无
【教师逐字稿】
‘贫苦、劳作、粗暴、嘲笑、孤立’都是正确的词，但如果只剩这些词，我们仍看不见她怎样生活。先看我示范一条：‘夙兴夜寐，靡有朝矣’不必改写成‘她很勤劳’，可以写成‘天还没有全亮，她已经起身；夜深下来，这一天仍没有真正停住。这样的日子一日接一日。’这只是示范写法，不能添诗外的家务细节。现在取回第五章那张‘一间屋子里的许多年’，愿意的话也可另选一句改写。稍后匿名投影三到四份，全班不猜作者，只猜它背后的原诗，并说明哪一个细节把你带回去。若猜不回，作者就要把文字收紧到原句；若一句文字能被准确猜回，我们才算把抽象不幸还原为可观察、又有证据的日常。教师最后归拢生活负担、关系伤害与支持缺失，不把三者混成一个‘惨’字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匿名婚后生活证据展
【自然切页句】
我们已经看见不幸怎样落在每天。第三问不能列一串标签，要沿时间追问：它为什么一步步走到这里？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【V6.5页ID】S03｜物理页40｜12分钟
【页面功能】
沿时间放置警讯、伤害、持续阻力、支持缺失和解释边界，形成不归责受伤者的原因结构。
【学生主动作】
个人先写原因；小组放原句证据并质询因果箭头
【可见产物】
原因证据长卷
【首次后用】
S04
【删除损失】
删除会失去用户要求的整体原因结构
【主视觉职责】
动态时间长卷
【插图资格】
无
【教师逐字稿】
先不要看任何预制答案，请个人写下你认为最重要的一两个原因。现在黑板铺开一条时间长卷：相识、承诺、共同生活、失衡、缺少托举、停止判断。四组各拿一组原句卡，把证据放到最合适的位置，再画一支你们认为成立的因果箭头。第一组处理婚前值得观察的信息和审慎；第二组处理承诺与后来行为的表里不一；第三组处理长期投入、已有共同记忆为什么使停止更难，以及不对等怎样可能被继续利用；第四组处理兄弟不知而笑、理解与托举缺席，以及女子最后的判断。每组放完，全班只质询箭头：这条因果是原诗明写、可以推断，还是已经越界？教师最后守住三条边界：投入和沉没成本解释为什么更难停下，不能解释男子为何伤害；婚前细节值得警惕，不等于已证预谋；‘亦已焉哉’写停止判断，不等于诗写明实际出走。原因因此不是一堆补丁，而是一条有时间、有责任、有阻力的结构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完整课堂过程：720秒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全文原因证据长卷
【自然切页句】
从反面的结构看清问题以后，我们回到开课时的文学版图，讨论一段良好的共同生活需要哪些支点。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【V6.5页ID】S04｜物理页41｜10分钟
【页面功能】
把《氓》的反面证据转为可观察、可讨论的良好关系支点。
【学生主动作】
修订开课时主题；四人合成三个关系支点
【可见产物】
个人主题修订与班级支点图
【首次后用】
S08只引用
【删除损失】
删除会使导入成为孤儿并失去婚姻讨论
【主视觉职责】
现场平衡结构
【插图资格】
无
【教师逐字稿】
请重新看开课时那张由你们自己说出来的文学主题谱。那时我们谈相遇、等待、阻隔、选择，也留下了一个问题：相爱以后，当两个人开始共同生活，故事怎样走下去？现在个人写三行：开课时我留下的一句；读完《氓》以后我愿意怎样修订；托住这次修订的一处原诗。只谈作品或第三人称关系，不采集个人恋爱、婚姻和家庭经历。四个人读完彼此的三行，不选口号，而要合成三个能在生活中观察的‘关系支点’，写在三张卡上，放到公共平衡结构旁。全班可以移动、合并或改名，但每次都要引用一张学生卡或一处原诗。教师最后后置归纳：审慎了解、承诺与行动一致、劳动和决定不过度失衡、伤害责任不转嫁、困难时有人理解托举、旧日美好不能替后来行为免责。这不是唯一婚姻模板，而是《氓》的反面证据帮助我们看见的关系条件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完整课堂过程：600秒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个人主题修订与班级关系支点图
【自然切页句】
现实讨论已经有了原诗依据。最后还要把能复习、能迁移的《诗经》知识和语言发现收回手中。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【V6.5页ID】S05｜物理页42｜6分钟
【页面功能】
检验必要文化与字词能否离开注释被说清，并修复真实错项。
【学生主动作】
合书检索《诗经》身份；选四词读释并回原句修复
【可见产物】
检索修复稿
【首次后用】
S08终读
【删除损失】
删除会把看过注释冒充掌握
【主视觉职责】
合书检索与错项修复
【插图资格】
无
【教师逐字稿】
先合上教材，不翻注释。请写《诗经》的四项最低身份：我国最早的诗歌总集，共三百零五篇，内容分风、雅、颂，《氓》出自《卫风》。这不是一开始打断故事的背景讲座，而是读完整首诗后的检索。再从本课核心词中任选四个：愆、将、筮、说、徂、汤汤、渐、爽、贰、罔极、二三、靡、遂、暴、咥、隰、泮、反、已。写读音、句中意思和它所在的原句。两分钟后打开书，只用注释和原句修复自己的空项；原来正确就保留，不制造错误。教师收集真实共性错项，只讲全班确实不稳的三到五处，并把字义重新接回人物行动。最后每个人圈一个会影响终读的字音或词义，下一次完整朗读时用它校准自己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文化与核心字词检索修复稿
【自然切页句】
字词已经回到原句。下一页我们不再抄一张知识清单，而要回答：这些诗句为什么成为这样一首诗？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【V6.5页ID】S06｜物理页43｜8分钟
【页面功能】
把逐句经验收成可复习的叙事、比兴、复现反折和声音知识图。
【学生主动作】
各组为一块补原句例子；个人标一个不稳项
【可见产物】
全班语文知识图
【首次后用】
S08带走一处语言发现
【删除损失】
删除会使知识只散落在活动里
【主视觉职责】
关系线与原词
【插图资格】
无
【教师逐字稿】
黑板分成四区，但不预先填满例子。第一块是第一人称六章叙事：她怎样由相识议婚、等待迁嫁走到回望、失衡、劳作孤立和停止判断。第二块是桑叶：‘沃若—黄而陨’怎样用比兴和前后对照，让后文改变我们对前文的理解；‘于嗟’又怎样由物及人。第三块是复现与反折：同一个‘老’，‘信誓—不思—反是不思’，怎样让旧愿在后文折回来。第四块是声音：四言节奏，涟涟、汤汤、晏晏、旦旦等叠词，以及叙事和抒情怎样交织。每组只从已经细读过的原句给一块补一个例子，教师负责把学生的自然发现提升为准确术语，再立即说回它帮助我们看见的人物变化。最后每人只标一个仍不稳的区，不再制作一张重复的S07汇编页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完整课堂过程：480秒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教师学生共建语文知识图
【自然切页句】
知识已经从原诗里长成一张图。最后一页不再誊抄它，只留下一个真正改变和一个仍愿追问的问题，让全诗重新完整响起。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【V6.5页ID】S08｜物理页44｜6分钟
【页面功能】
每人只留下一个改变或问题，再让全诗完整响起并安静结束。
【学生主动作】
二选一写一句；至少180秒完整朗读
【可见产物】
终课一句与完整终读
【首次后用】
真实试教评估
【删除损失】
删除会失去个人出口和整体声音
【主视觉职责】
原诗与留白
【插图资格】
无
【教师逐字稿】
请把前面的学习材料轻轻合在一起，不再抄写三问答案、关系支点和知识图。最后只做一个选择：写下一处改变最大的理解，或者留下一个你仍愿意追问的问题。可以关于女子、男子、婚姻结构，也可以关于桑叶、叠词、叙事声音；只要是真实的，不必把两项都写满。（教师安静等待。）我请两三位同学读出自己的那一句，听众不评价、不补充，只让不同的声音并排留下。现在翻回全文，先看一眼你刚才在字词检索中圈出的终读提醒。接下来至少三分钟，从‘氓之蚩蚩’连续读到‘亦已焉哉’，中途不切屏、不插问、不总结。读到末句以后，教师和学生一起停住，让沉默真正发生。我们不追加一条口号，也不替这位女子续写诗中没有写出的后来。她的声音落在这里，课也落在这里。
【真实场景】
屏幕只保留此刻要读的原诗、问题或学生现场作品；教师在说完邀请后退到侧面，把阅读、书写和沉默真实还给学生。
（教师承接前页）
（学生完成主动作）
（公开少量真实材料）
（教师据原诗归纳）
（自然切页）
【时间盒】
完整课堂过程：360秒
【现场分支】
暂时没有答案：允许先回到原句圈出最确定的一处，再用不完整但真实的话开口。
判断越过原诗：请说出依据；找不到相应原词时，把断言降为问题或可能。
【听者任务】
听清发言引用了哪一句诗、给人物故事增加了什么；只补遗漏，不替发言者重写答案。
【证据位置】
个人终课一句与完整终读
【自然切页句】
（‘亦已焉哉’落下。教师停顿，不追加口号。）下课。
【声明边界】无插图桌面排演候选；不声称真实课堂或学习效果已通过。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我们还记得哪些爱情与婚姻故事？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从小学想到高中：课文、小说、整本书……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22402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篇名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840480" y="258775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4128" y="3291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1483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一句话唤回故事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840480" y="3639312"/>
            <a:ext cx="7132320" cy="0"/>
          </a:xfrm>
          <a:prstGeom prst="line">
            <a:avLst/>
          </a:prstGeom>
          <a:noFill/>
          <a:ln w="19050">
            <a:solidFill>
              <a:srgbClr val="DED0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4343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它谈到怎样的相遇或共同生活？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840480" y="4690872"/>
            <a:ext cx="7132320" cy="0"/>
          </a:xfrm>
          <a:prstGeom prst="line">
            <a:avLst/>
          </a:prstGeom>
          <a:noFill/>
          <a:ln w="19050">
            <a:solidFill>
              <a:srgbClr val="E9DD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7150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先写一篇；还能想起，就继续往下写。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让更多故事在教室里相遇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104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　　　　　　》让我想到爱情或婚姻中的　　　　　　　　　。</a:t>
            </a:r>
            <a:endParaRPr lang="en-US" sz="3100" dirty="0"/>
          </a:p>
        </p:txBody>
      </p:sp>
      <p:sp>
        <p:nvSpPr>
          <p:cNvPr id="7" name="Shape 5"/>
          <p:cNvSpPr/>
          <p:nvPr/>
        </p:nvSpPr>
        <p:spPr>
          <a:xfrm>
            <a:off x="960120" y="3108960"/>
            <a:ext cx="10149840" cy="0"/>
          </a:xfrm>
          <a:prstGeom prst="line">
            <a:avLst/>
          </a:prstGeom>
          <a:noFill/>
          <a:ln w="15240">
            <a:solidFill>
              <a:srgbClr val="C5B39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身边说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3474720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1728" y="3703320"/>
            <a:ext cx="2468880" cy="109728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合并不同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7150608" y="4251960"/>
            <a:ext cx="1207008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57616" y="3703320"/>
            <a:ext cx="2468880" cy="109728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E9DD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2208" y="4005072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带来一条新篇目或新说法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让教室里的文学版图，从你们的话里长出来。</a:t>
            </a:r>
            <a:endParaRPr lang="en-US" sz="2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相遇以后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10360152" cy="3429000"/>
          </a:xfrm>
          <a:prstGeom prst="roundRect">
            <a:avLst>
              <a:gd name="adj" fmla="val 1333"/>
            </a:avLst>
          </a:prstGeom>
          <a:solidFill>
            <a:srgbClr val="FFFCF7"/>
          </a:solidFill>
          <a:ln w="1524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331720"/>
            <a:ext cx="9445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爱情走进共同生活，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371600" y="33375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日子会怎样改变两个人？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559612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7B716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先让旧故事留在黑板上。新的故事，由一位女子自己说。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9445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4114800" y="3246120"/>
            <a:ext cx="3959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300" kern="0" dirty="0">
                <a:solidFill>
                  <a:srgbClr val="EFE3C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méng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926080" y="4206240"/>
            <a:ext cx="6336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《诗经·卫风》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第一次完整听读｜第一至第三章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第一次完整听读｜第四至第六章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777240" y="1234440"/>
            <a:ext cx="10652760" cy="4800600"/>
          </a:xfrm>
          <a:prstGeom prst="roundRect">
            <a:avLst>
              <a:gd name="adj" fmla="val 952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45389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33272" y="174467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33272" y="203545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033272" y="2326234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33272" y="2617013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33272" y="2907792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33272" y="3198571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33272" y="348935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33272" y="3780130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33272" y="4070909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033272" y="4361688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033272" y="4652467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033272" y="494324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033272" y="5234026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33272" y="5524805"/>
            <a:ext cx="10140696" cy="238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反是不思，亦已焉哉！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把第一次听见的《氓》留在纸上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60120" y="1572768"/>
            <a:ext cx="10241280" cy="1920240"/>
          </a:xfrm>
          <a:prstGeom prst="roundRect">
            <a:avLst>
              <a:gd name="adj" fmla="val 2381"/>
            </a:avLst>
          </a:prstGeom>
          <a:solidFill>
            <a:srgbClr val="FFFCF7"/>
          </a:solidFill>
          <a:ln w="13970">
            <a:solidFill>
              <a:srgbClr val="C5B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1488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　　　　　　　　　　　　　　　　　　　　　　　　”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515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我看见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1097280" y="5029200"/>
            <a:ext cx="1828800" cy="0"/>
          </a:xfrm>
          <a:prstGeom prst="line">
            <a:avLst/>
          </a:prstGeom>
          <a:noFill/>
          <a:ln w="16510">
            <a:solidFill>
              <a:srgbClr val="A67F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我听见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4754880" y="5029200"/>
            <a:ext cx="1828800" cy="0"/>
          </a:xfrm>
          <a:prstGeom prst="line">
            <a:avLst/>
          </a:prstGeom>
          <a:noFill/>
          <a:ln w="1651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我想问</a:t>
            </a:r>
            <a:endParaRPr lang="en-US" sz="2500" dirty="0"/>
          </a:p>
        </p:txBody>
      </p:sp>
      <p:sp>
        <p:nvSpPr>
          <p:cNvPr id="13" name="Shape 11"/>
          <p:cNvSpPr/>
          <p:nvPr/>
        </p:nvSpPr>
        <p:spPr>
          <a:xfrm>
            <a:off x="8412480" y="5029200"/>
            <a:ext cx="1828800" cy="0"/>
          </a:xfrm>
          <a:prstGeom prst="line">
            <a:avLst/>
          </a:prstGeom>
          <a:noFill/>
          <a:ln w="1651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66928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只留下一处真正让你停住的声音。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初见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读懂六章，我们要回答什么？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1143000" y="16184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74520" y="1883664"/>
            <a:ext cx="685800" cy="0"/>
          </a:xfrm>
          <a:prstGeom prst="line">
            <a:avLst/>
          </a:prstGeom>
          <a:noFill/>
          <a:ln w="3048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57276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她经历了什么？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4300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874520" y="3300984"/>
            <a:ext cx="685800" cy="0"/>
          </a:xfrm>
          <a:prstGeom prst="line">
            <a:avLst/>
          </a:prstGeom>
          <a:noFill/>
          <a:ln w="30480">
            <a:solidFill>
              <a:srgbClr val="446E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99008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143000" y="4453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1874520" y="4718304"/>
            <a:ext cx="685800" cy="0"/>
          </a:xfrm>
          <a:prstGeom prst="line">
            <a:avLst/>
          </a:prstGeom>
          <a:noFill/>
          <a:ln w="30480">
            <a:solidFill>
              <a:srgbClr val="7252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4407408"/>
            <a:ext cx="7909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4400" y="577900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ED0B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先跟着事情走，再看日子，最后追问原因。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第一章｜两个人怎样走近婚事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圈一圈他做的事｜划一划她做的事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贸丝，还是来谋？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诗先写什么？女子随后说明什么？哪个字让话转了弯？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她把他送了多远？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　　涉　　至｜让三个动作连续发生。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A67F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她怎样把婚事继续说下去？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说明条件｜安抚对方｜另约婚期｜把四句读成一轮话。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把第一章讲成一段故事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送子涉淇，至于顿丘。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匪我愆期，子无良媒。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合书讲清：他怎样来，她怎样送，两个人怎样约。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第二章｜她站在哪里等？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乘—望—不见｜她站在哪里，目光投向哪里？</a:t>
            </a:r>
            <a:endParaRPr lang="en-US" sz="2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不见｜既见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 → 泣涕｜既见 → 笑言｜让转折先从原词里响起来。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446E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卜筮以后，婚事怎样走到迁移？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卜筮无咎 → 车来 → 贿迁｜谁的动作？怎样相接？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46E78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第二章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两章接力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乘彼垝垣，以望复关。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不见复关，泣涕涟涟。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既见复关，载笑载言。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尔卜尔筮，体无咎言。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以尔车来，以我贿迁。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第一章：来—送—约｜第二章：等—见—迁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第三章｜故事为什么先停在桑叶前？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故事刚走到迁嫁，为什么先让一树桑叶进入眼前？</a:t>
            </a:r>
            <a:endParaRPr lang="en-US" sz="2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色泽｜质地｜生命感｜先留下感受，再留下可能。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两声‘于嗟’，怎样从物来到人？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89738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于嗟鸠兮，无食桑葚！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321411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于嗟女兮，无与士耽！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 → 鸠 → 女｜两声‘于嗟’，怎样由物及人？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5765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同是‘耽’，两个人都能脱身吗？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女之耽兮，不可说也！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相同的词是什么？真正改变脱身处境的词是什么？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657653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第三章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故事为什么在这里停了一停？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657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于嗟鸠兮，无食桑葚。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于嗟女兮，无与士耽。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士之耽兮，犹可说也。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女之耽兮，不可说也。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迁嫁以后——桑叶、斑鸠、女子的劝告｜这是谁的回望？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第四章｜桑叶落下以后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圈桑叶的新状态｜画生活事实｜框第一处责任判断</a:t>
            </a:r>
            <a:endParaRPr lang="en-US" sz="2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沃若｜黄而陨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桑之未落，其叶沃若。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翻回原来的想法：保留、改写，还是撤回？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三岁食贫｜淇水汤汤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一句压着多年｜一句展开渡水的一刻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58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不爽｜贰行｜罔极｜二三其德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58B3E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不爽 → 贰行 → 罔极 → 二三其德｜这些词怎样一步步加重？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B58B3E"/>
          </a:solidFill>
          <a:ln w="12700">
            <a:solidFill>
              <a:srgbClr val="B58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第四章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桑叶落下以后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B58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桑之落矣，其黄而陨。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自我徂尔，三岁食贫。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淇水汤汤，渐车帷裳。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女也不爽，士贰其行。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士也罔极，二三其德。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物象变化｜婚后生活｜责任判断｜把三层连成一段。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第五章｜谁在忙，谁在笑，谁在独自思量？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谁在忙？谁在笑？谁在独自思量？</a:t>
            </a:r>
            <a:endParaRPr lang="en-US" sz="2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一天，叠成许多年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把一天的首尾，叠进许多重复的日子。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2526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后来发生的事，让你怎样回看最初？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6819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54330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将子无怒，秋以为期。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现在能说明什么？仍不能断言什么？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外面的声音退去以后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外声　—　三秒沉默　—　内声</a:t>
            </a:r>
            <a:endParaRPr lang="en-US" sz="2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725260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第五章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一间屋子里的许多年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383129"/>
          </a:solidFill>
          <a:ln w="14605">
            <a:solidFill>
              <a:srgbClr val="7252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527048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三岁为妇，靡室劳矣。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1033272" y="207020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夙兴夜寐，靡有朝矣。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033272" y="2613355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言既遂矣，至于暴矣。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1033272" y="3156509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兄弟不知，咥其笑矣。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1033272" y="3699662"/>
            <a:ext cx="10140696" cy="445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静言思之，躬自悼矣。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请写40—60字：一间屋子里的许多年。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第六章｜她把哪些旧事重新放回眼前？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4251960"/>
          </a:xfrm>
          <a:prstGeom prst="roundRect">
            <a:avLst>
              <a:gd name="adj" fmla="val 1075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78765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33272" y="2446020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33272" y="310438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033272" y="3762756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33272" y="442112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5742432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她把哪些旧愿、旧事和誓言重新放回眼前？</a:t>
            </a:r>
            <a:endParaRPr lang="en-US" sz="2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及尔偕老｜老使我怨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及尔偕老，老使我怨。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第一个‘老’落在旧愿里；第二个‘老’落在怎样的现实里？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555748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淇则有岸，隰则有泮。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先看清有岸、有泮的地貌，再用前后文托住解释。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旧日欢乐与后来失信，能否同时为真？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总角之宴，言笑晏晏。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旧日确有欢乐誓言｜后来行为仍要接受核验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447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307592"/>
            <a:ext cx="10652760" cy="3154680"/>
          </a:xfrm>
          <a:prstGeom prst="roundRect">
            <a:avLst>
              <a:gd name="adj" fmla="val 1449"/>
            </a:avLst>
          </a:prstGeom>
          <a:solidFill>
            <a:srgbClr val="FFFCF7"/>
          </a:solidFill>
          <a:ln w="14605">
            <a:solidFill>
              <a:srgbClr val="9447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2226564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信誓旦旦，不思其反。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1033272" y="2884932"/>
            <a:ext cx="10140696" cy="53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反是不思，亦已焉哉。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诗写到什么？没有写到什么？让末句停在证据边界上。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926080" y="6035040"/>
            <a:ext cx="6336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回到原词，再说成自己的自然话。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94473B"/>
          </a:solidFill>
          <a:ln w="12700">
            <a:solidFill>
              <a:srgbClr val="9447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她的一生，怎样走到‘亦已焉哉’？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51560" y="3429000"/>
            <a:ext cx="1005840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A67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相识议婚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2560320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446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等待迁嫁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4462272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657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35424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回望劝告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64224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B58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婚后失衡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266176" y="2926080"/>
            <a:ext cx="1298448" cy="960120"/>
          </a:xfrm>
          <a:prstGeom prst="ellipse">
            <a:avLst/>
          </a:prstGeom>
          <a:solidFill>
            <a:srgbClr val="383129"/>
          </a:solidFill>
          <a:ln w="20320">
            <a:solidFill>
              <a:srgbClr val="7252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9328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劳作孤立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0168128" y="2926080"/>
            <a:ext cx="1298448" cy="960120"/>
          </a:xfrm>
          <a:prstGeom prst="ellipse">
            <a:avLst/>
          </a:prstGeom>
          <a:solidFill>
            <a:srgbClr val="725260"/>
          </a:solidFill>
          <a:ln w="20320">
            <a:solidFill>
              <a:srgbClr val="9447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0" y="3182112"/>
            <a:ext cx="11521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停止判断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914400" y="5074920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相识议婚 → 等待迁嫁 → 回望劝告 → 婚后失衡 → 劳作孤立 → 停止判断</a:t>
            </a:r>
            <a:endParaRPr lang="en-US"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她婚后的不幸，在生活中是什么样子？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6903720" cy="4434840"/>
          </a:xfrm>
          <a:prstGeom prst="roundRect">
            <a:avLst>
              <a:gd name="adj" fmla="val 1031"/>
            </a:avLst>
          </a:prstGeom>
          <a:solidFill>
            <a:srgbClr val="FFFCF7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737360"/>
            <a:ext cx="6172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一段匿名生活文字</a:t>
            </a:r>
            <a:endParaRPr lang="en-US" sz="3100" dirty="0"/>
          </a:p>
        </p:txBody>
      </p:sp>
      <p:sp>
        <p:nvSpPr>
          <p:cNvPr id="8" name="Shape 6"/>
          <p:cNvSpPr/>
          <p:nvPr/>
        </p:nvSpPr>
        <p:spPr>
          <a:xfrm>
            <a:off x="1325880" y="278892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25880" y="379476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1325880" y="4800600"/>
            <a:ext cx="5897880" cy="0"/>
          </a:xfrm>
          <a:prstGeom prst="line">
            <a:avLst/>
          </a:prstGeom>
          <a:noFill/>
          <a:ln w="15240">
            <a:solidFill>
              <a:srgbClr val="DED0B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138160" y="1645920"/>
            <a:ext cx="3154680" cy="3611880"/>
          </a:xfrm>
          <a:prstGeom prst="roundRect">
            <a:avLst>
              <a:gd name="adj" fmla="val 1449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14884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猜回原诗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8503920" y="33375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哪一个生活细节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把你带了回去？</a:t>
            </a:r>
            <a:endParaRPr lang="en-US" sz="2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这场婚姻为什么走到这一步？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51560" y="3383280"/>
            <a:ext cx="10058400" cy="0"/>
          </a:xfrm>
          <a:prstGeom prst="line">
            <a:avLst/>
          </a:prstGeom>
          <a:noFill/>
          <a:ln w="17780">
            <a:solidFill>
              <a:srgbClr val="C5B3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相识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088136" y="3246120"/>
            <a:ext cx="457200" cy="45720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承诺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2990088" y="3246120"/>
            <a:ext cx="457200" cy="457200"/>
          </a:xfrm>
          <a:prstGeom prst="ellipse">
            <a:avLst/>
          </a:prstGeom>
          <a:solidFill>
            <a:srgbClr val="A67F4A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272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共同生活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446E78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64224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FDDD5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失衡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793992" y="3246120"/>
            <a:ext cx="457200" cy="457200"/>
          </a:xfrm>
          <a:prstGeom prst="ellipse">
            <a:avLst/>
          </a:prstGeom>
          <a:solidFill>
            <a:srgbClr val="94473B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66176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缺少托举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695944" y="3246120"/>
            <a:ext cx="457200" cy="457200"/>
          </a:xfrm>
          <a:prstGeom prst="ellipse">
            <a:avLst/>
          </a:prstGeom>
          <a:solidFill>
            <a:srgbClr val="725260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68128" y="2788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停止判断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0597896" y="3246120"/>
            <a:ext cx="457200" cy="457200"/>
          </a:xfrm>
          <a:prstGeom prst="ellipse">
            <a:avLst/>
          </a:prstGeom>
          <a:solidFill>
            <a:srgbClr val="FFFDFC"/>
          </a:solidFill>
          <a:ln w="12700">
            <a:solidFill>
              <a:srgbClr val="28231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89204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把原句放回时间，让每一支因果箭头接受质询。</a:t>
            </a:r>
            <a:endParaRPr lang="en-US" sz="2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相爱以后，怎样共同生活？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FE3CF"/>
          </a:solidFill>
          <a:ln w="1397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开课时的一句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461772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DCE9E8"/>
          </a:solidFill>
          <a:ln w="1397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现在的一句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412480" y="1508760"/>
            <a:ext cx="3337560" cy="960120"/>
          </a:xfrm>
          <a:prstGeom prst="roundRect">
            <a:avLst>
              <a:gd name="adj" fmla="val 4762"/>
            </a:avLst>
          </a:prstGeom>
          <a:solidFill>
            <a:srgbClr val="E9DDE2"/>
          </a:solidFill>
          <a:ln w="13970">
            <a:solidFill>
              <a:srgbClr val="7252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830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《氓》中的一处依据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97280" y="3063240"/>
            <a:ext cx="9994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一段良好的共同生活，需要哪些支点？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1920240" y="4937760"/>
            <a:ext cx="8348472" cy="0"/>
          </a:xfrm>
          <a:prstGeom prst="line">
            <a:avLst/>
          </a:prstGeom>
          <a:noFill/>
          <a:ln w="76200">
            <a:solidFill>
              <a:srgbClr val="5148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4919472"/>
            <a:ext cx="1280160" cy="731520"/>
          </a:xfrm>
          <a:prstGeom prst="triangle">
            <a:avLst/>
          </a:prstGeom>
          <a:solidFill>
            <a:srgbClr val="A67F4A"/>
          </a:solidFill>
          <a:ln w="12700">
            <a:solidFill>
              <a:srgbClr val="A67F4A"/>
            </a:solidFill>
            <a:prstDash val="solid"/>
          </a:ln>
        </p:spPr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把《诗经》和核心字词收回手中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04672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最早诗歌总集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21024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446E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305篇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37376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6576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5392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风、雅、颂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253728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FFCF7"/>
          </a:solidFill>
          <a:ln w="12700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1744" y="1664208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《氓》出自《卫风》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愆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114300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将</a:t>
            </a:r>
            <a:endParaRPr lang="en-US" sz="3300" dirty="0"/>
          </a:p>
        </p:txBody>
      </p:sp>
      <p:sp>
        <p:nvSpPr>
          <p:cNvPr id="17" name="Shape 15"/>
          <p:cNvSpPr/>
          <p:nvPr/>
        </p:nvSpPr>
        <p:spPr>
          <a:xfrm>
            <a:off x="329184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筮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544068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说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758952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0" y="2926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徂</a:t>
            </a:r>
            <a:endParaRPr lang="en-US" sz="3300" dirty="0"/>
          </a:p>
        </p:txBody>
      </p:sp>
      <p:sp>
        <p:nvSpPr>
          <p:cNvPr id="23" name="Shape 21"/>
          <p:cNvSpPr/>
          <p:nvPr/>
        </p:nvSpPr>
        <p:spPr>
          <a:xfrm>
            <a:off x="9738360" y="3602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汤汤</a:t>
            </a:r>
            <a:endParaRPr lang="en-US" sz="2500" dirty="0"/>
          </a:p>
        </p:txBody>
      </p:sp>
      <p:sp>
        <p:nvSpPr>
          <p:cNvPr id="25" name="Shape 23"/>
          <p:cNvSpPr/>
          <p:nvPr/>
        </p:nvSpPr>
        <p:spPr>
          <a:xfrm>
            <a:off x="114300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渐</a:t>
            </a:r>
            <a:endParaRPr lang="en-US" sz="3300" dirty="0"/>
          </a:p>
        </p:txBody>
      </p:sp>
      <p:sp>
        <p:nvSpPr>
          <p:cNvPr id="27" name="Shape 25"/>
          <p:cNvSpPr/>
          <p:nvPr/>
        </p:nvSpPr>
        <p:spPr>
          <a:xfrm>
            <a:off x="329184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1208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爽</a:t>
            </a:r>
            <a:endParaRPr lang="en-US" sz="3300" dirty="0"/>
          </a:p>
        </p:txBody>
      </p:sp>
      <p:sp>
        <p:nvSpPr>
          <p:cNvPr id="29" name="Shape 27"/>
          <p:cNvSpPr/>
          <p:nvPr/>
        </p:nvSpPr>
        <p:spPr>
          <a:xfrm>
            <a:off x="544068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暴</a:t>
            </a:r>
            <a:endParaRPr lang="en-US" sz="3300" dirty="0"/>
          </a:p>
        </p:txBody>
      </p:sp>
      <p:sp>
        <p:nvSpPr>
          <p:cNvPr id="31" name="Shape 29"/>
          <p:cNvSpPr/>
          <p:nvPr/>
        </p:nvSpPr>
        <p:spPr>
          <a:xfrm>
            <a:off x="758952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09760" y="40690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泮</a:t>
            </a:r>
            <a:endParaRPr lang="en-US" sz="3300" dirty="0"/>
          </a:p>
        </p:txBody>
      </p:sp>
      <p:sp>
        <p:nvSpPr>
          <p:cNvPr id="33" name="Shape 31"/>
          <p:cNvSpPr/>
          <p:nvPr/>
        </p:nvSpPr>
        <p:spPr>
          <a:xfrm>
            <a:off x="9738360" y="4745736"/>
            <a:ext cx="1188720" cy="0"/>
          </a:xfrm>
          <a:prstGeom prst="line">
            <a:avLst/>
          </a:prstGeom>
          <a:noFill/>
          <a:ln w="13970">
            <a:solidFill>
              <a:srgbClr val="DED0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687568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4473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任选四个：读音、句中义、原句。</a:t>
            </a:r>
            <a:endParaRPr lang="en-US" sz="2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7B716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这首诗，为什么成为这样一首诗？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777240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FE3CF"/>
          </a:solidFill>
          <a:ln w="13335">
            <a:solidFill>
              <a:srgbClr val="A67F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67F4A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六章第一人称叙事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人物经历怎样推进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373368" y="137160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1E7D9"/>
          </a:solidFill>
          <a:ln w="13335">
            <a:solidFill>
              <a:srgbClr val="6576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1968" y="162763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57653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桑叶比兴与对照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01968" y="226771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沃若—黄而陨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E9DDE2"/>
          </a:solidFill>
          <a:ln w="13335">
            <a:solidFill>
              <a:srgbClr val="7252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25260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复现、回环、反折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05840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老｜信誓｜不思｜反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6373368" y="3566160"/>
            <a:ext cx="5102352" cy="1600200"/>
          </a:xfrm>
          <a:prstGeom prst="roundRect">
            <a:avLst>
              <a:gd name="adj" fmla="val 2857"/>
            </a:avLst>
          </a:prstGeom>
          <a:solidFill>
            <a:srgbClr val="DCE9E8"/>
          </a:solidFill>
          <a:ln w="13335">
            <a:solidFill>
              <a:srgbClr val="446E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3822192"/>
            <a:ext cx="4645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46E7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四言与叠词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601968" y="4462272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>
                <a:solidFill>
                  <a:srgbClr val="51483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声音怎样承载叙事抒情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14400" y="576072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9241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请为每一块，补回一处已经读过的原诗。</a:t>
            </a:r>
            <a:endParaRPr lang="en-US" sz="2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8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1483F"/>
          </a:solidFill>
          <a:ln w="12700">
            <a:solidFill>
              <a:srgbClr val="5148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31089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ED0B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全文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27080" y="3108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C5B39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49808" y="658368"/>
            <a:ext cx="10698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读完《氓》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09728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EFE3CF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一处改变最大的理解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5715000" y="184708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C5B39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或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629400" y="178308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DCE9E8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一个仍愿追问的问题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508760" y="2971800"/>
            <a:ext cx="9098280" cy="0"/>
          </a:xfrm>
          <a:prstGeom prst="line">
            <a:avLst/>
          </a:prstGeom>
          <a:noFill/>
          <a:ln w="13970">
            <a:solidFill>
              <a:srgbClr val="C5B39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840480"/>
            <a:ext cx="10177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FFFDF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　　　　　　　　　　　　　　　　　　　　　亦已焉哉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5257800"/>
            <a:ext cx="10360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E9DDE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然后，让全诗完整响起。</a:t>
            </a:r>
            <a:endParaRPr lang="en-US" sz="3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《氓》V6.5完整课堂课件</dc:title>
  <dc:subject>《诗经·卫风·氓》完整课堂课件；无插图功能审查候选</dc:subject>
  <dc:creator>语文备课系统</dc:creator>
  <cp:lastModifiedBy>语文备课系统</cp:lastModifiedBy>
  <cp:revision>1</cp:revision>
  <dcterms:created xsi:type="dcterms:W3CDTF">2026-08-13T19:07:44Z</dcterms:created>
  <dcterms:modified xsi:type="dcterms:W3CDTF">2026-08-13T19:07:44Z</dcterms:modified>
</cp:coreProperties>
</file>
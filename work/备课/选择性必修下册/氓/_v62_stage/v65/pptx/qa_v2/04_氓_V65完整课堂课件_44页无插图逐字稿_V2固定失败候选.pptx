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【V6.5页ID】O01｜物理页1｜4分钟
【页面功能】
从小学至高中广泛唤回爱情、婚姻文学，让每个人先拥有一条可说的旧经验。
【学生主动作】
检索篇名和一句故事；写它谈到怎样的相遇或共同生活
【可见产物】
个人文学回忆单
【首次后用】
O02立即读取
【删除损失】
删除后快想者会垄断发言
【主视觉职责】
开放的个人文学记忆
【插图资格】
无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【真实场景】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【听者任务】
此页没有听者任务；每个人先保护自己的回忆时间。
【证据位置】
O01文学回忆单
【自然切页句】
每个人手里先有了一点自己的文学记忆。现在先说给身边的人听，再把不同的故事带到全班。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【V6.5页ID】O02｜物理页2｜7分钟
【页面功能】
让每个人低压说出一次，并让全班扩展爱情与婚姻文学版图。
【学生主动作】
同桌各说一篇；四人合并差异并向全班贡献增量
【可见产物】
班级文学长卷
【首次后用】
O03引用学生原话
【删除损失】
删除后全员声音或公共广度至少失去一项
【主视觉职责】
现场板书文学长卷
【插图资格】
无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【真实场景】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说明句式与同桌互说：70秒；四人组每人完整说一篇：117秒；各组贡献与教师准确记录：186秒；静看黑板并完成个人补写：47秒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【听者任务】
小组内听清每个人的作品和主题；公共阶段只补一项自己原先没有想到的篇目或说法。
【证据位置】
黑板文学长卷；O01回忆单的新增栏
【自然切页句】
这些故事先留在黑板上。现在由我沿着你们真正说过的话，看看这张文学版图上出现了哪些方向。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【V6.5页ID】O03｜物理页3｜4分钟
【页面功能】
教师依据现场作品后置归纳，并从广泛爱情主题转向共同生活的新问题。
【学生主动作】
核对教师是否准确引用；听清共同生活的新问题
【可见产物】
班级主题谱照片
【首次后用】
S04重新投影
【删除损失】
删除后导入成为篇目堆积
【主视觉职责】
由现场主题谱转出的一个文学问题
【插图资格】
无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【真实场景】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【听者任务】
核对教师是否准确引用本班篇名与关键词；随后听清‘共同生活怎样改变两个人’是今天新增的问题，不是刚才发言的标准答案。
【证据位置】
黑板主题谱及其照片
【自然切页句】
让我们认识这位更早的讲述者。她的故事，题目只有一个字。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【V6.5页ID】O04｜物理页4｜1分钟
【页面功能】
从许多旧故事走到一位先秦女子的声音面前，完成题名、正音与共同翻页。
【学生主动作】
读准méng；定位首句
【可见产物】
教材题名与首句
【首次后用】
O05立即起读
【删除损失】
删除会失去明确的审美门槛
【主视觉职责】
题名与留白
【插图资格】
无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【真实场景】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【听者任务】
听清题名读音和出处，并定位同一首诗的第一句。
【证据位置】
教材题名旁注音及第一句定位
【自然切页句】
这首诗有六章。先不替她概括，让她自己从第一句说到最后一句。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【V6.5页ID】O05｜物理页5｜3分钟
【页面功能】
不中断地接收第一至三章，让初见、等待、迁嫁和劝告先作为声音发生。
【学生主动作】
眼随声走；只在真实停顿处留点或问号
【可见产物】
教材停点
【首次后用】
O06无声接续
【删除损失】
删除会失去开放接收
【主视觉职责】
第一至三章原诗
【插图资格】
无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【真实场景】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【听者任务】
一直听到第三章末；只在自己的教材留下停顿记号，不讨论。
【证据位置】
教材第一至第三章原句旁
【自然切页句】
（无声切页，朗读不断。）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【V6.5页ID】O06｜物理页6｜3分钟
【页面功能】
无缝接收第四至六章并让末句落下。
【学生主动作】
继续听读；末句后确认停点
【可见产物】
教材停点
【首次后用】
O07取回
【删除损失】
删除会把全诗压成婚前故事
【主视觉职责】
第四至六章原诗
【插图资格】
无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【真实场景】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【听者任务】
一直听到末句；静默以后才确认个人停顿处。
【证据位置】
教材第四至第六章原句旁
【自然切页句】
哪一句把你留了下来？把第一次听见的《氓》，留在纸上。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【V6.5页ID】O07｜物理页7｜3分钟
【页面功能】
保存每个人第一次真正听见的句子，不让三问覆盖个人起点。
【学生主动作】
抄下一句；接写我看见、听见或想问
【可见产物】
个人初听卡
【首次后用】
O08引用
【删除损失】
删除会失去真实接收起点
【主视觉职责】
一句原诗与个人留白
【插图资格】
无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【真实场景】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【听者任务】
复述自己听见的一个不同注意点；不替同伴解释全诗。
【证据位置】
O07初听卡；黑板右侧的真实初听关键词
【自然切页句】
六章已经完整地响过，大家停下的地方也留在这里。现在我们把这首诗慢慢读懂。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【V6.5页ID】O08｜物理页8｜2分钟
【页面功能】
把三问变成读后生成的全文导航：先讲经历，再看生活，最后追原因。
【学生主动作】
保存三问；暂不抢答
【可见产物】
三问书签
【首次后用】
六章积证并由S02—S04回收
【删除损失】
删除后细读缺少共同方向
【主视觉职责】
三个自然问题
【插图资格】
无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【真实场景】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【听者任务】
核对教师引用确实来自刚才的同学文字，并保存三问的稳定措辞。
【证据位置】
O07初听文字；O08现场首次发下的03C三问阅读书签
【自然切页句】
问题已经留下。再带上这首诗最低限度的身份，我们就从第一章慢慢读起。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【V6.5页ID】C101｜物理页9｜5分钟
【页面功能】
让第一章完整进入，并确认女子怎样用第一人称讲两个人的行动。
【学生主动作】
完整读章；圈男子动作、划女子动作
【可见产物】
第一章行动初稿
【首次后用】
C102—C104
【删除损失】
删除会使逐句讲解没有整章轮廓
【主视觉职责】
整章原诗与圈划
【插图资格】
无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【真实场景】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承接、发卡与教师完整听读：69秒；学生完整朗读并圈划：94秒；同桌核对行动主体：56秒；回诗修订与两条现场分享：56秒；教师引用原话收束并转场：25秒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【听者任务】
同桌发言时，只检查行动主体；全班分享时，核对自己是否漏掉同一原词。
【证据位置】
03A第一章初读卡及教材第一章旁批
【自然切页句】
先看第一处：诗让我们先看见他做什么，女子随后又告诉我们什么？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【V6.5页ID】C102｜物理页10｜5分钟
【页面功能】
从重复的‘贸丝’和‘匪—谋’读出叙事转弯，并守住初见证据边界。
【学生主动作】
自然口译；圈转折字并说叙事次序
【可见产物】
叙事转弯句
【首次后用】
C105与C503
【删除损失】
删除会压平初次接近的叙述方式
【主视觉职责】
原词转弯
【插图资格】
I01待A/B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【真实场景】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承接、发单与读题：25秒；个人自然口译并圈转折字：58秒；双人分读与互相核对：42秒；学生分享及教师定点释义：79秒；个人修订和边界处理：54秒；回诗重读、故事回接与转场：42秒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【听者任务】
分读时听清动作与来意是否分开；全班分享时核对自己的‘匪’是否真正承担了转折。
【证据位置】
03B第一章细读单C102区域及教材词旁批注
【自然切页句】
来意已经说清。接下来，诗不写一句‘她很投入’，只让三个动词把一段路铺开。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【V6.5页ID】C103｜物理页11｜4分钟
【页面功能】
让‘送—涉—至’成为身体可感的空间长度，看见女子主动投入。
【学生主动作】
用指尖或笔迹连三个动词；说成一句自然话
【可见产物】
送行线
【首次后用】
C105
【删除损失】
删除会把远送压成‘她送他’
【主视觉职责】
三个原词之间的空间
【插图资格】
I02待A/B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【真实场景】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承接原句与说明低虚构行线：24秒；个人手指移动和笔迹连线：48秒；同桌互说并核对三个动作：36秒；教师定点释义和文本边界：52秒；学生自然话分享与个人修订：44秒；回诗重读、故事回接与转场：36秒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【听者任务】
只听人物主体和送、涉、至三个动作是否齐全，不评价画得是否好看。
【证据位置】
03B第一章细读单C103区域
【自然切页句】
她一直送到顿丘，婚事却没有当场定下。接下来，看她怎样把话继续说下去。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【V6.5页ID】C104｜物理页12｜5分钟
【页面功能】
把四小句读成说明条件、安抚和另约的一轮完整话语。
【学生主动作】
完整自然口译；同桌听一处含义是否清楚
【可见产物】
对话与声音标记
【首次后用】
C105与C503
【删除损失】
删除会失去女子怎样主动推进婚事
【主视觉职责】
完整话语而非四条注释
【插图资格】
无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【真实场景】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承接、完整连读与交代问题：25秒；个人自然口译：64秒；双人读听轮换、反馈和改读：61秒；学生分享与教师定点释义：75秒；个人修订及无怒边界：46秒；再次合读、故事回接与转场：29秒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【听者任务】
在教师归纳前，只指出哪一处意思听清或没听清，并回到相应原词；不拿预设分类给同伴判分。
【证据位置】
03B第一章细读单C104区域及教材‘无怒’旁问号
【自然切页句】
来、送、解释、安抚、约期都已经发生。现在把局部提示收起来，听一听第一章能不能重新成为一段故事。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【V6.5页ID】C105｜物理页13｜5分钟
【页面功能】
示范怎样把局部词句重新讲成人物、动作和结果连贯的一章。
【学生主动作】
合书讲来—送—约；真实断点处返诗补说
【可见产物】
第一章章意
【首次后用】
C201
【删除损失】
删除后前四页仍是碎片
【主视觉职责】
第一次完整章意示范
【插图资格】
无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【真实场景】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【听者任务】
只核对来、送、婚事暂缓与约定三处是否连成故事；全班听章意时比较措辞，不抄教师统一答案。
【证据位置】
03B第一章细读单C105区域和六章故事轨道第一格
【自然切页句】
第一格先留在这里。下一章，约定之后的日子从等待复关开始。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【V6.5页ID】C201｜物理页14｜5分钟
【页面功能】
从秋期进入登垣等待，使‘乘—望’成为具体站位与视线。
【学生主动作】
整章读；留下三个动作和一道视线
【可见产物】
动作与视线初稿
【首次后用】
C202
【删除损失】
删除会让哭笑失去等待空间
【主视觉职责】
垝垣到复关的视线
【插图资格】
I03待A/B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【真实场景】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承接第一格与教师完整读章：38秒；学生完整朗读：38秒；读后发03A并写三个动作：58秒；引用动作初稿：29秒；首句自然口译和画目光：58秒；同桌核对、教师校词与故事回接：79秒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【听者任务】
初稿只核对是否为原诗人物动作；视线只核对站位、方向和‘望’的原词依据。
【证据位置】
03A第二章初读与视线卡
【自然切页句】
目光落向复关。现在把‘不见’和‘既见’放在一起，看这两句怎样突然转过去，又能不能被耳朵听出来。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【V6.5页ID】C202｜物理页15｜5分钟
【页面功能】
用正面对照读清条件变化怎样触发泣涕与笑言。
【学生主动作】
对齐四组原词；试读并说听见的转轴
【可见产物】
条件—动作对照
【首次后用】
C206
【删除损失】
删除会丢失第二章最强情态转折
【主视觉职责】
两组正面对照
【插图资格】
无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【真实场景】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63秒；双人对读和触发互问：44秒；学生分享、教师定点释义与修订：53秒；个人单点朗读设计和轻声试读：34秒；双方盲听、反馈和各自改读：69秒；真实声音分享、故事回接与转场：37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【听者任务】
先核对触发条件和人物动作；闭眼后只定位声音变化附近的原词，或如实报告未听出。
【证据位置】
03B C202区和教材原词、朗读标记
【自然切页句】
见与不见的变化已经能被耳朵听见。下面把两句连起来：一次占问之后，婚事又怎样走向了实际迁移？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【V6.5页ID】C204｜物理页16｜6分钟
【页面功能】
准确理解本次卜筮，并沿‘以尔/以我’读清占问到迁嫁的因序。
【学生主动作】
区分双方主体、物件与动作；口头连接因序
【可见产物】
两句因序
【首次后用】
C206
【删除损失】
删除会把无咎—车来—贿迁压成泛泛成婚
【主视觉职责】
三节点因序
【插图资格】
仅抽象因序示意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【真实场景】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连读两句与最小文化支架：41秒；个人占问口译和结果：56秒；同桌名物核对、分享与时间限定：64秒；个人拆分以尔和以我：56秒；同桌对应核对与教师校词：60秒；两句合回故事、个人修订与转场：83秒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【听者任务】
占问部分只核对四项名物；迁移部分只核对两侧主体、物件和动作；都不提前讨论后来婚姻。
【证据位置】
03B C204区
【自然切页句】
占问无不祥，车来、财物迁，第二章已经走到实际迁移。现在收起局部提示，把等待到迁移完整讲一次。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【V6.5页ID】C206｜物理页17｜4分钟
【页面功能】
把第一、二章接成‘约定怎样成为等待与迁移’，避免第二次复制章末模板。
【学生主动作】
两人分讲两章；共同补一句章间因果
【可见产物】
两章接力口述
【首次后用】
C301
【删除损失】
删除会失去跨章因果
【主视觉职责】
章间铰链
【插图资格】
无
【教师逐字稿】
先把教材摊开，目光从第一章末尾的‘秋以为期’移到第二章开头。这个‘秋期’不是一句孤零零的约定，它把远送后的婚期和登垣等待接在了一起。现在同桌两人接力：一人只讲第一章——他怎样来，她怎样送，两个人怎样约；另一人从‘秋以为期’接住，讲她怎样等、怎样由不见到既见，婚事又怎样走到迁移。说话时可以看诗，不必背，也不再互相审一轮稿。两个人都讲完，只共同补一句：前一章的哪件事，使后一章的等待成为必然？我请两组把接力讲给全班听。听众只听章与章之间有没有真正接上。我们最后留下的不是两张格式相同的章卡，而是一条因果：约定了秋期，所以她等待；见到复关、卜筮无咎、车来贿迁，约定才走进生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教材第一、二章旁的章间箭头
【自然切页句】
故事已经走到迁嫁。可是第三章没有立刻写婚后的事，眼前先出现了一树桑叶。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【V6.5页ID】C301｜物理页18｜4分钟
【页面功能】
发现迁嫁之后诗没有立即写婚后事件，而先转入物象和劝告。
【学生主动作】
完整读章；留下物象和换声句
【可见产物】
换声初稿
【首次后用】
C302—C303
【删除损失】
删除会把比兴变成教师答案
【主视觉职责】
第三章完整换声
【插图资格】
无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【真实场景】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【听者任务】
只核对同伴所写物象和转折句是否来自第三章，不评判解释深浅。
【证据位置】
03C C301区
【自然切页句】
先不越过这片桑叶。它还没有落，叶子正是‘沃若’。这个词究竟让你看见什么？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【V6.5页ID】C302｜物理页19｜4分钟
【页面功能】
从‘沃若’形成色泽、质地和生命感，再留下可由后文检验的联想。
【学生主动作】
写两个感官词；留下一种可能
【可见产物】
桑叶假设
【首次后用】
C402真修订
【删除损失】
删除会退回标准象征义
【主视觉职责】
青润桑叶与原词
【插图资格】
I04a待A/B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【真实场景】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个人口译与词义校准：44秒；静默观察和感官词：43秒；两项假设独立生成：63秒；同桌依据追问：43秒；个人修订和转场：47秒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【听者任务】
只追问联想的感官依据，不判断谁的象征义更像标准答案。
【证据位置】
03C C302区桑叶假设卡
【自然切页句】
桑叶的意思先不封口。下一句，一声‘于嗟’落在斑鸠身上；再一声，又落到了谁身上？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【V6.5页ID】C303｜物理页20｜6分钟
【页面功能】
沿连续五句体验劝告由桑、鸠抵达女子，再后置命名比兴。
【学生主动作】
遮句比较或接读；说少了什么
【可见产物】
由物及人的结构句
【首次后用】
C305与C306
【删除损失】
删除会使比兴只剩术语
【主视觉职责】
连续句群的声音移动
【插图资格】
无
【教师逐字稿】
请先把三句说成自然话。‘于嗟’读xū jiē，是一声感叹；‘无’同‘毋’，是不要；‘耽’是沉溺。斑鸠食桑葚易昏醉是教材旧说，只看它在诗里怎样引出劝告。（等待。）圈住两声于嗟，框住鸠和女，再把两种劝告接好。两人一组，一人读斑鸠句，一人接女子句，交换一次。现在把手轻放在学习单上，蒙住桑叶和斑鸠，只让同桌读‘于嗟女兮，无与士耽’。你真实听见了什么变化？可以说画面、回声少了，也可以说直劝更利落；只要回到一处原词。（等待。）同桌只问：你说的变化在原诗哪里？有依据就写‘能找到，不改’，没有就亲自改。等你们先听见以后再命名：由物引出所咏是兴，物与人的相似又引发比的联想。女子的劝告正是从桑叶和斑鸠的一声叹息中走到人身边。
【真实场景】
屏幕只放三句原诗和递进问题；学生在自己的学习单上真实遮住前两句，不另开A/B程序页。
（个人自然口译）
（圈声音框对象与劝告）
（双人接读并交换）
（手遮前两句听直劝）
（个人写变化和原词）
（同桌依据追问）
（按需修订后教师命名）
【时间盒】
口译与最低词义：56秒；圈框与两轮接读：70秒；蒙句听辨和个人原词：77秒；同桌依据追问与按需修订：60秒；公开两种判断、后置命名和重读：97秒
【现场分支】
只报术语：划去术语，补写蒙句后真正少掉的一幅画或一声回响。
认为完全一样：分别说原诗和直劝第一眼看见什么、第一耳听见谁；仍认为一样可以保留。
偏爱直劝：允许保留更直接，同时指出原诗多出的具体画面或回声，不统一审美。
【听者任务】
只问声音落点和蒙句变化能否在原词中找到；不替同伴报完整关系，不强制修改。
【证据位置】
03C C303区
【自然切页句】
劝告已经从物来到人。最后两句把男子和女子并排放在同一个‘耽’字里，却给出两个相反结果。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【V6.5页ID】C305｜物理页21｜5分钟
【页面功能】
从相同‘耽/说’和不同‘士/女、可/不可’读出处境不对等。
【学生主动作】
写一条只陈述诗中处境的对照句
【可见产物】
处境判断
【首次后用】
第四、五章验证并由S03回收
【删除损失】
删除会把劝女归为天性论
【主视觉职责】
两句并排
【插图资格】
无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【真实场景】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个人口译与通假义：58秒；同异词圈框：50秒；无归因处境句生成：63秒；同桌越界词核查：46秒；作者修订与教师边界校准：58秒；连读和转场：25秒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【听者任务】
只检查同伴是否准确陈述处境差异、是否加入无证归因；不提供完整改写句。
【证据位置】
03C C305区
【自然切页句】
五句诗已经逐句走过。现在撤去局部提示，把桑叶、两声劝告和脱身差异讲回女子的一段回望。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【V6.5页ID】C306｜物理页22｜3分钟
【页面功能】
连接迁嫁与回望劝告，理解叙事暂停后如何反观经历。
【学生主动作】
合书口述换声与劝告；判断这是谁的回望
【可见产物】
跨章解释
【首次后用】
C401
【删除损失】
删除会让第三章悬成孤立劝诫
【主视觉职责】
迁嫁到回望的折返
【插图资格】
无
【教师逐字稿】
把第二章最后一句和第三章连起来读：‘以尔车来，以我贿迁。桑之未落，其叶沃若。’婚事刚走到迁嫁，诗却不急着交代后来发生什么，而让桑叶、斑鸠和一声声‘于嗟’来到眼前。请合上书，用一分钟说清这一停：她先看见怎样的桑叶；劝告怎样由斑鸠转向女子；同一个‘耽’字为什么落在男女身上却写出不同的脱身处境。这里不再同桌报断点、返诗、改卡，我只请两位同学各说一段。听的时候想一件事：这段劝告像是故事当时就有人说给她听，还是她经历以后回头说给自己、也说给后来的人听？回到原诗，我们能稳妥地说：叙事暂时停住，回望和劝告进入了故事；至于作者是否只指某一个固定对象，不必强行钉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完整课堂过程：180秒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教材第二、三章之间的跨章说明
【自然切页句】
这份回望还只是警告。第四章，桑叶真正落下，婚后的生活也随之出现。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【V6.5页ID】C401｜物理页23｜4分钟
【页面功能】
先找到重现的桑，再区分生活事实和责任判断。
【学生主动作】
整章读；圈物象、画事实、框判断
【可见产物】
章内三区
【首次后用】
C402—C404_405
【删除损失】
删除会失去事实与判断的边界
【主视觉职责】
完整第四章三区
【插图资格】
无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【真实场景】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【听者任务】
只检查同伴是否抄自第四章、是否写成原词原句，不评判解释深浅。
【证据位置】
04D C401区
【自然切页句】
先回到那片桑叶。第三章它‘沃若’，这一章却‘黄而陨’；你原来的两种想法，经得住这一落吗？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【V6.5页ID】C402｜物理页24｜5分钟
【页面功能】
用后文真正检验前文的桑叶解释，经历后文改变前文。
【学生主动作】
保留、改写或撤回旧假设；补新依据
【可见产物】
桑叶解释修订
【首次后用】
C406与S06
【删除损失】
删除会让意象理解仍是猜答案
【主视觉职责】
同枝前后状态
【插图资格】
I04c待A/B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【真实场景】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恢复旧稿与两句对读：54秒；圈状态词并校准陨：46秒；个人保留改写撤回：83秒；同桌追问语境依据：54秒；学生再修与教师后置归纳：63秒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【听者任务】
只追问新句与章内位置怎样影响旧解，不投票选唯一象征义。
【证据位置】
03C旧桑叶卡双色修订＋04D C402区
【自然切页句】
桑叶由盛转衰，诗也从劝告走进日子。接下来的两句，一句压着多年，一句忽然把淇水推到眼前。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【V6.5页ID】C403｜物理页25｜5分钟
【页面功能】
让多年生活与当下渡水片刻同时存在。
【学生主动作】
听长时与展开的声音；写双时间旁白
【可见产物】
双时间旁白
【首次后用】
C404_405与S02
【删除损失】
删除会让责任判断缺少婚后事实
【主视觉职责】
多年与片刻并置
【插图资格】
I05待A/B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【真实场景】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个人口译和定点释义：61秒；两轮分部朗读与闭眼听：64秒；个人双镜头旁白：61秒；同桌越界词核查：39秒；作者修订、分享与转场：75秒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【听者任务】
听辨长期压缩与瞬间展开；核查旁白是否越过原句补写方向、动机或结局。
【证据位置】
04D C403区
【自然切页句】
多年食贫，淇水浸帷，这是她讲出的经历。紧接着，她不再只讲发生了什么，而开始说：谁没有差错，谁的行为变了。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【V6.5页ID】C404_405｜物理页26｜7分钟
【页面功能】
把四组词连成逐步加重的责任证据链。
【学生主动作】
排序着色四组词；用自然话说清责任
【可见产物】
责任证据链
【首次后用】
C406与S03
【删除损失】
拆页会把同一判断切碎并重复核查
【主视觉职责】
四词递进链
【插图资格】
无
【教师逐字稿】
这四个词要连在一起读，不能拆成两张互不相干的词义卡。先看‘女也不爽’：爽在这里是差错，女子说自己没有差错。再看‘士贰其行’：贰不是数字二，而是行为不专一、前后不一。‘罔极’是没有准则，‘二三其德’把反复无常直接写进了他的品行。请用四种深浅把它们排成一条加重的证据链，再用一句平常话说清：诗中谁没有差错，谁的行为又怎样从前后不一走到反复无常。先个人排，再请一位同学到黑板移动四张原词卡；全班若不同意，只能引用上下句调整次序。这里还要守住责任边界：女子经历食贫、渡水，说明她承受了什么；男子的‘贰、罔极、二三’，才直接说明谁应为失信和反复负责。请再连读两句，让词义、语势和责任判断一次落稳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黑板四词递进链与教材旁的一句责任判断
【自然切页句】
桑叶、生活事实和责任判断已经齐了。下一页，我们只用这一章的三层关系讲成一段话。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【V6.5页ID】C406｜物理页27｜4分钟
【页面功能】
在教师三层板书模型后，独立完成第四章章意。
【学生主动作】
合书口述物象—生活—责任；返诗补一处
【可见产物】
第四章章意
【首次后用】
C501与S03
【删除损失】
删除会使第四章三层关系散开
【主视觉职责】
三层板书
【插图资格】
无
【教师逐字稿】
请先看黑板，我只搭一个没有答案的三层架子：物象变化、婚后生活、责任判断。第一层，桑叶由什么变成什么；第二层，她嫁过去以后经历了怎样的日子和哪一个渡水片刻；第三层，诗怎样分清两个人的行为。现在把书合上四十五秒，自己在心里连成一段，再说给自己听。这里不再进行一次全员同桌审稿；我随机请一位同学讲，讲到真正断开的地方，全班只帮他指出应回哪一句诗。他打开书找到那一句，合上书自己补完。请注意，章意不是‘桑叶象征爱情破灭’这一句标签，而要让桑叶落下、三岁食贫、淇水浸帷和‘不爽—二三其德’依次发生。最后我用黑板把大家的话压成三个短语，但不替你们写成统一标准句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黑板三层模型与个人口述
【自然切页句】
第四章已经把失衡和责任说清。第五章会把‘三岁’拆成每一天，又让屋外的笑声传进来。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【V6.5页ID】C501｜物理页28｜4分钟
【页面功能】
完整听见第五章，并定位动作和声音的主体。
【学生主动作】
整章读；标主体、动作和声音来源
【可见产物】
空间声音初稿
【首次后用】
C502—C504
【删除损失】
删除会让不幸仍是标签
【主视觉职责】
第五章完整声场
【插图资格】
无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【真实场景】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【听者任务】
只核对动作和转折句是否来自第五章，不评价情绪是否深刻。
【证据位置】
05E C501区
【自然切页句】
先不走向兄弟的笑声。前两句只写一天从什么时候开始、什么时候结束，却说这一天重复了许多年。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【V6.5页ID】C502｜物理页29｜5分钟
【页面功能】
把夙兴—夜寐拉成一天首尾，再叠入三岁与靡有朝的多年重复。
【学生主动作】
完成嵌套时间线；口头概括日常
【可见产物】
嵌套时间线
【首次后用】
C505与S02
【删除损失】
删除会失去日常劳作的时间结构
【主视觉职责】
一天叠入多年
【插图资格】
I06须重审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【真实场景】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口译与词义校准：64秒；两轮空间声场与闭眼听：72秒；个人生活旁白：61秒；同桌用词核查：39秒；作者修订、分享和转场：64秒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【听者任务】
听早晚跨度和靡的无例外感；核查生活旁白是否美化劳苦或虚构细节。
【证据位置】
05E C502区
【自然切页句】
多年这样生活以后，下一句忽然写‘既遂’和‘至于暴’。一个人的愿望满足了，另一个人的日子却走向哪里？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【V6.5页ID】C503｜物理页30｜6分钟
【页面功能】
读清既遂—至暴的变化，并有限回看婚前警讯而不倒推预谋。
【学生主动作】
任选一处婚前细节；写现在能说明与仍不能说明
【可见产物】
有限回看双行句
【首次后用】
C505与S03
【删除损失】
删除会失去审慎与证据边界
【主视觉职责】
今昔证据边界
【插图资格】
无
【教师逐字稿】
‘言既遂矣，至于暴矣’，先按字面读清：言是助词，遂是顺心、满足，暴是粗暴。婚事如愿以后，他的行为走到了粗暴。后见事实会改变我们回看开头的眼光，但不能把怀疑写成已经证实的预谋。请从第一章只选一处：抱布而来、急切谋婚，或者女子说‘将子无怒’。在纸上写两行：现在回看，这一处值得我们警惕什么；仅凭这一处，仍不能证明什么。三位同学各承担一处，读出自己的两行，全班把三处拼齐，不再三人轮换互审。教师最后只校准证据强度：婚前审慎不是要求人预知未来；后来‘至暴、二三其德’是诗中明确的责任证据，早期细节只能说明值得观察、承诺需要由长期行动核验，不能反过来责怪女子没有看穿一切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教材第一、五章之间的有限回看双行句
【自然切页句】
男子的变化已经写明。第五章还有另一重孤立：外面的笑声散去以后，她只能独自思量。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【V6.5页ID】C504｜物理页31｜5分钟
【页面功能】
用全课唯一声场体验外部笑声退去后女子独自思量。
【学生主动作】
听外声—沉默—内声；静写第三人称处境
【可见产物】
声音层次与处境句
【首次后用】
C505、S02与S03
【删除损失】
删除会失去社会孤立的声音经验
【主视觉职责】
声场与留白
【插图资格】
I07须重审
【教师逐字稿】
先把字音和词义说准：咥读xì，是笑的样子；躬是自身；悼是悲伤。现在全课只做这一次声场。教室两侧克制地低读‘兄弟不知，咥其笑矣’，不是表演嘲笑；声音完全退去后，真正沉默三秒，再由中间一位同学读‘静言思之，躬自悼矣’。其余人闭眼听，不忙着判断。（完成声场与静默。）请睁眼，只在纸上画三格：外声——沉默——内声，再用第三人称写一句：此刻的她处在怎样的位置？不交换，不审稿，也不要求讲自己的家庭。诗只写兄弟不了解而笑，随后她静思、自悼；我们可以由此看见理解和托举的缺席，却不能虚构她怎样求助、所有家人怎样拒绝。最重的一笔，不是更响的控诉，而是笑声过去，只剩一个人面对自己的悲伤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教材第五章旁的外声—沉默—内声三格
【自然切页句】
把这间屋子里的时间、声音和人物留下。下一页，我们用一小段生活把许多年写出来。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【V6.5页ID】C505｜物理页32｜4分钟
【页面功能】
把第五章转译成不虚构的生活片段，直接供全文第二问使用。
【学生主动作】
合书写40—60字生活片段；匿名猜回原句
【可见产物】
第五章生活片段
【首次后用】
S02直接展读
【删除损失】
删除会使全文活动重新从零写
【主视觉职责】
学生文字
【插图资格】
无
【教师逐字稿】
第五章已经不用再做一次同构的章末互审。请看四个原句锚点：夙兴夜寐、靡有朝矣；言既遂矣、至于暴矣；兄弟不知、咥其笑矣；静言思之、躬自悼矣。现在合上书，用第三人称写四十到六十字，题目就是‘一间屋子里的许多年’。写她每天怎样过，男子怎样变化，外面的笑声退去后她怎样独自思量；不要添具体家务清单、具体伤害方式或诗中没有的求助过程。教师安静巡视，不让同桌互相改。时间到后只匿名投影两份，我读给大家听，请全班说它能回到哪一句诗；暂时不评价辞藻高低。这段生活文字不是另一个装饰性任务，它会在全文第二问直接展出，用来把‘不幸’从标签还原成可观察的日常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第五章生活片段卡
【自然切页句】
生活已经写到最深处。第六章不再增加新的日常事件，她开始重新看旧愿、旧事和誓言。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【V6.5页ID】C601｜物理页33｜4分钟
【页面功能】
发现末章不再新增生活事件，而在重新评价旧愿、旧事和誓言。
【学生主动作】
整章读；标旧事与可能收束句
【可见产物】
回望初稿
【首次后用】
C602—C605
【删除损失】
删除会使末章被拆成名句
【主视觉职责】
第六章完整回望
【插图资格】
无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【真实场景】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【听者任务】
只核对原句和时间位置，不替同伴给末句定性。
【证据位置】
06F C601区
【自然切页句】
先看第一个回环：同一个‘老’字，一边是愿望，一边为什么成了怨？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【V6.5页ID】C602｜物理页34｜4分钟
【页面功能】
从同一‘老’字读出旧愿怎样折成现实怨意。
【学生主动作】
接读两个老；写旧愿与现实双行
【可见产物】
同词反折
【首次后用】
C606_S01与S06
【删除损失】
删除会失去末章时间折返
【主视觉职责】
同词复现
【插图资格】
无
【教师逐字稿】
请一组同学接读：前半句读‘及尔偕老’，后半句接‘老使我怨’。同一个‘老’字第一次落在共同的旧愿里，第二次却落在现实的怨意里。我们不做全班人人改读，只再听我示范一次：前半句把声音送向将来，后半句让‘老’字折回已经发生的生活。请每个人写两小行：第一个‘老’原来许诺怎样的生活；第二个‘老’如今带回哪一种现实。这里不要求统一成‘反讽’一个标签，先让词在前后位置里改变意义。请两位同学读自己的两行，听众只指出他是否把旧愿和后来现实分开。最后再齐读一次：一字复现，时间却已经折返；第六章正是在这样的折返中检验过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教材第六章旁的两个‘老’字双行批注
【自然切页句】
旧愿折回现实以后，诗忽然写淇水有岸、湿地有边。先把这幅地貌看清，再谈它可能怎样接住前后文。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【V6.5页ID】C603｜物理页35｜5分钟
【页面功能】
先看清有界地貌，再形成能接前后文的一种或两种解释。
【学生主动作】
选择或并列解释；写前后文依据
【可见产物】
有依据解释
【首次后用】
C606_S01与S06
【删除损失】
删除会把自然图景变现代口号
【主视觉职责】
无人地貌与多解
【插图资格】
I09待A/B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【真实场景】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口译与词义：46秒；个人第一种解释：63秒；四人证据轮读：71秒；个人补解和排序：58秒；公开两种衔接：29秒；教师后置归纳：33秒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【听者任务】
只追问解释的前后文落点和原词，不替全班选唯一答案。
【证据位置】
06F C603区
【自然切页句】
自然边界之后，时间突然退回少年。她为什么在最痛的时候，还把当初的言笑和信誓完整地记起？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【V6.5页ID】C604｜物理页36｜5分钟
【页面功能】
同时保存旧日确有欢乐誓言和后来行为应受核验。
【学生主动作】
完成旧日事实与后来事实双栏；讨论两个极端答案
【可见产物】
双真相句
【首次后用】
C605与S03
【删除损失】
删除会扁平化人物记忆
【主视觉职责】
双栏事实
【插图资格】
I08待A/B
【教师逐字稿】
先把词说准：总角是少年时代；宴是欢乐；晏晏是和悦的样子；旦旦是诚恳的样子；反是违背。现在把纸分成两栏：左边只写她确实记住了什么，右边只写今天核验出了什么行为事实。不要先判断当初内心是真是假。（等待。）同桌交换，各找一种越界：如果写‘过去全是假的’，问言笑晏晏在叙述者记忆里是否真实；如果写‘曾经美好，所以还应该坚持’，问不思其反能否被过去抵消。作者自己改成一句能同时容纳两件真的话。（等待。）我们听两句。她保存少年欢乐和当初信誓，也确认后来行为违背。共同记忆可以解释为什么难以割舍，却不能替失信免责。正因为她记得信誓旦旦，‘反’才如此清楚。
【真实场景】
屏幕左右为旧日相册和今日核验；学生个人先写，教师不讨论男子当初主观真伪，只守经验与行为事实。
（个人口译两句）
（教师校词）
（个人完成旧日/今日双栏）
（同桌圈两类越界词）
（作者写双真相句）
（公开听两句）
（教师后置责任边界）
【时间盒】
口译与词义：58秒；个人双栏：71秒；同桌越界核查：46秒；作者修订：46秒；公开抽样与归纳：54秒；转场：25秒
【现场分支】
断言过去全假：把主观动机改为叙述者确实保存的言笑晏晏与信誓旦旦。
美好成为继续理由：补回不思其反，区分为何难舍与后来行为责任。
追问当初誓言真假：允许保留问题，诗只提供誓言呈现与后来违背，不直接证明当初心理。
【听者任务】
只核查是否抹除真实记忆或用记忆替后来免责，不判断当初动机。
【证据位置】
06F C604区
【自然切页句】
旧日没有被删掉，违誓也没有被稀释。最后一句便不再是突然的口号：她把‘反’和‘不思’再说一次，然后说‘亦已焉哉’。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【V6.5页ID】C605｜物理页37｜5分钟
【页面功能】
读清反—不思—已的收束，并区分停止判断与实际离开。
【学生主动作】
选择停顿与声线；写诗写到与没有写到
【可见产物】
停止判断边界
【首次后用】
C606_S01、S03与S08
【删除损失】
删除会把末句变成觉醒出走标签
【主视觉职责】
末句与静默
【插图资格】
无
【教师逐字稿】
把两句并在一起读。圈出回来一次又一次的词：信誓、反、不思。‘是’指这，指誓言；‘已’是止、了结；焉、哉两个语气词连用，加强收束。请先用自然话写清：她经过什么核验，才说到此为止？（等待。）现在做两种声音实验。同一句‘反是不思，亦已焉哉’，第一遍读得疲惫、克制，像把许多话沉下去；第二遍读得清醒、决绝，像判断终于站稳。两人轮换，听者闭眼，只报实际听见什么，以及在已、焉、哉哪处听见；不要评谁最好。（等待双声与改读。）每个人最后可以选择一种，也可以写两种声音先后交叠，再只改一处。最后写边界：诗写出了什么，没有继续写什么。请把‘她已经离家并开始新生活’改回文本：她形成停止这段关系的判断；怎样实际离开、后来怎样生活，诗没有叙述。她的清醒不因现实行动未写而减少，阅读的诚实也不能因我们希望她离开就补写结局。
【真实场景】
屏幕两句并列；学生先圈回环词和写判断链，双人完成两种声音的盲听，边界写在学习单，不上屏预给。
（并读两句并圈回环词）
（个人写判断形成链）
（双人第一种声线）
（交换第二种声线）
（听者只报听感位置）
（个人选择或融合并改读）
（写诗写/未写边界）
【时间盒】
词义与回环定位：50秒；个人判断链：50秒；双声盲听：72秒；个人改读：39秒；事实边界写作：46秒；分享归纳与转场：43秒
【现场分支】
只读爽快决绝：保留，再试一次疲惫克制，比较已、焉、哉的收束是否多出层次。
只读无力悲伤：保留痛与倦，再回到已的停止义，看判断是否已经形成。
补写实际离开：将事实降回形成停止判断；行动方式和后来生活标为诗未写。
【听者任务】
只报实际听见的声音及原词位置，不选择最佳演法；核查停止判断与实际行动是否混淆。
【证据位置】
06F C605区
【自然切页句】
结尾已经逐字走到。现在收起所有局部解释，看看能否从偕老愿望一路讲到亦已焉哉，并把六章故事真正合拢。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【V6.5页ID】C606_S01｜物理页38｜10分钟
【页面功能】
只进行一次全诗人生统整，让六章成为有转折、有因果的长卷。
【学生主动作】
六组各承担一章；沿长卷低声完整讲并画因果箭头
【可见产物】
六章人生长卷
【首次后用】
S02与S03
【删除损失】
删除会失去全文第一问，拆页会重复重建
【主视觉职责】
现场六章长卷
【插图资格】
无
【教师逐字稿】
第六章落下以后，我们只做一次全诗人生统整。六个小组各承担一章：不写格式相同的章卡，只在黑板长卷上留下人物、关键动作和这一章带来的转折。第一组从相识议婚开始，第二组接等待迁嫁，第三组说明叙事为什么转为劝告，第四组写婚后失衡和责任判断，第五组写多年劳作、粗暴、外笑与自悼，第六组把旧愿、旧事、誓言和‘亦已焉哉’接到终点。每组说完，我只追问两处真正的转折，现场把因果箭头画出来。长卷完成后，每个人沿六段低声给自己讲一遍，在你认为最改变后来生活的一步处画一支箭头，并写出原句。注意结尾边界：诗写她形成停止判断，没有写出后来实际去了哪里。这张人生长卷已经回答第一问，下一页不再要求重写六句人生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完整课堂过程：600秒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六章人生长卷与个人因果箭头
【自然切页句】
经历已经连成一条人生。现在回到第二问：这些不幸若落在每天的生活里，究竟是什么样子？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【V6.5页ID】S02｜物理页39｜8分钟
【页面功能】
把贫苦、劳作、粗暴、嘲笑和孤立还原为可观察的日常。
【学生主动作】
取回或重写生活片段；匿名猜回原句并说明依据
【可见产物】
婚后生活证据展
【首次后用】
S03
【删除损失】
删除会让不幸停在抽象名词
【主视觉职责】
匿名学生文字
【插图资格】
无
【教师逐字稿】
‘贫苦、劳作、粗暴、嘲笑、孤立’都是正确的词，但如果只剩这些词，我们仍看不见她怎样生活。先看我示范一条：‘夙兴夜寐，靡有朝矣’不必改写成‘她很勤劳’，可以写成‘天还没有全亮，她已经起身；夜深下来，这一天仍没有真正停住。这样的日子一日接一日。’这只是示范写法，不能添诗外的家务细节。现在取回第五章那张‘一间屋子里的许多年’，愿意的话也可另选一句改写。稍后匿名投影三到四份，全班不猜作者，只猜它背后的原诗，并说明哪一个细节把你带回去。若猜不回，作者就要把文字收紧到原句；若一句文字能被准确猜回，我们才算把抽象不幸还原为可观察、又有证据的日常。教师最后归拢生活负担、关系伤害与支持缺失，不把三者混成一个‘惨’字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匿名婚后生活证据展
【自然切页句】
我们已经看见不幸怎样落在每天。第三问不能列一串标签，要沿时间追问：它为什么一步步走到这里？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【V6.5页ID】S03｜物理页40｜12分钟
【页面功能】
沿时间放置警讯、伤害、持续阻力、支持缺失和解释边界，形成不归责受伤者的原因结构。
【学生主动作】
个人先写原因；小组放原句证据并质询因果箭头
【可见产物】
原因证据长卷
【首次后用】
S04
【删除损失】
删除会失去用户要求的整体原因结构
【主视觉职责】
动态时间长卷
【插图资格】
无
【教师逐字稿】
先不要看任何预制答案，请个人写下你认为最重要的一两个原因。现在黑板铺开一条时间长卷：相识、承诺、共同生活、失衡、缺少托举、停止判断。四组各拿一组原句卡，把证据放到最合适的位置，再画一支你们认为成立的因果箭头。第一组处理婚前值得观察的信息和审慎；第二组处理承诺与后来行为的表里不一；第三组处理长期投入、已有共同记忆为什么使停止更难，以及不对等怎样可能被继续利用；第四组处理兄弟不知而笑、理解与托举缺席，以及女子最后的判断。每组放完，全班只质询箭头：这条因果是原诗明写、可以推断，还是已经越界？教师最后守住三条边界：投入和沉没成本解释为什么更难停下，不能解释男子为何伤害；婚前细节值得警惕，不等于已证预谋；‘亦已焉哉’写停止判断，不等于诗写明实际出走。原因因此不是一堆补丁，而是一条有时间、有责任、有阻力的结构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完整课堂过程：720秒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全文原因证据长卷
【自然切页句】
从反面的结构看清问题以后，我们回到开课时的文学版图，讨论一段良好的共同生活需要哪些支点。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【V6.5页ID】S04｜物理页41｜10分钟
【页面功能】
把《氓》的反面证据转为可观察、可讨论的良好关系支点。
【学生主动作】
修订开课时主题；四人合成三个关系支点
【可见产物】
个人主题修订与班级支点图
【首次后用】
S08只引用
【删除损失】
删除会使导入成为孤儿并失去婚姻讨论
【主视觉职责】
现场平衡结构
【插图资格】
无
【教师逐字稿】
请重新看开课时那张由你们自己说出来的文学主题谱。那时我们谈相遇、等待、阻隔、选择，也留下了一个问题：相爱以后，当两个人开始共同生活，故事怎样走下去？现在个人写三行：开课时我留下的一句；读完《氓》以后我愿意怎样修订；托住这次修订的一处原诗。只谈作品或第三人称关系，不采集个人恋爱、婚姻和家庭经历。四个人读完彼此的三行，不选口号，而要合成三个能在生活中观察的‘关系支点’，写在三张卡上，放到公共平衡结构旁。全班可以移动、合并或改名，但每次都要引用一张学生卡或一处原诗。教师最后后置归纳：审慎了解、承诺与行动一致、劳动和决定不过度失衡、伤害责任不转嫁、困难时有人理解托举、旧日美好不能替后来行为免责。这不是唯一婚姻模板，而是《氓》的反面证据帮助我们看见的关系条件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完整课堂过程：600秒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个人主题修订与班级关系支点图
【自然切页句】
现实讨论已经有了原诗依据。最后还要把能复习、能迁移的《诗经》知识和语言发现收回手中。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【V6.5页ID】S05｜物理页42｜6分钟
【页面功能】
检验必要文化与字词能否离开注释被说清，并修复真实错项。
【学生主动作】
合书检索《诗经》身份；选四词读释并回原句修复
【可见产物】
检索修复稿
【首次后用】
S08终读
【删除损失】
删除会把看过注释冒充掌握
【主视觉职责】
合书检索与错项修复
【插图资格】
无
【教师逐字稿】
先合上教材，不翻注释。请写《诗经》的四项最低身份：我国最早的诗歌总集，共三百零五篇，内容分风、雅、颂，《氓》出自《卫风》。这不是一开始打断故事的背景讲座，而是读完整首诗后的检索。再从本课核心词中任选四个：愆、将、筮、说、徂、汤汤、渐、爽、贰、罔极、二三、靡、遂、暴、咥、隰、泮、反、已。写读音、句中意思和它所在的原句。两分钟后打开书，只用注释和原句修复自己的空项；原来正确就保留，不制造错误。教师收集真实共性错项，只讲全班确实不稳的三到五处，并把字义重新接回人物行动。最后每个人圈一个会影响终读的字音或词义，下一次完整朗读时用它校准自己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文化与核心字词检索修复稿
【自然切页句】
字词已经回到原句。下一页我们不再抄一张知识清单，而要回答：这些诗句为什么成为这样一首诗？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【V6.5页ID】S06｜物理页43｜8分钟
【页面功能】
把逐句经验收成可复习的叙事、比兴、复现反折和声音知识图。
【学生主动作】
各组为一块补原句例子；个人标一个不稳项
【可见产物】
全班语文知识图
【首次后用】
S08带走一处语言发现
【删除损失】
删除会使知识只散落在活动里
【主视觉职责】
关系线与原词
【插图资格】
无
【教师逐字稿】
黑板分成四区，但不预先填满例子。第一块是第一人称六章叙事：她怎样由相识议婚、等待迁嫁走到回望、失衡、劳作孤立和停止判断。第二块是桑叶：‘沃若—黄而陨’怎样用比兴和前后对照，让后文改变我们对前文的理解；‘于嗟’又怎样由物及人。第三块是复现与反折：同一个‘老’，‘信誓—不思—反是不思’，怎样让旧愿在后文折回来。第四块是声音：四言节奏，涟涟、汤汤、晏晏、旦旦等叠词，以及叙事和抒情怎样交织。每组只从已经细读过的原句给一块补一个例子，教师负责把学生的自然发现提升为准确术语，再立即说回它帮助我们看见的人物变化。最后每人只标一个仍不稳的区，不再制作一张重复的S07汇编页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教师学生共建语文知识图
【自然切页句】
知识已经从原诗里长成一张图。最后一页不再誊抄它，只留下一个真正改变和一个仍愿追问的问题，让全诗重新完整响起。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【V6.5页ID】S08｜物理页44｜6分钟
【页面功能】
每人只留下一个改变或问题，再让全诗完整响起并安静结束。
【学生主动作】
二选一写一句；至少180秒完整朗读
【可见产物】
终课一句与完整终读
【首次后用】
真实试教评估
【删除损失】
删除会失去个人出口和整体声音
【主视觉职责】
原诗与留白
【插图资格】
无
【教师逐字稿】
请把前面的学习材料轻轻合在一起，不再抄写三问答案、关系支点和知识图。最后只做一个选择：写下一处改变最大的理解，或者留下一个你仍愿意追问的问题。可以关于女子、男子、婚姻结构，也可以关于桑叶、叠词、叙事声音；只要是真实的，不必把两项都写满。（教师安静等待。）我请两三位同学读出自己的那一句，听众不评价、不补充，只让不同的声音并排留下。现在翻回全文，先看一眼你刚才在字词检索中圈出的终读提醒。接下来至少三分钟，从‘氓之蚩蚩’连续读到‘亦已焉哉’，中途不切屏、不插问、不总结。读到末句以后，教师和学生一起停住，让沉默真正发生。我们不追加一条口号，也不替这位女子续写诗中没有写出的后来。她的声音落在这里，课也落在这里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个人终课一句与完整终读
【自然切页句】
（‘亦已焉哉’落下。教师停顿，不追加口号。）下课。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从小学想到高中：课文、小说、整本书……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258775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363931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它谈到怎样的相遇或共同生活？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0" y="4690872"/>
            <a:ext cx="7132320" cy="0"/>
          </a:xfrm>
          <a:prstGeom prst="line">
            <a:avLst/>
          </a:prstGeom>
          <a:noFill/>
          <a:ln w="19050">
            <a:solidFill>
              <a:srgbClr val="E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7150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先写一篇；还能想起，就继续往下写。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让更多故事在教室里相遇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　　　　　　》让我想到爱情或婚姻中的　　　　　　　　　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10149840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身边说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74720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合并不同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50608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703320"/>
            <a:ext cx="2468880" cy="109728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E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带来一条新篇目或新说法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让教室里的文学版图，从你们的话里长出来。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360152" cy="3429000"/>
          </a:xfrm>
          <a:prstGeom prst="roundRect">
            <a:avLst>
              <a:gd name="adj" fmla="val 1333"/>
            </a:avLst>
          </a:prstGeom>
          <a:solidFill>
            <a:srgbClr val="FFFCF7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9445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716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先让旧故事留在黑板上。新的故事，由一位女子自己说。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114800" y="32461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EFE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42062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10241280" cy="1920240"/>
          </a:xfrm>
          <a:prstGeom prst="roundRect">
            <a:avLst>
              <a:gd name="adj" fmla="val 2381"/>
            </a:avLst>
          </a:prstGeom>
          <a:solidFill>
            <a:srgbClr val="FFFCF7"/>
          </a:solidFill>
          <a:ln w="13970">
            <a:solidFill>
              <a:srgbClr val="C5B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　　　　　　　　　　　　　　　　　　　　　　　　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97280" y="5029200"/>
            <a:ext cx="1828800" cy="0"/>
          </a:xfrm>
          <a:prstGeom prst="line">
            <a:avLst/>
          </a:prstGeom>
          <a:noFill/>
          <a:ln w="16510">
            <a:solidFill>
              <a:srgbClr val="A67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我听见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754880" y="5029200"/>
            <a:ext cx="1828800" cy="0"/>
          </a:xfrm>
          <a:prstGeom prst="line">
            <a:avLst/>
          </a:prstGeom>
          <a:noFill/>
          <a:ln w="1651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我想问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412480" y="5029200"/>
            <a:ext cx="1828800" cy="0"/>
          </a:xfrm>
          <a:prstGeom prst="line">
            <a:avLst/>
          </a:prstGeom>
          <a:noFill/>
          <a:ln w="1651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692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只留下一处真正让你停住的声音。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74520" y="1883664"/>
            <a:ext cx="685800" cy="0"/>
          </a:xfrm>
          <a:prstGeom prst="line">
            <a:avLst/>
          </a:prstGeom>
          <a:noFill/>
          <a:ln w="3048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7276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430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74520" y="3300984"/>
            <a:ext cx="685800" cy="0"/>
          </a:xfrm>
          <a:prstGeom prst="line">
            <a:avLst/>
          </a:prstGeom>
          <a:noFill/>
          <a:ln w="3048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99008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430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874520" y="4718304"/>
            <a:ext cx="685800" cy="0"/>
          </a:xfrm>
          <a:prstGeom prst="line">
            <a:avLst/>
          </a:prstGeom>
          <a:noFill/>
          <a:ln w="3048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440740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577900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先跟着事情走，再看日子，最后追问原因。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圈一圈他做的事｜划一划她做的事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贸丝，还是来谋？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抱布贸丝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864608" y="17556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来即我谋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909828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诗先让我们看见的动作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话在这里转弯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女子随后说明的来意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先说成自己的自然话：此刻能看见什么，还不能断言什么？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08760" y="3218688"/>
            <a:ext cx="9144000" cy="0"/>
          </a:xfrm>
          <a:prstGeom prst="line">
            <a:avLst/>
          </a:prstGeom>
          <a:noFill/>
          <a:ln w="2794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73836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725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7492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顿丘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不用‘她很投入’替代这段路。让三个动词自己走起来。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FE3CF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060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安抚对方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6676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秋以为期。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59536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另约婚期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把三块重新读成一轮完整的话：她怎样把婚事继续说下去？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把第一章讲成一段故事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合书讲清：他怎样来，她怎样送，两个人怎样约。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第二章｜她站在哪里等？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乘—望—不见｜她站在哪里，目光投向哪里？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不见｜既见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泣涕涟涟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载笑载言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哪些原词彼此照应？声音从哪里真正转过去？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卜筮以后，婚事怎样走到迁移？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3000" y="3337560"/>
            <a:ext cx="9875520" cy="0"/>
          </a:xfrm>
          <a:prstGeom prst="line">
            <a:avLst/>
          </a:prstGeom>
          <a:noFill/>
          <a:ln w="2032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807208"/>
            <a:ext cx="1051560" cy="105156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尔卜尔筮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70960" y="2807208"/>
            <a:ext cx="1051560" cy="1051560"/>
          </a:xfrm>
          <a:prstGeom prst="ellipse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2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1376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体无咎言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6080" y="2807208"/>
            <a:ext cx="1051560" cy="1051560"/>
          </a:xfrm>
          <a:prstGeom prst="ellipse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32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车来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888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以尔车来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807208"/>
            <a:ext cx="1051560" cy="1051560"/>
          </a:xfrm>
          <a:prstGeom prst="ellipse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贿迁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以我贿迁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辨清双方主体，再把占问到迁嫁说成因序。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两章接力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来—送—约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等—见—迁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‘秋以为期’，怎样把两章接成一条因果？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第三章｜故事为什么先停在桑叶前？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故事刚走到迁嫁，为什么先让一树桑叶进入眼前？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377440" y="3337560"/>
            <a:ext cx="7434072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色泽、质地、生命感｜先留下感受，再留下可能。</a:t>
            </a:r>
            <a:endParaRPr lang="en-US" sz="2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两声‘于嗟’，怎样从物来到人？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3000" y="3337560"/>
            <a:ext cx="9875520" cy="0"/>
          </a:xfrm>
          <a:prstGeom prst="line">
            <a:avLst/>
          </a:prstGeom>
          <a:noFill/>
          <a:ln w="2032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807208"/>
            <a:ext cx="1051560" cy="1051560"/>
          </a:xfrm>
          <a:prstGeom prst="ellipse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3520" y="2807208"/>
            <a:ext cx="1051560" cy="105156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无食桑葚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0" y="2807208"/>
            <a:ext cx="1051560" cy="1051560"/>
          </a:xfrm>
          <a:prstGeom prst="ellipse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无与士耽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两声‘于嗟’，怎样把眼前的物写成对人的劝告？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犹可说也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不可说也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同样的‘耽/说’，哪些词改变了两人的脱身处境？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故事为什么在这里停了一停？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迁嫁以后——桑叶、斑鸠、女子的劝告｜这是谁的回望？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圈桑叶的新状态｜画生活事实｜框第一处责任判断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其叶沃若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其黄而陨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翻回原来的想法：保留、改写，还是撤回？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一句压着许多年的生活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一句展开渡水的一刻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用一句自然话，让多年与当下同时存在。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不爽｜贰行｜罔极｜二三其德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993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没有差错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2834640" y="2039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1993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贰行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前后不一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715000" y="2039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1993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罔极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没有准则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95360" y="2039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1993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354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反复无常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从生活事实走到责任判断：谁没有差错，谁的行为一步步加重？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物象变化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 → 黄而陨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婚后生活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8463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食贫｜淇水渐帷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责任判断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6410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不爽｜贰｜二三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合书四十五秒，把三层讲成一段。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第五章｜谁在忙，谁在笑，谁在独自思量？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谁在忙？谁在笑？谁在独自思量？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一天，叠成许多年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10058400" cy="2651760"/>
          </a:xfrm>
          <a:prstGeom prst="roundRect">
            <a:avLst>
              <a:gd name="adj" fmla="val 1724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468880"/>
            <a:ext cx="8046720" cy="1371600"/>
          </a:xfrm>
          <a:prstGeom prst="roundRect">
            <a:avLst>
              <a:gd name="adj" fmla="val 3333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三岁为妇｜靡有朝矣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423160" y="2880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　　　　　　　　　　　　　　夜寐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把一天的首尾，叠进一日又一日。</a:t>
            </a:r>
            <a:endParaRPr lang="en-US" sz="2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后来发生的事，让你怎样回看最初？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现在能说明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值得观察的早期细节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承诺需要长期行动核验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仍不能断言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婚前已经证实预谋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女子应为后来伤害负责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后来事实改变回看的目光，却不能把怀疑冒充证据。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138928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三秒沉默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22376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99669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外面的声音退去以后，空间里只剩下谁？</a:t>
            </a:r>
            <a:endParaRPr lang="en-US" sz="3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一间屋子里的许多年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10241280" cy="3611880"/>
          </a:xfrm>
          <a:prstGeom prst="roundRect">
            <a:avLst>
              <a:gd name="adj" fmla="val 1266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21608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既遂至暴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08776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95944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躬自悼矣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54480" y="288036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54480" y="397764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54406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四十到六十字｜不添具体家务，不添诗外伤害。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她把哪些旧愿、旧事和誓言重新放回眼前？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第一个‘老’落在旧愿里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第二个‘老’落在现实里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同一个字，为什么把时间折了回来？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先看清有岸、有泮的地貌，再用前后文托住解释。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旧日欢乐与后来失信，能否同时为真？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旧日确有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言笑晏晏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后来也确有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至于暴矣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过去的欢乐不必全判作假，后来行为也不能因此免责。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466344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F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832104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1325880" y="3063240"/>
            <a:ext cx="9509760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749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诗写到：亦已焉哉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989320" y="37490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诗没有写到：后来实际去了哪里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让末句停在判断的边界上。</a:t>
            </a:r>
            <a:endParaRPr lang="en-US" sz="3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她的一生，怎样走到‘亦已焉哉’？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" y="3429000"/>
            <a:ext cx="1005840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相识议婚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等待迁嫁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62272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657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回望劝告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64224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B58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婚后失衡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66176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725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劳作孤立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168128" y="2926080"/>
            <a:ext cx="1298448" cy="96012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9447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停止判断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相识议婚 → 等待迁嫁 → 回望劝告 → 婚后失衡 → 劳作孤立 → 停止判断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903720" cy="4434840"/>
          </a:xfrm>
          <a:prstGeom prst="roundRect">
            <a:avLst>
              <a:gd name="adj" fmla="val 1031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一段匿名生活文字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325880" y="278892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25880" y="379476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25880" y="480060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38160" y="1645920"/>
            <a:ext cx="3154680" cy="3611880"/>
          </a:xfrm>
          <a:prstGeom prst="roundRect">
            <a:avLst>
              <a:gd name="adj" fmla="val 1449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148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猜回原诗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503920" y="3337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哪一个生活细节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把你带了回去？</a:t>
            </a:r>
            <a:endParaRPr lang="en-US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先独立写下，你认为最重要的一两个原因。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1965960" y="306324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65960" y="416052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先不看框架。写完以后，再把原句放回时间、质询因果。</a:t>
            </a:r>
            <a:endParaRPr lang="en-US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相爱以后，怎样共同生活？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开课时的一句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61772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现在的一句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41248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9DDE2"/>
          </a:solidFill>
          <a:ln w="13970">
            <a:solidFill>
              <a:srgbClr val="725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《氓》中的一处依据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一段良好的共同生活，需要哪些支点？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920240" y="4937760"/>
            <a:ext cx="8348472" cy="0"/>
          </a:xfrm>
          <a:prstGeom prst="line">
            <a:avLst/>
          </a:prstGeom>
          <a:noFill/>
          <a:ln w="76200">
            <a:solidFill>
              <a:srgbClr val="5148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4919472"/>
            <a:ext cx="1280160" cy="731520"/>
          </a:xfrm>
          <a:prstGeom prst="triangl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把《诗经》和核心字词收回手中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4672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它是什么？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21024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有多少篇？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37376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分哪三类？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53728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《氓》收在哪里？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4300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329184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544068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758952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73836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114300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329184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爽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544068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暴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758952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300" dirty="0"/>
          </a:p>
        </p:txBody>
      </p:sp>
      <p:sp>
        <p:nvSpPr>
          <p:cNvPr id="33" name="Shape 31"/>
          <p:cNvSpPr/>
          <p:nvPr/>
        </p:nvSpPr>
        <p:spPr>
          <a:xfrm>
            <a:off x="973836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8756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任选四个：读音、句中义、原句。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这首诗，为什么成为这样一首诗？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FE3CF"/>
          </a:solidFill>
          <a:ln w="1333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六章第一人称叙事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373368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1E7D9"/>
          </a:solidFill>
          <a:ln w="13335">
            <a:solidFill>
              <a:srgbClr val="657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桑叶比兴与对照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9DDE2"/>
          </a:solidFill>
          <a:ln w="13335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复现、回环、反折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73368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DCE9E8"/>
          </a:solidFill>
          <a:ln w="13335">
            <a:solidFill>
              <a:srgbClr val="44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四言与叠词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01968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请为每一块，补回一处已经读过的原诗。</a:t>
            </a:r>
            <a:endParaRPr lang="en-US" sz="2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一处改变最大的理解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一个仍愿追问的问题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508760" y="2971800"/>
            <a:ext cx="909828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　　　　　　　　　　　　　　　　　　　　　亦已焉哉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然后，让全诗完整响起。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《氓》V6.5完整课堂课件</dc:title>
  <dc:subject>《诗经·卫风·氓》完整课堂课件；无插图功能审查候选</dc:subject>
  <dc:creator>语文备课系统</dc:creator>
  <cp:lastModifiedBy>语文备课系统</cp:lastModifiedBy>
  <cp:revision>1</cp:revision>
  <dcterms:created xsi:type="dcterms:W3CDTF">2026-08-13T19:16:15Z</dcterms:created>
  <dcterms:modified xsi:type="dcterms:W3CDTF">2026-08-13T19:16:15Z</dcterms:modified>
</cp:coreProperties>
</file>
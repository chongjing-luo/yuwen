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【V6.3页ID】C201｜第二章｜约定以后，故事怎样继续？｜6分钟
【本页不可替代的意义】
让第二章先作为一段完整故事进入；读后才发03A，让三个动作和一条由垝垣指向复关的目光都落在同一张卡上
【删除本页会失去什么】
没有完整章声，第二章会被局部词语先行占领；没有读后视线，等待仍是抽象情绪；没有统一落点，章末也无法可靠取回初稿
【相邻合并测试】
整章初读和视线必须在同一学习事件中先后发生；不能并入C202，因为本页建立空间输入，C202才检验同一视线条件变化怎样进入动作与声音
【教师逐字稿】
第一章的婚期已经约在秋天。请先看一眼故事轨道第一格，不添新内容。第二章会把故事带到哪里？现在不要拿新的学习卡，只看屏幕和教材，听我把五句完整读一遍；眼睛跟着诗句走。（教师完整读章，末句后停两秒。）请你们自己完整读一遍。读完以后我才发03A；在卡上写三个你最确定的人物动作，按先后排开。一时只找到一两个，也照实留下。（读后发卡，静默书写。）请两位同学各读一个自己写下的原词；听的人只核对它是不是人物真正做的事。（引用现场原词，不补整章答案。）现在看03A上的首句：‘乘彼垝垣，以望复关。’借教材注释把它说成一句自然话，再只画一道目光：人站在哪里，望向哪里？不要画行走路线。（等待。）同桌互看，只问：人物站在哪里？线指向哪里？若画成已经走到复关，回到‘乘’和‘望’改回来。我们再校准四个词：‘乘’是登上，‘垝垣’是残破的墙，‘以’是来、用来；‘复关’是男子所住的地方，诗中借地名指向他。请沿自己画的目光重读首句。约定以后，她登上残墙，向复关望去。接下来，同一个方向上的不见与既见，会让她发生什么变化？
【场面与走位】
屏幕只呈现完整第二章和开放动作提示。教师范读、学生整读结束后才发03A；动作、自然话和视线全部写在03A，教材只供阅读和注释定位。
（打开第一章故事轨道第一格）
（教师完整读第二章）
（学生完整朗读）
（读后发03A）
（学生在03A写动作、口译并画目光）
（同桌核对站位与方向）
（教师后置校词并回读）
【时间盒】
承接第一格与教师完整读章：45秒；学生完整朗读：45秒；读后发03A并写三个动作：70秒；引用动作初稿：35秒；首句自然口译和画目光：70秒；同桌核对、教师校词与故事回接：95秒
【现场分支】
只找到一两个动作：允许保留，不要求为凑够三个而抄词；同桌发言后再回诗补一个。
先写情绪词：若是泣、笑等实际动作可以保留；若只写伤心、高兴，追问原诗中人物做了什么。
画成行走路线：请用手分别按住‘乘’和‘望’，把人物留在垝垣上，只留下朝复关的目光。
不会画：允许只写‘垝垣 —望→ 复关’，不评价绘画能力。
【听者同步任务】
初稿只核对是否为原诗人物动作；视线只核对站位、方向和‘望’的原词依据。
【证据位置】
03A第二章初读与视线卡
【回到人物和故事】
秋期约定以后，女子登上残墙，向男子所在的复关望去；第二章从一个具体的站位和方向开始
【后续真实调用】
C202直接沿这条目光比较不见与既见；C206只从03A取回动作初稿和视线，不再寻找教材中的另一份重复记录
【自然切页句】
目光落向复关。现在把‘不见’和‘既见’放在一起，看这两句怎样突然转过去，又能不能被耳朵听出来。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【V6.3页ID】C202｜‘不见’与‘既见’，两句怎样转过去？｜8分钟
【本页不可替代的意义】
先让学生用原词解释不见/既见怎样触发泣涕/笑言，再用一次双向闭眼听辨检验这种理解是否真正进入自己的声音
【删除本页会失去什么】
只讲词义会丢失两句的正面对照，只圈词会让声音理解未经检验；拆成两页又会以程序拖慢同一意义单元
【相邻合并测试】
原C203的听觉核心必须并入本页，因为它直接检验本页的原词理解；不能并入C201，空间站位必须先于同一视线上的条件骤变
【教师逐字稿】
请看同一个方向上的两句：‘不见复关，泣涕涟涟。既见复关，载笑载言。’先把每句说成自己的自然话，再在原诗里圈出彼此照应的词。不要先写伤心和高兴；先写没看见什么、已经看见什么，她实际做了什么。（静默等待。）请同桌一人读上句、一人读下句，只问：什么变化触发了她？她的动作怎样变？谁愿意读出自己圈的两组词？（引用现场原词。）我们校准：泣涕是哭泣流泪，涟涟是泪流不断；既是已经，两个载加强语气。若你的自然话只有情绪，请补上触发和动作。现在不再另开一张朗读程序页。每个人只在诗边标一处：你想让声音从哪里转过去？可以改变停顿、重音或语速，只选一处，旁边写托住它的原词。（等待轻声试读。）两人一组，第一位连读两句，第二位闭眼，只说‘我在____附近听见了变化’，或诚实说‘没有听出来’；读的人据此只改一处，再读一遍。然后交换，让每个人都读一次、听一次、改一次。（等待。）请一组愿意的同学呈现第二遍，听者只报原词。（引用真实声音。）两种读法可以不同，只要原词站得住，耳朵也真能听见。她由不见而泣、既见而笑，这一下转折已经从纸面进入声音。下面，婚事还要经过占问，并真正走向迁移。
【场面与走位】
C201完成后才发03B。屏幕始终保留两句原诗，上半先服务圈词，下半只用一句话开启盲听；教师不示范标准读法，不切换独立程序页。
（发03B）
（学生自然口译并圈原词）
（双人上下对读）
（教师引用原词后校词）
（每人标一处声音变化）
（双方各完成一次盲听、反馈和改读）
（引用一组真实声音）
【时间盒】
承接视线与个人自然口译圈词：100秒；双人对读和触发互问：70秒；学生分享、教师定点释义与修订：85秒；个人单点朗读设计和轻声试读：55秒；双方盲听、反馈和各自改读：110秒；真实声音分享、故事回接与转场：60秒
【现场分支】
只贴情绪标签：追问哪一个变化触发、人物实际做了什么，使说法回到不见/既见和泣涕/笑言。
圈满所有词：只保留能与下句某词形成关系的两三处，并说清为什么相照应。
模仿教师：教师拒绝先示范，只问想突出哪个原词，允许不同声音方案。
没有听出来：如实记录，读者只改一处再读；第二遍仍不明显就留问号，不追加第三轮。
【听者同步任务】
先核对触发条件和人物动作；闭眼后只定位声音变化附近的原词，或如实报告未听出。
【证据位置】
03B C202区和教材原词、朗读标记
【回到人物和故事】
女子望向复关，看不见时泪流不断；一旦看见，便又笑又说，这一下骤变既写在原词里，也能由声音被同伴听见
【后续真实调用】
C206完整重读时自然使用有效朗读标记，旁白必须讲清见与不见怎样改变她；不再保留孤立听者回执页
【自然切页句】
见与不见的变化已经能被耳朵听见。下面把两句连起来：一次占问之后，婚事又怎样走向了实际迁移？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【V6.3页ID】C204｜卜筮、来、迁：两句怎样接在一起？｜8分钟
【本页不可替代的意义】
用最小文化支架完成当次占问口译并限制时间边界，再沿两句因序和以尔/以我对称读清婚事怎样由程序走向实际迁移
【删除本页会失去什么】
没有文化支架会误译卜筮，没有时间限定会把无咎当作未来保证，没有对称拆句又会把双方动作压成一句‘结婚了’
【相邻合并测试】
原C205必须并入本页，因为第二句正是占问之后的故事结果；不能并入C206，本页仍在有支架地生成准确意义，C206检验撤答后的整章重建
【教师逐字稿】
第二章最后两句要连起来读：‘尔卜尔筮，体无咎言。以尔车来，以我贿迁。’第一句有四项不能靠猜的知识：卜，是用龟甲占问；筮，是用蓍草占卦；体，是显示的兆象；咎言，是不祥之语。支架到这里为止，完整意思请你自己组织。先按谁做什么、结果怎样，把第一句说成自然话，再写：这次占问得到什么结果？（等待。）同桌只核对四项有没有错位。谁愿意读自己的句子？（引用后校准。）如果你写了‘一定幸福、保证以后’，圈起来；原句只写这次没有不祥。没有越界的同学不必制造错误，只在无咎言旁补‘这次’。接着看第二句。不要先说‘他们结婚了’，请沿‘以尔’和‘以我’分成两边，在03B写清每边是谁、带着什么、做什么。（等待。）现在校准：贿是财物，这里指嫁妆；迁是迁往男子家。同桌一人指‘以尔’一侧，一人指‘以我’一侧，只检查主体、物件、动作有没有放错；不需要交换表演。最后一起合读原句，再把两句连成一句自然的故事话：占问写了什么，接着发生什么？（引用两条现场表达。）这次占问无不祥，婚事继续；车来、财物迁，女子的生活位置也随之改变。第二章已经走到迁移，现在撤去局部支架，看整章能不能重新成为一段故事。
【场面与走位】
屏幕同时显示两句。四项文化词卡只提供必要知识；第二句下方保留两条完全开放的主体—物件—动作栏。学生先写，教师后置时间边界和贿、迁释义。
（连读两句）
（教师给四项最小文化支架）
（学生独立口译占问）
（同桌核对名物）
（教师后置时间边界）
（学生拆分以尔/以我双方动作）
（同桌有界核对并合句）
（回到占问—迁移因序）
【时间盒】
连读两句与最小文化支架：55秒；个人占问口译和结果：75秒；同桌名物核对、分享与时间限定：85秒；个人拆分以尔和以我：75秒；同桌对应核对与教师校词：80秒；两句合回故事、个人修订与转场：110秒
【现场分支】
无法组织占问句：只提供‘你—卜筮—兆象—无不祥’四个位置，不念完成句。
直接推出幸福：只问原句写的是哪一次、有没有写后来生活，把说法降回当次结果。
压成他们结婚：追问以尔和以我各是谁的动作，车和贿在哪一边，先拆开再合。
嫁妆归属错位：请按住‘以我’，把贿移回这一侧，不直接报完整译文。
【听者同步任务】
占问部分只核对四项名物；迁移部分只核对两侧主体、物件和动作；都不提前讨论后来婚姻。
【证据位置】
03B C204区
【回到人物和故事】
等待与相见以后，两人完成占问；当次兆象无不祥，随后车来，女子带着财物迁往男子家，婚事由等待走到实际迁移
【后续真实调用】
C206旁白必须把当次占问与车来、贿迁接成因序；第四、第五章出现婚后事实时再比较一次程序与长期生活
【自然切页句】
占问无不祥，车来、财物迁，第二章已经走到实际迁移。现在收起局部提示，把等待到迁移完整讲一次。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【V6.3页ID】C206｜让第二章从等待走到迁移｜5分钟
【本页不可替代的意义】
完整重读后撤去教材、03A、03B和投影，用三十秒自然旁白检验局部理解能否成为连续故事，并生成故事轨道第二格
【删除本页会失去什么】
没有真实撤答后的整章重建，视线、声音、文化边界和对称动作仍是三块活动，不能证明学生获得连续故事
【相邻合并测试】
不能并入C204，因为C204仍在支架下生成准确意义，本页改变证据状态并把章节写入长期轨道；旧七词排序继续删除
【教师逐字稿】
第二章每一句已经读过。请先只看屏幕和教材，完整重读一次；刚才留下的有效声音标记可以自然用进去，不另做表演。（学生读完。）现在把教材合上，把03A和03B同时翻到背面，压在桌角；同桌互相看一眼，确认桌面不露原诗。（等待。）请看我这里。（教师按B键熄暗屏幕。）用三十秒把第二章讲给同桌听，只讲三件事：她怎样等，见与不见怎样改变她，婚事怎样由占问走到迁移。听者不要接管故事，只在对方讲完后补一个真正遗漏；没有遗漏就如实说完整。两人交换。（等待。）讲述者可以只打开教材，找到遗漏的那一句，随后立即合书补说；两张卡仍扣住。（等待。）现在只把03B翻回来，在故事轨道第二格写一句自己的自然章意；03A继续扣住，屏幕不恢复。再挑一个以后还想回看的原词写在旁边。谁愿意读出第二格？（引用两条现场章意，只修事实断点。）我们共同看见：她登上残墙等待，由不见而泣、既见而笑；两人完成占问，随后车来、财物迁，她的生活位置也发生了变化。这个整理不替换你们自己的句子。下一章，迁移后的生活还没有直接写出，诗却先让一片桑叶出现在眼前。
【场面与走位】
屏幕先供完整重读；读后合教材、两卡同时翻背并互查，再按B键熄屏。检索后只开教材定位，最后只恢复03B写第二格。
（完整重读第二章）
（合教材并将03A、03B同时翻背）
（同桌互查桌面无原诗）
（按B键熄暗屏幕）
（两人轮流三十秒旁白）
（只开教材定位后立即合书补说）
（只恢复03B写第二格）
【时间盒】
完整重读第二章：50秒；撤去教材、两卡和投影：40秒；两人轮流三十秒旁白：80秒；听者补缺、开书定位和合书补说：45秒；写第二格、章意和回看原词：50秒；引用章意、故事收束与转场：35秒
【现场分支】
完全空白：允许先讲最确定的一段，再只开教材找它前后各发生什么；不抄全文。
听者直接代讲：收窄为‘你只找到哪一个断点’，把定位和补说权还给讲述者。
提前写婚后不幸：删去第二章尚未写出的事实，只保留等待、骤变、占问和迁移。
没有遗漏：如实确认完整；在章意旁补一个支撑原词，不制造不同意见。
【听者同步任务】
只核对等待、见与不见、占问到迁移是否连成故事；不代讲、不抄教师章意。
【证据位置】
03B C206区、故事轨道第二格和教材回看原词
【回到人物和故事】
女子登垣远望，由不见而泣、既见而笑；两人完成占问，随后车来、财物迁，女子的生活位置发生变化
【后续真实调用】
C301开头直接读取故事轨道第二格，追问迁移以后叙事为何忽然转向桑叶；全文第一问读取本格重建经历
【自然切页句】
第二格先留在这里。迁移以后，第三章不先写家务和争执，而让一片‘沃若’的桑叶进入眼前。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第二章｜约定以后，故事怎样继续？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　2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078992"/>
            <a:ext cx="10579608" cy="5029200"/>
          </a:xfrm>
          <a:prstGeom prst="roundRect">
            <a:avLst>
              <a:gd name="adj" fmla="val 909"/>
            </a:avLst>
          </a:prstGeom>
          <a:solidFill>
            <a:srgbClr val="FFFCF7"/>
          </a:solidFill>
          <a:ln w="13335">
            <a:solidFill>
              <a:srgbClr val="E5DA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481328"/>
            <a:ext cx="10085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51560" y="2304288"/>
            <a:ext cx="10085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不见复关，泣涕涟涟。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051560" y="3127248"/>
            <a:ext cx="10085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051560" y="3950208"/>
            <a:ext cx="10085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尔卜尔筮，体无咎言。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051560" y="4773168"/>
            <a:ext cx="10085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“不见”与“既见”，两句怎样转过去？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　2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68680" y="1234440"/>
            <a:ext cx="10451592" cy="1060704"/>
          </a:xfrm>
          <a:prstGeom prst="roundRect">
            <a:avLst>
              <a:gd name="adj" fmla="val 4310"/>
            </a:avLst>
          </a:prstGeom>
          <a:solidFill>
            <a:srgbClr val="DDE9E9"/>
          </a:solidFill>
          <a:ln w="13335">
            <a:solidFill>
              <a:srgbClr val="456F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490472"/>
            <a:ext cx="9902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不见复关，泣涕涟涟。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68680" y="2651760"/>
            <a:ext cx="10451592" cy="1060704"/>
          </a:xfrm>
          <a:prstGeom prst="roundRect">
            <a:avLst>
              <a:gd name="adj" fmla="val 4310"/>
            </a:avLst>
          </a:prstGeom>
          <a:solidFill>
            <a:srgbClr val="F0DDD5"/>
          </a:solidFill>
          <a:ln w="13335">
            <a:solidFill>
              <a:srgbClr val="9C45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907792"/>
            <a:ext cx="9902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051560" y="4718304"/>
            <a:ext cx="10085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哪些词彼此照应？　你想让声音从哪里转过去？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965960" y="5577840"/>
            <a:ext cx="8257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766D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让原词先站出来，再让耳朵听见它。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卜筮以后，婚事怎样落到生活里？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　2 / 6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22960" y="111556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尔卜尔筮，体无咎言。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841248" y="1938528"/>
            <a:ext cx="2478024" cy="676656"/>
          </a:xfrm>
          <a:prstGeom prst="roundRect">
            <a:avLst>
              <a:gd name="adj" fmla="val 6757"/>
            </a:avLst>
          </a:prstGeom>
          <a:solidFill>
            <a:srgbClr val="EFE4D2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139696"/>
            <a:ext cx="2203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卜｜龟甲</a:t>
            </a:r>
            <a:endParaRPr lang="en-US" sz="2050" dirty="0"/>
          </a:p>
        </p:txBody>
      </p:sp>
      <p:sp>
        <p:nvSpPr>
          <p:cNvPr id="8" name="Shape 6"/>
          <p:cNvSpPr/>
          <p:nvPr/>
        </p:nvSpPr>
        <p:spPr>
          <a:xfrm>
            <a:off x="3639312" y="1938528"/>
            <a:ext cx="2478024" cy="676656"/>
          </a:xfrm>
          <a:prstGeom prst="roundRect">
            <a:avLst>
              <a:gd name="adj" fmla="val 6757"/>
            </a:avLst>
          </a:prstGeom>
          <a:solidFill>
            <a:srgbClr val="E1E7D9"/>
          </a:solidFill>
          <a:ln w="12700">
            <a:solidFill>
              <a:srgbClr val="6477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76472" y="2139696"/>
            <a:ext cx="2203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64775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筮｜蓍草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6437376" y="1938528"/>
            <a:ext cx="2478024" cy="676656"/>
          </a:xfrm>
          <a:prstGeom prst="roundRect">
            <a:avLst>
              <a:gd name="adj" fmla="val 6757"/>
            </a:avLst>
          </a:prstGeom>
          <a:solidFill>
            <a:srgbClr val="DDE9E9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74536" y="2139696"/>
            <a:ext cx="2203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体｜兆象</a:t>
            </a:r>
            <a:endParaRPr lang="en-US" sz="2050" dirty="0"/>
          </a:p>
        </p:txBody>
      </p:sp>
      <p:sp>
        <p:nvSpPr>
          <p:cNvPr id="12" name="Shape 10"/>
          <p:cNvSpPr/>
          <p:nvPr/>
        </p:nvSpPr>
        <p:spPr>
          <a:xfrm>
            <a:off x="9235440" y="1938528"/>
            <a:ext cx="2478024" cy="676656"/>
          </a:xfrm>
          <a:prstGeom prst="roundRect">
            <a:avLst>
              <a:gd name="adj" fmla="val 6757"/>
            </a:avLst>
          </a:prstGeom>
          <a:solidFill>
            <a:srgbClr val="F0DDD5"/>
          </a:solidFill>
          <a:ln w="12700">
            <a:solidFill>
              <a:srgbClr val="9C4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72600" y="2139696"/>
            <a:ext cx="2203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咎言｜不祥之语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2011680" y="3054096"/>
            <a:ext cx="8165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这次占问，写出了怎样的结果？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1005840" y="3803904"/>
            <a:ext cx="1017727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6908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2011680" y="5138928"/>
            <a:ext cx="8165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“以尔”与“以我”，各是谁的动作？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把等待到迁移，讲成一段故事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　2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13232" y="1097280"/>
            <a:ext cx="7059168" cy="4443984"/>
          </a:xfrm>
          <a:prstGeom prst="roundRect">
            <a:avLst>
              <a:gd name="adj" fmla="val 1029"/>
            </a:avLst>
          </a:prstGeom>
          <a:solidFill>
            <a:srgbClr val="38312A"/>
          </a:solidFill>
          <a:ln w="13335">
            <a:solidFill>
              <a:srgbClr val="AC8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463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50976" y="217627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不见复关，泣涕涟涟。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50976" y="2889504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50976" y="3602736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尔卜尔筮，体无咎言。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50976" y="431596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8138160" y="1572768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她怎样等？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138160" y="2514600"/>
            <a:ext cx="3364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见与不见，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怎样改变她？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138160" y="3794760"/>
            <a:ext cx="3364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DE9E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婚事怎样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DDE9E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走到迁移？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13232" y="5879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故事轨道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1847088" y="6163056"/>
            <a:ext cx="1097280" cy="0"/>
          </a:xfrm>
          <a:prstGeom prst="line">
            <a:avLst/>
          </a:prstGeom>
          <a:noFill/>
          <a:ln w="25400">
            <a:solidFill>
              <a:srgbClr val="AC8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31136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01568" y="6163056"/>
            <a:ext cx="1097280" cy="0"/>
          </a:xfrm>
          <a:prstGeom prst="line">
            <a:avLst/>
          </a:prstGeom>
          <a:noFill/>
          <a:ln w="25400">
            <a:solidFill>
              <a:srgbClr val="AC85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85616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56048" y="6163056"/>
            <a:ext cx="1097280" cy="0"/>
          </a:xfrm>
          <a:prstGeom prst="line">
            <a:avLst/>
          </a:prstGeom>
          <a:noFill/>
          <a:ln w="12700">
            <a:solidFill>
              <a:srgbClr val="766D63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0096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10528" y="6163056"/>
            <a:ext cx="1097280" cy="0"/>
          </a:xfrm>
          <a:prstGeom prst="line">
            <a:avLst/>
          </a:prstGeom>
          <a:noFill/>
          <a:ln w="12700">
            <a:solidFill>
              <a:srgbClr val="766D63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4576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65008" y="6163056"/>
            <a:ext cx="1097280" cy="0"/>
          </a:xfrm>
          <a:prstGeom prst="line">
            <a:avLst/>
          </a:prstGeom>
          <a:noFill/>
          <a:ln w="12700">
            <a:solidFill>
              <a:srgbClr val="766D63">
                <a:alpha val="6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49056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19488" y="6163056"/>
            <a:ext cx="1097280" cy="0"/>
          </a:xfrm>
          <a:prstGeom prst="line">
            <a:avLst/>
          </a:prstGeom>
          <a:noFill/>
          <a:ln w="12700">
            <a:solidFill>
              <a:srgbClr val="766D63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03536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《氓》V6.2第二章课堂课件</dc:title>
  <dc:subject>第二章逐句讲读</dc:subject>
  <dc:creator>语文备课系统</dc:creator>
  <cp:lastModifiedBy>语文备课系统</cp:lastModifiedBy>
  <cp:revision>1</cp:revision>
  <dcterms:created xsi:type="dcterms:W3CDTF">2026-08-13T17:02:20Z</dcterms:created>
  <dcterms:modified xsi:type="dcterms:W3CDTF">2026-08-13T17:02:20Z</dcterms:modified>
</cp:coreProperties>
</file>
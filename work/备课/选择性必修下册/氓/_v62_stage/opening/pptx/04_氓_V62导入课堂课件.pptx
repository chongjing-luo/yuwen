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【V6.3页ID】O01｜我们还记得哪些爱情与婚姻故事？｜4分钟
【本页不可替代的意义】
让每名学生先从自己的文学经验中检索至少一篇作品，用一句话唤回故事，再留下一个低门槛的爱情或婚姻主题
【删除本页会失去什么】
没有个人准备，并行互说仍会被记忆快的学生占据，其他人也没有可修改的主题初稿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【场面与走位】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【听者同步任务】
此页没有听者任务；每个人先保护自己的回忆时间。
【证据位置】
O01文学回忆单
【回到人物和故事】
学生带着真实文学记忆进入全班，而不是从教师预列的三篇作品开始
【后续真实调用】
O02同桌互说和四人汇聚直接读取个人清单中的篇名、故事与朴素主题
【自然切页句】
每个人手里先有了一点自己的文学记忆。现在先说给身边的人听，再把不同的故事带到全班。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【V6.3页ID】O02｜让更多故事在教室里相遇｜9分钟
【本页不可替代的意义】
让每个人先在并行的小范围内完整说出一篇作品及朴素主题，再由各组把能扩展全班文学视野的篇目和说法带到公共黑板
【删除本页会失去什么】
删除并行互说会失去全员真实声音；删除公共贡献又会使各组经验彼此隔绝，O03没有可据实归纳的班级材料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【场面与走位】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说明句式与同桌互说：90秒；四人组每人完整说一篇：150秒；各组贡献与教师准确记录：240秒；静看黑板并完成个人补写：60秒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【听者同步任务】
小组内听清每个人的作品和主题；公共阶段只补一项自己原先没有想到的篇目或说法。
【证据位置】
黑板文学长卷；O01回忆单的新增栏
【回到人物和故事】
全班从真实发言中看见，爱情与婚姻文学不只写一种幸福或一种不幸，而有相遇、等待、阻隔、相守、选择与离开等不同处境
【后续真实调用】
O03教师逐条引用文学长卷中的真实作品和学生原话进行归纳
【自然切页句】
这些故事先留在黑板上。现在由我沿着你们真正说过的话，看看这张文学版图上出现了哪些方向。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【V6.3页ID】O03｜相遇以后｜4分钟
【本页不可替代的意义】
由教师引用本班真实篇目与学生关键词整理已经出现的文学方向，再明确提出‘共同生活怎样改变两个人’这一新的阅读问题
【删除本页会失去什么】
没有教师后置归纳，广泛发言只会成为篇目堆积，旧故事与《氓》的婚姻主题缺少桥梁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【场面与走位】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【听者同步任务】
核对教师是否准确引用本班篇名与关键词；随后听清‘共同生活怎样改变两个人’是今天新增的问题，不是刚才发言的标准答案。
【证据位置】
黑板主题谱及其照片
【回到人物和故事】
学生从广泛旧故事走向一个尚未回答的新问题：爱情进入共同生活以后，日子会怎样改变两个人
【后续真实调用】
O04用‘一位更早的女子回望婚姻’接入《氓》；全文S04重新投影本班主题谱照片，每人用《氓》补充、修正或保留开课时的一条朴素主题
【自然切页句】
让我们认识这位更早的讲述者。她的故事，题目只有一个字。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【V6.3页ID】O04｜氓｜1分钟
【本页不可替代的意义】
在主题桥梁完成后揭示《氓》题名与出处，让全班翻到同一首诗的第一句
【删除本页会失去什么】
缺少揭题停顿，旧作主题谱与新文本之间没有共同焦点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【场面与走位】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【听者同步任务】
听清题名读音和出处，并定位同一首诗的第一句。
【证据位置】
教材题名旁注音及第一句定位
【回到人物和故事】
全班从许多旧故事走到同一位先秦女子的声音面前
【后续真实调用】
O05从第一句开始完整听读，不再插入分析性问题
【自然切页句】
这首诗有六章。先不替她概括，让她自己从第一句说到最后一句。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【V6.3页ID】O05｜第一次完整听读｜第一至第三章｜3分钟
【本页不可替代的意义】
在没有悲剧标签和原因问题预设的状态下，让前三章整体进入并保持原诗后排可读
【删除本页会失去什么】
若直接逐句讲解或先布置原因问题，学生没有开放接收全诗前半的机会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【场面与走位】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【听者同步任务】
一直听到第三章末；只在自己的教材留下停顿记号，不讨论。
【证据位置】
教材第一至第三章原句旁
【回到人物和故事】
学生连续听见初见、等待、迁嫁与劝诫，而不是带着预设结论搜集证据
【后续真实调用】
O06无声接续后三章；O07保存整首停顿句
【自然切页句】
（无声切页，朗读不断。）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【V6.3页ID】O06｜第一次完整听读｜第四至第六章｜3分钟
【本页不可替代的意义】
无缝接续后三章并完成六章开放接收，让末句之后拥有真实静默
【删除本页会失去什么】
没有后三章连续听读，学生会把全诗误保存为婚前片段与劝诫知识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【场面与走位】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【听者同步任务】
一直听到末句；静默以后才确认个人停顿处。
【证据位置】
教材第四至第六章原句旁
【回到人物和故事】
学生第一次完整听见一个女子从初见说到‘亦已焉哉’
【后续真实调用】
O07把个人停顿变成可保存的初听短句
【自然切页句】
哪一句把你留了下来？把第一次听见的《氓》，留在纸上。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【V6.3页ID】O07｜把第一次听见的《氓》留在纸上｜3分钟
【本页不可替代的意义】
把个人停顿转成一句自然话并与同桌交换，再由教师在O08开头真实引用，作为三问出现前的学生声音
【删除本页会失去什么】
没有这份初听文字，三问会直接覆盖学生自己的第一反应，课堂也失去可引用的学生起点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【场面与走位】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【听者同步任务】
复述自己听见的一个不同注意点；不替同伴解释全诗。
【证据位置】
O07初听卡；黑板右侧的真实初听关键词
【回到人物和故事】
每个学生保存自己第一次遇见这位女子时被哪一句停住
【后续真实调用】
O08开头立即引用两三份真实初听文字，再在完整接收之后提出三个核心问题
【自然切页句】
六章已经完整地响过，大家停下的地方也留在这里。现在我们把这首诗慢慢读懂。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【V6.3页ID】O08｜读懂六章，我们要回答什么？｜2分钟
【本页不可替代的意义】
先引用O07的真实初听文字，再呈现三个核心问题，使三问成为读后生成的全文书签而非初听前的悲剧预设
【删除本页会失去什么】
没有读后收束，个人停顿会彼此散开，逐章细读也缺少稳定的全文人物问题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【场面与走位】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【听者同步任务】
核对教师引用确实来自刚才的同学文字，并保存三问的稳定措辞。
【证据位置】
O07初听文字；O08现场首次发下的03C三问阅读书签
【回到人物和故事】
三问都指向这位女子经历了什么、怎样生活以及婚姻为何变化
【后续真实调用】
第一至第六章细读持续按原措辞取回，全文讨论再综合回答
【自然切页句】
问题已经留下。再带上这首诗最低限度的身份，我们就从第一章慢慢读起。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【V6.3页ID】O09｜只带三块路标，走进第一章｜2分钟
【本页不可替代的意义】
一次讲清继续阅读必需的三块路标，并立即把知识接回第一章的女子声音
【删除本页会失去什么】
没有最低身份支架，学生难以准确说明作品归属和第一人称叙述位置；拆成两页又会让故事停顿
【教师逐字稿】
继续往第一章走以前，只带两类路标。先看出处：《诗经》分风、雅、颂；《卫风》属于‘风’，《氓》收在《卫风》里。《诗经》是我国最早的诗歌总集，共三百零五篇。再看诗中谁在说话：刚才六章里的‘我’，是一位女子，她在回头讲自己的婚姻。请在题名旁写下这条出处链：诗经—风—卫风—氓；另起一行写‘女子回望’。（等待书写。）请一位同学只说出处链；再请一位说诗中谁在说话。全班只补遗漏。（听取复述并校准。）现在我们知道这首诗收在哪里，也知道是谁在说话。接下来从她最初见到男子的地方读起。
【场面与走位】
屏幕上方用实线箭头显示出处从属链；下方以问句和独立色块说明《氓》中谁在说话，不让《卫风》直接指向女子。复述后立即翻到第一章。
（说明出处链）
（说明诗中讲述者）
（学生分两行记录）
（两名学生分别复述）
（翻到第一章）
【时间盒】
教师说明：45秒；学生写关键词：25秒；两人复述与全班补缺：35秒；故事回接与转场：15秒
【现场分支】
把305说成300：教师校准为305，不展开‘诗三百’称谓史。
把卫风说成作者：指回出处链：‘风’是《诗经》的一类，《卫风》属于‘风’，《氓》收在《卫风》里。
复述完整：全班不重复抄写，立即进入第一章。
【听者同步任务】
听两名同学分别复述出处链和讲述者，只补一个遗漏。
【证据位置】
教材题名旁的‘诗经—风—卫风—氓’与‘女子回望’
【回到人物和故事】
知识不成为独立测验，而帮助学生确认是谁在什么作品中回望什么
【后续真实调用】
第一章整读从‘氓之蚩蚩’开始，并将四言节奏放入原句中处理
【自然切页句】
她最初见到的男子，是什么样子，又为何而来？第一章从‘氓之蚩蚩’开始。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61488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它让我想到什么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41832" y="1938528"/>
            <a:ext cx="173736" cy="173736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2395728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2395728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395728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871216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3328416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3328416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3328416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803904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7592" y="4261104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4261104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4261104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4736592"/>
            <a:ext cx="173736" cy="173736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07592" y="5193792"/>
            <a:ext cx="105156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5193792"/>
            <a:ext cx="39136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5193792"/>
            <a:ext cx="345643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59253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先写一篇；还能想起，继续往下写。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一间教室，许多故事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51592" cy="3840480"/>
          </a:xfrm>
          <a:prstGeom prst="roundRect">
            <a:avLst>
              <a:gd name="adj" fmla="val 1190"/>
            </a:avLst>
          </a:prstGeom>
          <a:solidFill>
            <a:srgbClr val="38312A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4752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874520" y="2551176"/>
            <a:ext cx="2880360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0574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》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138928" y="2029968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让我想到爱情或婚姻中的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07424" y="2551176"/>
            <a:ext cx="111556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895344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先把一篇作品，完整地说给身边的人听。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316736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0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207008"/>
            <a:ext cx="100584" cy="100584"/>
          </a:xfrm>
          <a:prstGeom prst="ellipse">
            <a:avLst/>
          </a:prstGeom>
          <a:solidFill>
            <a:srgbClr val="AC8550">
              <a:alpha val="80000"/>
            </a:srgbClr>
          </a:solidFill>
          <a:ln w="12700">
            <a:solidFill>
              <a:srgbClr val="AC8550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97280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1207008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0" y="1316736"/>
            <a:ext cx="100584" cy="100584"/>
          </a:xfrm>
          <a:prstGeom prst="ellipse">
            <a:avLst/>
          </a:prstGeom>
          <a:solidFill>
            <a:srgbClr val="456F7C">
              <a:alpha val="80000"/>
            </a:srgbClr>
          </a:solidFill>
          <a:ln w="12700">
            <a:solidFill>
              <a:srgbClr val="456F7C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1069848"/>
            <a:ext cx="10287000" cy="4526280"/>
          </a:xfrm>
          <a:prstGeom prst="arc">
            <a:avLst/>
          </a:prstGeom>
          <a:solidFill>
            <a:srgbClr val="28241F">
              <a:alpha val="0"/>
            </a:srgbClr>
          </a:solidFill>
          <a:ln w="27940">
            <a:solidFill>
              <a:srgbClr val="456F7C">
                <a:alpha val="8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1907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3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9864" y="1078992"/>
            <a:ext cx="640080" cy="640080"/>
          </a:xfrm>
          <a:prstGeom prst="ellipse">
            <a:avLst/>
          </a:prstGeom>
          <a:solidFill>
            <a:srgbClr val="9C4538">
              <a:alpha val="90000"/>
            </a:srgbClr>
          </a:solidFill>
          <a:ln w="12700">
            <a:solidFill>
              <a:srgbClr val="9C4538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434840" y="3794760"/>
            <a:ext cx="3319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spc="350" kern="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291840" y="470916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92608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961120" y="347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眼随声走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6656" y="768096"/>
            <a:ext cx="10844784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3268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78992"/>
            <a:ext cx="73152" cy="1353312"/>
          </a:xfrm>
          <a:prstGeom prst="rect">
            <a:avLst/>
          </a:prstGeom>
          <a:solidFill>
            <a:srgbClr val="647752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73352" y="105156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76656" y="280720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FFCF7"/>
          </a:solidFill>
          <a:ln w="12700">
            <a:solidFill>
              <a:srgbClr val="FFF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953512"/>
            <a:ext cx="73152" cy="1353312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73352" y="292608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650" dirty="0"/>
          </a:p>
        </p:txBody>
      </p:sp>
      <p:sp>
        <p:nvSpPr>
          <p:cNvPr id="14" name="Shape 12"/>
          <p:cNvSpPr/>
          <p:nvPr/>
        </p:nvSpPr>
        <p:spPr>
          <a:xfrm>
            <a:off x="676656" y="4681728"/>
            <a:ext cx="10844784" cy="1645920"/>
          </a:xfrm>
          <a:prstGeom prst="roundRect">
            <a:avLst>
              <a:gd name="adj" fmla="val 2778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828032"/>
            <a:ext cx="73152" cy="1353312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864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673352" y="4800600"/>
            <a:ext cx="937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6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6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68680" y="1353312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698480" y="21488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”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572768" y="2331720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2980944"/>
            <a:ext cx="9015984" cy="0"/>
          </a:xfrm>
          <a:prstGeom prst="line">
            <a:avLst/>
          </a:prstGeom>
          <a:noFill/>
          <a:ln w="17780">
            <a:solidFill>
              <a:srgbClr val="D2C1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8404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我看见／我听见／我想问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60120" y="4690872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5486400"/>
            <a:ext cx="10168128" cy="0"/>
          </a:xfrm>
          <a:prstGeom prst="line">
            <a:avLst/>
          </a:prstGeom>
          <a:noFill/>
          <a:ln w="15240">
            <a:solidFill>
              <a:srgbClr val="D2C1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EEE3D2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417320"/>
            <a:ext cx="822960" cy="640080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2057400" y="1847088"/>
            <a:ext cx="822960" cy="621792"/>
          </a:xfrm>
          <a:prstGeom prst="chevron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9592" y="1417320"/>
            <a:ext cx="822960" cy="640080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5879592" y="1847088"/>
            <a:ext cx="822960" cy="621792"/>
          </a:xfrm>
          <a:prstGeom prst="chevron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19472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在生活中是什么样子？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394192" y="1417320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01784" y="1417320"/>
            <a:ext cx="822960" cy="640080"/>
          </a:xfrm>
          <a:prstGeom prst="rect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9701784" y="1847088"/>
            <a:ext cx="822960" cy="621792"/>
          </a:xfrm>
          <a:prstGeom prst="chevron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41664" y="2788920"/>
            <a:ext cx="2734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走到这一步？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84048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这首诗，收在哪里？谁在说话？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9808" y="12618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出处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72768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EEE2D0"/>
          </a:solidFill>
          <a:ln w="1524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92424" y="21396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86200" y="1783080"/>
            <a:ext cx="960120" cy="1097280"/>
          </a:xfrm>
          <a:prstGeom prst="roundRect">
            <a:avLst>
              <a:gd name="adj" fmla="val 4762"/>
            </a:avLst>
          </a:prstGeom>
          <a:solidFill>
            <a:srgbClr val="E1E7D9"/>
          </a:solidFill>
          <a:ln w="1524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1396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97433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DDE9E9"/>
          </a:solidFill>
          <a:ln w="1524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《卫风》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06056" y="2139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1812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148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36192" y="3127248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我国最早的诗歌总集，共305篇｜分风、雅、颂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10561320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15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诗中谁在说话？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3584448" y="4078224"/>
            <a:ext cx="7452360" cy="1298448"/>
          </a:xfrm>
          <a:prstGeom prst="roundRect">
            <a:avLst>
              <a:gd name="adj" fmla="val 3521"/>
            </a:avLst>
          </a:prstGeom>
          <a:solidFill>
            <a:srgbClr val="F0DDD5"/>
          </a:solidFill>
          <a:ln w="15240">
            <a:solidFill>
              <a:srgbClr val="9C45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370832"/>
            <a:ext cx="6848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一位女子，用第一人称回望自己的婚姻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754880" y="493776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这是《氓》里的讲述声音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《氓》V6.2导入课堂课件</dc:title>
  <dc:subject>《氓》V6.2导入课堂课件</dc:subject>
  <dc:creator>语文备课系统</dc:creator>
  <cp:lastModifiedBy>语文备课系统</cp:lastModifiedBy>
  <cp:revision>1</cp:revision>
  <dcterms:created xsi:type="dcterms:W3CDTF">2026-08-13T17:05:25Z</dcterms:created>
  <dcterms:modified xsi:type="dcterms:W3CDTF">2026-08-13T17:05:25Z</dcterms:modified>
</cp:coreProperties>
</file>
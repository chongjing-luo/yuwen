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  <p:sldId id="272" r:id="rId116"/>
    <p:sldId id="273" r:id="rId117"/>
    <p:sldId id="274" r:id="rId118"/>
    <p:sldId id="275" r:id="rId119"/>
    <p:sldId id="276" r:id="rId120"/>
    <p:sldId id="277" r:id="rId121"/>
    <p:sldId id="278" r:id="rId122"/>
    <p:sldId id="279" r:id="rId123"/>
    <p:sldId id="280" r:id="rId124"/>
    <p:sldId id="281" r:id="rId125"/>
    <p:sldId id="282" r:id="rId126"/>
    <p:sldId id="283" r:id="rId127"/>
    <p:sldId id="284" r:id="rId128"/>
    <p:sldId id="285" r:id="rId129"/>
    <p:sldId id="286" r:id="rId130"/>
    <p:sldId id="287" r:id="rId131"/>
    <p:sldId id="288" r:id="rId132"/>
    <p:sldId id="289" r:id="rId133"/>
    <p:sldId id="290" r:id="rId134"/>
    <p:sldId id="291" r:id="rId135"/>
    <p:sldId id="292" r:id="rId136"/>
    <p:sldId id="293" r:id="rId137"/>
    <p:sldId id="294" r:id="rId138"/>
    <p:sldId id="295" r:id="rId139"/>
    <p:sldId id="296" r:id="rId140"/>
    <p:sldId id="297" r:id="rId141"/>
    <p:sldId id="298" r:id="rId142"/>
    <p:sldId id="299" r:id="rId143"/>
    <p:sldId id="300" r:id="rId144"/>
    <p:sldId id="301" r:id="rId145"/>
    <p:sldId id="302" r:id="rId146"/>
    <p:sldId id="303" r:id="rId14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Relationship Id="rId120" Type="http://schemas.openxmlformats.org/officeDocument/2006/relationships/slide" Target="slides/slide21.xml"/><Relationship Id="rId121" Type="http://schemas.openxmlformats.org/officeDocument/2006/relationships/slide" Target="slides/slide22.xml"/><Relationship Id="rId122" Type="http://schemas.openxmlformats.org/officeDocument/2006/relationships/slide" Target="slides/slide23.xml"/><Relationship Id="rId123" Type="http://schemas.openxmlformats.org/officeDocument/2006/relationships/slide" Target="slides/slide24.xml"/><Relationship Id="rId124" Type="http://schemas.openxmlformats.org/officeDocument/2006/relationships/slide" Target="slides/slide25.xml"/><Relationship Id="rId125" Type="http://schemas.openxmlformats.org/officeDocument/2006/relationships/slide" Target="slides/slide26.xml"/><Relationship Id="rId126" Type="http://schemas.openxmlformats.org/officeDocument/2006/relationships/slide" Target="slides/slide27.xml"/><Relationship Id="rId127" Type="http://schemas.openxmlformats.org/officeDocument/2006/relationships/slide" Target="slides/slide28.xml"/><Relationship Id="rId128" Type="http://schemas.openxmlformats.org/officeDocument/2006/relationships/slide" Target="slides/slide29.xml"/><Relationship Id="rId129" Type="http://schemas.openxmlformats.org/officeDocument/2006/relationships/slide" Target="slides/slide30.xml"/><Relationship Id="rId130" Type="http://schemas.openxmlformats.org/officeDocument/2006/relationships/slide" Target="slides/slide31.xml"/><Relationship Id="rId131" Type="http://schemas.openxmlformats.org/officeDocument/2006/relationships/slide" Target="slides/slide32.xml"/><Relationship Id="rId132" Type="http://schemas.openxmlformats.org/officeDocument/2006/relationships/slide" Target="slides/slide33.xml"/><Relationship Id="rId133" Type="http://schemas.openxmlformats.org/officeDocument/2006/relationships/slide" Target="slides/slide34.xml"/><Relationship Id="rId134" Type="http://schemas.openxmlformats.org/officeDocument/2006/relationships/slide" Target="slides/slide35.xml"/><Relationship Id="rId135" Type="http://schemas.openxmlformats.org/officeDocument/2006/relationships/slide" Target="slides/slide36.xml"/><Relationship Id="rId136" Type="http://schemas.openxmlformats.org/officeDocument/2006/relationships/slide" Target="slides/slide37.xml"/><Relationship Id="rId137" Type="http://schemas.openxmlformats.org/officeDocument/2006/relationships/slide" Target="slides/slide38.xml"/><Relationship Id="rId138" Type="http://schemas.openxmlformats.org/officeDocument/2006/relationships/slide" Target="slides/slide39.xml"/><Relationship Id="rId139" Type="http://schemas.openxmlformats.org/officeDocument/2006/relationships/slide" Target="slides/slide40.xml"/><Relationship Id="rId140" Type="http://schemas.openxmlformats.org/officeDocument/2006/relationships/slide" Target="slides/slide41.xml"/><Relationship Id="rId141" Type="http://schemas.openxmlformats.org/officeDocument/2006/relationships/slide" Target="slides/slide42.xml"/><Relationship Id="rId142" Type="http://schemas.openxmlformats.org/officeDocument/2006/relationships/slide" Target="slides/slide43.xml"/><Relationship Id="rId143" Type="http://schemas.openxmlformats.org/officeDocument/2006/relationships/slide" Target="slides/slide44.xml"/><Relationship Id="rId144" Type="http://schemas.openxmlformats.org/officeDocument/2006/relationships/slide" Target="slides/slide45.xml"/><Relationship Id="rId145" Type="http://schemas.openxmlformats.org/officeDocument/2006/relationships/slide" Target="slides/slide46.xml"/><Relationship Id="rId146" Type="http://schemas.openxmlformats.org/officeDocument/2006/relationships/slide" Target="slides/slide47.xml"/><Relationship Id="rId147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【V6.3页ID】O01｜我们还记得哪些爱情与婚姻故事？｜4分钟
【本页不可替代的意义】
让每名学生先从自己的文学经验中检索至少一篇作品，用一句话唤回故事，再留下一个低门槛的爱情或婚姻主题
【删除本页会失去什么】
没有个人准备，并行互说仍会被记忆快的学生占据，其他人也没有可修改的主题初稿
【教师逐字稿】
今天先不急着翻到新课。请从小学一直想到高中：读过的语文课文、小说或整本书里，哪些作品写过爱情，哪些写过婚姻？先写篇名，再用一句平常话把故事唤回来；最后添几个词：它让你想到爱情或婚姻里的什么。这里不需要先下一个很深的结论，也没有规定你必须想到哪一种主题；你真正想到什么，就先写什么。先写一篇；还能想起，就继续往下写。现在教室安静两分半。（教师退到侧后方巡视，不报篇名。）一时想不起，可以翻一翻本班读过的篇目目录。只记得情节，也先把情节留下，下一页听同学怎么说以后，再补最后一栏。
【场面与走位】
屏幕只保留三列含义和开放行线；教师在说明结束后停止说话，沿后排缓慢巡视，不替学生列作品，也不把口头示范词写上屏幕。
（只发03A爱情与婚姻文学回忆单）
（静默150秒）
（最后30秒只向空白者指明目录位置）
（示意全班保留未完成处）
【时间盒】
说明篇名、故事和朴素主题：45秒；个人静默检索：150秒；开放目录恢复与收束：45秒
【现场分支】
想不起：指向篇目目录；仍空白者保留空白，下一页先听同伴，再把自己真实记得的一处补回来。
写影视作品：轻声问有没有读过它的文学原作；能定位就写原作，不能定位先放在纸边，不公开否定。
只写情节：轻声追问‘这段故事让你想到爱情或婚姻里的什么’，允许只添一个自然词，不要求论证。
【听者同步任务】
此页没有听者任务；每个人先保护自己的回忆时间。
【证据位置】
O01文学回忆单
【回到人物和故事】
学生带着真实文学记忆进入全班，而不是从教师预列的三篇作品开始
【后续真实调用】
O02同桌互说和四人汇聚直接读取个人清单中的篇名、故事与朴素主题
【自然切页句】
每个人手里先有了一点自己的文学记忆。现在先说给身边的人听，再把不同的故事带到全班。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【V6.3页ID】O02｜让更多故事在教室里相遇｜9分钟
【本页不可替代的意义】
让每个人先在并行的小范围内完整说出一篇作品及朴素主题，再由各组把能扩展全班文学视野的篇目和说法带到公共黑板
【删除本页会失去什么】
删除并行互说会失去全员真实声音；删除公共贡献又会使各组经验彼此隔绝，O03没有可据实归纳的班级材料
【教师逐字稿】
先和同桌互相说一遍：‘《什么》让我想到爱情或婚姻中的什么。’说的人可以看自己的纸，听的人只在没听清时问一句：‘你想到的是什么？’一分钟后交换。（等待。）现在前后四个人一起听一圈，每个人都把自己的一篇说完。你们不需要选最好的一篇，只留下两三条彼此不同的篇目或说法。（教师巡视，确认沉默者也有低压入口。）接下来我们把教室里的文学版图展开。每组只带来一条：可以是黑板上还没有的篇目，也可以是同一篇新的主题。请先说篇名，再读你们保留的那句自然话。我只在黑板写篇名和你们真正说出的关键词，此刻不分类。（按组收集约八至十二条，遇到重复时请该组换用保留的另一条；没有新增者如实说‘我们先听记’。）听见自己没想到的作品或说法，请在个人清单下补一项。现在安静看黑板：它不是老师列出的书单，是刚才从你们的话里长出来的。
【场面与走位】
同桌和四人组同时开口，教师在教室中间巡视；公共阶段教师回到黑板侧面，只记录篇名和学生主题关键词。屏幕始终只保留一句表达支架，不显示分组编号或管理流程。
（同桌各说一遍）
（四人组每人说一篇并保留两三条不同材料）
（各组向全班贡献一条新篇目或不同主题）
（教师同步记录篇名与学生关键词）
（全班静看黑板并个人补写）
【时间盒】
说明句式与同桌互说：90秒；四人组每人完整说一篇：150秒；各组贡献与教师准确记录：240秒；静看黑板并完成个人补写：60秒
【现场分支】
完全重复：小组内允许保留；公共阶段改报另一条材料。若确无新增，小组只听记，不制造差异。
主题太长：教师只问‘最想留下哪几个词’，由学生自己把句子收短后再记。
暂时空白：先复述同伴的一篇，再说自己真实记得的一个情节；同伴可追问它让人想到什么，但不替他编结论。
少数人包办：四人组按自然座位依次说一轮；公共贡献可以由未在前面开口的人读出本组句子。
【听者同步任务】
小组内听清每个人的作品和主题；公共阶段只补一项自己原先没有想到的篇目或说法。
【证据位置】
黑板文学长卷；O01回忆单的新增栏
【回到人物和故事】
全班从真实发言中看见，爱情与婚姻文学不只写一种幸福或一种不幸，而有相遇、等待、阻隔、相守、选择与离开等不同处境
【后续真实调用】
O03教师逐条引用文学长卷中的真实作品和学生原话进行归纳
【自然切页句】
这些故事先留在黑板上。现在由我沿着你们真正说过的话，看看这张文学版图上出现了哪些方向。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【V6.3页ID】O03｜相遇以后｜4分钟
【本页不可替代的意义】
由教师引用本班真实篇目与学生关键词整理已经出现的文学方向，再明确提出‘共同生活怎样改变两个人’这一新的阅读问题
【删除本页会失去什么】
没有教师后置归纳，广泛发言只会成为篇目堆积，旧故事与《氓》的婚姻主题缺少桥梁
【教师逐字稿】
请把目光留在黑板上。刚才大家说出的作品很多，我只沿着你们真正留下的词来整理。（教师指向黑板上真实存在的条目。）比如，你们提到《____》，留下的是____；《____》旁边写的是____。这些词里，有些在写相遇，有些在写阻隔或选择；如果黑板上还出现了相守、共同生活或离开，我也只按大家原来的话说。请大家帮我做一件简单的事：我有没有把哪篇作品记错、漏掉？（等待事实纠错；有则当场改写，没有则不追问。）这就是我们今天这一刻想起的爱情与婚姻文学。现在我再提出一个黑板还没有替我们回答的问题。（切出本页。）相遇以后呢？当爱情走进共同生活，日子会怎样改变两个人？今天的新故事，就由一位更早的女子回头讲起她的婚姻。
【场面与走位】
开始时投影熄暗，教师站在黑板文学长卷一侧逐项指认；事实纠错完成后拍照保存，才切出本页的开放问题。
（熄暗投影并指向黑板）
（引用至少三处真实篇名与学生关键词）
（只开放误记或漏记的事实纠错）
（拍摄主题谱）
（切出新的婚姻阅读问题）
【时间盒】
教师引用现场作品归纳：150秒；学生事实纠错或确认：45秒；教师改写与转场：45秒
【现场分支】
现场主题单一：如实说‘今天我们先想起的大多停在相遇’，再指出新文本将带我们看婚后的日子；不补造不存在的作品类别。
教师记错或漏记：请学生只读出原来的篇名和主题词，教师当场改正，不扩展为作品深析。
无人纠错：不追逼产生异议；确认这是今天这一刻的文学版图，拍照保存。
【听者同步任务】
核对教师是否准确引用本班篇名与关键词；随后听清‘共同生活怎样改变两个人’是今天新增的问题，不是刚才发言的标准答案。
【证据位置】
黑板主题谱及其照片
【回到人物和故事】
学生从广泛旧故事走向一个尚未回答的新问题：爱情进入共同生活以后，日子会怎样改变两个人
【后续真实调用】
O04用‘一位更早的女子回望婚姻’接入《氓》；全文S04重新投影本班主题谱照片，每人用《氓》补充、修正或保留开课时的一条朴素主题
【自然切页句】
让我们认识这位更早的讲述者。她的故事，题目只有一个字。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【V6.3页ID】O04｜氓｜1分钟
【本页不可替代的意义】
在主题桥梁完成后揭示《氓》题名与出处，让全班翻到同一首诗的第一句
【删除本页会失去什么】
缺少揭题停顿，旧作主题谱与新文本之间没有共同焦点
【教师逐字稿】
刚才那面黑板上，有许多相遇，也有共同生活里的选择。现在，我们认识一位更早的讲述者。她的故事收在《诗经·卫风》里，题目只有一个字——氓。这个字在这里读méng。请翻到课文，在题名旁轻轻写下读音，再找到第一句‘氓之蚩蚩’。先让题目停在这里，故事由她自己说。
【场面与走位】
切入纯题名页后停两秒；教师从黑板侧面走回教室中央，正音后巡视学生是否定位第一句。
（切入题名页并停顿）
（正音méng）
（学生翻书定位）
（确认第一句）
【时间盒】
揭题与停顿：15秒；正音与出处：20秒；翻书定位第一句：25秒
【现场分支】
追问题义：回应‘先让她把故事说完，题目放在全文中再看。’
翻错页：教师走近报页码，不让已定位学生齐声催促。
【听者同步任务】
听清题名读音和出处，并定位同一首诗的第一句。
【证据位置】
教材题名旁注音及第一句定位
【回到人物和故事】
全班从许多旧故事走到同一位先秦女子的声音面前
【后续真实调用】
O05从第一句开始完整听读，不再插入分析性问题
【自然切页句】
这首诗有六章。先不替她概括，让她自己从第一句说到最后一句。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【V6.3页ID】O05｜第一次完整听读｜第一至第三章｜3分钟
【本页不可替代的意义】
在没有悲剧标签和原因问题预设的状态下，让前三章整体进入并保持原诗后排可读
【删除本页会失去什么】
若直接逐句讲解或先布置原因问题，学生没有开放接收全诗前半的机会
【教师逐字稿】
这一遍，眼睛跟着原诗，耳朵听她把话说下去。哪一句让你停了一下，就在教材旁点一个点，或画一个问号；没有停顿处，也只管继续听。现在从‘氓之蚩蚩’开始。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【场面与走位】
教师站到侧后方连续朗读，屏幕只显示原诗；光点只停在当前行开头，不逐字追光。第三章末无声切页，不停讲。
（示意学生看教材与屏幕）
（连续朗读前三章）
（光点停在当前行首）
（无声切入O06）
【时间盒】
说明听读方式：20秒；连续朗读前三章：150秒；无声切页：10秒
【现场分支】
学生举手解释：以手势请他把问题留在原句旁，朗读继续。
走神：光点停在当前行首，学生从光点处重新进入，不公开点名。
【听者同步任务】
一直听到第三章末；只在自己的教材留下停顿记号，不讨论。
【证据位置】
教材第一至第三章原句旁
【回到人物和故事】
学生连续听见初见、等待、迁嫁与劝诫，而不是带着预设结论搜集证据
【后续真实调用】
O06无声接续后三章；O07保存整首停顿句
【自然切页句】
（无声切页，朗读不断。）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【V6.3页ID】O06｜第一次完整听读｜第四至第六章｜3分钟
【本页不可替代的意义】
无缝接续后三章并完成六章开放接收，让末句之后拥有真实静默
【删除本页会失去什么】
没有后三章连续听读，学生会把全诗误保存为婚前片段与劝诫知识
【教师逐字稿】
桑之落矣，其黄而陨。自我徂尔，三岁食贫。淇水汤汤，渐车帷裳。女也不爽，士贰其行。士也罔极，二三其德。
三岁为妇，靡室劳矣。夙兴夜寐，靡有朝矣。言既遂矣，至于暴矣。兄弟不知，咥其笑矣。静言思之，躬自悼矣。
及尔偕老，老使我怨。淇则有岸，隰则有泮。总角之宴，言笑晏晏。信誓旦旦，不思其反。反是不思，亦已焉哉！
（末句后静默十五秒。）现在看一眼自己留下的那个点或问号。没有找到，也先保留空白。
【场面与走位】
教师保持O05的站位和声音，不在换页后重新说明任务；末句读完放下手，守住静默十五秒，再轻声提示确认停顿处。
（连续朗读第四至第六章）
（末句后静默15秒）
（学生确认停顿处）
（切入O07）
【时间盒】
连续朗读后三章：145秒；末句后静默：15秒；确认停顿处：20秒
【现场分支】
立即评论或发笑：教师不训斥，以停顿和手势守住十五秒，评论留到O07。
没有记号：允许空白，不追问情绪，不让学生借同桌的句子冒充自己的第一印象。
【听者同步任务】
一直听到末句；静默以后才确认个人停顿处。
【证据位置】
教材第四至第六章原句旁
【回到人物和故事】
学生第一次完整听见一个女子从初见说到‘亦已焉哉’
【后续真实调用】
O07把个人停顿变成可保存的初听短句
【自然切页句】
哪一句把你留了下来？把第一次听见的《氓》，留在纸上。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【V6.3页ID】O07｜把第一次听见的《氓》留在纸上｜3分钟
【本页不可替代的意义】
把个人停顿转成一句自然话并与同桌交换，再由教师在O08开头真实引用，作为三问出现前的学生声音
【删除本页会失去什么】
没有这份初听文字，三问会直接覆盖学生自己的第一反应，课堂也失去可引用的学生起点
【教师逐字稿】
现在才发《氓》初听卡。请接过来，不必翻面。如果有一句把你留了下来，就把它完整抄下，再接一句自然话：‘我看见……’‘我听见……’或者‘我想问……’。不要猜老师最喜欢哪一句。暂时没有找到，也可以写‘尚未找到’，先听同桌说完，再决定要不要补。（静默书写五十五秒。）现在两个人各说一次。听的人不评价深不深，只补记一个自己原先没有注意到的地方。（交换完成后，教师读出两三份停在不同诗句的文字。）这些话先留在黑板右侧，下一页我们从这里继续。
【场面与走位】
完整听读结束后，教师才发03B《氓》初听卡；屏幕为大面积留白。交流后，教师只读真实文字并抄两三个关键词在黑板右侧，不作主题归纳。
（发下03B《氓》初听卡）
（个人静默书写）
（同桌各说一次）
（听者补记不同之处）
（读出两三份真实文字并留在黑板右侧）
【时间盒】
发下初听卡：10秒；个人书写：55秒；同桌交换与补记：70秒；教师读出真实文字并保留：45秒
【现场分支】
尚未找到：先听同桌；仍没有就保留‘尚未找到’，不复制同桌句子。
只写情绪词：追问‘是哪一句的哪个画面或声音让你这样写’，有依据再补，不直接替写。
两人完全相同：允许相同；听者可补记‘我们停在同一句，但理由不同/相同’，不制造差异。
【听者同步任务】
复述自己听见的一个不同注意点；不替同伴解释全诗。
【证据位置】
O07初听卡；黑板右侧的真实初听关键词
【回到人物和故事】
每个学生保存自己第一次遇见这位女子时被哪一句停住
【后续真实调用】
O08开头立即引用两三份真实初听文字，再在完整接收之后提出三个核心问题
【自然切页句】
六章已经完整地响过，大家停下的地方也留在这里。现在我们把这首诗慢慢读懂。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【V6.3页ID】O08｜读懂六章，我们要回答什么？｜2分钟
【本页不可替代的意义】
先引用O07的真实初听文字，再呈现三个核心问题，使三问成为读后生成的全文书签而非初听前的悲剧预设
【删除本页会失去什么】
没有读后收束，个人停顿会彼此散开，逐章细读也缺少稳定的全文人物问题
【教师逐字稿】
刚才，有同学停在‘____’，写下‘____’；也有同学在‘____’旁留下一个问题：‘____？’这些是我们第一次听见她时真正停下来的地方。（教师只引用O07黑板右侧的真实文字，不补造。）六章已经完整地响过。接下来慢慢读懂它，我们始终回来回答三个问题：她经历了什么？她婚后的不幸，在生活中是什么样子？这场婚姻为什么走到这一步？现在才发三问阅读书签，请接过来，把三问留好。第一问跟着事情走；第二问要看她具体过着怎样的日子；第三问要等事实一件件出现以后再判断。此刻不急着给答案。
【场面与走位】
开始时屏幕仍停在O07，教师指向黑板右侧真实初听文字并读出两三份；引用完成后才切出三问页，并在此刻首次发下03C三问阅读书签。
（指向并引用真实初听文字）
（切出三问页）
（首次发下03C三问阅读书签）
（学生保存三问）
【时间盒】
引用真实初听文字：35秒；呈现并读出三问：35秒；发书签并保存三问：35秒；说明后续取回：15秒
【现场分支】
初听文字都集中在一处：如实引用同一处的不同说法，不假称全班已经覆盖三问。
抢答原因：请学生把原话写在第三问旁，标‘初步判断’，不当场确认。
追问为何现在才发：回应‘先让整首诗自己说完，再用问题慢慢读懂它。’
【听者同步任务】
核对教师引用确实来自刚才的同学文字，并保存三问的稳定措辞。
【证据位置】
O07初听文字；O08现场首次发下的03C三问阅读书签
【回到人物和故事】
三问都指向这位女子经历了什么、怎样生活以及婚姻为何变化
【后续真实调用】
第一至第六章细读持续按原措辞取回，全文讨论再综合回答
【自然切页句】
问题已经留下。再带上这首诗最低限度的身份，我们就从第一章慢慢读起。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【V6.3页ID】O09｜只带三块路标，走进第一章｜2分钟
【本页不可替代的意义】
一次讲清继续阅读必需的三块路标，并立即把知识接回第一章的女子声音
【删除本页会失去什么】
没有最低身份支架，学生难以准确说明作品归属和第一人称叙述位置；拆成两页又会让故事停顿
【教师逐字稿】
继续往第一章走以前，只带两类路标。先看出处：《诗经》分风、雅、颂；《卫风》属于‘风’，《氓》收在《卫风》里。《诗经》是我国最早的诗歌总集，共三百零五篇。再看诗中谁在说话：刚才六章里的‘我’，是一位女子，她在回头讲自己的婚姻。请在题名旁写下这条出处链：诗经—风—卫风—氓；另起一行写‘女子回望’。（等待书写。）请一位同学只说出处链；再请一位说诗中谁在说话。全班只补遗漏。（听取复述并校准。）现在我们知道这首诗收在哪里，也知道是谁在说话。接下来从她最初见到男子的地方读起。
【场面与走位】
屏幕上方用实线箭头显示出处从属链；下方以问句和独立色块说明《氓》中谁在说话，不让《卫风》直接指向女子。复述后立即翻到第一章。
（说明出处链）
（说明诗中讲述者）
（学生分两行记录）
（两名学生分别复述）
（翻到第一章）
【时间盒】
教师说明：45秒；学生写关键词：25秒；两人复述与全班补缺：35秒；故事回接与转场：15秒
【现场分支】
把305说成300：教师校准为305，不展开‘诗三百’称谓史。
把卫风说成作者：指回出处链：‘风’是《诗经》的一类，《卫风》属于‘风’，《氓》收在《卫风》里。
复述完整：全班不重复抄写，立即进入第一章。
【听者同步任务】
听两名同学分别复述出处链和讲述者，只补一个遗漏。
【证据位置】
教材题名旁的‘诗经—风—卫风—氓’与‘女子回望’
【回到人物和故事】
知识不成为独立测验，而帮助学生确认是谁在什么作品中回望什么
【后续真实调用】
第一章整读从‘氓之蚩蚩’开始，并将四言节奏放入原句中处理
【自然切页句】
她最初见到的男子，是什么样子，又为何而来？第一章从‘氓之蚩蚩’开始。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【V6.2页ID】C101｜第一章｜两个人怎样走近婚事｜4分钟
【本页不可替代的意义】
让第一章先作为一段完整相遇进入，并由每名学生辨认两个人物的行动主体，形成后续细读的真实初稿
【删除本页会失去什么】
没有整章先行，后面三个意义句群会重新退化为词义卡，学生也没有可以修订的初始行动轮廓
【相邻合并测试】
不能并入C102：C101必须先保持全章未知和完整声音；若首屏即突出贸丝与谋，初读注意会被第一处转折预先收窄
【教师逐字稿】
我们已经知道，《氓》是一位女子回头讲自己的婚姻。现在不急着把第一章拆开，请翻到第一章。先听我把这一章完整读一遍，眼睛只跟着诗句走。随后请你自己再读一遍：男子做的事，用圈轻轻标出来；女子做的事，用线划出来。遇到不懂的词，先留一个问号，不要让一个词拦住整章。现在听读。（教师完整读完，停三秒。）轮到你们自己读。读完后，同桌只互相问一件事：‘这一处是谁做的？’不要替对方翻译，也不要给人物贴标签。（巡视并等待。）请看回自己的诗句。如果刚才标错了主体，就改回来；如果同桌找到了你漏掉的动作，回诗补一处。我们先听两位同学各说一个自己最确定的动作。（引用现场原话。）第一章已经有了一个很粗的轮廓：有人来，有人送，两个人还谈到了婚事。那些问号先留着，接下来让原词自己把故事说清。
【场面与走位】
承接O09，教师只发03A第一章初读卡；屏幕呈现整章原诗。教师读时站在屏幕侧面，学生圈划时退到后排，不在诗句上预做颜色答案。
（发03A第一章初读卡）
（教师完整读章后静默三秒）
（学生独立读并圈划）
（同桌只核对主体）
（引用两条现场动作后收束）
【时间盒】
承接、发卡与教师完整听读：55秒；学生完整朗读并圈划：75秒；同桌核对行动主体：45秒；回诗修订与两条现场分享：45秒；教师引用原话收束并转场：20秒
【现场分支】
生词阻断：请学生先留问号并把整章读完；词义按C102—C104所在原句解决。
主体混淆：只追问‘诗中是谁在用“我”说话、她把谁称作“子”’，让学生自行回诗改画。
直接评价男子：回应‘这个判断先放在诗边，眼下只把本章写出的动作找准。’
【听者同步任务】
同桌发言时，只检查行动主体；全班分享时，核对自己是否漏掉同一原词。
【证据位置】
03A第一章初读卡及教材第一章旁批
【回到人物和故事】
到这一页末，学生能够说出男子来、女子送、两人谈婚期的大致轮廓，但仍保留词义和判断问题
【后续真实调用】
C102—C104逐段调用圈划初稿；C105用同一张初读卡检验人物行动能否重新讲成故事
【自然切页句】
先看第一处：诗让我们先看见他做什么，女子随后又告诉我们什么？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【V6.2页ID】C102｜抱布而来，是为了什么？｜6分钟
【本页不可替代的意义】
让学生从重复的‘贸丝’和转折字‘匪’读出诗句怎样由眼前动作转到婚事来意，并守住此刻证据边界
【删除本页会失去什么】
若把两句分开或直接给译文，学生会失去‘贸丝—匪—谋’形成的叙事转弯，也无法建立初见判断的证据边界
【相邻合并测试】
旧两页可以无损合并为本页；但不能再并入C103，因为贸丝到谋婚是来意转折，送涉至处理的是女子行动的空间长度，学习困难和感官动作不同
【教师逐字稿】
请看第一章开头两句。先不要等我翻译，把它们在细读单上说成一句自然话；如果一时说不完整，先写‘谁做了什么’。再圈出一个让意思转过去的字。现在安静七十秒。（教师退到过道巡视，不在屏幕上显示释义。）好，请同桌两人分着读：一位读诗先让我们看见的动作，一位读女子随后说明的来意，再交换。谁愿意先说自己的自然话？（等待，引用学生真实表达。）我们把几个词校准一下：‘氓’在这里指诗中的男主人公；‘蚩蚩’是忠厚的样子，是眼前的出场印象；‘贸’是交易、交换；‘匪’是不是；‘即’是靠近；‘谋’在这里是商量婚事。请回到自己刚才那句话，只改一处你认为还不准确的地方；原来已经准确，就在旁边补出托住它的原词。（等待修订。）现在再读：‘氓之蚩蚩，抱布贸丝。匪来贸丝，来即我谋。’哪一个字让话转弯？是‘匪’。诗先让我们看见抱布贸丝，女子随后说明来意是商量婚事。此刻，我们可以说到这里；不能只凭这两句就断言他的一生，也不能把后来全部结局提前倒回来。故事刚开始，他来了。接下来，诗不先写她的心情，只写她把他送了多远。
【场面与走位】
C101圈划完成后，教师发03B第一章细读单。屏幕只显示两句原诗和三个问题；释义始终只由教师在学生尝试后口头给出，学生写在教材对应词旁。
（发03B细读单）
（静默等待个人自然口译）
（两人分句朗读）
（引用真实学生表达后再定点释义）
（学生亲自修订并回读）
【时间盒】
承接、发单与读题：30秒；个人自然口译并圈转折字：70秒；双人分读与互相核对：50秒；学生分享及教师定点释义：95秒；个人修订和边界处理：65秒；回诗重读、故事回接与转场：50秒
【现场分支】
逐词堆叠：只问‘这两句里谁先做了什么，女子随后说明什么’，让学生重新组织成自然话。
直接写成装老实欺骗：追问哪几个字足以证明完整人格和预谋；证据不足就降为‘出场看起来忠厚，来意由贸丝转到谋婚’。
原译已经准确：不强迫换色或改错，允许保留，并补一处原词证据或解释边界。
【听者同步任务】
分读时听清动作与来意是否分开；全班分享时核对自己的‘匪’是否真正承担了转折。
【证据位置】
03B第一章细读单C102区域及教材词旁批注
【回到人物和故事】
男子以贸丝的样子走近，女子告诉我们，他真正来同她商量婚事；故事从一次带着转折的接近开始
【后续真实调用】
C105旁白必须讲清男子怎样来；全文回看第一章时重新比较出场印象与后来行为，但不把推断冒充明写
【自然切页句】
来意已经说清。接下来，诗不写一句‘她很投入’，只让三个动词把一段路铺开。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【V6.2页ID】C103｜她把他送了多远？｜5分钟
【本页不可替代的意义】
让学生用身体或笔迹使送、涉、至连续发生，获得女子主动远送的空间经验，再把距离感翻回原句和人物行动
【删除本页会失去什么】
若只口译地名或并入对话页，送、涉、至的动作长度会消失，学生只能获得‘女子送他’这一条扁平信息
【相邻合并测试】
不能并入C102或C104：本页唯一价值来自身体/笔迹形成空间连续性，前后两页分别处理来意转折和完整对话，感官任务不可互换
【教师逐字稿】
来意说清以后，女子怎样回应？请只看这一句：‘送子涉淇，至于顿丘。’先别急着写‘她很爱他’，让三个动词自己走起来。请在细读单上找到‘送、涉、至’，用手指先走一遍，再用一条笔迹把它们接起来；补上是谁在行动。屏幕没有箭头，方向和距离也不要凭空画，只保存诗中真正写出的次序。（教师巡视并等待。）同桌互相说一遍这段路，听者只检查三个动作有没有少一个。（等待。）我们校准三个词：‘涉’是渡过，‘淇’是淇水，‘顿丘’是地名。诗没有告诉我们精确里程，却让‘送—涉—至’连续发生。谁愿意用一句平常话，把这段路说出来？（引用两种现场说法。）你们可能说‘她送他渡过淇水，一直送到顿丘’，也可能用别的自然话；只要三个动作和人物不丢，就让自己的句子保留下来。回到原诗，再读一次。女子的投入，诗没有先写成一个标签，而是写成一段越过淇水的送行。她一直送到顿丘，婚事却没有当场定下。下面两句，是她怎样把话继续说下去。
【场面与走位】
屏幕把三个原词分开放置但不连线。教师先用手悬空示范‘手指可以移动’，不替学生画路线；学生落笔时教师走入过道。
（指向原句而不预画箭头）
（学生手指预走后落笔）
（同桌互说并只查漏动作）
（定点解释三个词）
（引用现场自然话并回读）
【时间盒】
承接原句与说明低虚构行线：30秒；个人手指移动和笔迹连线：60秒；同桌互说并核对三个动作：45秒；教师定点释义和文本边界：65秒；学生自然话分享与个人修订：55秒；回诗重读、故事回接与转场：45秒
【现场分支】
画成精确地图：请删去诗中没有的村落、方向和里程，只保留渡淇、至顿丘的行动次序。
只写她很爱他：先让学生读出送、涉、至并说清路，再允许把投入作为有依据的印象留下。
不愿画线：允许只用手指依次点三个词，随后把动作说成一句话；不以绘画能力评价。
【听者同步任务】
只听人物主体和送、涉、至三个动作是否齐全，不评价画得是否好看。
【证据位置】
03B第一章细读单C103区域
【回到人物和故事】
女子不只送别，还渡过淇水，一直把男子送到顿丘；她的投入先被诗写成了一段路
【后续真实调用】
C105章末旁白必须讲清女子怎样回应；全文回看第一章时用这段路讨论投入，但不把投入写成后来伤害的责任
【自然切页句】
她一直送到顿丘，婚事却没有当场定下。接下来，看她怎样把话继续说下去。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【V6.2页ID】C104｜她怎样把婚事继续说下去？｜7分钟
【本页不可替代的意义】
让学生把两句作为一轮完整话语自然口译并读出三层言语行动，理解婚事怎样暂缓又被约定，同时保存‘无怒’的解释边界
【删除本页会失去什么】
若把两句拆成两个页面或只讲词义，学生会失去一轮完整对话的声音和婚事推进，也会误把‘良媒’、‘无怒’、‘秋期’存成三条孤立知识
【相邻合并测试】
旧N017、N018应合并为本页；但不能再并入C105，因为本页负责生成和校准对话声音，C105负责撤去局部支架后重建整章，两者证据状态不同
【教师逐字稿】
她送到顿丘，为什么婚期没有立刻定下？请把下面两句连起来读：‘匪我愆期，子无良媒。将子无怒，秋以为期。’先自己把整轮话说成自然话，再用自己的词写一写：这四小句，各在做什么？哪些意思可以合在一起？屏幕和细读单都没有替你分好。现在安静九十秒。（教师巡视，保持屏幕无译文、无分类词。）请两人一组，一位朗读女子的话，一位做听者。第一遍读完，听者只说哪一处意思没有听清；读者只改一个地方，再读一次，然后交换。（等待读听轮换。）谁愿意先读出自己的分法和自然话？（引用不同分法，追问托住它的原词，不先给分类。）现在校准词义：‘愆期’是拖延婚期；‘良媒’是合适的媒人；‘将’这里读qiāng，是愿、请；‘无’同‘毋’，不要；‘以……为期’是把……定作婚期。请回到自己刚才的口译和分法，改准一处；原本准确就保留。听过大家的说法以后，我们可以把这轮话暂且收成三层：她先解释婚期为什么不能立刻定下，接着安抚对方，最后把婚期约在秋天。这个归纳放在你们说过以后；如果你的措辞更贴近原句，可以保留自己的话。再看‘将子无怒’：它至少让我们知道，女子在安抚对方，或预期对方会怒。这个细节值得留到全文后重看；但这一句没有写愤怒的程度，更没有写具体伤害，不能把后文提前画进来。请在‘无怒’旁留一个小问号。最后把两句再读一次，让听者真正听见这轮话怎样把婚事继续推向秋天。第一章的所有句子已经读过，现在让它重新成为一段完整的话。
【场面与走位】
屏幕完整并列两句。教师先静默等待自然口译；读听轮换时站到教室侧后方，等学生完成第一遍和反馈后才解释词义。
（完整连读两句）
（静默等待个人自然口译）
（双人读听轮换并只改一处）
（学生分享后教师定点释义）
（在无怒旁留问号并再次合读）
【时间盒】
承接、完整连读与交代问题：35秒；个人自然口译：90秒；双人读听轮换、反馈和改读：85秒；学生分享与教师定点释义：105秒；个人修订及无怒边界：65秒；再次合读、故事回接与转场：40秒
【现场分支】
读成拒婚：请学生把‘秋以为期’接回前句，重说婚事是结束了还是另有约定。
无怒等同婚前暴力：确认这是一处值得追问的信号，同时要求把说法降到诗句能证明的‘安抚或预期愤怒’，具体程度留待后文。
第二遍没有变化：只要三层已经听清，可以诚实保留第一遍，不为完成程序制造修改。
暂时不愿朗读：允许先做听者，在对方读完后指出自己实际听清的一层；第二轮再选择是否朗读。
【听者同步任务】
在教师归纳前，只指出哪一处意思听清或没听清，并回到相应原词；不拿预设分类给同伴判分。
【证据位置】
03B第一章细读单C104区域及教材‘无怒’旁问号
【回到人物和故事】
婚事没有在顿丘立刻完成，却也没有被拒绝；女子解释条件、安抚对方，最后把秋天定作婚期
【后续真实调用】
C105旁白要讲清婚事怎样暂缓又约定；第五章C503固定翻回‘无怒’，用后来事实重新判断它值得警惕但仍不足以证明什么
【自然切页句】
来、送、解释、安抚、约期都已经发生。现在把局部提示收起来，听一听第一章能不能重新成为一段故事。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【V6.2页ID】C105｜再读第一章，把这场相遇讲完整｜5分钟
【本页不可替代的意义】
用一次完整重读和合书自然旁白检验局部理解能否重新成为故事，并生成后续各章真实调用的故事轨道第一格
【删除本页会失去什么】
没有撤去局部支架后的整章重建，前四页的词义、空间和声音仍可能彼此分散，也无法为第二章提供真实学生故事输入
【相邻合并测试】
旧N019、N021及N020必要部分已合并为本页；不能再拆成排序、档案和旁白三页，因为三者检验的是同一整章重建，拆开会重复程序和故事
【教师逐字稿】
第一章每一句都已经读过。请先只看屏幕和教材，完整读一遍第一章。（教师领起第一句，随后让学生连续读完。）读完了，请把教材合上，把03A初读卡和03B细读单一起翻到背面，压在桌角；同桌互相看一眼，确认桌面上不再露出原诗。（等待纸面支架全部撤去。）请看我这里。（教师按B键熄暗屏幕。）现在用三十秒把这一章讲给同桌听。只讲三件事：他怎样来，她怎样送，婚事怎样暂缓又约定。听者不要接管故事，只在对方说完后补一个真正遗漏的地方；如果已经完整，就如实说‘我没有找到遗漏’。两人交换。（教师巡视，等待双方完成。）请讲述者暂时只打开教材，找到刚才遗漏的那一句；找到后立即合书，再补说一次，03A和03B仍保持背面朝上。现在把03B翻回来，只在六章故事轨道第一格写下自己的自然话，不需要模仿屏幕，也不要抄活动名称；03A仍扣住。（等待书写。）谁愿意读出自己的第一章一句话？（引用两条现场章意，在黑板保留不同措辞，并只修正事实断点。）我们共同说到的是：男子带着贸丝的动作来商量婚事；女子送他渡过淇水，说明媒妁条件，安抚对方，最后把婚期约在秋天。这个整理来自你们已经讲出的事件，不是要替换每个人的句子。请把第一格留好，下一章还会接着生长。至于‘蚩蚩’、贸丝与谋婚、‘无怒’这些早期细节，不在这里另设一份以后无人读取的个人标记；第五章出现明确的婚后事实时，我们会共同翻回原句。第一章的约定已经落在秋天；第二章，等待开始了。
【场面与走位】
屏幕先显示整章原诗；完整重读后学生合上教材，并把03A初读卡、03B细读单同时翻到背面，由同桌确认桌面无原诗；教师再按B键熄暗屏幕。检索完成后只按脚本逐项恢复必要材料。
（完整重读第一章）
（合上教材并将03A、03B同时翻到背面）
（同桌确认桌面不露原诗）
（按B键熄暗屏幕）
（学生在全部支架撤去后旁白）
（听者只补一处或诚实确认完整）
（只开教材定位后立即合书补说）
（只翻回03B写故事轨道，03A仍扣住）
【时间盒】
完整重读第一章：45秒；交代旁白与听者边界：30秒；两人轮流三十秒旁白：75秒；听者补缺、回诗与补说：55秒；写自然章意与故事轨道第一格：50秒；引用学生章意、保存第一格并转场：45秒
【现场分支】
完全空白：允许先说最清楚的一段，再开书只找它前面和后面各发生了什么，不抄整章。
听者直接代讲：立即改问‘你只找到哪一个断点’，把回诗和补说权还给原讲述者。
没有遗漏：允许诚实确认完整；原讲述者在章意旁补一个支撑原词，不制造修改。
用后来结局定性：请暂时只保留第一章能证明的事实和印象；第五章C503出现后来事实时再共同回看固定原词。
【听者同步任务】
只核对来、送、婚事暂缓与约定三处是否连成故事；全班听章意时比较措辞，不抄教师统一答案。
【证据位置】
03B第一章细读单C105区域和六章故事轨道第一格
【回到人物和故事】
第一章完整写出男子带着贸丝动作来谋婚、女子远送并说明媒妁条件、安抚男子，最后约定秋期
【后续真实调用】
C201开头直接打开六章故事轨道第一格；第六章C606将本格汇入六章母轨道，全文S01再用它重建女子完整经历
【自然切页句】
第一格先留在这里。下一章，约定之后的日子从等待复关开始。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【V6.3页ID】C201｜第二章｜约定以后，故事怎样继续？｜6分钟
【本页不可替代的意义】
让第二章先作为一段完整故事进入；读后才发03A，让三个动作和一条由垝垣指向复关的目光都落在同一张卡上
【删除本页会失去什么】
没有完整章声，第二章会被局部词语先行占领；没有读后视线，等待仍是抽象情绪；没有统一落点，章末也无法可靠取回初稿
【相邻合并测试】
整章初读和视线必须在同一学习事件中先后发生；不能并入C202，因为本页建立空间输入，C202才检验同一视线条件变化怎样进入动作与声音
【教师逐字稿】
第一章的婚期已经约在秋天。请先看一眼故事轨道第一格，不添新内容。第二章会把故事带到哪里？现在不要拿新的学习卡，只看屏幕和教材，听我把五句完整读一遍；眼睛跟着诗句走。（教师完整读章，末句后停两秒。）请你们自己完整读一遍。读完以后我才发03A；在卡上写三个你最确定的人物动作，按先后排开。一时只找到一两个，也照实留下。（读后发卡，静默书写。）请两位同学各读一个自己写下的原词；听的人只核对它是不是人物真正做的事。（引用现场原词，不补整章答案。）现在看03A上的首句：‘乘彼垝垣，以望复关。’借教材注释把它说成一句自然话，再只画一道目光：人站在哪里，望向哪里？不要画行走路线。（等待。）同桌互看，只问：人物站在哪里？线指向哪里？若画成已经走到复关，回到‘乘’和‘望’改回来。我们再校准四个词：‘乘’是登上，‘垝垣’是残破的墙，‘以’是来、用来；‘复关’是男子所住的地方，诗中借地名指向他。请沿自己画的目光重读首句。约定以后，她登上残墙，向复关望去。接下来，同一个方向上的不见与既见，会让她发生什么变化？
【场面与走位】
屏幕只呈现完整第二章和开放动作提示。教师范读、学生整读结束后才发03A；动作、自然话和视线全部写在03A，教材只供阅读和注释定位。
（打开第一章故事轨道第一格）
（教师完整读第二章）
（学生完整朗读）
（读后发03A）
（学生在03A写动作、口译并画目光）
（同桌核对站位与方向）
（教师后置校词并回读）
【时间盒】
承接第一格与教师完整读章：45秒；学生完整朗读：45秒；读后发03A并写三个动作：70秒；引用动作初稿：35秒；首句自然口译和画目光：70秒；同桌核对、教师校词与故事回接：95秒
【现场分支】
只找到一两个动作：允许保留，不要求为凑够三个而抄词；同桌发言后再回诗补一个。
先写情绪词：若是泣、笑等实际动作可以保留；若只写伤心、高兴，追问原诗中人物做了什么。
画成行走路线：请用手分别按住‘乘’和‘望’，把人物留在垝垣上，只留下朝复关的目光。
不会画：允许只写‘垝垣 —望→ 复关’，不评价绘画能力。
【听者同步任务】
初稿只核对是否为原诗人物动作；视线只核对站位、方向和‘望’的原词依据。
【证据位置】
03A第二章初读与视线卡
【回到人物和故事】
秋期约定以后，女子登上残墙，向男子所在的复关望去；第二章从一个具体的站位和方向开始
【后续真实调用】
C202直接沿这条目光比较不见与既见；C206只从03A取回动作初稿和视线，不再寻找教材中的另一份重复记录
【自然切页句】
目光落向复关。现在把‘不见’和‘既见’放在一起，看这两句怎样突然转过去，又能不能被耳朵听出来。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【V6.3页ID】C202｜‘不见’与‘既见’，两句怎样转过去？｜8分钟
【本页不可替代的意义】
先让学生用原词解释不见/既见怎样触发泣涕/笑言，再用一次双向闭眼听辨检验这种理解是否真正进入自己的声音
【删除本页会失去什么】
只讲词义会丢失两句的正面对照，只圈词会让声音理解未经检验；拆成两页又会以程序拖慢同一意义单元
【相邻合并测试】
原C203的听觉核心必须并入本页，因为它直接检验本页的原词理解；不能并入C201，空间站位必须先于同一视线上的条件骤变
【教师逐字稿】
请看同一个方向上的两句：‘不见复关，泣涕涟涟。既见复关，载笑载言。’先把每句说成自己的自然话，再在原诗里圈出彼此照应的词。不要先写伤心和高兴；先写没看见什么、已经看见什么，她实际做了什么。（静默等待。）请同桌一人读上句、一人读下句，只问：什么变化触发了她？她的动作怎样变？谁愿意读出自己圈的两组词？（引用现场原词。）我们校准：泣涕是哭泣流泪，涟涟是泪流不断；既是已经，两个载加强语气。若你的自然话只有情绪，请补上触发和动作。现在不再另开一张朗读程序页。每个人只在诗边标一处：你想让声音从哪里转过去？可以改变停顿、重音或语速，只选一处，旁边写托住它的原词。（等待轻声试读。）两人一组，第一位连读两句，第二位闭眼，只说‘我在____附近听见了变化’，或诚实说‘没有听出来’；读的人据此只改一处，再读一遍。然后交换，让每个人都读一次、听一次、改一次。（等待。）请一组愿意的同学呈现第二遍，听者只报原词。（引用真实声音。）两种读法可以不同，只要原词站得住，耳朵也真能听见。她由不见而泣、既见而笑，这一下转折已经从纸面进入声音。下面，婚事还要经过占问，并真正走向迁移。
【场面与走位】
C201完成后才发03B。屏幕始终保留两句原诗，上半先服务圈词，下半只用一句话开启盲听；教师不示范标准读法，不切换独立程序页。
（发03B）
（学生自然口译并圈原词）
（双人上下对读）
（教师引用原词后校词）
（每人标一处声音变化）
（双方各完成一次盲听、反馈和改读）
（引用一组真实声音）
【时间盒】
承接视线与个人自然口译圈词：100秒；双人对读和触发互问：70秒；学生分享、教师定点释义与修订：85秒；个人单点朗读设计和轻声试读：55秒；双方盲听、反馈和各自改读：110秒；真实声音分享、故事回接与转场：60秒
【现场分支】
只贴情绪标签：追问哪一个变化触发、人物实际做了什么，使说法回到不见/既见和泣涕/笑言。
圈满所有词：只保留能与下句某词形成关系的两三处，并说清为什么相照应。
模仿教师：教师拒绝先示范，只问想突出哪个原词，允许不同声音方案。
没有听出来：如实记录，读者只改一处再读；第二遍仍不明显就留问号，不追加第三轮。
【听者同步任务】
先核对触发条件和人物动作；闭眼后只定位声音变化附近的原词，或如实报告未听出。
【证据位置】
03B C202区和教材原词、朗读标记
【回到人物和故事】
女子望向复关，看不见时泪流不断；一旦看见，便又笑又说，这一下骤变既写在原词里，也能由声音被同伴听见
【后续真实调用】
C206完整重读时自然使用有效朗读标记，旁白必须讲清见与不见怎样改变她；不再保留孤立听者回执页
【自然切页句】
见与不见的变化已经能被耳朵听见。下面把两句连起来：一次占问之后，婚事又怎样走向了实际迁移？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【V6.3页ID】C204｜卜筮、来、迁：两句怎样接在一起？｜8分钟
【本页不可替代的意义】
用最小文化支架完成当次占问口译并限制时间边界，再沿两句因序和以尔/以我对称读清婚事怎样由程序走向实际迁移
【删除本页会失去什么】
没有文化支架会误译卜筮，没有时间限定会把无咎当作未来保证，没有对称拆句又会把双方动作压成一句‘结婚了’
【相邻合并测试】
原C205必须并入本页，因为第二句正是占问之后的故事结果；不能并入C206，本页仍在有支架地生成准确意义，C206检验撤答后的整章重建
【教师逐字稿】
第二章最后两句要连起来读：‘尔卜尔筮，体无咎言。以尔车来，以我贿迁。’第一句有四项不能靠猜的知识：卜，是用龟甲占问；筮，是用蓍草占卦；体，是显示的兆象；咎言，是不祥之语。支架到这里为止，完整意思请你自己组织。先按谁做什么、结果怎样，把第一句说成自然话，再写：这次占问得到什么结果？（等待。）同桌只核对四项有没有错位。谁愿意读自己的句子？（引用后校准。）如果你写了‘一定幸福、保证以后’，圈起来；原句只写这次没有不祥。没有越界的同学不必制造错误，只在无咎言旁补‘这次’。接着看第二句。不要先说‘他们结婚了’，请沿‘以尔’和‘以我’分成两边，在03B写清每边是谁、带着什么、做什么。（等待。）现在校准：贿是财物，这里指嫁妆；迁是迁往男子家。同桌一人指‘以尔’一侧，一人指‘以我’一侧，只检查主体、物件、动作有没有放错；不需要交换表演。最后一起合读原句，再把两句连成一句自然的故事话：占问写了什么，接着发生什么？（引用两条现场表达。）这次占问无不祥，婚事继续；车来、财物迁，女子的生活位置也随之改变。第二章已经走到迁移，现在撤去局部支架，看整章能不能重新成为一段故事。
【场面与走位】
屏幕同时显示两句。四项文化词卡只提供必要知识；第二句下方保留两条完全开放的主体—物件—动作栏。学生先写，教师后置时间边界和贿、迁释义。
（连读两句）
（教师给四项最小文化支架）
（学生独立口译占问）
（同桌核对名物）
（教师后置时间边界）
（学生拆分以尔/以我双方动作）
（同桌有界核对并合句）
（回到占问—迁移因序）
【时间盒】
连读两句与最小文化支架：55秒；个人占问口译和结果：75秒；同桌名物核对、分享与时间限定：85秒；个人拆分以尔和以我：75秒；同桌对应核对与教师校词：80秒；两句合回故事、个人修订与转场：110秒
【现场分支】
无法组织占问句：只提供‘你—卜筮—兆象—无不祥’四个位置，不念完成句。
直接推出幸福：只问原句写的是哪一次、有没有写后来生活，把说法降回当次结果。
压成他们结婚：追问以尔和以我各是谁的动作，车和贿在哪一边，先拆开再合。
嫁妆归属错位：请按住‘以我’，把贿移回这一侧，不直接报完整译文。
【听者同步任务】
占问部分只核对四项名物；迁移部分只核对两侧主体、物件和动作；都不提前讨论后来婚姻。
【证据位置】
03B C204区
【回到人物和故事】
等待与相见以后，两人完成占问；当次兆象无不祥，随后车来，女子带着财物迁往男子家，婚事由等待走到实际迁移
【后续真实调用】
C206旁白必须把当次占问与车来、贿迁接成因序；第四、第五章出现婚后事实时再比较一次程序与长期生活
【自然切页句】
占问无不祥，车来、财物迁，第二章已经走到实际迁移。现在收起局部提示，把等待到迁移完整讲一次。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【V6.3页ID】C206｜让第二章从等待走到迁移｜5分钟
【本页不可替代的意义】
完整重读后撤去教材、03A、03B和投影，用三十秒自然旁白检验局部理解能否成为连续故事，并生成故事轨道第二格
【删除本页会失去什么】
没有真实撤答后的整章重建，视线、声音、文化边界和对称动作仍是三块活动，不能证明学生获得连续故事
【相邻合并测试】
不能并入C204，因为C204仍在支架下生成准确意义，本页改变证据状态并把章节写入长期轨道；旧七词排序继续删除
【教师逐字稿】
第二章每一句已经读过。请先只看屏幕和教材，完整重读一次；刚才留下的有效声音标记可以自然用进去，不另做表演。（学生读完。）现在把教材合上，把03A和03B同时翻到背面，压在桌角；同桌互相看一眼，确认桌面不露原诗。（等待。）请看我这里。（教师按B键熄暗屏幕。）用三十秒把第二章讲给同桌听，只讲三件事：她怎样等，见与不见怎样改变她，婚事怎样由占问走到迁移。听者不要接管故事，只在对方讲完后补一个真正遗漏；没有遗漏就如实说完整。两人交换。（等待。）讲述者可以只打开教材，找到遗漏的那一句，随后立即合书补说；两张卡仍扣住。（等待。）现在只把03B翻回来，在故事轨道第二格写一句自己的自然章意；03A继续扣住，屏幕不恢复。再挑一个以后还想回看的原词写在旁边。谁愿意读出第二格？（引用两条现场章意，只修事实断点。）我们共同看见：她登上残墙等待，由不见而泣、既见而笑；两人完成占问，随后车来、财物迁，她的生活位置也发生了变化。这个整理不替换你们自己的句子。下一章，迁移后的生活还没有直接写出，诗却先让一片桑叶出现在眼前。
【场面与走位】
屏幕先供完整重读；读后合教材、两卡同时翻背并互查，再按B键熄屏。检索后只开教材定位，最后只恢复03B写第二格。
（完整重读第二章）
（合教材并将03A、03B同时翻背）
（同桌互查桌面无原诗）
（按B键熄暗屏幕）
（两人轮流三十秒旁白）
（只开教材定位后立即合书补说）
（只恢复03B写第二格）
【时间盒】
完整重读第二章：50秒；撤去教材、两卡和投影：40秒；两人轮流三十秒旁白：80秒；听者补缺、开书定位和合书补说：45秒；写第二格、章意和回看原词：50秒；引用章意、故事收束与转场：35秒
【现场分支】
完全空白：允许先讲最确定的一段，再只开教材找它前后各发生什么；不抄全文。
听者直接代讲：收窄为‘你只找到哪一个断点’，把定位和补说权还给讲述者。
提前写婚后不幸：删去第二章尚未写出的事实，只保留等待、骤变、占问和迁移。
没有遗漏：如实确认完整；在章意旁补一个支撑原词，不制造不同意见。
【听者同步任务】
只核对等待、见与不见、占问到迁移是否连成故事；不代讲、不抄教师章意。
【证据位置】
03B C206区、故事轨道第二格和教材回看原词
【回到人物和故事】
女子登垣远望，由不见而泣、既见而笑；两人完成占问，随后车来、财物迁，女子的生活位置发生变化
【后续真实调用】
C301开头直接读取故事轨道第二格，追问迁移以后叙事为何忽然转向桑叶；全文第一问读取本格重建经历
【自然切页句】
第二格先留在这里。迁移以后，第三章不先写家务和争执，而让一片‘沃若’的桑叶进入眼前。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【V6.3页ID】C301｜第三章｜迁嫁以后，诗先让什么进入眼前？｜4分钟
【本页不可替代的意义】
先让第三章完整响起，由学生自行留下一个眼前物象和一处声音转折，形成后续细读的真实初稿
【删除本页会失去什么】
没有完整章声和初稿，后页会从教师指定的桑叶与劝诫开始，学生不能经历叙述突然换声的发现
【相邻合并测试】
不能并入C302：整章初读必须在桑叶词义和联想支架出现前保持未知，否则学生第一眼已被局部解释收窄
【教师逐字稿】
第二章最后，车来了，财物迁了，女子的生活也换了地方。请从故事轨道把前两格连着说一遍，然后只看第三章。先不要问桑叶象征什么，也不要找手法；让五句诗完整地响一遍。读到你自己觉得说话方式变了，可以轻轻停半拍；没有这种感觉，就照原来的节奏读完。（教师范读后，全班个人低声再读。）现在才落笔：迁嫁以后，眼前最先出现了什么？哪一句开始不像叙事，像是在劝告？每一项都抄回一个原词或原句。没有听出转折，可以留问号。同桌只检查你写的是不是这五句里的东西，不替你解释。（等待核对与修订。）我们先保留两件事：桑叶先进入眼前，声音随后改变。它为什么这样写，先不急着回答。
【场面与走位】
屏幕只显示第三章全文和两个读后问题；教师范读时站在侧面，学生低声读和落笔时退到后排，不在屏幕上染色提示答案。
（连说前两章故事轨道）
（教师完整范读）
（学生个人完整低声读）
（读后才写两项初稿）
（同桌只核对来源）
（学生亲自修订）
【时间盒】
恢复前两章故事位置：35秒；教师范读与学生完整低声读：85秒；个人读后生成：55秒；同桌来源核对和修订：40秒；引用初稿并转场：25秒
【现场分支】
没有听出变化：声音栏诚实留问号，只写最先看见的物象；C303再用两句对读帮助耳朵发现。
先报比兴：把术语暂放纸边，追问初读时先看见哪一物、从哪句开始听见劝告。
写活动词：将‘朗读、圈词’改成诗中真实出现的物象或一句原诗。
【听者同步任务】
只核对同伴所写物象和转折句是否来自第三章，不评判解释深浅。
【证据位置】
03C C301区
【回到人物和故事】
迁嫁以后，生活事件暂时没有继续铺陈；女子回望时先让一片桑叶进入眼前，声音随后转向劝告
【后续真实调用】
C302读取桑叶初稿；C303读取学生标出的声音转折；C306取回两项初稿重建全章
【自然切页句】
先不越过这片桑叶。它还没有落，叶子正是‘沃若’。这个词究竟让你看见什么？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【V6.3页ID】C302｜桑之未落，其叶沃若｜6分钟
【本页不可替代的意义】
先从‘沃若’形成可感的桑叶经验，再让每人提出两种有原词依据、等待第四章筛选的联想
【删除本页会失去什么】
删除本页会把桑叶退化成教师直接公布的象征义，第四章也失去可被后文修订的个人初始解释
【相邻合并测试】
不能并入C303：本页需要十秒静观和个人联想，下一页依赖双人声音对读；感官假设与呼告听辨不能共用一个注意焦点
【教师逐字稿】
把这句先说成自然话。‘沃若’是润泽的样子。现在先不写象征，不让一个熟悉答案盖住眼前的叶子。请静静看这行诗十秒，想一想它的色泽、质地和生命状态；在纸上写两个能被‘沃若’托住的词。（静默十秒后继续等待。）有了感觉，才允许联想：它可能让你想到怎样的青春、情感或关系状态？请留下两种可能，每一种旁边都写出刚才哪个词托住它。同桌只问一句：‘你的联想从沃若的哪一种感觉生出来？’不替对方选择。（等待。）如果你写的是‘桑叶就是爱情’，请把话放轻，改成‘可能让我想到……’；找不到依据，也可以删去联想，保留感官词和问号。第四章还有‘黄而陨’，我们会带着今天的两种想法回来筛选。
【场面与走位】
屏幕只放大原句、沃若词义和两个开放问题；教师说完后真正静默，学生纸上有两项假设位，屏幕不显示范例。
（个人自然口译）
（静默观察十秒）
（写两个感官词）
（写两项可能联想）
（同桌只追问依据）
（学生改弱或保留问号）
【时间盒】
个人口译与词义校准：65秒；静默观察和感官词：65秒；两项假设独立生成：95秒；同桌依据追问：65秒；个人修订和转场：70秒
【现场分支】
只写固定象征：将‘就是’改成‘可能让我想到’，再补一项不同层次的可能或诚实问号。
无感官依据：先删去联想，只保留沃若所能托住的颜色、质地或生命状态。
没有联想：允许只写感官词和问号，第四章对照黄而陨后再生成。
【听者同步任务】
只追问联想的感官依据，不判断谁的象征义更像标准答案。
【证据位置】
03C C302区桑叶假设卡
【回到人物和故事】
女子回望先停在一片润泽鲜活的桑叶上；这片叶子像记忆中的盛时，却仍有多种解释等待后文
【后续真实调用】
第四章C402出现‘黄而陨’时必须重新打开这张假设卡，按前后状态和叙事位置亲自修订
【自然切页句】
桑叶的意思先不封口。下一句，一声‘于嗟’落在斑鸠身上；再一声，又落到了谁身上？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【V6.3页ID】C303｜两声‘于嗟’，劝告怎样来到人身边？｜9分钟
【本页不可替代的意义】
在同一组原句中先读出两声呼告的转移，再用蒙句反事实听辨检验物象和回声如何让劝告抵达人
【删除本页会失去什么】
删除会使斑鸠句只剩难懂旧说，比兴也只剩教师术语；学生无法从声音转移和蒙句损失理解劝告怎样抵达人
【相邻合并测试】
本页已经吸收旧C304；若再拆开，会重复处理同一组三句和同一声音变化。不能并入C302，因为桑叶开放联想必须先于劝告路径
【教师逐字稿】
请先把三句说成自然话。‘于嗟’读xū jiē，是一声感叹；‘无’同‘毋’，是不要；‘耽’是沉溺。斑鸠食桑葚易昏醉是教材旧说，只看它在诗里怎样引出劝告。（等待。）圈住两声于嗟，框住鸠和女，再把两种劝告接好。两人一组，一人读斑鸠句，一人接女子句，交换一次。现在把手轻放在学习单上，蒙住桑叶和斑鸠，只让同桌读‘于嗟女兮，无与士耽’。你真实听见了什么变化？可以说画面、回声少了，也可以说直劝更利落；只要回到一处原词。（等待。）同桌只问：你说的变化在原诗哪里？有依据就写‘能找到，不改’，没有就亲自改。等你们先听见以后再命名：由物引出所咏是兴，物与人的相似又引发比的联想。女子的劝告正是从桑叶和斑鸠的一声叹息中走到人身边。
【场面与走位】
屏幕只放三句原诗和递进问题；学生在自己的学习单上真实遮住前两句，不另开A/B程序页。
（个人自然口译）
（圈声音框对象与劝告）
（双人接读并交换）
（手遮前两句听直劝）
（个人写变化和原词）
（同桌依据追问）
（按需修订后教师命名）
【时间盒】
口译与最低词义：85秒；圈框与两轮接读：105秒；蒙句听辨和个人原词：115秒；同桌依据追问与按需修订：90秒；公开两种判断、后置命名和重读：145秒
【现场分支】
只报术语：划去术语，补写蒙句后真正少掉的一幅画或一声回响。
认为完全一样：分别说原诗和直劝第一眼看见什么、第一耳听见谁；仍认为一样可以保留。
偏爱直劝：允许保留更直接，同时指出原诗多出的具体画面或回声，不统一审美。
【听者同步任务】
只问声音落点和蒙句变化能否在原词中找到；不替同伴报完整关系，不强制修改。
【证据位置】
03C C303区
【回到人物和故事】
女子没有突然训诫，而是让桑叶先出现、让叹息先落在斑鸠，再把同一声劝告移到女子的爱情处境
【后续真实调用】
C306撤答旁白必须说清劝告怎样由物抵达人；全文S06从本页原句检索比兴怎样改变声音和人物处境
【自然切页句】
劝告已经从物来到人。最后两句把男子和女子并排放在同一个‘耽’字里，却给出两个相反结果。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【V6.3页ID】C305｜同是‘耽’，两个人都能脱身吗？｜6分钟
【本页不可替代的意义】
借同词异词的正面对照读出退出处境不等，同时把原因和责任边界准确后置到婚后事实
【删除本页会失去什么】
删除会失去全诗关键的不平等处境，也会给性别本质化和受伤者归责留下未纠正的解释空洞
【相邻合并测试】
不能并入C303：C303处理劝告怎样由物抵达人，本页处理男女脱身处境与伦理边界；合并会让声音体验和责任辨析彼此淹没
【教师逐字稿】
最后两句要并在一起读。‘说’在这里读tuō，同‘脱’，是摆脱、脱身。先各自口译，再圈出完全相同的词，框住真正改变结果的词。（等待。）请用一句现代话，只说诗中明写的处境差异，不解释为什么。原因写成‘后文待证’。（等待生成。）交换看同桌的句子，只做一件事：若看见‘女性天生、她活该、因为她沉溺所以他才……’这样的越界词，把那个词轻轻圈出来，不替对方重写。作者自己删改，回到士/女、犹可/不可。（等待修订。）这两句写明：同样沉溺，男子尚可脱身，女子却更难脱身。它没有写女性天生如何；更不能把女子的投入变成男子后来失信或粗暴的原因。为什么难，第四、第五章会让婚后的日子一件件出现。
【场面与走位】
屏幕两句左右或上下正面对举，只给说的通假义；原因栏在学习单保持空白，教师站在两句中线位置主持对照。
（个人口译）
（圈同词框异词）
（写无归因处境句）
（同桌只圈越界词）
（作者亲自删改）
（连读校验并保存待证）
【时间盒】
个人口译与通假义：70秒；同异词圈框：60秒；无归因处境句生成：75秒；同桌越界词核查：55秒；作者修订与教师边界校准：70秒；连读和转场：30秒
【现场分支】
性别本质化：圈出‘天生’，改回诗中明写的士/女、可/不可处境差异。
受伤者归责：立即删去女子投入导致男子伤害的因果，把造成伤害与退出困难分开。
追问原因：把问题登记为后文待证；不凭第三章补造婚后结构。
【听者同步任务】
只检查同伴是否准确陈述处境差异、是否加入无证归因；不提供完整改写句。
【证据位置】
03C C305区
【回到人物和故事】
女子从劝告走到更冷的一层认识：同样沉溺感情，两个人退出的处境并不相等
【后续真实调用】
第四、五章的婚后事实直接读取待证问题；全文第三问用本页区分造成伤害与使退出更难
【自然切页句】
五句诗已经逐句走过。现在撤去局部提示，把桑叶、两声劝告和脱身差异讲回女子的一段回望。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【V6.3页ID】C306｜把五句诗，讲成她回望中的一段话｜5分钟
【本页不可替代的意义】
完整重读后撤去教材、学习单与投影，用自然旁白把局部理解恢复为女子回望中的连续一章，并接入六章故事轨道
【删除本页会失去什么】
没有撤答整章重建，前五页仍只是活动片段，不能证明学生获得了连续的第三章和跨章故事
【相邻合并测试】
不能并入C305：C305仍在局部原句支架下作处境判断，本页改变为全支架撤除和跨章检索，证据状态不可替代
【教师逐字稿】
第三章每一句都已经走过。请先完整重读一遍；把刚才真正听见的声音自然读进去，不表演术语。（读完。）现在合上教材，把03C翻到背面，同桌互相看一眼，桌面不露原诗。我按B键熄暗屏幕。（等待撤答。）用三十秒把第三章讲给同桌听，只讲三件事：眼前先出现什么，劝告怎样从物来到人，最后写出怎样的脱身处境。听者不要接管故事，只在讲完后补一个真正遗漏；没有遗漏就如实说完整。交换。（等待。）讲述者可以只开教材找到遗漏的一句，随后立即合书补说。现在只把03C翻回来，在故事轨道第三格写一句自己的自然章意；把桑叶两项假设和‘为什么难脱身’的问号保留，下一章继续。谁愿意读自己的第三格？（引用两条，只修事实断点。）迁嫁以后，女子的回望停在桑叶和劝告上，并看见两个人脱身处境不等。下一章，桑叶会转黄，婚后的日子也终于进入叙述。
【场面与走位】
屏幕先供完整重读；随后合教材、翻背03C、同桌互查并按B键熄屏。检索后只开教材定位，最后只恢复03C写第三格。
（完整重读第三章）
（合书并翻背03C）
（同桌互查无原诗）
（按B键熄屏）
（双方各讲三十秒）
（只开教材定位后合书补说）
（写故事轨道第三格）
【时间盒】
完整重读第三章：50秒；撤去教材、学习单和投影：40秒；双方三十秒旁白：80秒；听者补缺与返诗补说：45秒；写第三格和保留待证：50秒；引用章意与转场：35秒
【现场分支】
完全空白：先说最确定的一段，再只开教材找它前后各发生什么；不抄完整章意。
只报术语：把比兴、反复、对照改成桑叶、斑鸠、女子和脱身处境的自然话。
固定桑叶答案：恢复可能语气，把两项假设留到第四章黄而陨出现后筛选。
听者代讲：收窄为只报哪一处断点，把定位和补说权还给讲述者。
【听者同步任务】
只核对桑叶、劝告由物及人、脱身处境三项是否连成回望；不代讲完成章意。
【证据位置】
03C C306区和故事轨道第三格
【回到人物和故事】
迁嫁以后，女子停下来由润泽桑叶发出劝告，声音由斑鸠转向女子，最后认识到男女脱身处境不等
【后续真实调用】
第四章C401读取第三格，C402重开桑叶假设，C404读取脱身原因待证栏；全文第一问读取六章轨道
【自然切页句】
把桑叶假设和原因问号带上。第四章第一句，那片沃若的叶子已经‘黄而陨’。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【V6.3页ID】C401｜第四章｜桑叶落下以后，诗写了哪些生活？｜4分钟
【本页不可替代的意义】
让第四章完整响起，由学生先标出桑叶的新状态和第一处像在作判断的原句，建立事实在前、判断在后的章内边界
【删除本页会失去什么】
若没有整章初读，后页会从教师指定的意象、事实和责任切开讲，学生无法亲自发现声音怎样由经历转入判断
【相邻合并测试】
不能并入C402：本页必须在解释和对照支架出现前让整章未知声音先发生，C402才用第三章旧稿与新句进行修订
【教师逐字稿】
第三章最后，我们留下两件还不能封口的东西：一张‘沃若’桑叶的双假设卡，一个‘为什么女子更难脱身’的问号。请先把它们放在手边，不急着打开答案。现在让第四章五句诗完整地响一遍。第一遍只听它写了哪些生活；第二遍再留意，女子是否一直都在讲事情，还是有一句开始说她对这段关系的看法。（教师范读，学生再完整低声读。）现在才落笔：桑叶有了什么新样子？抄下原词。再抄一句你听来不像只在讲事情、而像在判断的话。暂时听不出来，就把问号留在这里。同桌只核对是不是第四章里的原词原句，不替对方解释。（等待核对和修订。）我们先把大家找到的句子留在纸上，不急着裁定。接下来从那片桑叶重新读起，让这五句自己告诉我们，她经历了什么，又怎样说起两个人。
【场面与走位】
屏幕只呈现第四章全文和两个读后入口；教师范读时站到侧面，学生落笔前不染色、不画分区。
（取回第三章桑叶卡和待证问号）
（教师完整范读）
（学生个人完整低声读）
（读后才写状态与判断初稿）
（同桌只核对原句来源）
（学生亲自修订）
【时间盒】
恢复第三章两份待证材料：30秒；教师范读和学生完整朗读：85秒；个人生成两项初稿：55秒；同桌来源核对和修订：40秒；引用现场原句并转场：30秒
【现场分支】
只写悲伤或变心：把抽象词收回，先抄桑叶新状态和你认为声音变硬的完整原句。
判断起点不同：允许暂存两个位置，不由教师投票裁决；C404比较‘不爽/贰’时再修。
直接归因女子沉溺：先停止因果判断，本页只登记经历与判断的先后，不把第三章的耽变成伤害责任。
【听者同步任务】
只检查同伴是否抄自第四章、是否写成原词原句，不评判解释深浅。
【证据位置】
04D C401区
【回到人物和故事】
迁嫁后的回望继续向前：桑叶落下，多年贫苦和淇水画面出现，随后女子开始直接辨明这段关系
【后续真实调用】
C402重开桑叶假设，C403读取经历区，C404读取判断起点，C406取回两项初稿重建全章
【自然切页句】
先回到那片桑叶。第三章它‘沃若’，这一章却‘黄而陨’；你原来的两种想法，经得住这一落吗？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【V6.3页ID】C402｜沃若｜黄而陨：原来的想法，经得住这一落吗？｜6分钟
【本页不可替代的意义】
把第三章两项桑叶假设重新打开，用未落/落、沃若/黄而陨和章内位置决定保留、改写或撤回，让意象意义由前后语境筛选
【删除本页会失去什么】
若不重新打开旧稿，意象教学仍是教师公布答案，学生不会体验后文如何迫使解释改变，也没有真实的阅读修订证据
【相邻合并测试】
不能并入C403：本页注意力必须停在同一物象的前后变化和旧稿修订，C403才转入多年生活与淇水画面
【教师逐字稿】
请把第三章的桑叶卡真正翻回来，不要另起一张新纸。左边读‘桑之未落，其叶沃若’，右边读‘桑之落矣，其黄而陨’。‘陨’是坠落。两句用同样的节拍各读两遍，圈出相互顶住的词：未落与落，沃若与黄而陨。（等待对读。）现在看你原来的两种可能。第四章来了以后，每一种是保留、改写，还是撤回？请直接在旧稿上动笔，旁边补第四章的一处原词，或者补一句位置说明：前一句在迁嫁后的劝告开端，后一句在婚后回顾开端。（等待个人修订。）同桌只追问：新句究竟改变了你哪一处？若没有改变，也要说它怎样加强了你的解释。不同答案可以并存，但‘桑叶就是……’这样一锤定音的话要放轻。我们此刻可以说，桑叶荣枯让人联想到青春、情感或关系状态的变化，也把叙事从婚前带到婚后；究竟偏重哪一层，要让全文语境托住。
【场面与走位】
屏幕左右只放两句和最低词义；学生桌面必须打开第三章原卡，用另一颜色在原稿上修订，教师不投影成品解释。
（打开第三章旧桑叶卡）
（两句同节拍对读）
（圈两组状态词）
（学生在旧稿上双色修订）
（同桌只追问新句造成的改变）
（学生补证或降低判断强度）
【时间盒】
恢复旧稿与两句对读：65秒；圈状态词并校准陨：55秒；个人保留改写撤回：100秒；同桌追问语境依据：65秒；学生再修与教师后置归纳：75秒
【现场分支】
只等标准答案：请先比较自己两项旧稿受到新句怎样影响；教师不替你选青春、爱情或关系中的一个。
两项完全一样：把第二项改到不同层次，或诚实撤回，只保留一项有前后句支撑的解释。
没有修改：允许保留，但必须补写黄而陨怎样加强或限制旧解释，不为形式制造改动。
【听者同步任务】
只追问新句与章内位置怎样影响旧解，不投票选唯一象征义。
【证据位置】
03C旧桑叶卡双色修订＋04D C402区
【回到人物和故事】
女子回望时，同一棵桑由润泽到枯黄坠落；景物的变化把记忆从感情盛时带向婚后困顿
【后续真实调用】
C406用修订后的桑叶解释说明本章开头为何转冷；全文知识检索再把这组原句归入比兴、对照和结构转折
【自然切页句】
桑叶由盛转衰，诗也从劝告走进日子。接下来的两句，一句压着多年，一句忽然把淇水推到眼前。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【V6.3页ID】C403｜三岁食贫｜淇水汤汤｜7分钟
【本页不可替代的意义】
用长音与水声的全班分部朗读体验两种时间尺度，再让每人写一段只含原诗事实的双镜头旁白
【删除本页会失去什么】
删除会让食贫与淇水只剩词义条目，学生既感受不到时间压缩，也容易把未写明的渡河方向和离开情节当成事实
【相邻合并测试】
不能并入C404：本页必须让经历事实充分成立并守住想象边界，下一页才有资格讨论谁的行为应当被判断
【教师逐字稿】
先把两句说准。‘徂’是往，‘食贫’是过贫苦生活；‘汤汤’读shāng shāng，写水势浩大；‘渐’读jiān，是浸湿；帷裳是车旁的帷幔。现在不急着分析。左半教室读第一句，把‘三岁’读得能让人感到日子很长；右半教室读第二句，让‘汤汤’有水势，但不要喊。交换一次，其余人闭眼听：哪一句像把多年压在四字里，哪一句把一个瞬间推到眼前？（等待两轮朗读和听者落笔。）请每人写两句第三人称旁白：一句只说多年里发生什么，一句只说淇水这一刻看见什么。写完同桌只圈一个诗中找不到的词，比如离开、归家、被赶走、向东向西；作者自己决定删除或改弱。（等待修订。）我们可以看见长期食贫，也可以看见浩荡淇水浸湿车帷；诗没有告诉我们这次渡水的方向，更没有在这里写完她是否离开。事实站稳以后，下一句才开始辨明责任。
【场面与走位】
屏幕左右显示多年与一刻两句；两半教室交替朗读，学生写旁白时屏幕仍保留原句和最低词义作为边界。
（个人自然口译）
（教师定点校音释义）
（左右半班分部朗读）
（交换声音角色）
（个人写双镜头旁白）
（同桌只圈越界词）
（作者亲自修订）
【时间盒】
个人口译和定点释义：85秒；两轮分部朗读与闭眼听：90秒；个人双镜头旁白：85秒；同桌越界词核查：55秒；作者修订、分享与转场：105秒
【现场分支】
把三岁只算三年：按教材语境校准为多年，不把诗中概数锁成精确年限。
补写归家离开：圈出无原句依据的方向或结局词，改回淇水、水势和车帷被浸的事实。
不愿变化朗读：允许准确平读，并承担闭眼听者任务；体验不强制表演。
【听者同步任务】
听辨长期压缩与瞬间展开；核查旁白是否越过原句补写方向、动机或结局。
【证据位置】
04D C403区
【回到人物和故事】
女子把多年贫苦压进‘三岁食贫’，又让淇水浸湿车帷的一刻突然展开；婚后的艰难既漫长，又有触手可及的画面
【后续真实调用】
C404在这些经历事实之后进入责任判断；全文第二问把多年压力和生活场景转述为现实处境
【自然切页句】
多年食贫，淇水浸帷，这是她讲出的经历。紧接着，她不再只讲发生了什么，而开始说：谁没有差错，谁的行为变了。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【V6.3页ID】C404｜女也不爽，士贰其行｜6分钟
【本页不可替代的意义】
通过人人可写、可被原词质询的责任句，让学生从对称语言准确辨明谁没有差错、谁的行为前后不一
【删除本页会失去什么】
没有这页，责任会被模糊成‘婚姻失败’或被错误平均，学生也无法从句法对称看见诗中明确的行为归属
【相邻合并测试】
不能并入C405：本页先建立一条精确责任判断并接受原词质询，下一页才研究语言如何把一次判断推进为反复模式
【教师逐字稿】
请把这句先一分为二，又要合在一起读：‘女也不爽，士贰其行。’爽是差错；贰在这里是不专一、前后不一。现在每个人独立写十二到二十个字，只用这一句说清谁怎样、谁又怎样。句子下面抄两个真正托住你的原词。（静默等待。）同桌进入‘证据席’，只问一句：哪两个词托住你的判断？不要替对方重写。若句子只是‘两个人感情不好’，请把主语和行为补回来；若出现‘她太沉溺所以他才变’或‘双方都有错’，请回到原句，检查这些因果和平均判断有没有证据。作者自己删改。（等待。）我们听两条修订后的句子。诗在这里说得很清楚：女子没有差错，男子的行为却不专一、前后不一。女子的信任和投入可以解释她为什么更难抽身，却不能分担男子行为变化的责任。
【场面与走位】
屏幕只放大一整句及两项词义；每人先写，随后同桌用原词质询，教师最后引用学生修订句后归纳。
（个人自然口译）
（教师校准爽和贰）
（全员独立写责任句）
（抄两处原词）
（同桌只作证据质询）
（作者亲自删改）
（公开听两条修订句）
【时间盒】
口译和词义校准：70秒；个人责任句与原词：85秒；同桌证据质询：60秒；作者修订：50秒；公开抽样和教师后置归纳：95秒
【现场分支】
平均分责：请先准确复述不爽和贰其行各落在谁身上，再决定是否另作现代评论。
受伤者归责：删除‘因为她投入所以他才……’的因果，把退出困难与造成伤害分开。
不同意诗中判断：允许保留个人意见，但先写准叙述者此刻怎样判断，并注明你的异议超出本句。
【听者同步任务】
只追问主张能否由不爽、贰其行和两侧主语这些原词托住，不提供成品句。
【证据位置】
04D C404区
【回到人物和故事】
讲过婚后困顿后，女子第一次正面说出：自己没有差错，男子的行为却前后不一
【后续真实调用】
C405继续读男子行为如何被概括为无准则、反复；全文第三问把本页列入造成伤害的直接证据
【自然切页句】
这一句已经辨明双方。下一句不再只说一次行为变化，而用‘罔极’和‘二三’把反复无常压进四个字。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【V6.3页ID】C405｜士也罔极，二三其德｜5分钟
【本页不可替代的意义】
借原句与直白改写的替换听读，先读准罔极、二三，再让学生用自己的声音和现代话说明反复无常的力度
【删除本页会失去什么】
删除会丢失二三的准确活用和语言力度，也会使男子反复被误成一次情绪变化，削弱后文证据链
【相邻合并测试】
不能并入C404：本页的核心是词语替换和听觉检验，C404的核心是责任主张与证据质询，两种注意活动不能同时完成
【教师逐字稿】
先读原句：‘士也罔极，二三其德。’罔极是没有准则。二三如果只按数量理解成两三件事，整句会变窄；这里是反复无常。请听我再读一句直白改写：‘他的行为多次改变。’两句都能传达意思，但哪一种更让你听见无定、反复或咬住不放的感觉？先写自己的听感，不必迎合原句一定更好。（等待。）现在把二三译成一个有动作感的现代短语，再用这个理解重读原句。同桌只说：我是否在二三附近听见了反复？没有听见也如实说。读者只改一次停顿或重音。（等待改读。）最后命名：二三本是数词，这里活用来写反复无常。它把‘贰其行’推进一步——不是偶然变过一次，而是行为没有准则、品德一再反复。
【场面与走位】
屏幕中心是原句，底部只放一条直白改写作为听觉实验；教师不展示最佳朗读符号。
（准确读原句）
（教师读直白改写）
（个人写真实听感）
（写二三现代短语）
（同桌定位二三听感）
（读者只改一次并重读）
（教师后置命名活用）
【时间盒】
原句释义和改句听读：65秒；个人听感与现代短语：75秒；同桌定位反馈：50秒；个人改读与抽样：55秒；后置命名、故事回接与转场：55秒
【现场分支】
解释成两三次：回到罔极与教材注释，把数量改为反复无常的行为状态。
认为改写更清楚：允许保留，同时补说原句在节奏、压缩或动作感上是否仍有增加。
夸张表演：收回音量，只在二三附近改一次停顿或重音，让原词而非表情承担力度。
【听者同步任务】
只定位二三附近是否传出反复和无定，不评价感情是否丰富。
【证据位置】
04D C405区
【回到人物和故事】
女子的判断继续加重：男子并非偶然改变一次，而是行为没有准则，品德一再反复
【后续真实调用】
C406把本句接回责任判断；第五章C503和第六章C604分别以至暴、违誓检验这种反复模式
【自然切页句】
桑叶落了，日子写了，责任也说清了。现在撤去这些局部提示，把五句诗重新讲成她婚后回望中的一段话。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【V6.3页ID】C406｜把第四章讲成一段：桑叶落下以后｜5分钟
【本页不可替代的意义】
完整重读后撤去诗文与学习单，用自然旁白把景物、经历、责任和反复接成连续章意，并写入六章轨道第四格
【删除本页会失去什么】
没有撤答重建，前五页仍会散成意象、时间和责任知识片段，不能证明学生获得了连续的第四章故事
【相邻合并测试】
不能并入C405：C405仍在单句和替换支架下理解二三，本页切换为全支架撤除、章内重建和跨章接续
【教师逐字稿】
第四章五句已经逐句走过。先完整重读一遍，让桑叶的荣枯、多年的长度、淇水的水势和后两句的声音各自落稳。（读完。）现在合上教材，把03C和04D都翻到背面，同桌互看桌面没有原诗，我按B键熄暗屏幕。用四十秒把第四章讲给同桌听，只沿三步往前走：桑叶怎样变；她过着怎样的日子；她最后怎样说自己，又怎样说男子。听者讲完以后只报一个真正断点，没有就说完整。交换。（等待。）讲述者只开教材找到漏掉的一句，立即合书补说。现在只翻回04D，在故事轨道第四格写一句自己的章意。谁愿意读？（引用两条，修事实顺序，不替换学生语言。）第四章从枯黄桑叶走进多年贫苦和淇水，女子再明明白白地说：自己没有差错，男子却前后不一、反复无常。下一章，‘三岁’不再只写食贫，还要写她怎样日复一日地生活。
【场面与走位】
屏幕先供完整重读，随后合书、翻背全部卡片并熄屏；检索后只短暂开教材定位，最后恢复04D写第四格。
（完整重读第四章）
（合书并翻背全部材料）
（同桌互查桌面）
（按B键熄屏）
（双方各讲四十秒）
（只开教材定位后合书补说）
（写故事轨道第四格）
【时间盒】
完整重读第四章：50秒；撤去教材材料和投影：35秒；双方四十秒旁白：95秒；听者补缺与返诗补说：45秒；写第四格、分享和转场：75秒
【现场分支】
只报手法：把比兴、对照、活用改成桑叶、食贫、淇水和谁的行为怎样变化。
把经历当伤害原因：重新分开：经历说明她承受什么；不爽/贰/二三说明谁应为行为负责。
听者代讲：只指出断点位置，把回诗和补说权还给原讲述者。
【听者同步任务】
只核对桑叶变化、婚后经历、责任判断三层是否连成一段，不代讲章意。
【证据位置】
04D C406区和故事轨道第四格
【回到人物和故事】
女子从枯黄桑叶讲到多年贫苦与淇水，又由经历转为判断：自己无过，男子的行为却前后不一、反复无常
【后续真实调用】
第五章C501从第四格继续，C503用至暴检验反复模式；全文第一问读取六章轨道，第三问读取责任证据链
【自然切页句】
第四格写下了多年食贫与男子反复。第五章会把‘多年’拆成每天，又让粗暴、讥笑和独自悲悼进入同一间屋子。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【V6.3页ID】C501｜第五章｜谁在忙碌，谁的声音从外面传来？｜4分钟
【本页不可替代的意义】
让第五章完整响起，由学生先留下一个反复生活动作和一处声音转向内心的原句，形成逐句细读的生活与声场初稿
【删除本页会失去什么】
没有完整章声，后续生活日常、粗暴与孤立会被拆成社会议题，学生不能先从诗中发现外部生活怎样一步步压进内心
【相邻合并测试】
不能并入C502：整章必须在词义和日程支架出现前完整接收，C502才把前两句的长期生活展开为可感时间
【教师逐字稿】
第四章说到男子的行为反复无常。第五章不先讲一个抽象结论，而是把门推开，让我们看见日子怎样过。请让五句诗完整响一遍；读的时候先不圈‘苦’‘惨’这些词，只听谁在做事，谁的声音从外面传来，什么时候声音收进女子心里。（教师范读，学生低声完整再读。）现在才落笔：抄一个会在生活中反复发生的动作；再抄一处你觉得声音已经转入她内心的原句。不确定可以留问号。同桌只核对是否来自第五章，不替对方讲答案。（等待修订。）我们先保留一条大致路径：日常劳作在前，男子和家人的声音进入，最后只剩她静下来思量。每一步究竟怎样写，继续往下走。
【场面与走位】
屏幕只显示第五章全文与两个读后入口；教师不预先染色人物，不投影生活处境分类。
（读取第四章故事轨道第四格）
（教师完整范读）
（学生完整低声读）
（读后才写两项初稿）
（同桌只核对原句来源）
（学生亲自修订）
【时间盒】
承接第四格：25秒；教师和学生完整读章：90秒；个人生成两项初稿：60秒；同桌来源核对和修订：40秒；引用现场原句与转场：25秒
【现场分支】
只写很辛苦：请改回诗中人物实际做的动作，例如起、寐，或抄一整句。
把兄弟理解成所有家人：本页只保留诗中明确的兄弟，不扩大到所有家人。
提前补写身体暴力：先回到‘暴’这一字；具体伤害方式诗中没有写，C503会守住边界。
【听者同步任务】
只核对动作和转折句是否来自第五章，不评价情绪是否深刻。
【证据位置】
05E C501区
【回到人物和故事】
婚后日子不再只是‘食贫’：女子的身体在日复一日劳作，男子的粗暴与家人的笑声出现，她最后独自回望
【后续真实调用】
C502读取生活动作，C503读取男子行为，C504检验外部笑声与内心转折，C505取回两项初稿重建全章
【自然切页句】
先不走向兄弟的笑声。前两句只写一天从什么时候开始、什么时候结束，却说这一天重复了许多年。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【V6.3页ID】C502｜三岁为妇｜夙兴夜寐｜7分钟
【本页不可替代的意义】
借教室两端的早晚站位和‘靡’低声回响，把一天首尾拉开并叠成多年，再由每人写一段不美化劳苦的生活旁白
【删除本页会失去什么】
删除会使前两句只剩词义和勤劳标签，学生无法体验一天如何折进多年，也不能辨认长期投入与关系失衡的差别
【相邻合并测试】
不能并入C503：本页必须让日常时间和劳动事实充分成立，下一页才比较男子愿望满足后的行为变化
【教师逐字稿】
先借注释把两句说成自然话。三岁是多年；靡是没有；室劳是家务劳动；夙是早，兴是起身，夜寐是晚睡，朝在这里是一日。现在请两位同学分站教室前后：一位从‘夙兴’开始，一位在另一端接‘夜寐’；全班不齐读，只在两句末尾低声接出‘靡’。交换一次。听的人闭眼：一天从哪里开始，到哪里结束？哪个字让这种日子不只发生一天？（完成声场与等待。）现在每人写一句第三人称旁白，要同时有一天和多年，不添加具体家务清单。若写成‘贤妻无怨无悔、勤劳是她的美德’，同桌可以圈出美化劳苦或替人物补心情的词，作者自己改回长期家务、早起晚睡、没有一天例外的事实。（等待修订。）诗写她承担多年家务与时间负担；赞许一个人的勤勉，不能让不均衡的劳动从画面里消失。
【场面与走位】
屏幕左右拉开夙兴与夜寐；两位学生在教室两端读，全班只在靡处低声回响，随后个人写生活旁白。
（个人借注释口译）
（教师定点校词）
（两位学生分站早晚两端）
（全班只接两声靡）
（交换两端朗读）
（个人写生活旁白）
（同桌圈美化或补写词）
（作者亲自修订）
【时间盒】
口译与词义校准：90秒；两轮空间声场与闭眼听：100秒；个人生活旁白：85秒；同桌用词核查：55秒；作者修订、分享和转场：90秒
【现场分支】
赞美贤惠盖过负担：允许保留赞许，但另写清劳动是否长期集中、时间是否有休止。
虚构具体家务：删去诗中未写的做饭、洗衣等清单，回到室劳、夙兴、夜寐。
不愿走位：留在座位用手指向早晚两端朗读，并承担闭眼听者任务。
【听者同步任务】
听早晚跨度和靡的无例外感；核查生活旁白是否美化劳苦或虚构细节。
【证据位置】
05E C502区
【回到人物和故事】
她的婚后生活从清早开始，到夜里才结束；这样的日子不是一天，而是多年反复，没有一天例外
【后续真实调用】
C503把长期投入与男子既遂至暴正面对照；全文第二问把这两句转述为现实中的家务和时间负担集中
【自然切页句】
多年这样生活以后，下一句忽然写‘既遂’和‘至于暴’。一个人的愿望满足了，另一个人的日子却走向哪里？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【V6.3页ID】C503｜言既遂矣，至于暴矣｜8分钟
【本页不可替代的意义】
先准确读出愿望满足后态度转粗暴，再用后文事实回看三处早期细节，区分‘值得警惕’与‘足以证明’
【删除本页会失去什么】
没有这页，会失去全文重要的前后回看：要么忽视婚前警告信息，要么用后见之明把可能细节夸成已证实的系统伪装
【相邻合并测试】
不能并入C502：本页需要跨章回看和证据强度判断，前页只建立日常劳动事实；两种思维若同屏会彼此淹没
【教师逐字稿】
先只读当前句。言是助词；既遂，是愿望已经满足；暴，先按课文语境理解为粗暴。请用一句自然话说清谁如愿以后，态度走向哪里。诗没有写具体伤害方式，不用替它补画面。（等待口译。）现在把第一章的批注翻回来。后文会改变我们看开头的眼光，却不允许我们伪造证据。三人一组，各守一处：‘氓之蚩蚩’、‘匪来贸丝，来即我谋’、‘将子无怒’。每人写两句：读到‘至于暴矣’以后，这处细节为什么值得重新看一眼；单凭它仍不足以证明什么。轮换阅读，圈出同伴句子里‘一定、早有预谋、已经暴力’等过强词，作者自己改弱。（等待。）蚩蚩首先只是忠厚的出场印象；贸丝与议婚来意确有差别；无怒让我们看见女子需要安抚或预期愤怒。后文使这些细节成为警告，却不足以单独证明一套完整伪装计划。成熟的阅读既不忽视信号，也不把后见之明写成事实。
【场面与走位】
屏幕上半放当前句，下半只列三处早期原词；学生必须翻回第一章旧批注，三人分守再轮换，不上屏成品结论。
（个人口译当前句）
（教师校准暴的边界）
（翻回第一章旧批注）
（三人各守一处原词）
（写警惕与证明两句）
（轮换圈过强词）
（作者亲自改弱）
（教师引用现场修订）
【时间盒】
当前句口译与边界：80秒；翻检旧批注和三人分守：55秒；个人双边界生成：105秒；轮换核查过强词：75秒；作者修订与公开抽样：75秒；教师后置归纳和转场：90秒
【现场分支】
把暴具体化：删去殴打等诗中未写的方式，退回态度粗暴与行为伤害的文本范围。
断言系统伪装：把‘一定、早有预谋’改为‘后文使此处值得警惕’，再写不足以证明什么。
认为无任何警告：允许保留，但必须说明后文是否改变对来意差别、无怒或出场印象的阅读。
【听者同步任务】
检查警告信息与已证事实是否分开，不替同伴定性人物动机。
【证据位置】
第一章旧批注＋05E C503区
【回到人物和故事】
长期付出之后，女子看见男子如愿后态度恶化；回头再看初见，那些曾被热望盖住的细节开始显出阴影
【后续真实调用】
C505把至暴接回第五章；全文第三问的四区证据板将把婚前警告、直接伤害责任和退出困难分开
【自然切页句】
男子的声音已经变成‘暴’。可当她的处境被家人看见，传回来的又是什么声音？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【V6.3页ID】C504｜兄弟不知，咥其笑矣｜静言思之，躬自悼矣｜7分钟
【本页不可替代的意义】
用克制的外圈低声与中心独读制造一次声场落差，让学生先听见不理解的笑如何把女子推回独自思量，再写第三人称支持处境
【删除本页会失去什么】
删除会把家人讥笑与独自悲悼压成一个标签，学生听不见外部声场如何退去，也容易越界编造完整求助史
【相邻合并测试】
不能并入C503：C503是跨章证据强度，C504是声场与支持处境；合并会使一页既做理性判断又做情绪体验而失焦
【教师逐字稿】
先把两句说准。咥读xì，是笑的样子；言在这里是助词；躬是自身；悼是悲伤。第一遍，教室两侧的同学克制地低读‘兄弟不知，咥其笑矣’，不模仿嘲笑、不做戏；中间一位同学等声音完全停下，再沉默三秒，读‘静言思之，躬自悼矣’。第二遍交换。其余人闭眼，只写外面的声音停下以后，空间里发生了什么。（完成两轮和真实沉默。）现在用第三人称写一句：她身边缺少什么？只谈作品，不讲自己的家庭。同桌只圈诗中没写的求助过程、‘所有家人’和揣测的恶意动机，作者自己改回原句边界。（等待。）诗写兄弟不了解而笑，她随后静思、自悼。我们可以说她缺少理解与托举，却不能说诗已经写出她怎样求助、所有家人怎样拒绝。最沉重的地方也许不是一个更大的声音，而是笑声过去后，只剩她自己。
【场面与走位】
屏幕上下两句之间保留大块暗色留白；两侧低读后必须真实沉默三秒，中心读者不开表演腔。
（个人口译）
（教师校音释义）
（两侧克制低读外句）
（真实沉默三秒）
（中心独读内句）
（交换声场角色）
（个人第三人称写作）
（同桌圈越界事实）
（作者亲自修订）
【时间盒】
口译和词义校准：70秒；两轮声场与沉默：100秒；个人听感与处境句：85秒；同桌事实边界核查：55秒；作者修订、分享和转场：110秒
【现场分支】
笑声表演过火：立刻收低音量，读原句而不扮演恶意，让三秒沉默承担体验。
扩大为所有家人：改回诗中明确的兄弟；更广支持缺失只能标为处境推断。
要求私人分享：取消，始终只谈作品或第三人称处境，不采集家庭经历。
【听者同步任务】
听外声、沉默与内声的空间变化；核查判断是否越过兄弟、不知、笑和躬自悼的证据。
【证据位置】
05E C504区
【回到人物和故事】
男子粗暴之外，兄弟也没有接住她；外面的笑声散去，她只能静下来独自思量、为自己悲伤
【后续真实调用】
C505重建外部劳作—粗暴—笑声—自悼的推进；全文第二问和第三问分别读取支持缺失的表现与退出困难
【自然切页句】
早起晚睡、男子粗暴、兄弟笑过，最后她独自思量。现在撤去局部场景，把这五句讲回同一段生活。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【V6.3页ID】C505｜把第五章讲成一间屋子里的许多年｜5分钟
【本页不可替代的意义】
完整重读后撤去全部支架，用一段生活旁白把多年日常、行为反差、外部笑声和内心自悼连起来，并写入第五格
【删除本页会失去什么】
没有撤答整章重建，前四页仍会散成时间活动、警告分析和声场体验，学生不能形成第五章连续生活
【相邻合并测试】
不能并入C504：C504仍在两句声场中体验支持缺失，本页切换为全支架撤除和章内、跨章重建
【教师逐字稿】
第五章已经逐句走过。请完整重读一遍：夙兴到夜寐不要读成赞美，既遂到暴不要补具体伤害，兄弟的笑声之后留出一点沉默。（读完。）现在合上教材，把所有学习卡翻到背面，同桌互看桌面没有原诗，我按B键熄暗屏幕。用四十秒讲三层：她怎样过日子；男子怎样变化；外面的声音散去，谁留下。听者只报一个真正断点，没有就说完整。交换。（等待。）讲述者只开教材找到遗漏句，立刻合书补说。现在只翻回05E，在故事轨道第五格写自己的自然章意。我们听两条。（引用并修事实边界。）多年日常没有换来尊重，男子粗暴，兄弟不解，她最后独自思量。第六章，她会把今天的处境与早年的偕老、言笑和信誓放在一起核验。
【场面与走位】
屏幕先供完整重读，随后合书、翻背全部材料并熄屏；检索后只开教材定位，最后恢复05E写第五格。
（完整重读第五章）
（合书并翻背全部材料）
（同桌互查桌面）
（按B键熄屏）
（双方各讲四十秒）
（只开教材定位后合书补说）
（写故事轨道第五格）
【时间盒】
完整重读第五章：50秒；撤去教材材料和投影：35秒；双方四十秒旁白：95秒；听者补缺与返诗补说：45秒；写第五格、分享和转场：75秒
【现场分支】
只报悲惨勤劳等标签：改成谁做什么、谁怎样变化、外面的声音之后谁独自留下。
扩大暴或家人范围：退回粗暴、兄弟不知而笑的原文范围，不补具体伤害和全部家人。
听者代讲：只报断点位置，把回诗和补说权还给讲述者。
【听者同步任务】
只核对日常、男子变化、外声与内心三层是否连成生活，不代讲章意。
【证据位置】
05E C505区和故事轨道第五格
【回到人物和故事】
女子多年承担家务、早起晚睡；男子如愿后转粗暴，兄弟不理解而笑，最后只剩她静思自悼
【后续真实调用】
第六章C601从第五格进入回望盟誓；全文第一问读取六章轨道，第二问读取生活负担、关系伤害和支持缺失
【自然切页句】
第五格只剩她静下来思量。第六章，她将把现在与少年言笑、偕老愿望和当初的信誓一一放回眼前。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【V6.3页ID】C601｜第六章｜她把哪些旧事重新放回眼前？｜4分钟
【本页不可替代的意义】
让第六章完整响起，由学生先标一处回到过去的原句和一处真正收束全诗的原句，建立回望—核验—停止的初稿
【删除本页会失去什么】
若没有完整章读，末句会被抽成励志口号，学生看不见停止判断是在回望和核验旧事之后形成
【相邻合并测试】
不能并入C602：整章未知声音必须先于老字解释发生，C602才聚焦一个词的前后回环
【教师逐字稿】
第五章最后，她静下来，只能独自思量。第六章会不会立刻斩断过去？请先不要只等最后一句，让五句完整地走一次。读时听一听：她把哪些旧事重新放回眼前，哪一句才真正把全诗收住。（教师完整范读，学生再低声完整读。）现在才落笔：抄一处回到过去的原句，再抄一处真正收束全诗的原句；在末句旁只留一个你最初听见的声音词，听不准就留问号。同桌只核对是不是原句、时间是否真的回到过去，不替对方命名情绪。（等待。）我们先不把末句叫成觉醒或离开。女子要先重新经过偕老、边界、少年言笑和誓言，结尾才会到来。
【场面与走位】
屏幕只呈现第六章全文和两个读后入口；教师不突出末句，学生落笔前不染色时间层。
（读取第五格）
（教师完整范读）
（学生完整低声读）
（读后才摘过去句和收束句）
（同桌只核对来源与时间）
（学生亲自修订）
【时间盒】
承接第五格：25秒；教师和学生完整读章：90秒；个人两项初稿：60秒；同桌来源核对和修订：40秒；引用原句与转场：25秒
【现场分支】
只等亦已焉哉：先抄一处更早的旧事句，让停止之前的核验过程保留下来。
直接写已经离开：退回原句，只写收束声音；是否实际离开待C605区分。
情绪词互相不同：保留疲惫、怨、清醒等不同初听，不以投票选唯一。
【听者同步任务】
只核对原句和时间位置，不替同伴给末句定性。
【证据位置】
06F C601区
【回到人物和故事】
独自思量以后，女子重新看向偕老愿望、少年欢笑与当初誓言，核验它们如何走到今天
【后续真实调用】
C602读取偕老句，C603读取边界句，C604读取旧事，C605读取结尾声音，C606整章重建
【自然切页句】
先看第一个回环：同一个‘老’字，一边是愿望，一边为什么成了怨？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【V6.3页ID】C602｜及尔偕老｜老使我怨｜5分钟
【本页不可替代的意义】
借两人接读同一个老字，让学生用停顿和重音亲耳发现同词在两个时间层中意义翻转
【删除本页会失去什么】
删除会让首句只剩译文，学生无法从同词回环体验愿望如何在现实中反折，也削弱下一句无边之感
【相邻合并测试】
不能并入C603：本页核心是同词声音翻转，下一页核心是两种解释比较；需要不同证据状态
【教师逐字稿】
先把句子说成自然话。及是同、跟；偕老是共同到老。现在两人一组，一人读‘及尔偕老’，另一人紧接‘老使我怨’。两人的声音必须在同一个‘老’字上交接，交换再来一次。听的人闭眼，只写：第一个老落在怎样的生活愿望里，第二个老落在怎样的现实感受里。（等待对读。）读者只根据反馈改一次停顿或重音，不需要哭腔。我们听一组第二遍。同一个字没有变，时间和生活却变了：曾经盼共同到老，如今想到这样的未来，老去只会使她怨。诗不是另起一句说失望，而让旧愿从同一个字里折回来。
【场面与走位】
屏幕把原句在老字处形成铰链；两名学生以同一个字交接，听者闭眼定位愿望与现实。
（个人自然口译）
（教师校准及与偕老）
（双人以老字接读）
（交换角色再读）
（听者写两层生活）
（读者只改一次）
（呈现一组第二遍）
【时间盒】
口译与词义：60秒；两轮接读：70秒；听者写两层生活：55秒；单点改读和抽样：65秒；后置归纳与转场：50秒
【现场分支】
只说都是年老：保留字面，再补前半的愿望语气和后半的怨意语境。
表演过度：收回哭腔，只改老字前后的一处停顿或重音。
没有听出翻转：分别把偕老和怨按住再读，听者只定位两个词的方向。
【听者同步任务】
只听同一老字前后的愿望与现实是否转折，不示范标准读法。
【证据位置】
06F C602区
【回到人物和故事】
她曾想与他共同到老，如今想到这样的未来，首先升起的却是怨
【后续真实调用】
C603比较有岸/有泮反衬的是心意无常还是怨苦无边；C606重建章意
【自然切页句】
愿望与怨已经撞在一起。下一句忽然说淇水有岸、低湿地有边——究竟在反衬什么没有边？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【V6.3页ID】C603｜淇则有岸，隰则有泮｜6分钟
【本页不可替代的意义】
用两条竞争解释在全班证据席中比较它们各自怎样接前后文，允许学生排序而不封唯一答案
【删除本页会失去什么】
删除会把有岸有泮变成孤立译文或现代口号，学生既不知道两种教材解释，也不能学习如何比较多义诗句
【相邻合并测试】
不能并入C602：本页需要个人双解释和小组证据比较，时间与社会结构均不同于同词对读
【教师逐字稿】
先把字面说准：隰读xí，是低湿的地方；泮读pàn，同畔，是边、岸。淇水有岸，低湿地有边。请先独立写一种可能：诗为什么在偕老与怨之后忽然说自然有界？你的解释要接回前一句或后面的回忆。（等待首解。）四人组轮流只读自己的解释和所接原句；听到不同想法，再补第二种。组内不要投票，把两种解释分别问清：它靠哪个词，怎样接前后文？最后每个人给更能说服自己的一个轻轻加圈，也可以并列，但要写保留理由。（等待。）教材允许两种理解：可反衬男子心意无常、没有限制；也可反衬女子若偕老将产生无边怨苦。它们不是随意猜测，都要经过全章语境。这里不要直接改写成现代口号‘做人要有边界’；先让诗自己的怨、反与信誓说话。
【场面与走位】
屏幕只显示原句、词义和开放问题；学生先个人写，四人组交流时屏幕不出现两种成品解释，教师最后才归纳。
（个人字面口译）
（教师校音释义）
（个人写第一种解释）
（四人轮读证据）
（每人补第二种解释）
（个人排序或并列）
（教师后置多解）
【时间盒】
口译与词义：55秒；个人第一种解释：75秒；四人证据轮读：85秒；个人补解和排序：70秒；公开两种衔接：35秒；教师后置归纳：40秒
【现场分支】
直接写现代边界：追问原句在偕老、怨和后文誓言之间怎样衔接，先恢复诗内意义。
只有一种解释：先保留，听见同伴或教师后再补第二种，不要求假装认同。
用人数判对错：取消表决，只比较各自接哪一句、靠哪个词。
【听者同步任务】
只追问解释的前后文落点和原词，不替全班选唯一答案。
【证据位置】
06F C603区
【回到人物和故事】
女子看见自然万物都有边界，却感到人的反复或自己的怨苦仿佛没有边
【后续真实调用】
C606允许旁白保留所选解释；全文知识收纳将本句作为多义比兴/反衬示例
【自然切页句】
自然边界之后，时间突然退回少年。她为什么在最痛的时候，还把当初的言笑和信誓完整地记起？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【V6.3页ID】C604｜总角之宴｜信誓旦旦｜6分钟
【本页不可替代的意义】
借‘旧日相册—今日核验’双栏，让学生保存一份真实美好，同时用后文事实说明它不能替后来的行为免责
【删除本页会失去什么】
删除会使结尾变成忘掉过去才能停止，或把美好回忆变成继续承受的理由，失去全诗复杂真实
【相邻合并测试】
不能并入C605：本页必须先保存旧日经验并完成行为核验，下一页才有资格读停止判断及其声音
【教师逐字稿】
先把词说准：总角是少年时代；宴是欢乐；晏晏是和悦的样子；旦旦是诚恳的样子；反是违背。现在把纸分成两栏：左边只写她确实记住了什么，右边只写今天核验出了什么行为事实。不要先判断当初内心是真是假。（等待。）同桌交换，各找一种越界：如果写‘过去全是假的’，问言笑晏晏在叙述者记忆里是否真实；如果写‘曾经美好，所以还应该坚持’，问不思其反能否被过去抵消。作者自己改成一句能同时容纳两件真的话。（等待。）我们听两句。她保存少年欢乐和当初信誓，也确认后来行为违背。共同记忆可以解释为什么难以割舍，却不能替失信免责。正因为她记得信誓旦旦，‘反’才如此清楚。
【场面与走位】
屏幕左右为旧日相册和今日核验；学生个人先写，教师不讨论男子当初主观真伪，只守经验与行为事实。
（个人口译两句）
（教师校词）
（个人完成旧日/今日双栏）
（同桌圈两类越界词）
（作者写双真相句）
（公开听两句）
（教师后置责任边界）
【时间盒】
口译与词义：70秒；个人双栏：85秒；同桌越界核查：55秒；作者修订：55秒；公开抽样与归纳：65秒；转场：30秒
【现场分支】
断言过去全假：把主观动机改为叙述者确实保存的言笑晏晏与信誓旦旦。
美好成为继续理由：补回不思其反，区分为何难舍与后来行为责任。
追问当初誓言真假：允许保留问题，诗只提供誓言呈现与后来违背，不直接证明当初心理。
【听者同步任务】
只核查是否抹除真实记忆或用记忆替后来免责，不判断当初动机。
【证据位置】
06F C604区
【回到人物和故事】
她没有删除曾经的欢乐和誓言，正因为记得清楚，后来违背才被看得更清楚
【后续真实调用】
C605以信誓/反/不思回环形成停止判断；全文第三问区分沉没投入与造成伤害
【自然切页句】
旧日没有被删掉，违誓也没有被稀释。最后一句便不再是突然的口号：她把‘反’和‘不思’再说一次，然后说‘亦已焉哉’。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【V6.3页ID】C605｜反是不思，亦已焉哉｜7分钟
【本页不可替代的意义】
先从两句重复词读出核验链，再让两种声线完成公开盲听与个人二次选择，最终准确写出停止判断而非补造行动
【删除本页会失去什么】
删除会让结尾事实、声音和伦理边界混为一谈：或只剩励志决绝，或把停止判断误写成已完成离开
【相邻合并测试】
不能并入C604：旧日记忆和违誓核验必须先完成，末句才可进行双声体验与事实边界判断
【教师逐字稿】
把两句并在一起读。圈出回来一次又一次的词：信誓、反、不思。‘是’指这，指誓言；‘已’是止、了结；焉、哉两个语气词连用，加强收束。请先用自然话写清：她经过什么核验，才说到此为止？（等待。）现在做两种声音实验。同一句‘反是不思，亦已焉哉’，第一遍读得疲惫、克制，像把许多话沉下去；第二遍读得清醒、决绝，像判断终于站稳。两人轮换，听者闭眼，只报实际听见什么，以及在已、焉、哉哪处听见；不要评谁最好。（等待双声与改读。）每个人最后可以选择一种，也可以写两种声音先后交叠，再只改一处。最后写边界：诗写出了什么，没有继续写什么。请把‘她已经离家并开始新生活’改回文本：她形成停止这段关系的判断；怎样实际离开、后来怎样生活，诗没有叙述。她的清醒不因现实行动未写而减少，阅读的诚实也不能因我们希望她离开就补写结局。
【场面与走位】
屏幕两句并列；学生先圈回环词和写判断链，双人完成两种声音的盲听，边界写在学习单，不上屏预给。
（并读两句并圈回环词）
（个人写判断形成链）
（双人第一种声线）
（交换第二种声线）
（听者只报听感位置）
（个人选择或融合并改读）
（写诗写/未写边界）
【时间盒】
词义与回环定位：70秒；个人判断链：70秒；双声盲听：100秒；个人改读：55秒；事实边界写作：65秒；分享归纳与转场：60秒
【现场分支】
只读爽快决绝：保留，再试一次疲惫克制，比较已、焉、哉的收束是否多出层次。
只读无力悲伤：保留痛与倦，再回到已的停止义，看判断是否已经形成。
补写实际离开：将事实降回形成停止判断；行动方式和后来生活标为诗未写。
【听者同步任务】
只报实际听见的声音及原词位置，不选择最佳演法；核查停止判断与实际行动是否混淆。
【证据位置】
06F C605区
【回到人物和故事】
回看欢乐与誓言、确认违背之后，她终于说：这段关系到此为止
【后续真实调用】
C606撤答重建第六章与故事轨道终格；全文第一问写到停止判断，第三问讨论停止后可能面对的结构阻力
【自然切页句】
结尾已经逐字走到。现在收起所有局部解释，看看能否从偕老愿望一路讲到亦已焉哉，并把六章故事真正合拢。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【V6.3页ID】C606｜把第六章讲成她最后一次回望｜7分钟
【本页不可替代的意义】
完整重读后撤去全部支架，用四十秒旁白讲清旧愿—旧事—核验—停止，再恢复六张章末卡排成一条母轨道并连说六章
【删除本页会失去什么】
没有撤答重建，第六章仍会散成多义句与朗读活动，全诗也不能从相识迁嫁连续走到停止判断
【相邻合并测试】
不能并入C605：C605在两句支架下完成声音和边界，本页切换为全支架撤除、全章与全诗重建
【教师逐字稿】
第六章已经逐句走过。请完整重读一遍，让老字的反折、自然边界、少年言笑、信誓与末句依次回来。（读完。）现在合上教材，翻背全部学习卡，同桌互看桌面没有原诗，我按B键熄暗屏幕。用四十秒讲三层：旧愿怎样反折；她重新看见什么；最后作出怎样的判断。听者只报一个断点，没有就说完整。交换。（等待。）讲述者只开教材找遗漏句，合书补说。现在翻回06F写第六格。（等待。）接下来恢复真实材料：从个人故事夹中取出第一至第六章六张章末卡，按章序在桌面排成一列。跨课时由每组材料袋收存，下一课课前原组返还；此刻若缺一张，不凭记忆假装齐全，向同桌借读对应章意，在临时便笺补一个替代格。请先自己沿六格低声连说六十秒，再讲给同桌听；听者只指出一个真正断点，没有断点就说出最清楚的一处因果，不制造错误。作者只在有断点时返诗补说。（等待。）谁愿意让全班听一段六章人生？（引用，修事实边界。）她不是忘掉过去才停止，而是把过去与今天一一核验以后，说出亦已焉哉。诗写停止判断，没有写完现实行动。六张卡保持原序，下一页第一问会直接读取这条母轨道。
【场面与走位】
屏幕先供完整重读；第六章检索时撤去教材、全部卡片和投影。完成第六格后，学生从个人故事夹恢复六张章末卡，按一至六章横向排成真实母轨道；屏幕只显示章序，不显示六个假作品框。
（完整重读第六章）
（合书翻背全部材料）
（按B键熄屏）
（双方各讲四十秒）
（返诗定位后合书补说）
（写第六格）
（从故事夹恢复六张章末卡并按序排开）
（个人先沿六格低声连说）
（同桌沿母轨道互讲并按真实断点反馈）
（全班听一段完整作品）
【时间盒】
完整重读：45秒；撤去支架：30秒；双方旁白：90秒；返诗补说：35秒；写第六格：35秒；恢复六张卡并排成母轨道：30秒；个人低声连说与同桌互讲：115秒；真实断点反馈、全班作品与转场：40秒
【现场分支】
只讲末句：从末句往前找它依赖的旧愿、旧事和违誓核验。
把过去全抹掉：补回总角言笑和信誓，它们真实存在但不替后来免责。
写成实际离开：改回形成停止判断；现实行动未写。
章末卡缺失：借同桌核对对应章意，在临时便笺补一个替代格；课后再补齐个人故事夹。
【听者同步任务】
先核对旧愿、旧事、核验、停止是否连成过程；六章互讲时只报一个真实断点或最清楚的因果，并检查是否越过实际行动边界。
【证据位置】
06F C606区、按序排开的六张章末卡、临时缺卡便笺和六章连讲
【回到人物和故事】
她把曾经的偕老、言笑和信誓一一看清，在违誓事实前作出到此为止的判断
【后续真实调用】
全文S01直接读取桌面六章母轨道回答经历；S02/S03读取生活与责任证据；末句边界贯穿现实讨论
【自然切页句】
六张卡保持原序。下一页先沿这条人生轨道回答：她经历了什么？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【V6.4页ID】S01｜一｜她经历了什么？｜10分钟
【本页不可替代的意义】
让每名学生沿自己的六章母轨道写出六句连续人生，经同桌只查真实断点后形成第一问的个人答案
【删除本页会失去什么】
没有个人六章重建，第一问只剩教师时间轴或小组代表答案，无法证明每名学生真正拥有完整故事
【相邻合并测试】
不能并入S02：本页回答人生发生顺序与因果，S02把其中婚后原句翻成现实日常；能力和产物不同
【教师逐字稿】
第六章结束时，六张章末卡已经按一到六排在桌上。现在回答第一个问题：她经历了什么？请不要抄活动名称，也不要只写‘恋爱、结婚、悲剧、觉醒’。沿六张卡，每章一句，用人物、事情和变化把她的一生写下来。先由每个人独立完成。（等待书写。）现在讲给同桌听，从第一句一直讲到第六句。听者只做一件事：如果故事真的断了，就指出缺的是人物、动作还是转折；如果已经连贯，不要硬贴问号，请说出你听见的最清楚的一处因果。交换。（等待。）作者只在有断点时打开原诗补回；原来准确，就写‘连贯，保留’。最后把六句轻轻收成一段第一问答案。我们听两份不同措辞的作品。（引用现场语言。）末端守住边界：‘亦已焉哉’写她作出停止判断，诗没有继续叙述她怎样离开、后来怎样生活。
【场面与走位】
学生桌面保留C606恢复的六张章末卡，屏幕只有一条章序；个人先写，同桌后听，教师不投影完成时间轴。
（确认六张章末卡按序在桌面）
（个人写六句人生）
（同桌完整倾听）
（只报真实断点或最清楚因果）
（作者按需返诗修订）
（抽样两份完整作品）
【时间盒】
恢复母轨道与读题：70秒；个人六句人生：150秒；同桌互讲与反馈：100秒；作者按需返诗修订：90秒；两份作品与教师后置归纳：130秒；保存第一问并转场：60秒
【现场分支】
只写主题标签：追问每一章谁做了什么、生活怎样改变，把标签改回事情。
没有真实断点：不制造问题，改为指出最清楚的一处前因后果。
结尾写实际离开：退回‘亦已焉哉’，改成作出停止判断；行动与后来生活未写。
【听者同步任务】
从第一章听到第六章，只报一个真实断点；无断点则复述最清楚的一处因果。
【证据位置】
六张章末卡、全文综合学习包S01区和按需修订痕迹
【回到人物和故事】
女子从相识、等待和迁嫁走进多年婚后生活，在失信、粗暴和孤立中回望旧誓，最后作出到此为止的判断
【后续真实调用】
S02从第四、五章抽取婚后日常；S08直接读取本页第一问答案压缩为两句
【自然切页句】
事情已经连起来。现在把第四、第五章的一句诗放进今天的日子里：她婚后的不幸，究竟怎样发生在生活中？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【V6.4页ID】S02｜二｜她婚后的不幸，在生活中是什么样子？｜10分钟
【本页不可替代的意义】
让每名学生把一处婚后原句写成第三人称日常片刻，再由同伴反向配诗检验现实阐释是否仍站在文本上
【删除本页会失去什么】
若直接公布四个概念，学生无法从古诗走向现实生活，也无法检验自己的现代阐释是否仍有原句依据
【相邻合并测试】
不能并入S03：本页先让生活事实可见，下一页才讨论原因和责任；事实未站稳就归因会导致受伤者归责
【教师逐字稿】
第二问换一种语言：她婚后的不幸，在生活中是什么样子？请从第四、第五章选一句，写成二十到三十五字的日常片刻。只谈作品中的第三人称，不讲自己的家庭。不要只写‘她很惨、被压榨、遭背叛’，要让人看见谁在做什么，日子怎样一天天过去。（等待个人写。）交换给同桌。听者不替作者润色，只从这段文字里找回最能托住它的原句；能配回，就把原句写在下面；配不回或看见具体暴力、全部家人拒绝、已经离开等诗中未写内容，才留下问号。（等待。）原作者拿回来：有问号就删去虚构或把话放轻；确实能配回，就写‘可配回，无需改’，不为活动制造修改。我们听三帧不同的日子，再回到原句。（引用作品。）这些日子让贫苦、长期劳作、男子失信粗暴、兄弟不知而笑和女子独自悲悼真正可见。
【场面与走位】
屏幕只显示一个开放的日常片刻入口；学生个人写，同桌反向配诗，原作者拿回修改权。
（个人选择第四或第五章原句）
（写第三人称日常片刻）
（同桌反向配诗）
（只在配不回或越界时标问号）
（作者按需修订或保留）
（分享三份不同片刻）
【时间盒】
回到第四第五章与说明边界：70秒；个人日常片刻：150秒；同桌配诗或标真实问号：100秒；作者按需修订或保留：100秒；三份作品与教师后置归纳：130秒；保存第二问材料并转场：50秒
【现场分支】
只写抽象标签：追问镜头里谁在做什么、一天怎样过去，把概念改成可观察行为。
补写具体伤害：删去诗中未写的方式，退回‘粗暴、失信’及已经写出的生活事实。
完全可以配回：写‘可配回，无需改’，保留准确作品，不强迫制造问题。
【听者同步任务】
只为同伴文字配回原句；配不回或越界才标问号，不替作者重写。
【证据位置】
全文综合学习包S02区的日常片刻、同伴所配原句和作者处理结果
【回到人物和故事】
她的不幸不是一个抽象的‘悲剧’，而是多年贫苦与劳作、伴侣态度改变、外部不理解以及最终独自悲伤的日子
【后续真实调用】
S03读取学生片刻中的事实，区分直接伤害责任、退出困难和诗中不能断言；S08压缩回答第二问
【自然切页句】
日子已经可见。第三问要更谨慎：哪些是婚前值得警惕的征兆，谁直接造成伤害，又是什么让停止变得困难？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【V6.4页ID】S03｜三｜这场婚姻为什么走到这一步？｜12分钟
【本页不可替代的意义】
让每名学生写清婚前警惕、直接伤害责任、停止困难和不能断言四层，同桌只核责任/阻力混淆与证据越界，形成不归责受伤者的第三问答案
【删除本页会失去什么】
若只问一个笼统的‘原因’，学生容易把女子沉溺和未早离开写成男子伤害她的原因，伦理和文本边界都会失守
【相邻合并测试】
不能并入S04：本页解释诗中悲剧如何形成，S04才从旧主题走向个人婚姻理解；事实归因和价值讨论需先后分开
【教师逐字稿】
第三问最容易把不同事情揉成一句。请在纸上分四层写，但不要搬运标签：第一，婚前哪些细节值得警惕；第二，谁用什么行为直接造成伤害；第三，为什么关系已经失衡，她仍那么难停下来；第四，哪些说法超出了诗。每一层旁边都留一个原句。（等待个人写。）现在同桌只查两件事：你有没有把‘她为什么难停’写成‘他为什么伤害她’？你有没有把完整预谋、具体暴力、完整求助史或实际离开写成诗中事实？发现问题只圈出那句话，作者自己移层或改弱；两项都稳妥，就写‘通过，保留’。（等待。）全班只讨论现场真正出现的分歧；没有分歧，就比较两种准确答案怎样引用不同原句。我们守住底线：男子失信、反复、粗暴直接造成伤害；女子的投入、劳作、共同记忆和支持缺失只能解释停止为何更难，不能分担他的责任。‘蚩蚩’、贸丝与谋婚、‘无怒’值得回看，却不足以证明一套完整预谋。
【场面与走位】
学生独立写四层原因段，同桌进行两项边界核查；全班公共讨论只处理真实发生的分歧，不摆四区卡墙。
（重新打开相关原句）
（个人写四层原因段）
（同桌核责任阻力）
（同桌核事实猜测）
（作者按需移层改弱或保留）
（只处理真实分歧）
（教师守住伦理与证据边界）
【时间盒】
恢复证据与说明四层：90秒；个人四层原因段：180秒；同桌双边界核查：140秒；作者按需修订或保留：120秒；真实分歧与教师后置归纳：150秒；保存第三问并转场：40秒
【现场分支】
女子投入被写成伤害原因：追问这是解释他为何伤害，还是她为何难停；移回停止困难，不分担男子责任。
动机和伤害方式越界：若原诗找不到直接证据，改为‘值得警惕’或放入‘诗中不能断言’。
没有真实分歧：不制造争议，比较两份准确答案各自依靠了哪些原句。
【听者同步任务】
只查责任/阻力和事实/猜测两组边界，不替同伴写完整原因段。
【证据位置】
全文综合学习包S03区的四层原因段、双边界核查和作者处理结果
【回到人物和故事】
悲剧既有婚前被忽视的信号，也有婚后明确的失信与粗暴；她的投入和孤立解释为何难以及时停止，却不能解释他为何伤害
【后续真实调用】
S04用本页原因反证共同生活中需要观察的行为；S08读取第三问答案和诗写/未写边界
【自然切页句】
三问已经有了个人答案。现在回到开课时那面文学主题谱：读完《氓》，你愿意替当时的自己补上哪一句？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【V6.4页ID】S04｜读完《氓》，再看开课时的爱情与婚姻主题｜13分钟
【本页不可替代的意义】
让每名学生用《氓》补充、修正或保留开课时的一条主题，并把婚姻理解落到共同生活中可观察的行为
【删除本页会失去什么】
没有本页，O03主题谱成为孤儿产物，婚姻讨论也只剩教师处方，学生没有完成从旧文学经验到个人关系理解的闭环
【相邻合并测试】
不能并入S03：原因解释要求证据分类和伦理边界，本页需要回看旧主题并形成价值判断；两种思考节奏不同
【教师逐字稿】
先不切这页，请看开课时拍下的班级主题谱。（教师投影O03真实主题谱照片，逐项指认两三条本班原话。）这些不是我今天才编的答案，是你们进入《氓》以前真正说过的话。现在切回这一页。请选择自己或同学当时的一条朴素主题，写三行：我原来想到什么；读完《氓》，我愿意补充、修正还是保留什么；把它放进共同生活，我会观察什么行为。旁边写一处原句。行为要能被看见，例如承诺是否经得起行动、劳动和决定是否长期只压在一人身上、造成伤害后是否承担责任、困难时是否有理解与托举；这些只是帮助你把话落地，最终用自己的语言。（等待。）四人依次读一次，听者只问：这处原句真的托得住吗？这个提醒在生活中看得见吗？作者按需修改；原来准确就保留。有真实分歧才带到全班，没有分歧不算失败。全程只谈作品或第三人称，不分享私人家庭与恋爱经历。
【场面与走位】
教师先暂离PPT投影O03真实主题谱照片，再切回本页；学生个人写，四人一次互证，公共阶段只听真实分歧和有文学依据的不同提醒。
（投影O03真实主题谱照片）
（引用本班两三条原话）
（切回S04个人修订入口）
（个人写主题修订链）
（四人各读一次）
（只问原句和行为对应）
（作者按需修订）
（只公开真实分歧）
【时间盒】
重看主题谱照片与引用原话：70秒；个人主题修订链：160秒；四人一次互证：180秒；作者按需修订：120秒；真实分歧、不同提醒与教师归纳：190秒；保存个人提醒并转场：60秒
【现场分支】
只有抽象口号：追问在共同生活中能看见什么行动、分担或回应，再让原诗托住。
小组完全一致：允许一致，各自说明原句与行为即可，不强制制造分歧。
转向私人经历：温和收回作品或第三人称，不采集学生恋爱、婚姻和家庭信息。
【听者同步任务】
只问原句是否托住判断、提醒是否落到可观察行为；不评价私人选择。
【证据位置】
O03主题谱照片、全文综合学习包S04区和四人互证后的个人修订
【回到人物和故事】
《氓》让开课时的爱情与婚姻主题走进共同生活：誓言要由行动验证，长期失衡和伤害不能被投入与旧日美好遮蔽
【后续真实调用】
S08读取本页个人修订链，形成‘我从《氓》带走的一条共同生活提醒及原句’
【自然切页句】
观点已经从旧故事走到《氓》。接下来合上书，看看散在六章里的字词，哪些真正留在了记忆里。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【V6.4页ID】S05｜这些字，离开注释还认得吗？｜8分钟
【本页不可替代的意义】
让学生先合书检索，再用原句校准个人不稳项，并把真实错空项交给S07个人知识清单
【删除本页会失去什么】
没有先检索后核对，无法知道学生真正记住什么；若直接展示整页答案，只会再次产生熟悉感而非掌握
【相邻合并测试】
不能并入S06：本页检验准确记忆和语境义，S06解释写法怎样改变声音、时间和人物处境，认知任务不同
【教师逐字稿】
请合上书，把前面的卡片翻扣。先写三项路标：《诗经》是什么，分哪三类，《氓》收在哪里；再从屏幕十个字词中任选六个，注音或写出本句意思。想不起可以空着，空白比照抄更能告诉你哪里需要回来。（真实等待。）同桌互相抽问三个，只核这个字在本句怎样读、怎样解释，不报分数。现在翻开原诗和自己的批注，用另一种颜色只校正错项和空项，不整页抄。我只处理班级真正出现的共性问题。（按现场错项校准。）请把一个真实不稳项写入S07清单；如果全部准确，不制造星号，选择一个最容易混、但你现在能用原句解释的词。最后在原句中准确读一遍，让字义重新回到人物处境。
【场面与走位】
屏幕只给检索对象；学生合书独立写，同桌三词口测，随后翻开原句以另一颜色只校正错空项。
（合书翻扣材料）
（个人检索三项路标和六个字词）
（同桌三词口测）
（翻开原句核对）
（另一颜色修复错空项）
（选一项进入S07）
（在原句中准确读一次）
【时间盒】
个人合书检索：150秒；同桌三词口测：80秒；翻开原句核对：100秒；错空项当场修复：90秒；共性校准与转场：60秒
【现场分支】
准备整页抄：停笔，只校正自己的错项和空项，保留原稿作为检索证据。
全部准确：不制造错误，选择一个最易混但能用原句解释的词进入个人清单。
仍读不准：在原句旁标音，跟随教师准确读一次，再独立读一次。
【听者同步任务】
同桌只核三个词在本句的音义，不给排名；公开阶段只报告共性错项。
【证据位置】
全文综合学习包S05检索区、原句旁另一颜色修复和待写入S07的一项
【回到人物和故事】
字词不是离开人物的表格：说关系能否脱身，渐写水湿车帷，咥写外面的笑，已写停止判断
【后续真实调用】
S07必须打开本页错空项修复，写入个人知识清单第一栏；S08最后朗读用准确字音完成全诗
【自然切页句】
字词已经回到原句。现在只选三组诗句，看一看：同一个词、同一幅物象，怎样让声音、时间和人物的处境改变。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【V6.4页ID】S06｜这些诗句，为什么非得这样写？｜9分钟
【本页不可替代的意义】
让每名学生从三组原句任选一组形成‘原词关系—声音或时间变化—人物处境’短卡，经同桌用另一组原句检验后交给S07
【删除本页会失去什么】
若只列手法表，全文逐句体验不能沉淀为语文知识；若只讲故事，又没有形成可迁移的形式解释
【相邻合并测试】
不能并入S07：本页仍在生成和互证形式解释，S07撤去原句群后只做个人收束与自我检索
【教师逐字稿】
这一页只选三组，不求把所有手法一网打尽。请选择一组：桑叶从沃若到黄而陨；两声‘于嗟’从斑鸠落到女子；信誓中的‘反、不思’在结尾重新回来。先不要用‘生动形象、表达感情’收尾。写三层：哪些原词彼此相照；声音或时间怎样改变；女子的处境因此怎样被看见。（等待个人短卡。）交换给同桌。听者另选一组原句，试一试同伴的解释方法能不能迁移；只指出原词关系或人物作用断在哪里，不替作者写答案。作者拿回，必要时修订；迁移成立就写‘保留’。（等待。）现在才核对名称：桑叶前后可见比兴和对照，两声于嗟有呼告与反复，反与不思在末章构成词语回环。名字重要，但必须站在原词关系和人物处境之上。把修订后的短卡留给下一页。
【场面与走位】
屏幕只放三组原句和两个文学问题；学生个人写短卡，同桌用另一组诗句做迁移检验，教师最后才命名。
（每人任选一组原句）
（个人写三层短卡）
（同桌交换短卡）
（用另一组原句迁移检验）
（作者按需修订或保留）
（教师后置命名）
（保存修订卡进入S07）
【时间盒】
读三组原句并任选一组：70秒；个人三层短卡：140秒；同桌迁移检验：130秒；作者按需修订：100秒；两份作品与教师后置命名：80秒；保存短卡并转场：20秒
【现场分支】
只报术语：先遮住术语，补出相照的原词、声音或时间变化及人物处境。
只写生动形象：追问哪两个原词形成什么关系，故事因此多发生了什么。
迁移已经成立：写‘保留’，不为了流程制造错误或强制改写。
【听者同步任务】
用另一组原句检验方法是否成立，只报原词关系或人物作用的真实断点。
【证据位置】
全文综合学习包S06短卡、同桌迁移检验和作者处理结果
【回到人物和故事】
诗不是给悲剧贴标签，而让桑叶由荣到落、叹息由物到人、信誓在结尾折返，从写法中显出女子处境的变化
【后续真实调用】
S07打开本页修订短卡，写入个人知识清单第二栏；S08可选其中一处原句作为最值得带走的语言发现
【自然切页句】
字词已经校准，写法也从原句里长出来。现在把这两页真正属于你的东西，收进一张个人书页。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【V6.4页ID】S07｜把字词和写法，收回手中｜7分钟
【本页不可替代的意义】
让每名学生把一个字词语境、一条形式解释和两条文本边界组成个人知识清单，经同桌只查可定位性后完成收束
【删除本页会失去什么】
没有独立知识收束，S05星标和S06短卡仍无真实消费者，最终退出页也会被迫同时承担过多知识和观点
【相邻合并测试】
不能并入S08：本页专门组织学科知识并允许安静检索，S08回答人物三问、关系理解和朗读；合并会使终页过载
【教师逐字稿】
请不要翻到教师总结，先打开你自己的两份痕迹：S05里校正过的字词，S06里修订过的短卡。现在组成一张个人书页。第一栏写一个你已经能读准、说清的字词，并抄回它所在的短句；第二栏写一处写法，讲清原词怎样相照、声音或时间怎样变、人物处境怎样显出；第三栏写一组‘诗写了／诗没有写’。（等待。）交换给同桌，只查三项能不能定位：这个词在哪句，这个写法靠哪两个词，这条边界有没有越过原文。都能定位，就写‘可定位，保留’；有一项找不到，作者自己翻诗补准。（等待。）今天不再增加一张标准知识表。能被你准确找到、解释并守住边界的，才真正属于你。把这张书页留在手边，最后朗读前还要用它校准字音。
【场面与走位】
学生同时打开S05和S06个人材料，屏幕只显示一张书页的三类入口；同桌只做定位核查，教师不公布整页答案。
（打开S05个人修复）
（打开S06修订短卡）
（个人组成三类知识清单）
（同桌只查三项定位）
（作者按需返诗补准）
（准确者保留）
（把清单留在手边）
【时间盒】
打开前两页痕迹与说明书页：60秒；个人三类知识清单：170秒；同桌三项定位核查：80秒；作者按需返诗补准：70秒；保存知识清单并转场：40秒
【现场分支】
S05没有错项：写一个最易混但自己已能用原句解释的词，不制造错误。
形式作用空泛：回到S06短卡，补出相照原词和人物处境。
三项均可定位：写‘可定位，保留’，不强制改动。
【听者同步任务】
只查字词、写法和边界能否定位到原句，不替同伴选择内容。
【证据位置】
全文综合学习包S07个人知识清单、S05修复与S06短卡的回指
【回到人物和故事】
学生不仅知道故事悲剧，还能准确读原句、说明诗怎样组织声音与时间，并辨认诗写到哪里为止
【后续真实调用】
S08朗读前读取字词清单保证准确发音；退出作品可引用本页一处语言发现，不再让S05、S06成为孤儿产物
【自然切页句】
知识已经留在自己的书页。最后回到那位女子：用最少的话回答三问，再留下你愿意带走的一句提醒和一个仍想追问的问题。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【V6.4页ID】S08｜把理解与问题一起带走｜10分钟
【本页不可替代的意义】
让每名学生浓缩回答三问、保存一条共同生活提醒及原句和一个可选问题，经单一事实边界核查后以完整朗读结束
【删除本页会失去什么】
没有个人退出作品和完整朗读，全课成果只停在小组交流与教师归纳，无法知道每名学生最终带走什么
【相邻合并测试】
不能并入S07：S07收束字词、写法和边界，S08回到人物三问与关系理解并完成整诗朗读；合并将终页再次过载
【教师逐字稿】
最后不再增加新知识。请打开S01到S04，用最少的话写完：她从什么走到什么；她婚后的日子让你看见什么；这场婚姻为什么走到这一步。接着写一条你愿意从《氓》带走的共同生活提醒，并让一处诗句托住它。仍有真正想追问的问题，就写下来；此刻没有，可以留白，不为结束制造问号。（安静书写。）同桌只核一个事实边界：有没有把她的投入和困境写成他伤害她的原因，或者把‘亦已焉哉’写成已经实际离开。两项都准确，就写‘边界准确，无需改’；有一项越界，作者自己改。（等待。）我们听三种不同的带走句，不评唯一答案。（引用真实作品。）现在把S07知识清单放在教材旁，扫一眼个人字音提醒。翻回全文，从‘氓之蚩蚩’开始，完整读到‘亦已焉哉’。不要表演教师的结论，让六章的声音和你现在的理解一起走完。（最后一句落下，教师停顿，不追加口号。）
【场面与走位】
学生先安静完成个人退出作品，同桌只做一次事实边界核查；随后翻回教材全文，S07清单放在旁边校准字音，全班连续朗读。
（打开S01至S04个人产物）
（个人写三问与关系提醒）
（可选留下问题）
（同桌只核一个事实边界）
（作者按需修订或保留）
（分享三种不同带走句）
（用S07校准字音）
（最后完整朗读并安静结束）
【时间盒】
个人三问与关系提醒：160秒；同桌单一边界核查：80秒；作者按需修订：70秒；三种不同带走句：80秒；校准字音与最后完整朗读：150秒；停顿、收存与结束：60秒
【现场分支】
责任与困难混淆：将谁造成伤害、什么使停止更难拆开，责任不转给女子。
结尾越界：改为作出停止判断；行动与后来生活仍未写。
没有未解问题：允许留白，不为形式制造问题；把注意留给最后完整朗读。
【听者同步任务】
只核查责任/困难和判断/行动的事实边界；最后朗读时不评价同伴情感。
【证据位置】
全文综合学习包S08退出作品、S07字音清单和最后完整朗读
【回到人物和故事】
女子从相遇、投入和共同生活走到失衡、孤立与停止判断；她的声音进入学生对审慎、责任、平衡、支持和边界的个人思考
【后续真实调用】
作为真实试教后的个人学习证据，用于判断哪些理解已经形成、哪些字词和问题仍需回访，并作为后续课时压缩依据
【自然切页句】
（‘亦已焉哉’落下。教师停顿，不追加口号。）下课。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我们还记得哪些爱情与婚姻故事？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61488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一句话唤回故事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它让我想到什么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41832" y="1938528"/>
            <a:ext cx="173736" cy="173736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2395728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2395728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395728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871216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3328416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3328416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3328416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803904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7592" y="4261104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4261104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4261104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" y="4736592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07592" y="5193792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5193792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5193792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592531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先写一篇；还能想起，继续往下写。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一间教室，许多故事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10451592" cy="3840480"/>
          </a:xfrm>
          <a:prstGeom prst="roundRect">
            <a:avLst>
              <a:gd name="adj" fmla="val 1190"/>
            </a:avLst>
          </a:prstGeom>
          <a:solidFill>
            <a:srgbClr val="38312A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4752" y="20574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874520" y="2551176"/>
            <a:ext cx="2880360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0574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》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138928" y="2029968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让我想到爱情或婚姻中的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07424" y="2551176"/>
            <a:ext cx="111556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895344"/>
            <a:ext cx="9354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先把一篇作品，完整地说给身边的人听。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97280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207008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316736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97280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207008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316736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097280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0" y="1207008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2880" y="1316736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1069848"/>
            <a:ext cx="10287000" cy="4526280"/>
          </a:xfrm>
          <a:prstGeom prst="arc">
            <a:avLst/>
          </a:prstGeom>
          <a:solidFill>
            <a:srgbClr val="28241F">
              <a:alpha val="0"/>
            </a:srgbClr>
          </a:solidFill>
          <a:ln w="27940">
            <a:solidFill>
              <a:srgbClr val="456F7C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719072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相遇以后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爱情走进共同生活，</a:t>
            </a:r>
            <a:endParaRPr lang="en-US" sz="3900" dirty="0"/>
          </a:p>
          <a:p>
            <a:pPr algn="ctr" indent="0" marL="0">
              <a:buNone/>
            </a:pPr>
            <a:r>
              <a:rPr lang="en-US" sz="390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日子会怎样改变两个人？</a:t>
            </a:r>
            <a:endParaRPr lang="en-US" sz="3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9864" y="1078992"/>
            <a:ext cx="640080" cy="640080"/>
          </a:xfrm>
          <a:prstGeom prst="ellipse">
            <a:avLst/>
          </a:prstGeom>
          <a:solidFill>
            <a:srgbClr val="9C4538">
              <a:alpha val="90000"/>
            </a:srgbClr>
          </a:solidFill>
          <a:ln w="12700">
            <a:solidFill>
              <a:srgbClr val="9C4538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434840" y="3794760"/>
            <a:ext cx="3319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spc="350" kern="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méng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291840" y="4709160"/>
            <a:ext cx="5605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92608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961120" y="347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眼随声走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6656" y="768096"/>
            <a:ext cx="10844784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3268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78992"/>
            <a:ext cx="73152" cy="1353312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73352" y="105156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676656" y="280720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FFCF7"/>
          </a:solidFill>
          <a:ln w="12700">
            <a:solidFill>
              <a:srgbClr val="FFF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953512"/>
            <a:ext cx="73152" cy="1353312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73352" y="292608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650" dirty="0"/>
          </a:p>
        </p:txBody>
      </p:sp>
      <p:sp>
        <p:nvSpPr>
          <p:cNvPr id="14" name="Shape 12"/>
          <p:cNvSpPr/>
          <p:nvPr/>
        </p:nvSpPr>
        <p:spPr>
          <a:xfrm>
            <a:off x="676656" y="468172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828032"/>
            <a:ext cx="73152" cy="1353312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8646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73352" y="480060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92608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961120" y="347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眼随声走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6656" y="768096"/>
            <a:ext cx="10844784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3268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78992"/>
            <a:ext cx="73152" cy="1353312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73352" y="105156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676656" y="280720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FFCF7"/>
          </a:solidFill>
          <a:ln w="12700">
            <a:solidFill>
              <a:srgbClr val="FFF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953512"/>
            <a:ext cx="73152" cy="1353312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73352" y="292608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650" dirty="0"/>
          </a:p>
        </p:txBody>
      </p:sp>
      <p:sp>
        <p:nvSpPr>
          <p:cNvPr id="14" name="Shape 12"/>
          <p:cNvSpPr/>
          <p:nvPr/>
        </p:nvSpPr>
        <p:spPr>
          <a:xfrm>
            <a:off x="676656" y="468172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828032"/>
            <a:ext cx="73152" cy="1353312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8646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73352" y="480060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68680" y="1353312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698480" y="21488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”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572768" y="2331720"/>
            <a:ext cx="9015984" cy="0"/>
          </a:xfrm>
          <a:prstGeom prst="line">
            <a:avLst/>
          </a:prstGeom>
          <a:noFill/>
          <a:ln w="17780">
            <a:solidFill>
              <a:srgbClr val="D2C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2980944"/>
            <a:ext cx="9015984" cy="0"/>
          </a:xfrm>
          <a:prstGeom prst="line">
            <a:avLst/>
          </a:prstGeom>
          <a:noFill/>
          <a:ln w="17780">
            <a:solidFill>
              <a:srgbClr val="D2C1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8404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我看见／我听见／我想问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60120" y="4690872"/>
            <a:ext cx="1016812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5486400"/>
            <a:ext cx="1016812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读懂六章，我们要回答什么？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EEE3D2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417320"/>
            <a:ext cx="822960" cy="640080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2057400" y="1847088"/>
            <a:ext cx="822960" cy="621792"/>
          </a:xfrm>
          <a:prstGeom prst="chevron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DDE9E9"/>
          </a:solidFill>
          <a:ln w="15240">
            <a:solidFill>
              <a:srgbClr val="456F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9592" y="1417320"/>
            <a:ext cx="822960" cy="640080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5879592" y="1847088"/>
            <a:ext cx="822960" cy="621792"/>
          </a:xfrm>
          <a:prstGeom prst="chevron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9592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19472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在生活中是什么样子？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394192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01784" y="1417320"/>
            <a:ext cx="822960" cy="640080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9701784" y="1847088"/>
            <a:ext cx="822960" cy="621792"/>
          </a:xfrm>
          <a:prstGeom prst="chevron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741664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走到这一步？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这首诗，收在哪里？谁在说话？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49808" y="12618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出处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72768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EEE2D0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92424" y="21396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86200" y="1783080"/>
            <a:ext cx="960120" cy="1097280"/>
          </a:xfrm>
          <a:prstGeom prst="roundRect">
            <a:avLst>
              <a:gd name="adj" fmla="val 4762"/>
            </a:avLst>
          </a:prstGeom>
          <a:solidFill>
            <a:srgbClr val="E1E7D9"/>
          </a:solidFill>
          <a:ln w="15240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风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974336" y="21396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DDE9E9"/>
          </a:solidFill>
          <a:ln w="1524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《卫风》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06056" y="21396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81812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36192" y="3127248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我国最早的诗歌总集，共305篇｜分风、雅、颂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1056132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159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诗中谁在说话？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3584448" y="4078224"/>
            <a:ext cx="7452360" cy="1298448"/>
          </a:xfrm>
          <a:prstGeom prst="roundRect">
            <a:avLst>
              <a:gd name="adj" fmla="val 3521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4370832"/>
            <a:ext cx="6848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一位女子，用第一人称回望自己的婚姻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4754880" y="493776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这是《氓》里的讲述声音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第一章｜两个人怎样走近婚事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88752" cy="4005072"/>
          </a:xfrm>
          <a:prstGeom prst="roundRect">
            <a:avLst>
              <a:gd name="adj" fmla="val 1142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" y="1463040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2144" y="2093976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2144" y="2724912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152144" y="3355848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152144" y="3986784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14400" y="5532120"/>
            <a:ext cx="164592" cy="164592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5431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圈一圈他做的事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681728" y="5532120"/>
            <a:ext cx="164592" cy="164592"/>
          </a:xfrm>
          <a:prstGeom prst="ellipse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5431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划一划她做的事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09560" y="54315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同桌只核对：这是谁做的？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3474720" y="608990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暂时不懂的词，先留一个问号。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抱布而来，是为了什么？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22960" y="1170432"/>
            <a:ext cx="10543032" cy="2103120"/>
          </a:xfrm>
          <a:prstGeom prst="roundRect">
            <a:avLst>
              <a:gd name="adj" fmla="val 2174"/>
            </a:avLst>
          </a:prstGeom>
          <a:solidFill>
            <a:srgbClr val="38312A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27048"/>
            <a:ext cx="9957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115568" y="2359152"/>
            <a:ext cx="9957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3E372E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诗先让我们看见什么？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4498848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303A3D"/>
          </a:solidFill>
          <a:ln w="1397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女子随后告诉我们什么？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8174736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40302D"/>
          </a:solidFill>
          <a:ln w="13970">
            <a:solidFill>
              <a:srgbClr val="9C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0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哪个字，让话转了弯？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3017520" y="581558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先说成自己的自然话，再回到原词。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她把他送了多远？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120700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188720" y="2176272"/>
            <a:ext cx="981151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743200"/>
            <a:ext cx="2697480" cy="2697480"/>
          </a:xfrm>
          <a:prstGeom prst="ellipse">
            <a:avLst/>
          </a:prstGeom>
          <a:solidFill>
            <a:srgbClr val="EFE4D2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4745736" y="2743200"/>
            <a:ext cx="2697480" cy="2697480"/>
          </a:xfrm>
          <a:prstGeom prst="ellipse">
            <a:avLst/>
          </a:prstGeom>
          <a:solidFill>
            <a:srgbClr val="DDE9E9"/>
          </a:solidFill>
          <a:ln w="12700">
            <a:solidFill>
              <a:srgbClr val="DDE9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涉</a:t>
            </a:r>
            <a:endParaRPr lang="en-US" sz="4900" dirty="0"/>
          </a:p>
        </p:txBody>
      </p:sp>
      <p:sp>
        <p:nvSpPr>
          <p:cNvPr id="11" name="Shape 9"/>
          <p:cNvSpPr/>
          <p:nvPr/>
        </p:nvSpPr>
        <p:spPr>
          <a:xfrm>
            <a:off x="8257032" y="2743200"/>
            <a:ext cx="2697480" cy="2697480"/>
          </a:xfrm>
          <a:prstGeom prst="ellipse">
            <a:avLst/>
          </a:prstGeom>
          <a:solidFill>
            <a:srgbClr val="F0DDD5"/>
          </a:solidFill>
          <a:ln w="12700">
            <a:solidFill>
              <a:srgbClr val="F0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2880360" y="5715000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用这三个字，把这段路说出来。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她怎样把婚事继续说下去？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143000"/>
            <a:ext cx="10579608" cy="2011680"/>
          </a:xfrm>
          <a:prstGeom prst="roundRect">
            <a:avLst>
              <a:gd name="adj" fmla="val 2273"/>
            </a:avLst>
          </a:prstGeom>
          <a:solidFill>
            <a:srgbClr val="FFFCF7"/>
          </a:solidFill>
          <a:ln w="13335">
            <a:solidFill>
              <a:srgbClr val="D2C1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51560" y="2295144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194560" y="3547872"/>
            <a:ext cx="7799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这四小句，各在做什么？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515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64208" y="4626864"/>
            <a:ext cx="1353312" cy="0"/>
          </a:xfrm>
          <a:prstGeom prst="line">
            <a:avLst/>
          </a:prstGeom>
          <a:noFill/>
          <a:ln w="13970">
            <a:solidFill>
              <a:srgbClr val="456F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4626864"/>
            <a:ext cx="1353312" cy="0"/>
          </a:xfrm>
          <a:prstGeom prst="line">
            <a:avLst/>
          </a:prstGeom>
          <a:noFill/>
          <a:ln w="13970">
            <a:solidFill>
              <a:srgbClr val="AC8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E1E7D9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50608" y="4626864"/>
            <a:ext cx="1353312" cy="0"/>
          </a:xfrm>
          <a:prstGeom prst="line">
            <a:avLst/>
          </a:prstGeom>
          <a:noFill/>
          <a:ln w="13970">
            <a:solidFill>
              <a:srgbClr val="6477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93808" y="4626864"/>
            <a:ext cx="1353312" cy="0"/>
          </a:xfrm>
          <a:prstGeom prst="line">
            <a:avLst/>
          </a:prstGeom>
          <a:noFill/>
          <a:ln w="13970">
            <a:solidFill>
              <a:srgbClr val="9C4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184648"/>
            <a:ext cx="7891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自己先分，再把相连的意思合起来。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337560" y="5797296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一人读，一人听；交换，再读。</a:t>
            </a:r>
            <a:endParaRPr lang="en-US" sz="2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再读第一章，把这场相遇讲完整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40880" cy="4434840"/>
          </a:xfrm>
          <a:prstGeom prst="roundRect">
            <a:avLst>
              <a:gd name="adj" fmla="val 1031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8132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41832" y="218541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41832" y="288950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41832" y="35935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41832" y="4297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119872" y="135331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合书讲30秒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8156448" y="2331720"/>
            <a:ext cx="329184" cy="329184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23682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05088" y="22585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他怎样来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56448" y="3136392"/>
            <a:ext cx="329184" cy="329184"/>
          </a:xfrm>
          <a:prstGeom prst="ellipse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31729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05088" y="30632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她怎样送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56448" y="3941064"/>
            <a:ext cx="329184" cy="329184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3977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05088" y="38679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婚事怎样暂缓又约定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19872" y="493776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听者只补一个真正遗漏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713232" y="5897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783080" y="6163056"/>
            <a:ext cx="1124712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8541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64992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46904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28816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10728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13064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92640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9497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第二章｜约定以后，故事怎样继续？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5029200"/>
          </a:xfrm>
          <a:prstGeom prst="roundRect">
            <a:avLst>
              <a:gd name="adj" fmla="val 909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8132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230428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312724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51560" y="395020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51560" y="477316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“不见”与“既见”，两句怎样转过去？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10451592" cy="1060704"/>
          </a:xfrm>
          <a:prstGeom prst="roundRect">
            <a:avLst>
              <a:gd name="adj" fmla="val 4310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90472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10451592" cy="1060704"/>
          </a:xfrm>
          <a:prstGeom prst="roundRect">
            <a:avLst>
              <a:gd name="adj" fmla="val 4310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907792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51560" y="4718304"/>
            <a:ext cx="10085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哪些词彼此照应？　你想让声音从哪里转过去？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65960" y="5577840"/>
            <a:ext cx="8257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让原词先站出来，再让耳朵听见它。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卜筮以后，婚事怎样落到生活里？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841248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EFE4D2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卜｜龟甲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3639312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筮｜蓍草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6437376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4536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体｜兆象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9235440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F0DDD5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咎言｜不祥之语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2011680" y="3054096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这次占问，写出了怎样的结果？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005840" y="3803904"/>
            <a:ext cx="1017727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2011680" y="5138928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“以尔”与“以我”，各是谁的动作？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把等待到迁移，讲成一段故事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443984"/>
          </a:xfrm>
          <a:prstGeom prst="roundRect">
            <a:avLst>
              <a:gd name="adj" fmla="val 1029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63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0976" y="217627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0976" y="288950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0976" y="360273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0976" y="43159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8138160" y="157276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她怎样等？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138160" y="25146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见与不见，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怎样改变她？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379476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婚事怎样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走到迁移？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" y="5879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847088" y="6163056"/>
            <a:ext cx="1097280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6163056"/>
            <a:ext cx="1097280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5604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052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6500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1948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0353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第三章｜迁嫁以后，诗先让什么进入眼前？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71600" y="5925312"/>
            <a:ext cx="9445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眼前先出现什么？　哪一句开始像在劝告？</a:t>
            </a:r>
            <a:endParaRPr lang="en-US" sz="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9808" y="1078992"/>
            <a:ext cx="10698480" cy="1078992"/>
          </a:xfrm>
          <a:prstGeom prst="roundRect">
            <a:avLst>
              <a:gd name="adj" fmla="val 4237"/>
            </a:avLst>
          </a:prstGeom>
          <a:solidFill>
            <a:srgbClr val="E1E7D9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62456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3886200" y="2487168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沃若：润泽的样子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3246120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这片桑叶，有怎样的色泽、质地和生命感？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2331720" y="4279392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它可能让你想到什么？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246120" y="5340096"/>
            <a:ext cx="569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两种可能，先都留下。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两声‘于嗟’，劝告怎样来到人身边？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86384" y="1170432"/>
            <a:ext cx="10616184" cy="2880360"/>
          </a:xfrm>
          <a:prstGeom prst="roundRect">
            <a:avLst>
              <a:gd name="adj" fmla="val 1587"/>
            </a:avLst>
          </a:prstGeom>
          <a:solidFill>
            <a:srgbClr val="34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44752"/>
            <a:ext cx="10140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024128" y="2103120"/>
            <a:ext cx="10140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24128" y="2761488"/>
            <a:ext cx="10140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于嗟 xū jiē　｜　无同“毋”　｜　耽：沉溺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41248" y="491947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两声‘于嗟’，从谁来到谁？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6108192" y="486460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若蒙住前两句，只听最后一句，少了什么？</a:t>
            </a:r>
            <a:endParaRPr lang="en-US" sz="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同是‘耽’，两个人都能脱身吗？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5138928" cy="1143000"/>
          </a:xfrm>
          <a:prstGeom prst="roundRect">
            <a:avLst>
              <a:gd name="adj" fmla="val 4000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272784" y="1234440"/>
            <a:ext cx="5138928" cy="1143000"/>
          </a:xfrm>
          <a:prstGeom prst="roundRect">
            <a:avLst>
              <a:gd name="adj" fmla="val 4000"/>
            </a:avLst>
          </a:prstGeom>
          <a:solidFill>
            <a:srgbClr val="EADDE1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554480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154680" y="2670048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说（tuō）：同“脱”，摆脱、脱身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34564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相同的词是什么？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245352" y="34564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真正改变结果的词是什么？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143000" y="4370832"/>
            <a:ext cx="9902952" cy="1097280"/>
          </a:xfrm>
          <a:prstGeom prst="roundRect">
            <a:avLst>
              <a:gd name="adj" fmla="val 4167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752" y="4681728"/>
            <a:ext cx="9299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这两句明写了什么，还没有写什么？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把五句诗，讲成她回望中的一段话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眼前先出现什么？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58775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劝告怎样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从物来到人？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968496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最后看见怎样的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脱身处境？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故事轨道｜第三格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647752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第四章｜桑叶落下以后，诗写了哪些生活？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B58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34440" y="5925312"/>
            <a:ext cx="9720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桑叶的新样子　｜　一句你听来像在判断的话</a:t>
            </a:r>
            <a:endParaRPr lang="en-US" sz="2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沃若｜黄而陨：原来的想法，经得住这一落吗？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77240" y="1261872"/>
            <a:ext cx="5230368" cy="2286000"/>
          </a:xfrm>
          <a:prstGeom prst="roundRect">
            <a:avLst>
              <a:gd name="adj" fmla="val 2000"/>
            </a:avLst>
          </a:prstGeom>
          <a:solidFill>
            <a:srgbClr val="33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1261872"/>
            <a:ext cx="5230368" cy="2286000"/>
          </a:xfrm>
          <a:prstGeom prst="roundRect">
            <a:avLst>
              <a:gd name="adj" fmla="val 2000"/>
            </a:avLst>
          </a:prstGeom>
          <a:solidFill>
            <a:srgbClr val="3D372D"/>
          </a:solidFill>
          <a:ln w="13335">
            <a:solidFill>
              <a:srgbClr val="B58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5448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55664" y="155448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4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82512" y="2176272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43400" y="397764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陨：坠落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80360" y="4736592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翻回原来的两种想法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5385816"/>
            <a:ext cx="8074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保留、改写，还是撤回？为什么？</a:t>
            </a:r>
            <a:endParaRPr lang="en-US" sz="2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三岁食贫｜淇水汤汤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07008"/>
            <a:ext cx="5148072" cy="1938528"/>
          </a:xfrm>
          <a:prstGeom prst="roundRect">
            <a:avLst>
              <a:gd name="adj" fmla="val 2358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207008"/>
            <a:ext cx="5148072" cy="1938528"/>
          </a:xfrm>
          <a:prstGeom prst="roundRect">
            <a:avLst>
              <a:gd name="adj" fmla="val 2358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391656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徂：往　食贫：过贫苦生活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989320" y="3429000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汤汤 shāng shāng：水势浩大　渐 jiān：浸湿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6112" y="4407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一句把怎样的日子压在里面？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36208" y="4407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一句让哪一刻忽然展开？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68880" y="5486400"/>
            <a:ext cx="7251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让两句分别响一次，再写你看见的生活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360152" cy="1417320"/>
          </a:xfrm>
          <a:prstGeom prst="roundRect">
            <a:avLst>
              <a:gd name="adj" fmla="val 3226"/>
            </a:avLst>
          </a:prstGeom>
          <a:solidFill>
            <a:srgbClr val="3A3430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720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2286000" y="3218688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爽：差错　｜　贰：不专一、前后不一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41648" y="4041648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只用这一句，说清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965960" y="4800600"/>
            <a:ext cx="825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谁怎样？　谁又怎样？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80160"/>
            <a:ext cx="10506456" cy="1325880"/>
          </a:xfrm>
          <a:prstGeom prst="roundRect">
            <a:avLst>
              <a:gd name="adj" fmla="val 3448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73352"/>
            <a:ext cx="9902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221992" y="3063240"/>
            <a:ext cx="7744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罔极：没有准则　｜　二三：反复无常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377440" y="3858768"/>
            <a:ext cx="7434072" cy="0"/>
          </a:xfrm>
          <a:prstGeom prst="line">
            <a:avLst/>
          </a:prstGeom>
          <a:noFill/>
          <a:ln w="16510">
            <a:solidFill>
              <a:srgbClr val="E5DA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4233672"/>
            <a:ext cx="8439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若改成：‘他的行为多次改变’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17320" y="516636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哪一种更让你听见无定与反复？</a:t>
            </a:r>
            <a:endParaRPr lang="en-US" sz="3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把第四章讲成一段：桑叶落下以后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B58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桑叶怎样变？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587752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她过着怎样的日子？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她最后怎样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说两个人？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合书以后，把三层连成一段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4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故事轨道｜第四格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B58A35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第五章｜谁在忙碌，谁的声音从外面传来？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34440" y="5925312"/>
            <a:ext cx="9720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一个反复的生活动作　｜　声音转向内心的原句</a:t>
            </a:r>
            <a:endParaRPr lang="en-US" sz="2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三岁为妇｜夙兴夜寐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5138928" cy="1938528"/>
          </a:xfrm>
          <a:prstGeom prst="roundRect">
            <a:avLst>
              <a:gd name="adj" fmla="val 2358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234440"/>
            <a:ext cx="5138928" cy="1938528"/>
          </a:xfrm>
          <a:prstGeom prst="roundRect">
            <a:avLst>
              <a:gd name="adj" fmla="val 2358"/>
            </a:avLst>
          </a:prstGeom>
          <a:solidFill>
            <a:srgbClr val="EADDE1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391656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32688" y="3493008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靡：没有　室劳：家务劳动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80760" y="3493008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夙：早　兴：起身　夜寐：晚睡　朝：一日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一天从哪里开始，到哪里结束？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36208" y="448056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哪个字让它不只发生一天？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87168" y="55412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让‘夙兴—夜寐’在教室里拉开一次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07008"/>
            <a:ext cx="10506456" cy="1152144"/>
          </a:xfrm>
          <a:prstGeom prst="roundRect">
            <a:avLst>
              <a:gd name="adj" fmla="val 3968"/>
            </a:avLst>
          </a:prstGeom>
          <a:solidFill>
            <a:srgbClr val="3C3130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36192"/>
            <a:ext cx="9902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23160" y="2724912"/>
            <a:ext cx="7342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既遂：愿望已经满足　｜　暴：粗暴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562856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48472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143000" y="5394960"/>
            <a:ext cx="9902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哪些值得重新看一眼？　哪些仍不足以证明？</a:t>
            </a:r>
            <a:endParaRPr lang="en-US" sz="3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兄弟不知，咥其笑矣｜静言思之，躬自悼矣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9811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749040" y="224028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咥 xì：笑的样子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2423160" y="3090672"/>
            <a:ext cx="7342632" cy="0"/>
          </a:xfrm>
          <a:prstGeom prst="line">
            <a:avLst/>
          </a:prstGeom>
          <a:noFill/>
          <a:ln w="13970">
            <a:solidFill>
              <a:srgbClr val="766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22192"/>
            <a:ext cx="9811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49040" y="4681728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躬：自身　｜　悼：悲伤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188720" y="562356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外面的声音停下以后，她身边还剩下什么？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把第五章讲成一间屋子里的许多年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她怎样过日子？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69748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男子怎样变化？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外声散去，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谁留下？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故事轨道｜第五格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75515E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第六章｜她把哪些旧事重新放回眼前？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71600" y="5925312"/>
            <a:ext cx="9445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一处回到过去　｜　一处真正收束全诗</a:t>
            </a:r>
            <a:endParaRPr lang="en-US" sz="2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及尔偕老｜老使我怨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98448"/>
            <a:ext cx="5230368" cy="1975104"/>
          </a:xfrm>
          <a:prstGeom prst="roundRect">
            <a:avLst>
              <a:gd name="adj" fmla="val 2315"/>
            </a:avLst>
          </a:prstGeom>
          <a:solidFill>
            <a:srgbClr val="333A3D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44768" y="1298448"/>
            <a:ext cx="5230368" cy="1975104"/>
          </a:xfrm>
          <a:prstGeom prst="roundRect">
            <a:avLst>
              <a:gd name="adj" fmla="val 2315"/>
            </a:avLst>
          </a:prstGeom>
          <a:solidFill>
            <a:srgbClr val="3D3134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892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382512" y="1892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老使我怨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0" y="3867912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及：同、跟　｜　偕老：共同到老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4800600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同一个‘老’，前后两次落在怎样不同的生活里？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36392" y="5696712"/>
            <a:ext cx="5916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让两个声音在这个字上交接</a:t>
            </a:r>
            <a:endParaRPr lang="en-US" sz="1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1280160"/>
          </a:xfrm>
          <a:prstGeom prst="roundRect">
            <a:avLst>
              <a:gd name="adj" fmla="val 3571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618488"/>
            <a:ext cx="9848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1828800" y="2907792"/>
            <a:ext cx="8531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隰 xí：低湿的地方　｜　泮 pàn：同‘畔’，边、岸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950208"/>
            <a:ext cx="9902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为什么在‘偕老／怨’之后，忽然写淇与隰的岸和泮？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828800" y="4882896"/>
            <a:ext cx="8531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它怎样接前句，也怎样照见后文？</a:t>
            </a:r>
            <a:endParaRPr 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总角之宴｜信誓旦旦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257800" cy="3337560"/>
          </a:xfrm>
          <a:prstGeom prst="roundRect">
            <a:avLst>
              <a:gd name="adj" fmla="val 1370"/>
            </a:avLst>
          </a:prstGeom>
          <a:solidFill>
            <a:srgbClr val="33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3912" y="1234440"/>
            <a:ext cx="5257800" cy="3337560"/>
          </a:xfrm>
          <a:prstGeom prst="roundRect">
            <a:avLst>
              <a:gd name="adj" fmla="val 1370"/>
            </a:avLst>
          </a:prstGeom>
          <a:solidFill>
            <a:srgbClr val="3D3330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54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她记住的旧日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428232" y="1554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如今再看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09360" y="2331720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总角：少年　宴：欢乐　晏晏：和悦　｜　旦旦：诚恳　反：违背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920240" y="5696712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记忆是真的；后来什么也是真的？</a:t>
            </a:r>
            <a:endParaRPr 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9808" y="1261872"/>
            <a:ext cx="5330952" cy="2148840"/>
          </a:xfrm>
          <a:prstGeom prst="roundRect">
            <a:avLst>
              <a:gd name="adj" fmla="val 2128"/>
            </a:avLst>
          </a:prstGeom>
          <a:solidFill>
            <a:srgbClr val="343A3C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261872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3D3134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75104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355080" y="197510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51560" y="390448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是：这，指誓言　｜　已：止、了结　｜　焉、哉：连用加强收束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472744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哪些词一再回来？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336792" y="472744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再把末句读成两种声音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108960" y="5641848"/>
            <a:ext cx="5971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你分别听见什么？</a:t>
            </a:r>
            <a:endParaRPr lang="en-US" sz="2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把第六章讲成她最后一次回望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旧愿怎样反折？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69748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她重新看见什么？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最后作出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怎样的判断？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故事轨道｜第六格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456F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5989320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→　第二章　→　第三章　→　第四章　→　第五章　→　第六章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一｜她经历了什么？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51560" y="1170432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沿着桌上的六张章末卡，用六句话，把她的一生讲清。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971800"/>
            <a:ext cx="10058400" cy="0"/>
          </a:xfrm>
          <a:prstGeom prst="line">
            <a:avLst/>
          </a:prstGeom>
          <a:noFill/>
          <a:ln w="25400">
            <a:solidFill>
              <a:srgbClr val="E5DA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AC8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828800" y="2953512"/>
            <a:ext cx="978408" cy="0"/>
          </a:xfrm>
          <a:prstGeom prst="line">
            <a:avLst/>
          </a:prstGeom>
          <a:noFill/>
          <a:ln w="20320">
            <a:solidFill>
              <a:srgbClr val="AC8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75888" y="2953512"/>
            <a:ext cx="978408" cy="0"/>
          </a:xfrm>
          <a:prstGeom prst="line">
            <a:avLst/>
          </a:prstGeom>
          <a:noFill/>
          <a:ln w="20320">
            <a:solidFill>
              <a:srgbClr val="456F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6477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522976" y="2953512"/>
            <a:ext cx="978408" cy="0"/>
          </a:xfrm>
          <a:prstGeom prst="line">
            <a:avLst/>
          </a:prstGeom>
          <a:noFill/>
          <a:ln w="20320">
            <a:solidFill>
              <a:srgbClr val="6477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9C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70064" y="2953512"/>
            <a:ext cx="978408" cy="0"/>
          </a:xfrm>
          <a:prstGeom prst="line">
            <a:avLst/>
          </a:prstGeom>
          <a:noFill/>
          <a:ln w="20320">
            <a:solidFill>
              <a:srgbClr val="9C45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8472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755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217152" y="2953512"/>
            <a:ext cx="978408" cy="0"/>
          </a:xfrm>
          <a:prstGeom prst="line">
            <a:avLst/>
          </a:prstGeom>
          <a:noFill/>
          <a:ln w="20320">
            <a:solidFill>
              <a:srgbClr val="7551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95560" y="2514600"/>
            <a:ext cx="868680" cy="868680"/>
          </a:xfrm>
          <a:prstGeom prst="ellipse">
            <a:avLst/>
          </a:prstGeom>
          <a:solidFill>
            <a:srgbClr val="FFFCF7"/>
          </a:solidFill>
          <a:ln w="27940">
            <a:solidFill>
              <a:srgbClr val="5148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5560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920240" y="4096512"/>
            <a:ext cx="8348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哪一步，改变了下一步？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508760" y="5138928"/>
            <a:ext cx="9171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有断点，回诗补回；没有断点，说出最清楚的一处因果。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二｜她婚后的不幸，在生活中是什么样子？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7040880" cy="4480560"/>
          </a:xfrm>
          <a:prstGeom prst="roundRect">
            <a:avLst>
              <a:gd name="adj" fmla="val 1020"/>
            </a:avLst>
          </a:prstGeom>
          <a:solidFill>
            <a:srgbClr val="FFFCF7"/>
          </a:solidFill>
          <a:ln w="13970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544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从第四、第五章选一句，写成一个能被看见的日常片刻。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325880" y="2743200"/>
            <a:ext cx="6035040" cy="0"/>
          </a:xfrm>
          <a:prstGeom prst="line">
            <a:avLst/>
          </a:prstGeom>
          <a:noFill/>
          <a:ln w="16510">
            <a:solidFill>
              <a:srgbClr val="456F7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23444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谁在做什么？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9476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日子怎样一天天过去？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98448" y="416052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________________________________________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98448" y="470916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________________________________________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247888" y="1508760"/>
            <a:ext cx="3108960" cy="3611880"/>
          </a:xfrm>
          <a:prstGeom prst="roundRect">
            <a:avLst>
              <a:gd name="adj" fmla="val 1471"/>
            </a:avLst>
          </a:prstGeom>
          <a:solidFill>
            <a:srgbClr val="DDE9E9"/>
          </a:solidFill>
          <a:ln w="14605">
            <a:solidFill>
              <a:srgbClr val="456F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2057400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让同伴从你的文字里，找回原诗。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613648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能配回：保留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配不回：返诗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三｜这场婚姻为什么走到这一步？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32688" y="13533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婚前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148840" y="1545336"/>
            <a:ext cx="548640" cy="0"/>
          </a:xfrm>
          <a:prstGeom prst="line">
            <a:avLst/>
          </a:prstGeom>
          <a:noFill/>
          <a:ln w="31750">
            <a:solidFill>
              <a:srgbClr val="EFE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2344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有哪些细节值得警惕？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932688" y="24505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DD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婚后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148840" y="2642616"/>
            <a:ext cx="548640" cy="0"/>
          </a:xfrm>
          <a:prstGeom prst="line">
            <a:avLst/>
          </a:prstGeom>
          <a:noFill/>
          <a:ln w="31750">
            <a:solidFill>
              <a:srgbClr val="F0DD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33172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谁直接造成了伤害？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32688" y="35478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处境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148840" y="3739896"/>
            <a:ext cx="548640" cy="0"/>
          </a:xfrm>
          <a:prstGeom prst="line">
            <a:avLst/>
          </a:prstGeom>
          <a:noFill/>
          <a:ln w="31750">
            <a:solidFill>
              <a:srgbClr val="DDE9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4290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为什么那么难停下来？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932688" y="46451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148840" y="4837176"/>
            <a:ext cx="548640" cy="0"/>
          </a:xfrm>
          <a:prstGeom prst="line">
            <a:avLst/>
          </a:prstGeom>
          <a:noFill/>
          <a:ln w="31750">
            <a:solidFill>
              <a:srgbClr val="EADD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45262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诗里还有什么不能武断？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1828800" y="5806440"/>
            <a:ext cx="8531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让每一层，都有原句可回。</a:t>
            </a:r>
            <a:endParaRPr lang="en-US" sz="2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读完《氓》，再看开课时的爱情与婚姻主题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1170432"/>
            <a:ext cx="3337560" cy="4709160"/>
          </a:xfrm>
          <a:prstGeom prst="roundRect">
            <a:avLst>
              <a:gd name="adj" fmla="val 1370"/>
            </a:avLst>
          </a:prstGeom>
          <a:solidFill>
            <a:srgbClr val="EFE4D2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64208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开课时，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我们曾这样谈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爱情与婚姻……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17320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班级主题谱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45262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从那面黑板上，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选一句真正说过的话。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26280" y="1325880"/>
            <a:ext cx="6903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读完《氓》，你愿意替当时的自己补上哪一句？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我原来想到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24780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4572000" cy="0"/>
          </a:xfrm>
          <a:prstGeom prst="line">
            <a:avLst/>
          </a:prstGeom>
          <a:noFill/>
          <a:ln w="13970">
            <a:solidFill>
              <a:srgbClr val="E5DA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《氓》让我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0" y="343814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补充／修正／保留：____________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4572000" cy="0"/>
          </a:xfrm>
          <a:prstGeom prst="line">
            <a:avLst/>
          </a:prstGeom>
          <a:noFill/>
          <a:ln w="13970">
            <a:solidFill>
              <a:srgbClr val="E5DA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放进共同生活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439826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我会观察：____________________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400800" y="4892040"/>
            <a:ext cx="4572000" cy="0"/>
          </a:xfrm>
          <a:prstGeom prst="line">
            <a:avLst/>
          </a:prstGeom>
          <a:noFill/>
          <a:ln w="13970">
            <a:solidFill>
              <a:srgbClr val="E5DA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5778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让一处诗句，托住你的新理解。</a:t>
            </a:r>
            <a:endParaRPr lang="en-US" sz="2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这些字，离开注释还认得吗？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60120" y="1170432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《诗经》是什么？　｜　分哪三类？　｜　《氓》收在哪里？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愆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10896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30352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49808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692640" y="205740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FFCF7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02368" y="226771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徂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汤汤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10896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渐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530352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咥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749808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隰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692640" y="333756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354787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泮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280160" y="4965192"/>
            <a:ext cx="9628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先凭记忆读、写、解释；再回到原句相认。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834640" y="5715000"/>
            <a:ext cx="6519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只修复自己的错项与空项。</a:t>
            </a:r>
            <a:endParaRPr lang="en-US" sz="2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这些诗句，为什么非得这样写？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074920" y="96012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任选一组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493008" cy="2057400"/>
          </a:xfrm>
          <a:prstGeom prst="roundRect">
            <a:avLst>
              <a:gd name="adj" fmla="val 2222"/>
            </a:avLst>
          </a:prstGeom>
          <a:solidFill>
            <a:srgbClr val="E1E7D9"/>
          </a:solidFill>
          <a:ln w="13970">
            <a:solidFill>
              <a:srgbClr val="6477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53712" y="1234440"/>
            <a:ext cx="3493008" cy="2057400"/>
          </a:xfrm>
          <a:prstGeom prst="roundRect">
            <a:avLst>
              <a:gd name="adj" fmla="val 2222"/>
            </a:avLst>
          </a:prstGeom>
          <a:solidFill>
            <a:srgbClr val="EFE4D2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024" y="1719072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于嗟鸠兮……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于嗟女兮……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375904" y="1234440"/>
            <a:ext cx="3493008" cy="2057400"/>
          </a:xfrm>
          <a:prstGeom prst="roundRect">
            <a:avLst>
              <a:gd name="adj" fmla="val 2222"/>
            </a:avLst>
          </a:prstGeom>
          <a:solidFill>
            <a:srgbClr val="EADDE1"/>
          </a:solidFill>
          <a:ln w="13970">
            <a:solidFill>
              <a:srgbClr val="755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86216" y="1719072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原词怎样相照？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5120640" y="388620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声音、时间与人的处境，怎样改变？</a:t>
            </a:r>
            <a:endParaRPr lang="en-US" sz="3100" dirty="0"/>
          </a:p>
        </p:txBody>
      </p:sp>
      <p:sp>
        <p:nvSpPr>
          <p:cNvPr id="14" name="Shape 12"/>
          <p:cNvSpPr/>
          <p:nvPr/>
        </p:nvSpPr>
        <p:spPr>
          <a:xfrm>
            <a:off x="1920240" y="4800600"/>
            <a:ext cx="8321040" cy="0"/>
          </a:xfrm>
          <a:prstGeom prst="line">
            <a:avLst/>
          </a:prstGeom>
          <a:noFill/>
          <a:ln w="15240">
            <a:solidFill>
              <a:srgbClr val="E5DA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5257800"/>
            <a:ext cx="8531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原词关系　→　声音／时间变化　→　人物处境</a:t>
            </a:r>
            <a:endParaRPr lang="en-US" sz="2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把字词和写法，收回手中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10360152" cy="4937760"/>
          </a:xfrm>
          <a:prstGeom prst="roundRect">
            <a:avLst>
              <a:gd name="adj" fmla="val 926"/>
            </a:avLst>
          </a:prstGeom>
          <a:solidFill>
            <a:srgbClr val="FFFCF7"/>
          </a:solidFill>
          <a:ln w="13970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481328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我的语文知识书页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3317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一个我已读准、说清的字词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29514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31546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一处我能讲明的写法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66360" y="311810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397764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它怎样改变声音、时间或人物处境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394106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____________________________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417320" y="4956048"/>
            <a:ext cx="9326880" cy="0"/>
          </a:xfrm>
          <a:prstGeom prst="line">
            <a:avLst/>
          </a:prstGeom>
          <a:noFill/>
          <a:ln w="15240">
            <a:solidFill>
              <a:srgbClr val="E5DA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52303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诗写了：______________________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126480" y="52303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诗没有写：__________________</a:t>
            </a:r>
            <a:endParaRPr lang="en-US" sz="2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把理解与问题一起带走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51560" y="1234440"/>
            <a:ext cx="10085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她从________走到________。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1984248"/>
            <a:ext cx="10085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她婚后的日子，让我看见________。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2734056"/>
            <a:ext cx="10085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这场婚姻走到这一步：________。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51560" y="3657600"/>
            <a:ext cx="10058400" cy="0"/>
          </a:xfrm>
          <a:prstGeom prst="line">
            <a:avLst/>
          </a:prstGeom>
          <a:noFill/>
          <a:ln w="1524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023360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我从《氓》带走的一条共同生活提醒：________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51560" y="4700016"/>
            <a:ext cx="10085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8F1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托住它的诗句：____________________________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51560" y="5376672"/>
            <a:ext cx="10085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我仍愿继续追问：________________（可留白）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920240" y="6080760"/>
            <a:ext cx="8348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1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最后，从“氓之蚩蚩”完整读到“亦已焉哉”。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《氓》V6.2导入课堂课件</dc:title>
  <dc:subject>《氓》V6.2导入课堂课件</dc:subject>
  <dc:creator>语文备课系统</dc:creator>
  <cp:lastModifiedBy>语文备课系统</cp:lastModifiedBy>
  <cp:revision>1</cp:revision>
  <dcterms:created xsi:type="dcterms:W3CDTF">2026-08-13T17:05:25Z</dcterms:created>
  <dcterms:modified xsi:type="dcterms:W3CDTF">2026-08-13T17:05:25Z</dcterms:modified>
</cp:coreProperties>
</file>
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【V6.6物理画面】O01-A｜300秒
【本画面为何存在】
让每个人从自己的阅读经历中先得到至少一条可说材料，并尽量扩大爱情与婚姻文学的篇目和主题范围。
【学生此刻看见】
我们还记得哪些爱情与婚姻故事？｜从小学想到高中：课文、小说、整本书……｜篇名｜用一句话唤回故事｜它写到爱情或婚姻中的什么？｜先写你真正记得的一篇；想起新的，再添下去。
【教师逐字稿】
今天先不急着翻到新课。请从小学一直想到高中：语文课文、小说、整本书里，哪些作品写过爱情，哪些写过婚姻？先写篇名，再用一句平常话把故事唤回来；最后写它谈到爱情或婚姻中的什么。这里不需要分析得很深，也没有三篇规定答案。真正记得什么，就先写什么。现在安静两分半。（教师不报篇名，退到后排巡视。）一时想不起，可以翻本班读过的篇目目录；只记得情节，也先留下情节。时间到，我会请大家把纸翻面一瞬，封住这一刻真正想起的内容，然后再与同学说。
【舞台动作】
（教师承接前页）
（学生先独立形成）
（同伴限定倾听）
（教师据真实材料校准）
（学生亲自修订）
（自然切页）
【本画面时间盒】
说明三个落点：45秒；个人静默检索：165秒；补写和时间封存：60秒；转场：30秒
【现场分支】
暂时没有答案：允许先圈出最确定的一处原词，用不完整但真实的话开口；没有新增也可如实保留。
判断越过原诗：请指出依据；找不到相应原词时，把断言降低为问题、可能或文本未写。
【听者任务】
此页没有听者任务；每个人先保护自己的文学记忆。
【证据位置】
O01文学回忆单；公共作品出现前的时间封存照片或翻面状态
【切页触发】
每个人手里先有了一点自己的文学记忆。现在说给身边的人听，也听听自己没有想到的故事。
【V6.6逻辑页】O01｜逻辑页1｜5分钟
【前页输入】
学生尚未看到教师或同伴提供的任何标准篇目。
【唯一困难】
少数快想者容易垄断导入，抽象问题又会使多数学生尚未开口便退出。
【唯一功能】
让每个人从自己的阅读经历中先得到至少一条可说材料，并尽量扩大爱情与婚姻文学的篇目和主题范围。
【文学对象】
学生小学至高中语文课文、小说与整本书中的爱情、婚姻故事
【信息状态】
公共篇目和教师分类全部未知；首答态只显示三个自然落笔处。
【学生主动作】
检索篇名和一句故事；写它谈到爱情或婚姻中的什么
【参与路径】
全员个人静写；任何公共声音出现前封存个人首答。
【可见产物】
时间封存的个人文学回忆单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O02同桌轮说和公共增量
【正常反例】
想不起、无新增、已经准确、不同意或暂时沉默均有诚实完成路径，不要求伪造改变。
【主视觉职责】
一张真正可以落笔的文学记忆纸
【插图资格】
禁止：图像会预列作品或主题。
【第一人称接收】
我从自己的阅读经历中想起了作品、故事和一个朴素主题；这些不是老师替我列出的。
【故事回接】
页面结束前由一句自然复述回到谁做了什么、人物处境怎样变化以及故事推进到哪里。
【删除损失】
多数学生失去独立检索时间，公共发言被快想者占据。
【相邻反证】
O02负责表达和扩展，不能替代O01不受同伴影响的个人检索。
【失败信号】
大量答案来自邻座刚说的篇名；主题栏复制教师抽象词；固定样本有效材料率低于90%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【V6.6物理画面】O02-A｜480秒
【本画面为何存在】
分别实现每个人低压开口和全班文学版图的广度，让作品与朴素主题从学生话语中相遇。
【学生此刻看见】
一间教室，能想起多少种爱情与婚姻？｜《　　　　　　》写的是　　　　　　　　　　　　　　。｜听见一篇自己没有想到的，就把它添进自己的清单。
【教师逐字稿】
先和同桌互相说：‘《什么》写的是怎样的爱情或婚姻故事。’说的人可以看自己的纸，听的人只在没听清时问一句；一分钟后交换。（等待。）现在前后四个人依次说一圈，每个人都说完以前不选代表、不替别人总结。四个人说完，只留下两三条彼此不同的作品或主题。接下来每组只向全班带来一条增量：黑板上没有的篇目，或者同一篇不同的朴素主题。请先说篇名，再说那句自然话。我只把你们真正说出的篇名和关键词写到黑板上，此刻不分类。听见自己没想到的，请添进个人清单。若本组没有新增，可以如实说‘我们先听记’，不制造差异。
【舞台动作】
（教师承接前页）
（学生先独立形成）
（同伴限定倾听）
（教师据真实材料校准）
（学生亲自修订）
（自然切页）
【本画面时间盒】
同桌互说：95秒；四人依次轮说：150秒；公共增量和板书：190秒；个人补记：45秒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O01新增栏；黑板篇名＋学生主题长卷
【切页触发】
先别擦掉这面黑板。我们沿着大家真正说出的故事，去听一位更早的女子怎样讲自己的相识与后来。
【V6.6逻辑页】O02｜逻辑页2｜8分钟
【前页输入】
每人已有一份公共声音出现前封存的文学回忆单。
【唯一困难】
学生容易看见“全班学生真正记得的爱情与婚姻文学作品及其朴素主题”，却不能把它准确接回人物和前后故事。
【唯一功能】
分别实现每个人低压开口和全班文学版图的广度，让作品与朴素主题从学生话语中相遇。
【文学对象】
全班学生真正记得的爱情与婚姻文学作品及其朴素主题
【信息状态】
教师不预填篇目和分类；课堂只逐步暴露同伴真实作品。
【学生主动作】
同桌和四人组内每人说一篇；公共阶段只贡献一条增量并补记新作品
【参与路径】
个人材料→同桌并行→四人全员轮说→每组一个公共增量→教师后置记录。
【可见产物】
黑板文学长卷和个人新增栏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O03教师引用并揭题；S04回投
【正常反例】
想不起、无新增、已经准确、不同意或暂时沉默均有诚实完成路径，不要求伪造改变。
【主视觉职责】
一句自然表达入口；真正主视觉为现场黑板长卷
【插图资格】
禁止：现场学生作品是主视觉。
【第一人称接收】
我完整说过一篇，也从同学那里补到自己没有想到的作品或主题。
【故事回接】
页面结束前由一句自然复述回到谁做了什么、人物处境怎样变化以及故事推进到哪里。
【删除损失】
失去全员声音或公共文学广度。
【相邻反证】
O01只能证明个人检索，O03只负责教师归纳；本页不可由两者代替。
【失败信号】
组长包办；四人未轮说便形成公共答案；公共材料少于8部作品或5个主题方向；教师提前分类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【V6.6物理画面】O03-A｜180秒
【本画面为何存在】
教师用现场文学长卷完成后置归纳，再从众多旧作聚焦到一位先秦女子的声音，完成题名、正音和出处。
【学生此刻看见】
氓｜méng｜《诗经·卫风》
【教师逐字稿】
请先把目光留在黑板上。（投影熄暗。）我从现场长卷里选三条彼此不同的材料来读：‘《____》写的是____’，‘《____》写的是____’，‘《____》还写到了____’。如果这些不是你们刚才的原话，请立刻纠正我。（停顿，按学生纠正改写。）我们今天想起的爱情与婚姻故事远不止一种，我不拿预先准备的词替它们分类；只把你们真正说出的几条线索圈出来。现在再听一个更早的故事：一位女子从相识讲到婚后的后来。（切题名页，停两秒。）题目只有一个字——氓。这个字在这里读méng，收在《诗经·卫风》里。请在题名旁写下读音，找到第一句‘氓之蚩蚩’。
【舞台动作】
（教师承接前页）
（学生先独立形成）
（同伴限定倾听）
（教师据真实材料校准）
（学生亲自修订）
（自然切页）
【本画面时间盒】
黑板引用和纠错：100秒；拍照、揭题与正音：50秒；定位首句：30秒
【现场分支】
暂时没有答案：允许先圈出最确定的一处原词，用不完整但真实的话开口；没有新增也可如实保留。
判断越过原诗：请指出依据；找不到相应原词时，把断言降低为问题、可能或文本未写。
【听者任务】
核对教师是否准确引用本班篇目和主题；随后读准题名并定位首句。
【证据位置】
黑板主题谱照片；教材题名旁注音
【切页触发】
先给这首诗一个最小的来处，再让她不被打断地把六章说完。
【V6.6逻辑页】O03｜逻辑页3｜3分钟
【前页输入】
学生已经完成前页任务，手中保留与“《诗经·卫风·氓》的题名、出处与第一句”有关的原词或初稿。
【唯一困难】
学生容易看见“《诗经·卫风·氓》的题名、出处与第一句”，却不能把它准确接回人物和前后故事。
【唯一功能】
教师用现场文学长卷完成后置归纳，再从众多旧作聚焦到一位先秦女子的声音，完成题名、正音和出处。
【文学对象】
《诗经·卫风·氓》的题名、出处与第一句
【信息状态】
归纳时投影熄暗，不以预制PPT覆盖现场；揭题时只暴露题名、读音和出处。
【学生主动作】
核对教师是否准确引用本班材料；读准méng并定位首句
【参与路径】
个人先形成；需要交流时并行同桌或四人轮说；全班只公开少量有差异材料。
【可见产物】
主题谱照片和题名旁注音
【教师作用】
准确释词、引用真实回答、追问原词、后置归纳并守住解释边界。
【真实等待】
逐字稿内有首答等待、限定反馈和本人修订的明确时间。
【反馈与本人修订】
学生只纠正教师对现场篇名和主题的事实误记；教师当场改写。
【首次后用】
O04文化定位和O05起读
【正常反例】
想不起、无新增、已经准确、不同意或暂时沉默均有诚实完成路径，不要求伪造改变。
【主视觉职责】
先由黑板长卷主导，再切换为题名和留白
【插图资格】
禁止：人物图会提前规定讲述者和悲剧主题。
【第一人称接收】
我看见本班文学回忆被准确保存，也知道新故事叫《氓》、读méng、出自《诗经·卫风》。
【故事回接】
页面结束前由一句自然复述回到谁做了什么、人物处境怎样变化以及故事推进到哪里。
【删除损失】
导入成为篇目堆积，揭题与现场发言断裂。
【相邻反证】
只有本页把导入的真实公共作品接到新文本；独立抽象转场页已经删除。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【V6.6物理画面】O04-A｜180秒
【本画面为何存在】
在不打断初听的前提下，给学生阅读《氓》所需的最低文化坐标，并只点名后文会亲自遇见的赋、比、兴。
【学生此刻看见】
《诗经》｜我国第一部诗歌总集｜305篇｜西周初年至春秋中叶｜风　雅　颂｜《氓》在《卫风》里｜赋、比、兴——先记住名字，后面会真正遇见。
【教师逐字稿】
翻开课文前，只给《氓》一个最小的来处。《诗经》是我国第一部诗歌总集，现存三百零五篇，作品大致产生于西周初年至春秋中叶。传统上分为风、雅、颂；《氓》在十五国风的《卫风》中。古人还用赋、比、兴谈《诗经》的写法。今天此刻只记住这三个名字，不背定义；读到第三章时，我们会亲自听见‘兴’怎样发生。请在题名旁只留下‘诗经—卫风—氓’这条归属，不抄整页。
【舞台动作】
（教师承接前页）
（学生先独立形成）
（同伴限定倾听）
（教师据真实材料校准）
（学生亲自修订）
（自然切页）
【本画面时间盒】
最低文化坐标微讲：115秒；学生归属批注：35秒；回到讲述者：30秒
【现场分支】
暂时没有答案：允许先圈出最确定的一处原词，用不完整但真实的话开口；没有新增也可如实保留。
判断越过原诗：请指出依据；找不到相应原词时，把断言降低为问题、可能或文本未写。
【听者任务】
听清作品身份和归属；赋、比、兴只记名字，不提前抄定义。
【证据位置】
教材题名旁的‘诗经—卫风—氓’归属批注
【切页触发】
来处已经清楚。现在不再介绍，让她从第一句讲到最后一句。
【V6.6逻辑页】O04｜逻辑页4｜3分钟
【前页输入】
学生已经知道题名、读音和《诗经·卫风》出处，但没有系统文化坐标。
【唯一困难】
没有最低文化坐标，学生会把《氓》当作孤立古诗；背景过多又会压过讲述者的声音。
【唯一功能】
在不打断初听的前提下，给学生阅读《氓》所需的最低文化坐标，并只点名后文会亲自遇见的赋、比、兴。
【文学对象】
《诗经》最低文化坐标及《氓》的归属
【信息状态】
只揭示最低事实和术语名称；比兴定义及本诗例子保持未知。
【学生主动作】
听取必要文化微讲；在题下注记诗经—卫风—氓的归属
【参与路径】
教师必要微讲；全员完成一个最低成本的归属批注。
【可见产物】
题名旁的归属批注
【教师作用】
准确说明第一部诗歌总集、305篇、大致年代、风雅颂和篇目归属；不展开无关百科。
【真实等待】
微讲后留35秒完成批注并巡视真实错项。
【反馈与本人修订】
学生只修正归属批注；更完整知识在S05A合书检索后修复。
【首次后用】
C303B命名兴；S05A合书检索
【正常反例】
已有相关知识者不额外抄写；有不同教材表述时以本课教材和课程常用表述校准。
【主视觉职责】
诗经—卫风—氓的简洁归属关系
【插图资格】
禁止：古籍装饰不能增加当前理解。
【第一人称接收】
我知道《氓》在《诗经·卫风》中，也知道赋、比、兴要等到原诗里再理解。
【故事回接】
微讲立即结束，回到女子第一人称六章讲述。
【删除损失】
初读失去作品身份，结尾检索变成第一次讲授。
【相邻反证】
题名页无法同时承担文化坐标；结尾检索不能作为第一次讲授。
【失败信号】
背景微讲超过三分钟；学生抄百科表格；提前讲完比兴答案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【V6.6物理画面】O05-B1｜65秒
【本画面为何存在】
让第一章以可供后排阅读的完整画面进入，朗读不被解释打断。
【学生此刻看见】
她自己说｜第一章｜氓之蚩蚩，抱布贸丝。匪来贸丝，来即我谋。｜送子涉淇，至于顿丘。匪我愆期，子无良媒。｜将子无怒，秋以为期。
【教师逐字稿】
现在让第一章完整响起。眼睛跟着屏幕，暂时不要翻注释，也不解释人物。请从‘氓之蚩蚩’读到‘秋以为期’。读完只在教材旁点一个真正停住你的地方；没有停点也可以不画。（领读第一章，末句后停三秒。）不要讨论，声音继续往第二章走。
【舞台动作】
（承接前一画面）
（说出本页唯一邀请）
（真实等待或处理现场作品）
（在答案越界前切页）
【本画面时间盒】
说明初听方式：10秒；完整朗读第一章：45秒；留下停点并切页：10秒
【现场分支】
暂时没有答案：允许留下真实空白，或先回到最确定的一处原词。
判断越过原诗：请指出依据；没有原词支撑时降低判断强度。
【听者任务】
跟住第一章声音，只留一个真实停点。
【证据位置】
教材第一章旁的停点或问号
【切页触发】
她已经定下秋天。接着听她怎样等待。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【V6.6物理画面】O05-B2｜60秒
【本画面为何存在】
让第二章以可供后排阅读的完整画面接续，保持女子讲述的声音。
【学生此刻看见】
她自己说｜第二章｜乘彼垝垣，以望复关。不见复关，泣涕涟涟。｜既见复关，载笑载言。尔卜尔筮，体无咎言。｜以尔车来，以我贿迁。
【教师逐字稿】
第二章接着来，不回头讲第一章。请从‘乘彼垝垣’读到‘以我贿迁’。注意不见与既见之间，声音怎样从哭转向笑；此刻只听，不下结论。（完整朗读。）在真正听见变化的词旁轻轻一点，我们继续。
【舞台动作】
（承接前一画面）
（说出本页唯一邀请）
（真实等待或处理现场作品）
（在答案越界前切页）
【本画面时间盒】
承接与进入：8秒；完整朗读第二章：44秒；停点与切页：8秒
【现场分支】
暂时没有答案：允许留下真实空白，或先回到最确定的一处原词。
判断越过原诗：请指出依据；没有原词支撑时降低判断强度。
【听者任务】
听见第二章哭与笑的转折，不分析原因。
【证据位置】
教材第二章停点
【切页触发】
婚事走到迁嫁，第三章却先出现一树桑叶。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【V6.6物理画面】O05-B3｜55秒
【本画面为何存在】
让第三章的桑叶与劝告完整落下，并无声接入后半首。
【学生此刻看见】
她自己说｜第三章｜桑之未落，其叶沃若。于嗟鸠兮，无食桑葚！｜于嗟女兮，无与士耽！士之耽兮，犹可说也。｜女之耽兮，不可说也！
【教师逐字稿】
现在读第三章。让桑叶、斑鸠和劝告先作为声音来到耳边，不急着说比兴。请从‘桑之未落’读到‘不可说也’。（完整朗读，末句稍停。）如果有一句让你忽然听见警告，只在旁边画一个小点；后半首马上接上。
【舞台动作】
（承接前一画面）
（说出本页唯一邀请）
（真实等待或处理现场作品）
（在答案越界前切页）
【本画面时间盒】
进入第三章：8秒；完整朗读第三章：40秒；末句停留与切页：7秒
【现场分支】
暂时没有答案：允许留下真实空白，或先回到最确定的一处原词。
判断越过原诗：请指出依据；没有原词支撑时降低判断强度。
【听者任务】
听物象和劝告怎样相继出现。
【证据位置】
教材第三章停点
【切页触发】
警告落下以后，第四章开始讲婚后的日子。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【V6.6物理画面】O06-B4｜50秒
【本画面为何存在】
让第四章的多年贫困、渡水与责任判断完整进入。
【学生此刻看见】
她自己说｜第四章｜桑之落矣，其黄而陨。自我徂尔，三岁食贫。｜淇水汤汤，渐车帷裳。女也不爽，士贰其行。｜士也罔极，二三其德。
【教师逐字稿】
朗读不中断，接第四章。请从‘桑之落矣’读到‘二三其德’。这一遍只让多年贫困、渡水和两个人的行为进入，不解释责任术语。（完整朗读。）在一句最难顺下来的地方留问号，然后切到第五章。
【舞台动作】
（承接前一画面）
（说出本页唯一邀请）
（真实等待或处理现场作品）
（在答案越界前切页）
【本画面时间盒】
无声承接：5秒；完整朗读第四章：38秒；留问号与切页：7秒
【现场分支】
暂时没有答案：允许留下真实空白，或先回到最确定的一处原词。
判断越过原诗：请指出依据；没有原词支撑时降低判断强度。
【听者任务】
跟住第四章人物主体，不抢答责任判断。
【证据位置】
教材第四章问号或停点
【切页触发】
多年生活还会被拆成每一天。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【V6.6物理画面】O06-B5｜50秒
【本画面为何存在】
让第五章的日复一日、外部笑声与内心悲悼完整进入。
【学生此刻看见】
她自己说｜第五章｜三岁为妇，靡室劳矣。夙兴夜寐，靡有朝矣。｜言既遂矣，至于暴矣。兄弟不知，咥其笑矣。｜静言思之，躬自悼矣。
【教师逐字稿】
第五章继续。请从‘三岁为妇’读到‘躬自悼矣’。先听一天怎样重复，外面的笑声又怎样退到她独自的思量。（完整朗读。）不评论人物，只把一处声音变化留在教材上。
【舞台动作】
（承接前一画面）
（说出本页唯一邀请）
（真实等待或处理现场作品）
（在答案越界前切页）
【本画面时间盒】
进入第五章：6秒；完整朗读第五章：37秒；声音停点与切页：7秒
【现场分支】
暂时没有答案：允许留下真实空白，或先回到最确定的一处原词。
判断越过原诗：请指出依据；没有原词支撑时降低判断强度。
【听者任务】
听清外面的笑声与女子内心声音。
【证据位置】
教材第五章声音停点
【切页触发】
最后一章，她把旧愿、旧事和誓言重新放回眼前。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【V6.6物理画面】O06-B6｜80秒
【本画面为何存在】
让第六章回望旧愿并使末句真正落下，随后守住无解释静默。
【学生此刻看见】
她自己说｜第六章｜及尔偕老，老使我怨。淇则有岸，隰则有泮。｜总角之宴，言笑晏晏。信誓旦旦，不思其反。｜反是不思，亦已焉哉！
【教师逐字稿】
这是第六章。请从‘及尔偕老’一直读到‘亦已焉哉’。末句以后谁都不要立刻解释，让它自己落下。（完整朗读；末句后教师退到侧面，保持十五秒静默。）现在只在最想回看的原句旁点一下，不说答案。
【舞台动作】
（承接前一画面）
（说出本页唯一邀请）
（真实等待或处理现场作品）
（在答案越界前切页）
【本画面时间盒】
进入第六章：8秒；完整朗读第六章：45秒；末句静默：15秒；留下停点：12秒
【现场分支】
暂时没有答案：允许留下真实空白，或先回到最确定的一处原词。
判断越过原诗：请指出依据；没有原词支撑时降低判断强度。
【听者任务】
跟读到末句，并共同守住十五秒静默。
【证据位置】
教材第六章停点；末句静默计时
【切页触发】
先不解释整首诗，把第一次真正停住你的地方留下来。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【V6.6物理画面】O07-A｜240秒
【本画面为何存在】
保存每个人第一次真正听见的句子，不让三问覆盖个人起点。
【学生此刻看见】
把第一次听见的《氓》留在纸上｜“　　　　　　　　　　　　　　　　　　　　　　　”｜我看见……｜我听见……｜我想问……
【教师逐字稿】
现在才发《氓》初听卡。请接过来，不必翻面。如果有一句把你留了下来，就把它完整抄下，再接一句自然话：‘我看见……’‘我听见……’或者‘我想问……’。不要猜老师最喜欢哪一句。暂时没有找到，也可以写‘尚未找到’，先听同桌说完，再决定要不要补。（静默书写五十五秒。）现在两个人各说一次。听的人不评价深不深，只补记一个自己原先没有注意到的地方。（交换完成后，教师读出两三份停在不同诗句的文字。）这些话先留在黑板右侧，下一页我们从这里继续。
【舞台动作】
（发下03B《氓》初听卡）
（个人静默书写）
（同桌各说一次）
（听者补记不同之处）
（读出两三份真实文字并留在黑板右侧）
【本画面时间盒】
发下初听卡：14秒；个人书写：73秒；同桌交换与补记：93秒；教师读出真实文字并保留：60秒
【现场分支】
尚未找到：先听同桌；仍没有就保留‘尚未找到’，不复制同桌句子。
只写情绪词：追问‘是哪一句的哪个画面或声音让你这样写’，有依据再补，不直接替写。
两人完全相同：允许相同；听者可补记‘我们停在同一句，但理由不同/相同’，不制造差异。
【听者任务】
复述自己听见的一个不同注意点；不替同伴解释全诗。
【证据位置】
O07初听卡；黑板右侧的真实初听关键词
【切页触发】
六章已经完整地响过，大家停下的地方也留在这里。现在我们把这首诗慢慢读懂。
【V6.6逻辑页】O07｜逻辑页7｜4分钟
【前页输入】
学生已经完成前页任务，手中保留与“学生在六章完整声音中的个人停顿句、画面、声音或问题”有关的原词或初稿。
【唯一困难】
学生容易看见“学生在六章完整声音中的个人停顿句、画面、声音或问题”，却不能把它准确接回人物和前后故事。
【唯一功能】
保存每个人第一次真正听见的句子，不让三问覆盖个人起点。
【文学对象】
学生在六章完整声音中的个人停顿句、画面、声音或问题
【信息状态】
首答前只给原诗、必要字面和一个自然问题；解释、分类、关系与代表答案在学生首稿后出现。
【学生主动作】
抄下一句；接写我看见、听见或想问
【参与路径】
个人先形成；需要交流时并行同桌或四人轮说；全班只公开少量有差异材料。
【可见产物】
个人初听卡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O08引用
【正常反例】
暂时没有停点可以写‘尚未找到’，先听同桌后仍可保留，不复制他人句子。
【主视觉职责】
一句原诗与个人留白
【插图资格】
无
【第一人称接收】
我刚才面对“学生在六章完整声音中的个人停顿句、画面、声音或问题”，留下了个人初听卡；我能用原词说清自己新增或修正的理解。
【故事回接】
页面结束前由一句自然复述回到谁做了什么、人物处境怎样变化以及故事推进到哪里。
【删除损失】
删除会失去真实接收起点
【相邻反证】
相邻页不同时处理“学生容易看见“学生在六章完整声音中的个人停顿句、画面、声音或问题”，却不能把它准确接回人物和前后故事。”；合并会挤掉必要首答、校准或故事回接。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【V6.6物理画面】O08-A｜120秒
【本画面为何存在】
把三问变成读后生成的全文导航：先讲经历，再看生活，最后追原因。
【学生此刻看见】
读懂六章，我们要回答什么？｜她经历了什么？｜她婚后的不幸，在生活中是什么样子？｜这场婚姻为什么走到这一步？
【教师逐字稿】
刚才，有同学停在‘____’，写下‘____’；也有同学在‘____’旁留下一个问题：‘____？’这些是我们第一次听见她时真正停下来的地方。（教师只引用O07黑板右侧的真实文字，不补造。）六章已经完整地响过。接下来慢慢读懂它，我们始终回来回答三个问题：她经历了什么？她婚后的不幸，在生活中是什么样子？这场婚姻为什么走到这一步？现在才发三问阅读书签，请接过来，把三问留好。第一问跟着事情走；第二问要看她具体过着怎样的日子；第三问要等事实一件件出现以后再判断。此刻不急着给答案。
【舞台动作】
（指向并引用真实初听文字）
（切出三问页）
（首次发下03C三问阅读书签）
（学生保存三问）
【本画面时间盒】
引用真实初听文字：35秒；呈现并读出三问：35秒；发书签并保存三问：35秒；说明后续取回：15秒
【现场分支】
初听文字都集中在一处：如实引用同一处的不同说法，不假称全班已经覆盖三问。
抢答原因：请学生把原话写在第三问旁，标‘初步判断’，不当场确认。
追问为何现在才发：回应‘先让整首诗自己说完，再用问题慢慢读懂它。’
【听者任务】
核对教师引用确实来自刚才的同学文字，并保存三问的稳定措辞。
【证据位置】
O07初听文字；O08现场首次发下的03C三问阅读书签
【切页触发】
问题已经留下。再带上这首诗最低限度的身份，我们就从第一章慢慢读起。
【V6.6逻辑页】O08｜逻辑页8｜2分钟
【前页输入】
全诗已经完整听过，个人初见也已保存。
【唯一困难】
学生容易看见“在完整听读和学生初听文字之后出现的经历、不幸表现与婚姻原因三个问题”，却不能把它准确接回人物和前后故事。
【唯一功能】
把三问变成读后生成的全文导航：先讲经历，再看生活，最后追原因。
【文学对象】
在完整听读和学生初听文字之后出现的经历、不幸表现与婚姻原因三个问题
【信息状态】
三问此刻首次出现；不显示标准答案和原因框架。
【学生主动作】
保存三问；暂不抢答
【参与路径】
个人先形成；需要交流时并行同桌或四人轮说；全班只公开少量有差异材料。
【可见产物】
三问书签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六章积证并由S02—S04回收
【正常反例】
想不起、无新增、已经准确、不同意或暂时沉默均有诚实完成路径，不要求伪造改变。
【主视觉职责】
三个自然问题
【插图资格】
无
【第一人称接收】
我刚才面对“在完整听读和学生初听文字之后出现的经历、不幸表现与婚姻原因三个问题”，留下了三问书签；我能用原词说清自己新增或修正的理解。
【故事回接】
页面结束前由一句自然复述回到谁做了什么、人物处境怎样变化以及故事推进到哪里。
【删除损失】
删除后细读缺少共同方向
【相邻反证】
相邻页不同时处理“学生容易看见“在完整听读和学生初听文字之后出现的经历、不幸表现与婚姻原因三个问题”，却不能把它准确接回人物和前后故事。”；合并会挤掉必要首答、校准或故事回接。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【V6.6物理画面】C101-A｜300秒
【本画面为何存在】
让第一章完整进入，并确认女子怎样用第一人称讲两个人的行动。
【学生此刻看见】
第一章｜他做了什么？她又做了什么？｜氓之蚩蚩，抱布贸丝。｜匪来贸丝，来即我谋。｜送子涉淇，至于顿丘。｜匪我愆期，子无良媒。｜将子无怒，秋以为期。
【教师逐字稿】
我们已经知道，《氓》是一位女子回头讲自己的婚姻。现在不急着把第一章拆开，请翻到第一章。先听我把这一章完整读一遍，眼睛只跟着诗句走。随后请你自己再读一遍：男子做的事，用圈轻轻标出来；女子做的事，用线划出来。遇到不懂的词，先留一个问号，不要让一个词拦住整章。现在听读。（教师完整读完，停三秒。）轮到你们自己读。读完后，同桌只互相问一件事：‘这一处是谁做的？’不要替对方翻译，也不要给人物贴标签。（巡视并等待。）请看回自己的诗句。如果刚才标错了主体，就改回来；如果同桌找到了你漏掉的动作，回诗补一处。我们先听两位同学各说一个自己最确定的动作。（引用现场原话。）第一章已经有了一个很粗的轮廓：有人来，有人送，两个人还谈到了婚事。那些问号先留着，接下来让原词自己把故事说清。
【舞台动作】
（发03A第一章初读卡）
（教师完整读章后静默三秒）
（学生独立读并圈划）
（同桌只核对主体）
（引用两条现场动作后收束）
【本画面时间盒】
承接、发卡与教师完整听读：69秒；学生完整朗读并圈划：94秒；同桌核对行动主体：56秒；回诗修订与两条现场分享：56秒；教师引用原话收束并转场：25秒
【现场分支】
生词阻断：请学生先留问号并把整章读完；词义按C102—C104所在原句解决。
主体混淆：只追问‘诗中是谁在用“我”说话、她把谁称作“子”’，让学生自行回诗改画。
直接评价男子：回应‘这个判断先放在诗边，眼下只把本章写出的动作找准。’
【听者任务】
同桌发言时，只检查行动主体；全班分享时，核对自己是否漏掉同一原词。
【证据位置】
03A第一章初读卡及教材第一章旁批
【切页触发】
先看第一处：诗让我们先看见他做什么，女子随后又告诉我们什么？
【V6.6逻辑页】C101｜逻辑页9｜5分钟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让第一章完整进入，并确认女子怎样用第一人称讲两个人的行动。
【文学对象】
氓之蚩蚩，抱布贸丝。匪来贸丝，来即我谋。送子涉淇，至于顿丘。匪我愆期，子无良媒。将子无怒，秋以为期。
【信息状态】
首答前只给原诗、必要字面和一个自然问题；解释、分类、关系与代表答案在学生首稿后出现。
【学生主动作】
完整读章；圈男子动作、划女子动作
【参与路径】
个人先形成；需要交流时并行同桌或四人轮说；全班只公开少量有差异材料。
【可见产物】
第一章行动初稿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C102—C104
【正常反例】
想不起、无新增、已经准确、不同意或暂时沉默均有诚实完成路径，不要求伪造改变。
【主视觉职责】
整章原诗与圈划
【插图资格】
无
【第一人称接收】
我刚才面对“氓之蚩蚩，抱布贸丝。匪来贸丝，来即我谋。送子涉淇，至于顿丘。匪我愆期，子无良媒。将子无怒，秋以为期。”，留下了第一章行动初稿；我能用原词说清自己新增或修正的理解。
【故事回接】
页面结束前由一句自然复述回到谁做了什么、人物处境怎样变化以及故事推进到哪里。
【删除损失】
删除会使逐句讲解没有整章轮廓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【V6.6物理画面】C102-B0｜150秒
【本画面为何存在】
只面对两句原诗，形成第一句所见与第二句所知的个人首答。
【学生此刻看见】
贸丝，还是来谋？｜氓之蚩蚩，抱布贸丝。｜匪来贸丝，来即我谋。｜第一句让我们看见什么？｜第二句又告诉了我们什么？
【教师逐字稿】
先不看解释。请把‘抱布贸丝’和‘来即我谋’分别说成今天的语言，再圈出让第二句转向的那个字。每个人先写，不能看同桌。（教师巡视，确认已有首答。）时间到，把答案停在这里；下一页只看大家实际圈在哪里。
【舞台动作】
（承接前一画面）
（说出本页唯一邀请）
（真实等待或处理现场作品）
（在答案越界前切页）
【本画面时间盒】
口译说明：25秒；个人首答：95秒；封存与切页：30秒
【现场分支】
暂时没有答案：允许留下真实空白，或先回到最确定的一处原词。
判断越过原诗：请指出依据；没有原词支撑时降低判断强度。
【听者任务】
本页无公共发言；保护个人首答。
【证据位置】
C102个人两句口译和圈字
【切页触发】
你们已经各自圈过。现在只比较真实分歧。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从重复的‘贸丝’和‘匪—谋’读出叙事转弯，并守住初见证据边界。
【文学对象】
氓之蚩蚩，抱布贸丝。匪来贸丝，来即我谋。
【信息状态】
首答只给两句和两个问题；叙事转弯、来意、人格和预谋判断都不预填。
【学生主动作】
自然口译；圈转折字并说叙事次序
【参与路径】
个人先形成；需要交流时并行同桌或四人轮说；全班只公开少量有差异材料。
【可见产物】
叙事转弯句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我刚才面对“氓之蚩蚩，抱布贸丝。匪来贸丝，来即我谋。”，留下了叙事转弯句；我能用原词说清自己新增或修正的理解。
【故事回接】
页面结束前由一句自然复述回到谁做了什么、人物处境怎样变化以及故事推进到哪里。
【删除损失】
删除会压平初次接近的叙述方式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【V6.6物理画面】C102-B1｜65秒
【本画面为何存在】
观察学生真正圈出的转折处和不同口译。
【学生此刻看见】
哪一个字，让话转了方向？｜氓之蚩蚩，抱布贸丝。｜匪来贸丝，来即我谋。｜看一眼黑板上大家圈出的地方。
【教师逐字稿】
看黑板上两三处真实圈词，不宣布答案。哪一处能解释话为什么转弯？先用手指回自己的纸，再请一位同学只说‘我圈的是——，因为——’。听者只追问这个字前后各说了什么。（修正黑板事实。）现在切到校准页。
【舞台动作】
（承接前一画面）
（说出本页唯一邀请）
（真实等待或处理现场作品）
（在答案越界前切页）
【本画面时间盒】
观看真实首答：15秒；一份解释与追问：35秒；自查和切页：15秒
【现场分支】
暂时没有答案：允许留下真实空白，或先回到最确定的一处原词。
判断越过原诗：请指出依据；没有原词支撑时降低判断强度。
【听者任务】
核对所圈字是否真的改变前后意思。
【证据位置】
现场圈词板书与个人自查
【切页触发】
转弯已经被看见，接下来把它说准确。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从重复的‘贸丝’和‘匪—谋’读出叙事转弯，并守住初见证据边界。
【文学对象】
氓之蚩蚩，抱布贸丝。匪来贸丝，来即我谋。
【信息状态】
首答只给两句和两个问题；叙事转弯、来意、人格和预谋判断都不预填。
【学生主动作】
自然口译；圈转折字并说叙事次序
【参与路径】
个人先形成；需要交流时并行同桌或四人轮说；全班只公开少量有差异材料。
【可见产物】
叙事转弯句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我刚才面对“氓之蚩蚩，抱布贸丝。匪来贸丝，来即我谋。”，留下了叙事转弯句；我能用原词说清自己新增或修正的理解。
【故事回接】
页面结束前由一句自然复述回到谁做了什么、人物处境怎样变化以及故事推进到哪里。
【删除损失】
删除会压平初次接近的叙述方式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【V6.6物理画面】C102-B2｜85秒
【本画面为何存在】
准确收束叙事转弯、自然口译和证据边界。
【学生此刻看见】
先看见：抱布贸丝｜一个“匪”字，转过话头｜女子告诉我们：不是来换丝，是来谈婚事。｜至于他的为人和后来，此刻还不能断定。
【教师逐字稿】
先看见的是‘抱布贸丝’，一个‘匪’字把话转过来：不是来换丝，而是来谈婚事。请把自己的口译改到准确。注意，此刻原诗只告诉我们来意发生了转折；不能因为后来不幸，就倒推他从第一刻已经被证实在伪装。请在越界判断旁画去过满的词。
【舞台动作】
（承接前一画面）
（说出本页唯一邀请）
（真实等待或处理现场作品）
（在答案越界前切页）
【本画面时间盒】
准确校准：35秒；证据边界：25秒；本人修订：25秒
【现场分支】
暂时没有答案：允许留下真实空白，或先回到最确定的一处原词。
判断越过原诗：请指出依据；没有原词支撑时降低判断强度。
【听者任务】
确认校准停在原诗可证范围。
【证据位置】
C102本人修订句
【切页触发】
他来谈婚事，她又把他送了多远？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从重复的‘贸丝’和‘匪—谋’读出叙事转弯，并守住初见证据边界。
【文学对象】
氓之蚩蚩，抱布贸丝。匪来贸丝，来即我谋。
【信息状态】
首答只给两句和两个问题；叙事转弯、来意、人格和预谋判断都不预填。
【学生主动作】
自然口译；圈转折字并说叙事次序
【参与路径】
个人先形成；需要交流时并行同桌或四人轮说；全班只公开少量有差异材料。
【可见产物】
叙事转弯句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我刚才面对“氓之蚩蚩，抱布贸丝。匪来贸丝，来即我谋。”，留下了叙事转弯句；我能用原词说清自己新增或修正的理解。
【故事回接】
页面结束前由一句自然复述回到谁做了什么、人物处境怎样变化以及故事推进到哪里。
【删除损失】
删除会压平初次接近的叙述方式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【V6.6物理画面】C103-B0｜105秒
【本画面为何存在】
保留完整原句和未经连线的动词，让学生自己生成路径。
【学生此刻看见】
她把他送了多远？｜送子涉淇，至于顿丘。｜送　　涉　　至｜沿着三个动词，自己画出这段路。
【教师逐字稿】
只沿三个动词画路：送、涉、至。请在纸上标出谁送、经过哪里、到达哪里；此刻屏幕不画箭头。（等待。）画完以后用手指走一遍自己的路线，不与同桌核对。
【舞台动作】
（承接前一画面）
（说出本页唯一邀请）
（真实等待或处理现场作品）
（在答案越界前切页）
【本画面时间盒】
说明三个动词：20秒；个人画路：65秒；自指路线：20秒
【现场分支】
暂时没有答案：允许留下真实空白，或先回到最确定的一处原词。
判断越过原诗：请指出依据；没有原词支撑时降低判断强度。
【听者任务】
本页先独立形成空间路线。
【证据位置】
C103个人送行线
【切页触发】
路线在每个人手里，下一页说给同桌看。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【V6.6物理画面】C103-B1｜60秒
【本画面为何存在】
同桌对照路径，听清动作主体和到达位置。
【学生此刻看见】
把你画的这段路，指给同桌看。｜送子涉淇，至于顿丘。｜谁在送？经过哪里？到达哪里？
【教师逐字稿】
把路线指给同桌看。甲只说三句话：谁在送，经过哪里，到达哪里；乙只检查有没有漏掉一个动作，然后交换。教师只巡视，不公布完整箭头。（等待双方完成。）若两人的线不同，请把分歧留到下一页校准。
【舞台动作】
（承接前一画面）
（说出本页唯一邀请）
（真实等待或处理现场作品）
（在答案越界前切页）
【本画面时间盒】
说明互证规则：10秒；甲讲乙听：20秒；乙讲甲听：20秒；留下分歧并切页：10秒
【现场分支】
暂时没有答案：允许留下真实空白，或先回到最确定的一处原词。
判断越过原诗：请指出依据；没有原词支撑时降低判断强度。
【听者任务】
只核对人物、经过处与到达处三项。
【证据位置】
同桌双方指路线的完成痕迹
【切页触发】
现在让三个动词排成一条准确的路。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【V6.6物理画面】C103-B2｜75秒
【本画面为何存在】
用原词准确收束女子远送的空间长度。
【学生此刻看见】
送　→　涉淇　→　至于顿丘｜她送他渡过淇水，一直送到顿丘。｜这份投入，先由三个动作说出来。
【教师逐字稿】
原句的路是：她送他，渡过淇水，一直送到顿丘。请对照屏幕，只改自己真正画错或漏掉的地方。这里不先贴‘深情’标签；这份投入先由‘送、涉、至’三个动作说出来。把这句自然话写在路线旁。
【舞台动作】
（承接前一画面）
（说出本页唯一邀请）
（真实等待或处理现场作品）
（在答案越界前切页）
【本画面时间盒】
路线校准：25秒；本人修正：25秒；故事回接：25秒
【现场分支】
暂时没有答案：允许留下真实空白，或先回到最确定的一处原词。
判断越过原诗：请指出依据；没有原词支撑时降低判断强度。
【听者任务】
核对动作顺序，不评价感情程度。
【证据位置】
C103修订后路线与自然句
【切页触发】
路送到了顿丘，婚期为什么仍没有定下？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【V6.6物理画面】C104-B0｜135秒
【本画面为何存在】
先把四小句口译成一番连续的话。
【学生此刻看见】
把这几句当作她说的一番话｜匪我愆期，子无良媒。｜将子无怒，秋以为期。｜先把她的话完整说成今天的语言。
【教师逐字稿】
把四小句当成女子连续说出的一番话。先借注释口译‘愆、良媒、将、无、以……为期’，再用今天的话从头说到尾。请独立写，不填‘解释、安抚、另约’这些标签。（等待并封存。）
【舞台动作】
（承接前一画面）
（说出本页唯一邀请）
（真实等待或处理现场作品）
（在答案越界前切页）
【本画面时间盒】
释词定位：30秒；个人连续口译：80秒；封存：25秒
【现场分支】
暂时没有答案：允许留下真实空白，或先回到最确定的一处原词。
判断越过原诗：请指出依据；没有原词支撑时降低判断强度。
【听者任务】
本页无同伴答案，先保护连续口译。
【证据位置】
C104个人连续口译
【切页触发】
话已经各自说过，下一页只听它怎样推进。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【V6.6物理画面】C104-B1｜70秒
【本画面为何存在】
同桌只听一处意思或语气是否清楚。
【学生此刻看见】
再听一遍她的话｜哪里是在解释？｜哪里是在安抚？｜哪里是在重新约定？
【教师逐字稿】
现在同桌互相读自己的整段话。听者只回答三件事：哪里听到她在解释，哪里像在安抚，哪里重新约定了时间；说不准就指出原句，不替作者改写。交换后，每个人把一处最生硬的口译改顺。（等待。）
【舞台动作】
（承接前一画面）
（说出本页唯一邀请）
（真实等待或处理现场作品）
（在答案越界前切页）
【本画面时间盒】
说明听者任务：15秒；双方互读互听：35秒；本人改顺：20秒
【现场分支】
暂时没有答案：允许留下真实空白，或先回到最确定的一处原词。
判断越过原诗：请指出依据；没有原词支撑时降低判断强度。
【听者任务】
辨认解释、安抚和另约在何处发生。
【证据位置】
C104同桌回执和一处改读
【切页触发】
听感已经出现，下一页把字义和整番话说准。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【V6.6物理画面】C104-B2｜95秒
【本画面为何存在】
准确收束解释婚期、请其勿怒和另约秋期。
【学生此刻看见】
不是我故意拖延婚期，是你没有请来合适的媒人。｜请你不要生气。｜就把婚期定在秋天吧。｜她没有把婚事推开，而是在解释、安抚、重新约定。
【教师逐字稿】
校准：不是我故意拖延婚期，是你没有请来合适的媒人；请你不要生气；就把婚期定在秋天吧。请只修自己错的字义和主体。她并没有把婚事推开，而是在解释、安抚并重新约定。用自己的话再完整说一遍。
【舞台动作】
（承接前一画面）
（说出本页唯一邀请）
（真实等待或处理现场作品）
（在答案越界前切页）
【本画面时间盒】
准确口译：35秒；人物行动收束：25秒；本人再说与切页：35秒
【现场分支】
暂时没有答案：允许留下真实空白，或先回到最确定的一处原词。
判断越过原诗：请指出依据；没有原词支撑时降低判断强度。
【听者任务】
确认自然口译仍由女子连续说出。
【证据位置】
C104修订后连续口译
【切页触发】
来、送、约已经清楚，现在把第一章重新讲成一个故事。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【V6.6物理画面】C105-A｜300秒
【本画面为何存在】
示范怎样把局部词句重新讲成人物、动作和结果连贯的一章。
【学生此刻看见】
他怎样来，她怎样送，两个人怎样约？｜氓之蚩蚩，抱布贸丝。｜匪来贸丝，来即我谋。｜送子涉淇，至于顿丘。｜匪我愆期，子无良媒。｜将子无怒，秋以为期。
【教师逐字稿】
第一章每一句都已经读过。请先只看屏幕和教材，完整读一遍第一章。（教师领起第一句，随后让学生连续读完。）读完了，请把教材合上，把03A初读卡和03B细读单一起翻到背面，压在桌角；同桌互相看一眼，确认桌面上不再露出原诗。（等待纸面支架全部撤去。）请看我这里。（教师按B键熄暗屏幕。）现在用三十秒把这一章讲给同桌听。只讲三件事：他怎样来，她怎样送，婚事怎样暂缓又约定。听者不要接管故事，只在对方说完后补一个真正遗漏的地方；如果已经完整，就如实说‘我没有找到遗漏’。两人交换。（教师巡视，等待双方完成。）请讲述者暂时只打开教材，找到刚才遗漏的那一句；找到后立即合书，再补说一次，03A和03B仍保持背面朝上。现在把03B翻回来，只在六章故事轨道第一格写下自己的自然话，不需要模仿屏幕，也不要抄活动名称；03A仍扣住。（等待书写。）谁愿意读出自己的第一章一句话？（引用两条现场章意，在黑板保留不同措辞，并只修正事实断点。）我们共同说到的是：男子带着贸丝的动作来商量婚事；女子送他渡过淇水，说明媒妁条件，安抚对方，最后把婚期约在秋天。这个整理来自你们已经讲出的事件，不是要替换每个人的句子。请把第一格留好，下一章还会接着生长。至于‘蚩蚩’、贸丝与谋婚、‘无怒’这些早期细节，不在这里另设一份以后无人读取的个人标记；第五章出现明确的婚后事实时，我们会共同翻回原句。第一章的约定已经落在秋天；第二章，等待开始了。
【舞台动作】
（完整重读第一章）
（合上教材并将03A、03B同时翻到背面）
（同桌确认桌面不露原诗）
（按B键熄暗屏幕）
（学生在全部支架撤去后旁白）
（听者只补一处或诚实确认完整）
（只开教材定位后立即合书补说）
（只翻回03B写故事轨道，03A仍扣住）
【本画面时间盒】
完整重读第一章：45秒；交代旁白与听者边界：30秒；两人轮流三十秒旁白：75秒；听者补缺、回诗与补说：55秒；写自然章意与故事轨道第一格：50秒；引用学生章意、保存第一格并转场：45秒
【现场分支】
完全空白：允许先说最清楚的一段，再开书只找它前面和后面各发生了什么，不抄整章。
听者直接代讲：立即改问‘你只找到哪一个断点’，把回诗和补说权还给原讲述者。
没有遗漏：允许诚实确认完整；原讲述者在章意旁补一个支撑原词，不制造修改。
用后来结局定性：请暂时只保留第一章能证明的事实和印象；第五章C503出现后来事实时再共同回看固定原词。
【听者任务】
只核对来、送、婚事暂缓与约定三处是否连成故事；全班听章意时比较措辞，不抄教师统一答案。
【证据位置】
03B第一章细读单C105区域和六章故事轨道第一格
【切页触发】
第一格先留在这里。下一章，约定之后的日子从等待复关开始。
【V6.6逻辑页】C105｜逻辑页13｜5分钟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示范怎样把局部词句重新讲成人物、动作和结果连贯的一章。
【文学对象】
氓之蚩蚩，抱布贸丝。匪来贸丝，来即我谋。送子涉淇，至于顿丘。匪我愆期，子无良媒。将子无怒，秋以为期。
【信息状态】
首答前只给原诗、必要字面和一个自然问题；解释、分类、关系与代表答案在学生首稿后出现。
【学生主动作】
合书讲来—送—约；真实断点处返诗补说
【参与路径】
个人先形成；需要交流时并行同桌或四人轮说；全班只公开少量有差异材料。
【可见产物】
第一章章意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C201
【正常反例】
想不起、无新增、已经准确、不同意或暂时沉默均有诚实完成路径，不要求伪造改变。
【主视觉职责】
第一次完整章意示范
【插图资格】
无
【第一人称接收】
我刚才面对“氓之蚩蚩，抱布贸丝。匪来贸丝，来即我谋。送子涉淇，至于顿丘。匪我愆期，子无良媒。将子无怒，秋以为期。”，留下了第一章章意；我能用原词说清自己新增或修正的理解。
【故事回接】
页面结束前由一句自然复述回到谁做了什么、人物处境怎样变化以及故事推进到哪里。
【删除损失】
删除后前四页仍是碎片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【V6.6物理画面】C201-A｜300秒
【本画面为何存在】
从秋期进入登垣等待，使‘乘—望’成为具体站位与视线。
【学生此刻看见】
第二章｜她站到哪里？目光投向哪里？｜乘彼垝垣，以望复关。｜不见复关，泣涕涟涟。｜既见复关，载笑载言。｜尔卜尔筮，体无咎言。｜以尔车来，以我贿迁。
【教师逐字稿】
第一章的婚期已经约在秋天。请先看一眼故事轨道第一格，不添新内容。第二章会把故事带到哪里？现在不要拿新的学习卡，只看屏幕和教材，听我把五句完整读一遍；眼睛跟着诗句走。（教师完整读章，末句后停两秒。）请你们自己完整读一遍。读完以后我才发03A；在卡上写三个你最确定的人物动作，按先后排开。一时只找到一两个，也照实留下。（读后发卡，静默书写。）请两位同学各读一个自己写下的原词；听的人只核对它是不是人物真正做的事。（引用现场原词，不补整章答案。）现在看03A上的首句：‘乘彼垝垣，以望复关。’借教材注释把它说成一句自然话，再只画一道目光：人站在哪里，望向哪里？不要画行走路线。（等待。）同桌互看，只问：人物站在哪里？线指向哪里？若画成已经走到复关，回到‘乘’和‘望’改回来。我们再校准四个词：‘乘’是登上，‘垝垣’是残破的墙，‘以’是来、用来；‘复关’是男子所住的地方，诗中借地名指向他。请沿自己画的目光重读首句。约定以后，她登上残墙，向复关望去。接下来，同一个方向上的不见与既见，会让她发生什么变化？
【舞台动作】
（打开第一章故事轨道第一格）
（教师完整读第二章）
（学生完整朗读）
（读后发03A）
（学生在03A写动作、口译并画目光）
（同桌核对站位与方向）
（教师后置校词并回读）
【本画面时间盒】
承接第一格与教师完整读章：38秒；学生完整朗读：38秒；读后发03A并写三个动作：58秒；引用动作初稿：29秒；首句自然口译和画目光：58秒；同桌核对、教师校词与故事回接：79秒
【现场分支】
只找到一两个动作：允许保留，不要求为凑够三个而抄词；同桌发言后再回诗补一个。
先写情绪词：若是泣、笑等实际动作可以保留；若只写伤心、高兴，追问原诗中人物做了什么。
画成行走路线：请用手分别按住‘乘’和‘望’，把人物留在垝垣上，只留下朝复关的目光。
不会画：允许只写‘垝垣 —望→ 复关’，不评价绘画能力。
【听者任务】
初稿只核对是否为原诗人物动作；视线只核对站位、方向和‘望’的原词依据。
【证据位置】
03A第二章初读与视线卡
【切页触发】
目光落向复关。现在把‘不见’和‘既见’放在一起，看这两句怎样突然转过去，又能不能被耳朵听出来。
【V6.6逻辑页】C201｜逻辑页14｜5分钟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从秋期进入登垣等待，使‘乘—望’成为具体站位与视线。
【文学对象】
乘彼垝垣，以望复关。不见复关，泣涕涟涟。既见复关，载笑载言。尔卜尔筮，体无咎言。以尔车来，以我贿迁。
【信息状态】
首答前只给原诗、必要字面和一个自然问题；解释、分类、关系与代表答案在学生首稿后出现。
【学生主动作】
整章读；留下三个动作和一道视线
【参与路径】
个人先形成；需要交流时并行同桌或四人轮说；全班只公开少量有差异材料。
【可见产物】
动作与视线初稿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C202
【正常反例】
想不起、无新增、已经准确、不同意或暂时沉默均有诚实完成路径，不要求伪造改变。
【主视觉职责】
垝垣到复关的视线
【插图资格】
I03待A/B
【第一人称接收】
我刚才面对“乘彼垝垣，以望复关。不见复关，泣涕涟涟。既见复关，载笑载言。尔卜尔筮，体无咎言。以尔车来，以我贿迁。”，留下了动作与视线初稿；我能用原词说清自己新增或修正的理解。
【故事回接】
页面结束前由一句自然复述回到谁做了什么、人物处境怎样变化以及故事推进到哪里。
【删除损失】
删除会让哭笑失去等待空间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【V6.6物理画面】C202-A｜300秒
【本画面为何存在】
用正面对照读清条件变化怎样触发泣涕与笑言。
【学生此刻看见】
两个“见”字，怎样牵动她的哭与笑？｜不见复关，泣涕涟涟。｜既见复关，载笑载言。
【教师逐字稿】
请看同一个方向上的两句：‘不见复关，泣涕涟涟。既见复关，载笑载言。’先把每句说成自己的自然话，再在原诗里圈出彼此照应的词。不要先写伤心和高兴；先写没看见什么、已经看见什么，她实际做了什么。（静默等待。）请同桌一人读上句、一人读下句，只问：什么变化触发了她？她的动作怎样变？谁愿意读出自己圈的两组词？（引用现场原词。）我们校准：泣涕是哭泣流泪，涟涟是泪流不断；既是已经，两个载加强语气。若你的自然话只有情绪，请补上触发和动作。现在不再另开一张朗读程序页。每个人只在诗边标一处：你想让声音从哪里转过去？可以改变停顿、重音或语速，只选一处，旁边写托住它的原词。（等待轻声试读。）两人一组，第一位连读两句，第二位闭眼，只说‘我在____附近听见了变化’，或诚实说‘没有听出来’；读的人据此只改一处，再读一遍。然后交换，让每个人都读一次、听一次、改一次。（等待。）请一组愿意的同学呈现第二遍，听者只报原词。（引用真实声音。）两种读法可以不同，只要原词站得住，耳朵也真能听见。她由不见而泣、既见而笑，这一下转折已经从纸面进入声音。下面，婚事还要经过占问，并真正走向迁移。
【舞台动作】
（发03B）
（学生自然口译并圈原词）
（双人上下对读）
（教师引用原词后校词）
（每人标一处声音变化）
（双方各完成一次盲听、反馈和改读）
（引用一组真实声音）
【本画面时间盒】
承接视线与个人自然口译圈词：63秒；双人对读和触发互问：44秒；学生分享、教师定点释义与修订：53秒；个人单点朗读设计和轻声试读：34秒；双方盲听、反馈和各自改读：69秒；真实声音分享、故事回接与转场：37秒
【现场分支】
只贴情绪标签：追问哪一个变化触发、人物实际做了什么，使说法回到不见/既见和泣涕/笑言。
圈满所有词：只保留能与下句某词形成关系的两三处，并说清为什么相照应。
模仿教师：教师拒绝先示范，只问想突出哪个原词，允许不同声音方案。
没有听出来：如实记录，读者只改一处再读；第二遍仍不明显就留问号，不追加第三轮。
【听者任务】
先核对触发条件和人物动作；闭眼后只定位声音变化附近的原词，或如实报告未听出。
【证据位置】
03B C202区和教材原词、朗读标记
【切页触发】
见与不见的变化已经能被耳朵听见。下面把两句连起来：一次占问之后，婚事又怎样走向了实际迁移？
【V6.6逻辑页】C202｜逻辑页15｜5分钟
【前页输入】
学生已经完成前页任务，手中保留与“不见复关，泣涕涟涟。既见复关，载笑载言。”有关的原词或初稿。
【唯一困难】
学生容易看见“不见复关，泣涕涟涟。既见复关，载笑载言。”，却不能把它准确接回人物和前后故事。
【唯一功能】
用正面对照读清条件变化怎样触发泣涕与笑言。
【文学对象】
不见复关，泣涕涟涟。既见复关，载笑载言。
【信息状态】
首答前只给原诗、必要字面和一个自然问题；解释、分类、关系与代表答案在学生首稿后出现。
【学生主动作】
对齐四组原词；试读并说听见的转轴
【参与路径】
个人先形成；需要交流时并行同桌或四人轮说；全班只公开少量有差异材料。
【可见产物】
条件—动作对照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两组正面对照
【插图资格】
无
【第一人称接收】
我刚才面对“不见复关，泣涕涟涟。既见复关，载笑载言。”，留下了条件—动作对照；我能用原词说清自己新增或修正的理解。
【故事回接】
页面结束前由一句自然复述回到谁做了什么、人物处境怎样变化以及故事推进到哪里。
【删除损失】
删除会丢失第二章最强情态转折
【相邻反证】
相邻页不同时处理“学生容易看见“不见复关，泣涕涟涟。既见复关，载笑载言。”，却不能把它准确接回人物和前后故事。”；合并会挤掉必要首答、校准或故事回接。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【V6.6物理画面】C204-A｜360秒
【本画面为何存在】
准确理解本次卜筮，并沿‘以尔/以我’读清占问到迁嫁的因序。
【学生此刻看见】
卜筮以后，婚事怎样走到迁移？｜尔卜尔筮，体无咎言。｜以尔车来，以我贿迁。｜谁来？用什么来？谁迁？带着什么迁？
【教师逐字稿】
第二章最后两句要连起来读：‘尔卜尔筮，体无咎言。以尔车来，以我贿迁。’第一句有四项不能靠猜的知识：卜，是用龟甲占问；筮，是用蓍草占卦；体，是显示的兆象；咎言，是不祥之语。支架到这里为止，完整意思请你自己组织。先按谁做什么、结果怎样，把第一句说成自然话，再写：这次占问得到什么结果？（等待。）同桌只核对四项有没有错位。谁愿意读自己的句子？（引用后校准。）如果你写了‘一定幸福、保证以后’，圈起来；原句只写这次没有不祥。没有越界的同学不必制造错误，只在无咎言旁补‘这次’。接着看第二句。不要先说‘他们结婚了’，请沿‘以尔’和‘以我’分成两边，在03B写清每边是谁、带着什么、做什么。（等待。）现在校准：贿是财物，这里指嫁妆；迁是迁往男子家。同桌一人指‘以尔’一侧，一人指‘以我’一侧，只检查主体、物件、动作有没有放错；不需要交换表演。最后一起合读原句，再把两句连成一句自然的故事话：占问写了什么，接着发生什么？（引用两条现场表达。）这次占问无不祥，婚事继续；车来、财物迁，女子的生活位置也随之改变。第二章已经走到迁移，现在撤去局部支架，看整章能不能重新成为一段故事。
【舞台动作】
（连读两句）
（教师给四项最小文化支架）
（学生独立口译占问）
（同桌核对名物）
（教师后置时间边界）
（学生拆分以尔/以我双方动作）
（同桌有界核对并合句）
（回到占问—迁移因序）
【本画面时间盒】
连读两句与最小文化支架：41秒；个人占问口译和结果：56秒；同桌名物核对、分享与时间限定：64秒；个人拆分以尔和以我：56秒；同桌对应核对与教师校词：60秒；两句合回故事、个人修订与转场：83秒
【现场分支】
无法组织占问句：只提供‘你—卜筮—兆象—无不祥’四个位置，不念完成句。
直接推出幸福：只问原句写的是哪一次、有没有写后来生活，把说法降回当次结果。
压成他们结婚：追问以尔和以我各是谁的动作，车和贿在哪一边，先拆开再合。
嫁妆归属错位：请按住‘以我’，把贿移回这一侧，不直接报完整译文。
【听者任务】
占问部分只核对四项名物；迁移部分只核对两侧主体、物件和动作；都不提前讨论后来婚姻。
【证据位置】
03B C204区
【切页触发】
占问无不祥，车来、财物迁，第二章已经走到实际迁移。现在收起局部提示，把等待到迁移完整讲一次。
【V6.6逻辑页】C204｜逻辑页16｜6分钟
【前页输入】
学生已经完成前页任务，手中保留与“尔卜尔筮，体无咎言。以尔车来，以我贿迁。”有关的原词或初稿。
【唯一困难】
学生容易看见“尔卜尔筮，体无咎言。以尔车来，以我贿迁。”，却不能把它准确接回人物和前后故事。
【唯一功能】
准确理解本次卜筮，并沿‘以尔/以我’读清占问到迁嫁的因序。
【文学对象】
尔卜尔筮，体无咎言。以尔车来，以我贿迁。
【信息状态】
首答只对齐尔／我、车／贿、来／迁；完整因序由学生口译和现场板书后置形成。
【学生主动作】
区分双方主体、物件与动作；口头连接因序
【参与路径】
个人先形成；需要交流时并行同桌或四人轮说；全班只公开少量有差异材料。
【可见产物】
两句因序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三节点因序
【插图资格】
仅抽象因序示意
【第一人称接收】
我刚才面对“尔卜尔筮，体无咎言。以尔车来，以我贿迁。”，留下了两句因序；我能用原词说清自己新增或修正的理解。
【故事回接】
页面结束前由一句自然复述回到谁做了什么、人物处境怎样变化以及故事推进到哪里。
【删除损失】
删除会把无咎—车来—贿迁压成泛泛成婚
【相邻反证】
相邻页不同时处理“学生容易看见“尔卜尔筮，体无咎言。以尔车来，以我贿迁。”，却不能把它准确接回人物和前后故事。”；合并会挤掉必要首答、校准或故事回接。
【失败信号】
默认画面出现卜筮→无咎→车来→贿迁完成流程；文化微讲扩展成占卜史；主体混淆未修订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【V6.6物理画面】C206-A｜360秒
【本画面为何存在】
把第一、二章接成‘约定怎样成为等待与迁移’，避免第二次复制章末模板。
【学生此刻看见】
从“秋以为期”到“以我贿迁”｜将子无怒，秋以为期。｜乘彼垝垣，以望复关。｜以尔车来，以我贿迁。｜前一章的哪件事，使后一章的等待成为必然？
【教师逐字稿】
先把教材摊开，目光从第一章末的‘秋以为期’移到第二章。每个人先写两小句：第一章发生了什么；第二章发生了什么。不要分工。（等待并巡视。）现在同桌接力，一人先讲第一章，另一人接第二章；交换角色，再讲一次。两个人都讲过两章以后，各自补一句：第一章的哪件事，使第二章的等待成为必然？请两组公开不同连接。教师最后沿原诗板书：他抱布来谋婚，她远送并约定秋期；约定使她登垣等待，由不见到既见，卜筮无咎后车来贿迁。请每个人把这条因果补进自己的两章概括，不抄同桌整句。
【舞台动作】
（教师承接前页）
（学生先独立形成）
（同伴限定倾听）
（教师据真实材料校准）
（学生亲自修订）
（自然切页）
【本画面时间盒】
个人两章概括：90秒；同桌交换角色接力：120秒；个人章间因果：55秒；公开两组和教师板书：65秒；本人修订：30秒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每个人的第一、二章自然概括和秋期因果句
【切页触发】
故事已经走到迁嫁。第三章却没有立刻写婚后的日子，眼前先出现了一树桑叶。
【V6.6逻辑页】C206｜逻辑页17｜6分钟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把第一、二章接成‘约定怎样成为等待与迁移’，避免第二次复制章末模板。
【文学对象】
乘彼垝垣，以望复关。不见复关，泣涕涟涟。既见复关，载笑载言。尔卜尔筮，体无咎言。以尔车来，以我贿迁。
【信息状态】
不显示来—送—约／等—见—迁完成章意；学生接力后教师才板书。
【学生主动作】
每人先写两章各发生什么；同桌接力后各自补出章间因果
【参与路径】
个人先形成；需要交流时并行同桌或四人轮说；全班只公开少量有差异材料。
【可见产物】
个人两章自然概括和秋期因果句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C301
【正常反例】
想不起、无新增、已经准确、不同意或暂时沉默均有诚实完成路径，不要求伪造改变。
【主视觉职责】
章间铰链
【插图资格】
无
【第一人称接收】
我刚才面对“乘彼垝垣，以望复关。不见复关，泣涕涟涟。既见复关，载笑载言。尔卜尔筮，体无咎言。以尔车来，以我贿迁。”，留下了个人两章自然概括和秋期因果句；我能用原词说清自己新增或修正的理解。
【故事回接】
页面结束前由一句自然复述回到谁做了什么、人物处境怎样变化以及故事推进到哪里。
【删除损失】
删除会失去跨章因果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【V6.6物理画面】C301-A｜240秒
【本画面为何存在】
发现迁嫁之后诗没有立即写婚后事件，而先转入物象和劝告。
【学生此刻看见】
第三章｜迁嫁以后，诗里忽然出现了什么？｜桑之未落，其叶沃若。｜于嗟鸠兮，无食桑葚！｜于嗟女兮，无与士耽！｜士之耽兮，犹可说也。｜女之耽兮，不可说也！
【教师逐字稿】
第二章最后，车来了，财物迁了，女子的生活也换了地方。请从故事轨道把前两格连着说一遍，然后只看第三章。先不要问桑叶象征什么，也不要找手法；让五句诗完整地响一遍。读到你自己觉得说话方式变了，可以轻轻停半拍；没有这种感觉，就照原来的节奏读完。（教师范读后，全班个人低声再读。）现在才落笔：迁嫁以后，眼前最先出现了什么？哪一句开始不像叙事，像是在劝告？每一项都抄回一个原词或原句。没有听出转折，可以留问号。同桌只检查你写的是不是这五句里的东西，不替你解释。（等待核对与修订。）我们先保留两件事：桑叶先进入眼前，声音随后改变。它为什么这样写，先不急着回答。
【舞台动作】
（连说前两章故事轨道）
（教师完整范读）
（学生个人完整低声读）
（读后才写两项初稿）
（同桌只核对来源）
（学生亲自修订）
【本画面时间盒】
恢复前两章故事位置：35秒；教师范读与学生完整低声读：85秒；个人读后生成：55秒；同桌来源核对和修订：40秒；引用初稿并转场：25秒
【现场分支】
没有听出变化：声音栏诚实留问号，只写最先看见的物象；C303再用两句对读帮助耳朵发现。
先报比兴：把术语暂放纸边，追问初读时先看见哪一物、从哪句开始听见劝告。
写活动词：将‘朗读、圈词’改成诗中真实出现的物象或一句原诗。
【听者任务】
只核对同伴所写物象和转折句是否来自第三章，不评判解释深浅。
【证据位置】
03C C301区
【切页触发】
先不越过这片桑叶。它还没有落，叶子正是‘沃若’。这个词究竟让你看见什么？
【V6.6逻辑页】C301｜逻辑页18｜4分钟
【前页输入】
学生已经完成前页任务，手中保留与“桑之未落，其叶沃若。于嗟鸠兮，无食桑葚。于嗟女兮，无与士耽。士之耽兮，犹可说也。女之耽兮，不可说也。”有关的原词或初稿。
【唯一困难】
学生容易看见“桑之未落，其叶沃若。于嗟鸠兮，无食桑葚。于嗟女兮，无与士耽。士之耽兮，犹可说也。女之耽兮，不可说也。”，却不能把它准确接回人物和前后故事。
【唯一功能】
发现迁嫁之后诗没有立即写婚后事件，而先转入物象和劝告。
【文学对象】
桑之未落，其叶沃若。于嗟鸠兮，无食桑葚。于嗟女兮，无与士耽。士之耽兮，犹可说也。女之耽兮，不可说也。
【信息状态】
标题不先说故事停驻、比兴和回望；学生从整章发现物象与声音转向。
【学生主动作】
完整读章；留下物象和换声句
【参与路径】
个人先形成；需要交流时并行同桌或四人轮说；全班只公开少量有差异材料。
【可见产物】
换声初稿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C302—C303
【正常反例】
想不起、无新增、已经准确、不同意或暂时沉默均有诚实完成路径，不要求伪造改变。
【主视觉职责】
第三章完整换声
【插图资格】
无
【第一人称接收】
我刚才面对“桑之未落，其叶沃若。于嗟鸠兮，无食桑葚。于嗟女兮，无与士耽。士之耽兮，犹可说也。女之耽兮，不可说也。”，留下了换声初稿；我能用原词说清自己新增或修正的理解。
【故事回接】
页面结束前由一句自然复述回到谁做了什么、人物处境怎样变化以及故事推进到哪里。
【删除损失】
删除会把比兴变成教师答案
【相邻反证】
相邻页不同时处理“学生容易看见“桑之未落，其叶沃若。于嗟鸠兮，无食桑葚。于嗟女兮，无与士耽。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【V6.6物理画面】C302-A｜240秒
【本画面为何存在】
从‘沃若’形成色泽、质地和生命感，再留下可由后文检验的联想。
【学生此刻看见】
桑之未落，其叶沃若。｜这片桑叶，是什么颜色、光泽和状态？
【教师逐字稿】
把这句先说成自然话。‘沃若’是润泽的样子。现在先不写象征，不让一个熟悉答案盖住眼前的叶子。请静静看这行诗十秒，想一想它的色泽、质地和生命状态；在纸上写两个能被‘沃若’托住的词。（静默十秒后继续等待。）有了感觉，才允许联想：它可能让你想到怎样的青春、情感或关系状态？请留下两种可能，每一种旁边都写出刚才哪个词托住它。同桌只问一句：‘你的联想从沃若的哪一种感觉生出来？’不替对方选择。（等待。）如果你写的是‘桑叶就是爱情’，请把话放轻，改成‘可能让我想到……’；找不到依据，也可以删去联想，保留感官词和问号。第四章还有‘黄而陨’，我们会带着今天的两种想法回来筛选。
【舞台动作】
（个人自然口译）
（静默观察十秒）
（写两个感官词）
（写两项可能联想）
（同桌只追问依据）
（学生改弱或保留问号）
【本画面时间盒】
个人口译与词义校准：44秒；静默观察和感官词：43秒；两项假设独立生成：63秒；同桌依据追问：43秒；个人修订和转场：47秒
【现场分支】
只写固定象征：将‘就是’改成‘可能让我想到’，再补一项不同层次的可能或诚实问号。
无感官依据：先删去联想，只保留沃若所能托住的颜色、质地或生命状态。
没有联想：允许只写感官词和问号，第四章对照黄而陨后再生成。
【听者任务】
只追问联想的感官依据，不判断谁的象征义更像标准答案。
【证据位置】
03C C302区桑叶假设卡
【切页触发】
桑叶的意思先不封口。下一句，一声‘于嗟’落在斑鸠身上；再一声，又落到了谁身上？
【V6.6逻辑页】C302｜逻辑页19｜4分钟
【前页输入】
学生已经完成前页任务，手中保留与“桑之未落，其叶沃若。”有关的原词或初稿。
【唯一困难】
学生容易看见“桑之未落，其叶沃若。”，却不能把它准确接回人物和前后故事。
【唯一功能】
从‘沃若’形成色泽、质地和生命感，再留下可由后文检验的联想。
【文学对象】
桑之未落，其叶沃若。
【信息状态】
首答无青桑图、无‘生命感’提示；学生从沃若形成感官词后才允许校准。
【学生主动作】
写两个感官词；留下一种可能
【参与路径】
个人先形成；需要交流时并行同桌或四人轮说；全班只公开少量有差异材料。
【可见产物】
桑叶假设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C402真修订
【正常反例】
想不起、无新增、已经准确、不同意或暂时沉默均有诚实完成路径，不要求伪造改变。
【主视觉职责】
青润桑叶与原词
【插图资格】
I04a待A/B
【第一人称接收】
我刚才面对“桑之未落，其叶沃若。”，留下了桑叶假设；我能用原词说清自己新增或修正的理解。
【故事回接】
页面结束前由一句自然复述回到谁做了什么、人物处境怎样变化以及故事推进到哪里。
【删除损失】
删除会退回标准象征义
【相邻反证】
相邻页不同时处理“学生容易看见“桑之未落，其叶沃若。”，却不能把它准确接回人物和前后故事。”；合并会挤掉必要首答、校准或故事回接。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【V6.6物理画面】C303A-A｜180秒
【本画面为何存在】
在已经读过第三章以后，有意删去桑叶和斑鸠两句重新听劝女句，感受原诗句群被抽空后的声音损失。
【学生此刻看见】
于嗟女兮，无与士耽！｜这一声劝告，怎样落下？
【教师逐字稿】
我们刚才已经读过完整的第三章。现在做一次有意的删句再听，不假装自己忘记了前文。请用一张空白纸盖住桑叶和斑鸠两句，屏幕也只留下：‘于嗟女兮，无与士耽！’读一遍，写下：拿掉前两句以后，这声劝告变得怎样？你失去了什么，又多了什么？可以写急、重、近、直，也可以用自己的词，但要说清你听见的差异。（教师退开，等待。）请两位同学只读自己的句子，不判断谁更好。先把这次删句记录留住，下一页恢复原句群，再看声音如何改变。
【舞台动作】
（教师承接前页）
（学生先独立形成）
（同伴限定倾听）
（教师据真实材料校准）
（学生亲自修订）
（自然切页）
【本画面时间盒】
说明删句实验边界：35秒；删句再听与个人记录：75秒；两份公开：45秒；封存与转场：25秒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C303A删句再听记录
【切页触发】
现在把纸移开，让桑叶和斑鸠重新回来。
【V6.6逻辑页】C303A｜逻辑页20｜3分钟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在已经读过第三章以后，有意删去桑叶和斑鸠两句重新听劝女句，感受原诗句群被抽空后的声音损失。
【文学对象】
桑之未落，其叶沃若。于嗟鸠兮，无食桑葚！于嗟女兮，无与士耽！
【信息状态】
物理画面绝不显示桑叶、斑鸠、由物及人、比兴名称或比较答案。
【学生主动作】
有意删去前两句后再听劝女句；写删句后的声音变化
【参与路径】
个人先形成；需要交流时并行同桌或四人轮说；全班只公开少量有差异材料。
【可见产物】
删句再听记录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C303B恢复句群后比较
【正常反例】
想不起、无新增、已经准确、不同意或暂时沉默均有诚实完成路径，不要求伪造改变。
【主视觉职责】
唯一暴露的劝女原句和大面积暗色留白
【插图资格】
无
【第一人称接收】
我明知前文存在，却故意拿掉两句再听，感到了句群被删后的声音变化。
【故事回接】
页面结束前由一句自然复述回到谁做了什么、人物处境怎样变化以及故事推进到哪里。
【删除损失】
无法把比兴从术语还原为句群有无造成的可感差异。
【相邻反证】
C303B必须读取这份删句记录；合成一张静态页会污染比较。
【失败信号】
把删句再听冒充未知前文的基线；教师先说由物及人；记录未封存便进入校准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【V6.6物理画面】C303B-B1｜185秒
【本画面为何存在】
恢复三句但不命名结构，让学生形成有依据修订。
【学生此刻看见】
桑叶、斑鸠和女子重新连起来以后｜桑之未落，其叶沃若。｜于嗟鸠兮，无食桑葚！｜于嗟女兮，无与士耽！｜你又多听见了什么？
【教师逐字稿】
把纸移开，桑叶和斑鸠重新回来。请连读三句，再打开删句记录，在下面续写：‘原句回来以后，我又听见了——，因为——。’不许只写‘更生动’，必须指出一个原词或一个声音次序。（等待。）请两位同学读前后两句，听者只判断依据是否在诗里。
【舞台动作】
（承接前一画面）
（说出本页唯一邀请）
（真实等待或处理现场作品）
（在答案越界前切页）
【本画面时间盒】
恢复句群与连读：40秒；个人比较修订：80秒；两份公开与原词追问：50秒；切页：15秒
【现场分支】
暂时没有答案：允许留下真实空白，或先回到最确定的一处原词。
判断越过原诗：请指出依据；没有原词支撑时降低判断强度。
【听者任务】
只核对新增听感是否回到原词。
【证据位置】
C303A删句记录下方的比较修订
【切页触发】
你们已经听见差异，现在再给这种写法准确的名字。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恢复完整句群，让学生比较删句前后声音增加了什么，再后置命名由物起声、由物及人的兴与比。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恢复并连读三句；比较删句记录并用原词修订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我比较了有意删句与恢复原句时的声音差异，再理解比兴怎样从桑、鸠来到女子。
【故事回接】
页面结束前由一句自然复述回到谁做了什么、人物处境怎样变化以及故事推进到哪里。
【删除损失】
比兴仍是没有经历的术语。
【相邻反证】
C303A提供删句后的再听记录，C305讨论男女处境；本页独自承担恢复、比较和命名。
【失败信号】
首屏画出完成箭头；教师在比较前给比兴定义；学生只抄术语未修订首答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【V6.6物理画面】C303B-B2｜115秒
【本画面为何存在】
准确命名桑—鸠—女的声音路径及比、兴。
【学生此刻看见】
桑叶在眼前｜劝告先落到斑鸠｜声音又来到女子身边｜由眼前物象起声、引出所咏，是“兴”；物与人的处境互相映照，又含着“比”。
【教师逐字稿】
‘于嗟’读xū jiē，是感叹词；‘无’同‘毋’，是不要；‘耽’是沉溺。眼前先有桑叶，劝告先落到斑鸠，声音再来到女子身边。由眼前物象起声、引出所咏，是‘兴’；物与人的处境互相映照，又含着‘比’。请回看自己的比较句，只补一个术语，不要抄整页。最后连读三句。
【舞台动作】
（承接前一画面）
（说出本页唯一邀请）
（真实等待或处理现场作品）
（在答案越界前切页）
【本画面时间盒】
释词：25秒；命名比兴：45秒；本人补名与连读：45秒
【现场分支】
暂时没有答案：允许留下真实空白，或先回到最确定的一处原词。
判断越过原诗：请指出依据；没有原词支撑时降低判断强度。
【听者任务】
把术语贴回刚才真实听见的声音路径。
【证据位置】
C303B比较句旁的术语补记
【切页触发】
声音由物来到人，同一个‘耽’落在男女身上却并不相同。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恢复完整句群，让学生比较删句前后声音增加了什么，再后置命名由物起声、由物及人的兴与比。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恢复并连读三句；比较删句记录并用原词修订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我比较了有意删句与恢复原句时的声音差异，再理解比兴怎样从桑、鸠来到女子。
【故事回接】
页面结束前由一句自然复述回到谁做了什么、人物处境怎样变化以及故事推进到哪里。
【删除损失】
比兴仍是没有经历的术语。
【相邻反证】
C303A提供删句后的再听记录，C305讨论男女处境；本页独自承担恢复、比较和命名。
【失败信号】
首屏画出完成箭头；教师在比较前给比兴定义；学生只抄术语未修订首答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【V6.6物理画面】C305-A｜300秒
【本画面为何存在】
从相同‘耽/说’和不同‘士/女、可/不可’读出处境不对等。
【学生此刻看见】
同一个“耽”，哪些词改变了脱身处境？｜士之耽兮，犹可说也。｜女之耽兮，不可说也！
【教师逐字稿】
最后两句要并在一起读。‘说’在这里读tuō，同‘脱’，是摆脱、脱身。先各自口译，再圈出完全相同的词，框住真正改变结果的词。（等待。）请用一句现代话，只说诗中明写的处境差异，不解释为什么。原因写成‘后文待证’。（等待生成。）交换看同桌的句子，只做一件事：若看见‘女性天生、她活该、因为她沉溺所以他才……’这样的越界词，把那个词轻轻圈出来，不替对方重写。作者自己删改，回到士/女、犹可/不可。（等待修订。）这两句写明：同样沉溺，男子尚可脱身，女子却更难脱身。它没有写女性天生如何；更不能把女子的投入变成男子后来失信或粗暴的原因。为什么难，第四、第五章会让婚后的日子一件件出现。
【舞台动作】
（个人口译）
（圈同词框异词）
（写无归因处境句）
（同桌只圈越界词）
（作者亲自删改）
（连读校验并保存待证）
【本画面时间盒】
个人口译与通假义：58秒；同异词圈框：50秒；无归因处境句生成：63秒；同桌越界词核查：46秒；作者修订与教师边界校准：58秒；连读和转场：25秒
【现场分支】
性别本质化：圈出‘天生’，改回诗中明写的士/女、可/不可处境差异。
受伤者归责：立即删去女子投入导致男子伤害的因果，把造成伤害与退出困难分开。
追问原因：把问题登记为后文待证；不凭第三章补造婚后结构。
【听者任务】
只检查同伴是否准确陈述处境差异、是否加入无证归因；不提供完整改写句。
【证据位置】
03C C305区
【切页触发】
五句诗已经逐句走过。现在撤去局部提示，把桑叶、两声劝告和脱身差异讲回女子的一段回望。
【V6.6逻辑页】C305｜逻辑页22｜5分钟
【前页输入】
学生已经完成前页任务，手中保留与“士之耽兮，犹可说也。女之耽兮，不可说也！”有关的原词或初稿。
【唯一困难】
学生容易看见“士之耽兮，犹可说也。女之耽兮，不可说也！”，却不能把它准确接回人物和前后故事。
【唯一功能】
从相同‘耽/说’和不同‘士/女、可/不可’读出处境不对等。
【文学对象】
士之耽兮，犹可说也。女之耽兮，不可说也！
【信息状态】
首答前只给原诗、必要字面和一个自然问题；解释、分类、关系与代表答案在学生首稿后出现。
【学生主动作】
写一条只陈述诗中处境的对照句
【参与路径】
个人先形成；需要交流时并行同桌或四人轮说；全班只公开少量有差异材料。
【可见产物】
处境判断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第四、五章验证并由S03回收
【正常反例】
想不起、无新增、已经准确、不同意或暂时沉默均有诚实完成路径，不要求伪造改变。
【主视觉职责】
两句并排
【插图资格】
无
【第一人称接收】
我刚才面对“士之耽兮，犹可说也。女之耽兮，不可说也！”，留下了处境判断；我能用原词说清自己新增或修正的理解。
【故事回接】
页面结束前由一句自然复述回到谁做了什么、人物处境怎样变化以及故事推进到哪里。
【删除损失】
删除会把劝女归为天性论
【相邻反证】
相邻页不同时处理“学生容易看见“士之耽兮，犹可说也。女之耽兮，不可说也！”，却不能把它准确接回人物和前后故事。”；合并会挤掉必要首答、校准或故事回接。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【V6.6物理画面】C306-A｜240秒
【本画面为何存在】
让每个人把第三章的物象、由物及人的劝告、男女处境差异和经历后回望重新讲成一段。
【学生此刻看见】
迁嫁以后，为什么先有这一树桑叶？｜桑之未落，其叶沃若。｜于嗟鸠兮，无食桑葚！｜于嗟女兮，无与士耽！｜士之耽兮，犹可说也。女之耽兮，不可说也！｜把第三章讲回她的一生。
【教师逐字稿】
请把第三章完整读一遍。现在每个人用三四句自然话写清：迁嫁以后，诗为什么先让桑叶出现；劝告怎样从斑鸠来到女子；同一个‘耽’怎样写出不同的脱身处境；这更像当时旁边人的话，还是经历后的回望。（等待。）合上书，低声把这段讲给自己听。讲到真正断开的地方，立刻打开书找到那一句，再合书补完。请一位同学讲，其他人只指出他漏了哪一步；每个人最后都要在自己的文字上亲自补回。
【舞台动作】
（教师承接前页）
（学生先独立形成）
（同伴限定倾听）
（教师据真实材料校准）
（学生亲自修订）
（自然切页）
【本画面时间盒】
完整重读：35秒；个人自然章意：95秒；合书低声口述和返诗：55秒；公开一份和个人修订：55秒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每个人的第三章自然章意及返诗修订痕迹
【切页触发】
这份回望还只是警告。第四章，桑叶真正落下，婚后的生活也随之出现。
【V6.6逻辑页】C306｜逻辑页23｜4分钟
【前页输入】
学生已经体验由物及人的比兴，并读出处境不等。
【唯一困难】
学生容易看见“桑之未落，其叶沃若。于嗟鸠兮，无食桑葚。于嗟女兮，无与士耽。士之耽兮，犹可说也。女之耽兮，不可说也。”，却不能把它准确接回人物和前后故事。
【唯一功能】
让每个人把第三章的物象、由物及人的劝告、男女处境差异和经历后回望重新讲成一段。
【文学对象】
桑之未落，其叶沃若。于嗟鸠兮，无食桑葚。于嗟女兮，无与士耽。士之耽兮，犹可说也。女之耽兮，不可说也。
【信息状态】
不预填完整章意；学生首答后教师只补真实断点。
【学生主动作】
每人写第三章自然章意；合书口述后在断点返诗修订
【参与路径】
全员个人写→全员低声自述→抽样一份→全员返诗修订。
【可见产物】
个人第三章自然章意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C401进入桑叶落下；C606六章检索
【正常反例】
想不起、无新增、已经准确、不同意或暂时沉默均有诚实完成路径，不要求伪造改变。
【主视觉职责】
第三章完整原诗和一条开放叙事入口
【插图资格】
无
【第一人称接收】
我能把比兴和处境差异放回迁嫁后的回望，而不只记一个术语。
【故事回接】
页面结束前由一句自然复述回到谁做了什么、人物处境怎样变化以及故事推进到哪里。
【删除损失】
第三章仍是比兴术语和两句性别对照，不能接回故事。
【相邻反证】
C303B命名写法，C305辨处境；本页独自完成第三章个人重建。
【失败信号】
只有公开一人形成章意；学生只写‘用了比兴’；无法从迁嫁接到第四章桑落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【V6.6物理画面】C401-A｜240秒
【本画面为何存在】
先找到重现的桑，再区分生活事实和责任判断。
【学生此刻看见】
第四章｜桑叶落下以后，诗写了哪些生活？｜桑之落矣，其黄而陨。｜自我徂尔，三岁食贫。｜淇水汤汤，渐车帷裳。｜女也不爽，士贰其行。｜士也罔极，二三其德。｜完整读完，再留下：｜桑叶的新样子｜一句你听来像在判断的话
【教师逐字稿】
第三章最后，我们留下两件还不能封口的东西：一张‘沃若’桑叶的双假设卡，一个‘为什么女子更难脱身’的问号。请先把它们放在手边，不急着打开答案。现在让第四章五句诗完整地响一遍。第一遍只听它写了哪些生活；第二遍再留意，女子是否一直都在讲事情，还是有一句开始说她对这段关系的看法。（教师范读，学生再完整低声读。）现在才落笔：桑叶有了什么新样子？抄下原词。再抄一句你听来不像只在讲事情、而像在判断的话。暂时听不出来，就把问号留在这里。同桌只核对是不是第四章里的原词原句，不替对方解释。（等待核对和修订。）我们先把大家找到的句子留在纸上，不急着裁定。接下来从那片桑叶重新读起，让这五句自己告诉我们，她经历了什么，又怎样说起两个人。
【舞台动作】
（取回第三章桑叶卡和待证问号）
（教师完整范读）
（学生个人完整低声读）
（读后才写状态与判断初稿）
（同桌只核对原句来源）
（学生亲自修订）
【本画面时间盒】
恢复第三章两份待证材料：30秒；教师范读和学生完整朗读：85秒；个人生成两项初稿：55秒；同桌来源核对和修订：40秒；引用现场原句并转场：30秒
【现场分支】
只写悲伤或变心：把抽象词收回，先抄桑叶新状态和你认为声音变硬的完整原句。
判断起点不同：允许暂存两个位置，不由教师投票裁决；C404比较‘不爽/贰’时再修。
直接归因女子沉溺：先停止因果判断，本页只登记经历与判断的先后，不把第三章的耽变成伤害责任。
【听者任务】
只检查同伴是否抄自第四章、是否写成原词原句，不评判解释深浅。
【证据位置】
04D C401区
【切页触发】
先回到那片桑叶。第三章它‘沃若’，这一章却‘黄而陨’；你原来的两种想法，经得住这一落吗？
【V6.6逻辑页】C401｜逻辑页24｜4分钟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先找到重现的桑，再区分生活事实和责任判断。
【文学对象】
桑之落矣，其黄而陨。自我徂尔，三岁食贫。淇水汤汤，渐车帷裳。女也不爽，士贰其行。士也罔极，二三其德。
【信息状态】
首答前只给原诗、必要字面和一个自然问题；解释、分类、关系与代表答案在学生首稿后出现。
【学生主动作】
整章读；圈物象、画事实、框判断
【参与路径】
个人先形成；需要交流时并行同桌或四人轮说；全班只公开少量有差异材料。
【可见产物】
章内三区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C402—C404_405
【正常反例】
想不起、无新增、已经准确、不同意或暂时沉默均有诚实完成路径，不要求伪造改变。
【主视觉职责】
完整第四章三区
【插图资格】
无
【第一人称接收】
我刚才面对“桑之落矣，其黄而陨。自我徂尔，三岁食贫。淇水汤汤，渐车帷裳。女也不爽，士贰其行。士也罔极，二三其德。”，留下了章内三区；我能用原词说清自己新增或修正的理解。
【故事回接】
页面结束前由一句自然复述回到谁做了什么、人物处境怎样变化以及故事推进到哪里。
【删除损失】
删除会失去事实与判断的边界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【V6.6物理画面】C402-A｜300秒
【本画面为何存在】
用后文真正检验前文的桑叶解释，经历后文改变前文。
【学生此刻看见】
桑之未落，其叶沃若。｜桑之落矣，其黄而陨。｜未落／落　沃若／黄而陨｜翻回你原来的两种想法：｜保留、改写，还是撤回？为什么？
【教师逐字稿】
请把第三章的桑叶卡真正翻回来，不要另起一张新纸。左边读‘桑之未落，其叶沃若’，右边读‘桑之落矣，其黄而陨’。‘陨’是坠落。两句用同样的节拍各读两遍，圈出相互顶住的词：未落与落，沃若与黄而陨。（等待对读。）现在看你原来的两种可能。第四章来了以后，每一种是保留、改写，还是撤回？请直接在旧稿上动笔，旁边补第四章的一处原词，或者补一句位置说明：前一句在迁嫁后的劝告开端，后一句在婚后回顾开端。（等待个人修订。）同桌只追问：新句究竟改变了你哪一处？若没有改变，也要说它怎样加强了你的解释。不同答案可以并存，但‘桑叶就是……’这样一锤定音的话要放轻。我们此刻可以说，桑叶荣枯让人联想到青春、情感或关系状态的变化，也把叙事从婚前带到婚后；究竟偏重哪一层，要让全文语境托住。
【舞台动作】
（打开第三章旧桑叶卡）
（两句同节拍对读）
（圈两组状态词）
（学生在旧稿上双色修订）
（同桌只追问新句造成的改变）
（学生补证或降低判断强度）
【本画面时间盒】
恢复旧稿与两句对读：54秒；圈状态词并校准陨：46秒；个人保留改写撤回：83秒；同桌追问语境依据：54秒；学生再修与教师后置归纳：63秒
【现场分支】
只等标准答案：请先比较自己两项旧稿受到新句怎样影响；教师不替你选青春、爱情或关系中的一个。
两项完全一样：把第二项改到不同层次，或诚实撤回，只保留一项有前后句支撑的解释。
没有修改：允许保留，但必须补写黄而陨怎样加强或限制旧解释，不为形式制造改动。
【听者任务】
只追问新句与章内位置怎样影响旧解，不投票选唯一象征义。
【证据位置】
03C旧桑叶卡双色修订＋04D C402区
【切页触发】
桑叶由盛转衰，诗也从劝告走进日子。接下来的两句，一句压着多年，一句忽然把淇水推到眼前。
【V6.6逻辑页】C402｜逻辑页25｜5分钟
【前页输入】
学生已经完成前页任务，手中保留与“桑之未落，其叶沃若。桑之落矣，其黄而陨。”有关的原词或初稿。
【唯一困难】
学生容易看见“桑之未落，其叶沃若。桑之落矣，其黄而陨。”，却不能把它准确接回人物和前后故事。
【唯一功能】
用后文真正检验前文的桑叶解释，经历后文改变前文。
【文学对象】
桑之未落，其叶沃若。桑之落矣，其黄而陨。
【信息状态】
首答前只给原诗、必要字面和一个自然问题；解释、分类、关系与代表答案在学生首稿后出现。
【学生主动作】
保留、改写或撤回旧假设；补新依据
【参与路径】
个人先形成；需要交流时并行同桌或四人轮说；全班只公开少量有差异材料。
【可见产物】
桑叶解释修订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C406与S06
【正常反例】
想不起、无新增、已经准确、不同意或暂时沉默均有诚实完成路径，不要求伪造改变。
【主视觉职责】
同枝前后状态
【插图资格】
I04c待A/B
【第一人称接收】
我刚才面对“桑之未落，其叶沃若。桑之落矣，其黄而陨。”，留下了桑叶解释修订；我能用原词说清自己新增或修正的理解。
【故事回接】
页面结束前由一句自然复述回到谁做了什么、人物处境怎样变化以及故事推进到哪里。
【删除损失】
删除会让意象理解仍是猜答案
【相邻反证】
相邻页不同时处理“学生容易看见“桑之未落，其叶沃若。桑之落矣，其黄而陨。”，却不能把它准确接回人物和前后故事。”；合并会挤掉必要首答、校准或故事回接。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【V6.6物理画面】C403-A｜300秒
【本画面为何存在】
让多年生活与当下渡水片刻同时存在。
【学生此刻看见】
三岁食贫｜淇水汤汤｜自我徂尔，三岁食贫。｜淇水汤汤，渐车帷裳。｜这两句里的时间，一样长吗？
【教师逐字稿】
先把两句说准。‘徂’是往，‘食贫’是过贫苦生活；‘汤汤’读shāng shāng，写水势浩大；‘渐’读jiān，是浸湿；帷裳是车旁的帷幔。现在不急着分析。左半教室读第一句，把‘三岁’读得能让人感到日子很长；右半教室读第二句，让‘汤汤’有水势，但不要喊。交换一次，其余人闭眼听：哪一句像把多年压在四字里，哪一句把一个瞬间推到眼前？（等待两轮朗读和听者落笔。）请每人写两句第三人称旁白：一句只说多年里发生什么，一句只说淇水这一刻看见什么。写完同桌只圈一个诗中找不到的词，比如离开、归家、被赶走、向东向西；作者自己决定删除或改弱。（等待修订。）我们可以看见长期食贫，也可以看见浩荡淇水浸湿车帷；诗没有告诉我们这次渡水的方向，更没有在这里写完她是否离开。事实站稳以后，下一句才开始辨明责任。
【舞台动作】
（个人自然口译）
（教师定点校音释义）
（左右半班分部朗读）
（交换声音角色）
（个人写双镜头旁白）
（同桌只圈越界词）
（作者亲自修订）
【本画面时间盒】
个人口译和定点释义：61秒；两轮分部朗读与闭眼听：64秒；个人双镜头旁白：61秒；同桌越界词核查：39秒；作者修订、分享与转场：75秒
【现场分支】
把三岁只算三年：按教材语境校准为多年，不把诗中概数锁成精确年限。
补写归家离开：圈出无原句依据的方向或结局词，改回淇水、水势和车帷被浸的事实。
不愿变化朗读：允许准确平读，并承担闭眼听者任务；体验不强制表演。
【听者任务】
听辨长期压缩与瞬间展开；核查旁白是否越过原句补写方向、动机或结局。
【证据位置】
04D C403区
【切页触发】
多年食贫，淇水浸帷，这是她讲出的经历。紧接着，她不再只讲发生了什么，而开始说：谁没有差错，谁的行为变了。
【V6.6逻辑页】C403｜逻辑页26｜5分钟
【前页输入】
学生已经完成前页任务，手中保留与“自我徂尔，三岁食贫。淇水汤汤，渐车帷裳。”有关的原词或初稿。
【唯一困难】
学生容易看见“自我徂尔，三岁食贫。淇水汤汤，渐车帷裳。”，却不能把它准确接回人物和前后故事。
【唯一功能】
让多年生活与当下渡水片刻同时存在。
【文学对象】
自我徂尔，三岁食贫。淇水汤汤，渐车帷裳。
【信息状态】
首答不显示‘多年／片刻’完成答案；教师在学生读写以后命名两种时间尺度。
【学生主动作】
听长时与展开的声音；写双时间旁白
【参与路径】
个人先形成；需要交流时并行同桌或四人轮说；全班只公开少量有差异材料。
【可见产物】
双时间旁白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C404_405与S02
【正常反例】
想不起、无新增、已经准确、不同意或暂时沉默均有诚实完成路径，不要求伪造改变。
【主视觉职责】
多年与片刻并置
【插图资格】
I05待A/B
【第一人称接收】
我刚才面对“自我徂尔，三岁食贫。淇水汤汤，渐车帷裳。”，留下了双时间旁白；我能用原词说清自己新增或修正的理解。
【故事回接】
页面结束前由一句自然复述回到谁做了什么、人物处境怎样变化以及故事推进到哪里。
【删除损失】
删除会让责任判断缺少婚后事实
【相邻反证】
相邻页不同时处理“学生容易看见“自我徂尔，三岁食贫。淇水汤汤，渐车帷裳。”，却不能把它准确接回人物和前后故事。”；合并会挤掉必要首答、校准或故事回接。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【V6.6物理画面】C404_405-B0｜180秒
【本画面为何存在】
在完整三句中先写四词短义并标清人物主体。
【学生此刻看见】
女也不爽，士贰其行。｜士也罔极，二三其德。｜不爽　贰行　罔极　二三其德｜先写准每个词，再标出它在说谁。
【教师逐字稿】
在两句原诗里先写四个词的短义：不爽、贰行、罔极、二三其德。每个词旁再标它说的是女子还是男子。请独立完成；不确定可以留空，不能先看同桌。（等待并封存。）
【舞台动作】
（承接前一画面）
（说出本页唯一邀请）
（真实等待或处理现场作品）
（在答案越界前切页）
【本画面时间盒】
说明词义与主体双任务：25秒；个人首答：120秒；封存与取样：35秒
【现场分支】
暂时没有答案：允许留下真实空白，或先回到最确定的一处原词。
判断越过原诗：请指出依据；没有原词支撑时降低判断强度。
【听者任务】
本页先形成自己的词义和主体判断。
【证据位置】
C404_405四词首答
【切页触发】
两份真实标法已经抽出，下一页只比较分歧。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【V6.6物理画面】C404_405-B1｜105秒
【本画面为何存在】
公开两份真实首答，用上下句比较词义和主体分歧。
【学生此刻看见】
哪些词在说女子？哪些词在说男子？｜看看黑板上两份真实标法。｜只用上下句提出修正。
【教师逐字稿】
看黑板上两份真实标法。先不说谁对，只问：上下句分别以‘女’和‘士’起头，四个词各跟着谁？请一位同学指出一处分歧，另一位只用上下句修正。所有人同时检查自己的主体标记。
【舞台动作】
（承接前一画面）
（说出本页唯一邀请）
（真实等待或处理现场作品）
（在答案越界前切页）
【本画面时间盒】
观看真实分歧：20秒；一处分歧互证：45秒；全员自查：25秒；切页：15秒
【现场分支】
暂时没有答案：允许留下真实空白，或先回到最确定的一处原词。
判断越过原诗：请指出依据；没有原词支撑时降低判断强度。
【听者任务】
只用句中主体纠正，不先评价责任轻重。
【证据位置】
现场两份标法与个人自查
【切页触发】
人物已经分清，接下来把四个词的判断力度读出来。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【V6.6物理画面】C404_405-B2｜135秒
【本画面为何存在】
校准四词并由学生亲自画出责任语意的加重。
【学生此刻看见】
女子没有差错。｜男子行为前后不一。｜他的行为没有准则，品行反复无常。｜责任判断怎样一步步加重？
【教师逐字稿】
校准：‘不爽’是没有差错，说女子；‘贰其行’写男子行为前后不一；‘罔极’是没有准则；‘二三其德’写品行反复无常。请在自己的纸上把责任判断按语意由浅到深连起来，并写一句：诗怎样分清两个人的责任。
【舞台动作】
（承接前一画面）
（说出本页唯一邀请）
（真实等待或处理现场作品）
（在答案越界前切页）
【本画面时间盒】
四词准确校准：45秒；个人责任递进图：55秒；写自然判断句：35秒
【现场分支】
暂时没有答案：允许留下真实空白，或先回到最确定的一处原词。
判断越过原诗：请指出依据；没有原词支撑时降低判断强度。
【听者任务】
核对责任主体和语意加重。
【证据位置】
C404_405修订后的责任递进图
【切页触发】
词义已经分清，现在把第四章重新讲回桑叶落下后的生活。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【V6.6物理画面】C406-A｜360秒
【本画面为何存在】
在教师三层板书模型后，独立完成第四章章意。
【学生此刻看见】
桑叶落下以后，发生了什么？｜桑之落矣，其黄而陨。｜自我徂尔，三岁食贫。｜淇水汤汤，渐车帷裳。｜女也不爽，士贰其行。｜士也罔极，二三其德。
【教师逐字稿】
请把第四章再读一遍。每个人先用三四句自然话写清：桑叶发生了什么变化；她嫁过去以后经历了怎样的生活和渡水片刻；诗怎样分清两个人的行为与责任。（等待，不给三层标题。）现在合上书，低声讲给自己听四十五秒。真正断开的地方立刻返诗，找到原句以后合书补完。请一位同学讲，其他人只指出应该回到哪一句。教师根据真实材料在黑板后置写出三个短语：桑叶变化、婚后生活、责任判断。每个人再看自己的章意，补一处原词或改一处责任表述。
【舞台动作】
（教师承接前页）
（学生先独立形成）
（同伴限定倾听）
（教师据真实材料校准）
（学生亲自修订）
（自然切页）
【本画面时间盒】
完整重读：40秒；个人第四章自然章意：125秒；合书低声口述和返诗：65秒；公开一份和定位断点：60秒；教师后置板书和本人修订：70秒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每个人的第四章自然章意、原词补证和责任修订
【切页触发】
第四章已经把生活事实和责任说清。第五章会把三岁拆成每一天，又让屋外的笑声传进来。
【V6.6逻辑页】C406｜逻辑页28｜6分钟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在教师三层板书模型后，独立完成第四章章意。
【文学对象】
桑之落矣，其黄而陨。自我徂尔，三岁食贫。淇水汤汤，渐车帷裳。女也不爽，士贰其行。士也罔极，二三其德。
【信息状态】
首屏不预填物象／生活／责任三卡；三层由学生复述后的现场板书形成。
【学生主动作】
每人写第四章自然章意；合书口述并在断点返诗修订
【参与路径】
个人先形成；需要交流时并行同桌或四人轮说；全班只公开少量有差异材料。
【可见产物】
个人第四章自然章意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C501与S03
【正常反例】
想不起、无新增、已经准确、不同意或暂时沉默均有诚实完成路径，不要求伪造改变。
【主视觉职责】
三层板书
【插图资格】
无
【第一人称接收】
我刚才面对“桑之落矣，其黄而陨。自我徂尔，三岁食贫。淇水汤汤，渐车帷裳。女也不爽，士贰其行。士也罔极，二三其德。”，留下了个人第四章自然章意；我能用原词说清自己新增或修正的理解。
【故事回接】
页面结束前由一句自然复述回到谁做了什么、人物处境怎样变化以及故事推进到哪里。
【删除损失】
删除会使第四章三层关系散开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只有随机一人形成章意；学生只抄三层标题；个人文字没有任何原词或责任边界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【V6.6物理画面】C501-A｜240秒
【本画面为何存在】
完整听见第五章，并定位动作和声音的主体。
【学生此刻看见】
第五章｜谁在忙碌，谁的声音从外面传来？｜三岁为妇，靡室劳矣。｜夙兴夜寐，靡有朝矣。｜言既遂矣，至于暴矣。｜兄弟不知，咥其笑矣。｜静言思之，躬自悼矣。｜完整读完，再留下：｜一个反复的生活动作｜声音转向内心的原句
【教师逐字稿】
第四章说到男子的行为反复无常。第五章不先讲一个抽象结论，而是把门推开，让我们看见日子怎样过。请让五句诗完整响一遍；读的时候先不圈‘苦’‘惨’这些词，只听谁在做事，谁的声音从外面传来，什么时候声音收进女子心里。（教师范读，学生低声完整再读。）现在才落笔：抄一个会在生活中反复发生的动作；再抄一处你觉得声音已经转入她内心的原句。不确定可以留问号。同桌只核对是否来自第五章，不替对方讲答案。（等待修订。）我们先保留一条大致路径：日常劳作在前，男子和家人的声音进入，最后只剩她静下来思量。每一步究竟怎样写，继续往下走。
【舞台动作】
（读取第四章故事轨道第四格）
（教师完整范读）
（学生完整低声读）
（读后才写两项初稿）
（同桌只核对原句来源）
（学生亲自修订）
【本画面时间盒】
承接第四格：25秒；教师和学生完整读章：90秒；个人生成两项初稿：60秒；同桌来源核对和修订：40秒；引用现场原句与转场：25秒
【现场分支】
只写很辛苦：请改回诗中人物实际做的动作，例如起、寐，或抄一整句。
把兄弟理解成所有家人：本页只保留诗中明确的兄弟，不扩大到所有家人。
提前补写身体暴力：先回到‘暴’这一字；具体伤害方式诗中没有写，C503会守住边界。
【听者任务】
只核对动作和转折句是否来自第五章，不评价情绪是否深刻。
【证据位置】
05E C501区
【切页触发】
先不走向兄弟的笑声。前两句只写一天从什么时候开始、什么时候结束，却说这一天重复了许多年。
【V6.6逻辑页】C501｜逻辑页29｜4分钟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完整听见第五章，并定位动作和声音的主体。
【文学对象】
三岁为妇，靡室劳矣。夙兴夜寐，靡有朝矣。言既遂矣，至于暴矣。兄弟不知，咥其笑矣。静言思之，躬自悼矣。
【信息状态】
首答前只给原诗、必要字面和一个自然问题；解释、分类、关系与代表答案在学生首稿后出现。
【学生主动作】
整章读；标主体、动作和声音来源
【参与路径】
个人先形成；需要交流时并行同桌或四人轮说；全班只公开少量有差异材料。
【可见产物】
空间声音初稿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C502—C504
【正常反例】
想不起、无新增、已经准确、不同意或暂时沉默均有诚实完成路径，不要求伪造改变。
【主视觉职责】
第五章完整声场
【插图资格】
无
【第一人称接收】
我刚才面对“三岁为妇，靡室劳矣。夙兴夜寐，靡有朝矣。言既遂矣，至于暴矣。兄弟不知，咥其笑矣。静言思之，躬自悼矣。”，留下了空间声音初稿；我能用原词说清自己新增或修正的理解。
【故事回接】
页面结束前由一句自然复述回到谁做了什么、人物处境怎样变化以及故事推进到哪里。
【删除损失】
删除会让不幸仍是标签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【V6.6物理画面】C502-A｜300秒
【本画面为何存在】
把夙兴—夜寐拉成一天首尾，再叠入三岁与靡有朝的多年重复。
【学生此刻看见】
三岁为妇，靡室劳矣。｜夙兴夜寐，靡有朝矣。｜靡室劳矣：家里的劳苦活儿，没有一样不做。｜夙：早　兴：起身　夜寐：晚睡　朝：一日｜一天从哪里开始，到哪里结束？｜哪个字让它不只发生一天？
【教师逐字稿】
先借注释把两句说成自然话。三岁是多年；靡是没有；室劳是家务劳动；夙是早，兴是起身，夜寐是晚睡，朝在这里是一日。现在请两位同学分站教室前后：一位从‘夙兴’开始，一位在另一端接‘夜寐’；全班不齐读，只在两句末尾低声接出‘靡’。交换一次。听的人闭眼：一天从哪里开始，到哪里结束？哪个字让这种日子不只发生一天？（完成声场与等待。）现在每人写一句第三人称旁白，要同时有一天和多年，不添加具体家务清单。若写成‘贤妻无怨无悔、勤劳是她的美德’，同桌可以圈出美化劳苦或替人物补心情的词，作者自己改回长期家务、早起晚睡、没有一天例外的事实。（等待修订。）诗写她承担多年家务与时间负担；赞许一个人的勤勉，不能让不均衡的劳动从画面里消失。
【舞台动作】
（个人借注释口译）
（教师定点校词）
（两位学生分站早晚两端）
（全班只接两声靡）
（交换两端朗读）
（个人写生活旁白）
（同桌圈美化或补写词）
（作者亲自修订）
【本画面时间盒】
口译与词义校准：64秒；两轮空间声场与闭眼听：72秒；个人生活旁白：61秒；同桌用词核查：39秒；作者修订、分享和转场：64秒
【现场分支】
赞美贤惠盖过负担：允许保留赞许，但另写清劳动是否长期集中、时间是否有休止。
虚构具体家务：删去诗中未写的做饭、洗衣等清单，回到室劳、夙兴、夜寐。
不愿走位：留在座位用手指向早晚两端朗读，并承担闭眼听者任务。
【听者任务】
听早晚跨度和靡的无例外感；核查生活旁白是否美化劳苦或虚构细节。
【证据位置】
05E C502区
【切页触发】
多年这样生活以后，下一句忽然写‘既遂’和‘至于暴’。一个人的愿望满足了，另一个人的日子却走向哪里？
【V6.6逻辑页】C502｜逻辑页30｜5分钟
【前页输入】
学生已经完成前页任务，手中保留与“三岁为妇，靡室劳矣。夙兴夜寐，靡有朝矣。”有关的原词或初稿。
【唯一困难】
学生容易看见“三岁为妇，靡室劳矣。夙兴夜寐，靡有朝矣。”，却不能把它准确接回人物和前后故事。
【唯一功能】
把夙兴—夜寐拉成一天首尾，再叠入三岁与靡有朝的多年重复。
【文学对象】
三岁为妇，靡室劳矣。夙兴夜寐，靡有朝矣。
【信息状态】
首答前只给原诗、必要字面和一个自然问题；解释、分类、关系与代表答案在学生首稿后出现。
【学生主动作】
完成嵌套时间线；口头概括日常
【参与路径】
个人先形成；需要交流时并行同桌或四人轮说；全班只公开少量有差异材料。
【可见产物】
嵌套时间线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C505与S02
【正常反例】
想不起、无新增、已经准确、不同意或暂时沉默均有诚实完成路径，不要求伪造改变。
【主视觉职责】
一天叠入多年
【插图资格】
I06须重审
【第一人称接收】
我刚才面对“三岁为妇，靡室劳矣。夙兴夜寐，靡有朝矣。”，留下了嵌套时间线；我能用原词说清自己新增或修正的理解。
【故事回接】
页面结束前由一句自然复述回到谁做了什么、人物处境怎样变化以及故事推进到哪里。
【删除损失】
删除会失去日常劳作的时间结构
【相邻反证】
相邻页不同时处理“学生容易看见“三岁为妇，靡室劳矣。夙兴夜寐，靡有朝矣。”，却不能把它准确接回人物和前后故事。”；合并会挤掉必要首答、校准或故事回接。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【V6.6物理画面】C503-A｜360秒
【本画面为何存在】
读清既遂—至暴的变化，并有限回看婚前警讯而不倒推预谋。
【学生此刻看见】
后来再看开头，哪些细节值得留意？｜抱布贸丝　来即我谋　将子无怒｜后来再看，值得留意｜只凭当时，不能断定
【教师逐字稿】
先读‘言既遂矣，至于暴矣’。‘言’是助词，‘遂’是如愿，‘暴’是粗暴；这句明写婚事如愿以后，他的行为走到了粗暴。现在翻回第一章，从‘抱布贸丝、来即我谋、将子无怒’中选一处，在纸上写两行：后来再看，这处值得留意什么；只凭当时，又不能断定什么。（等待首答。）请三位同学各读一处，听众只追问判断由哪个原词和哪条后来事实托住。后来的‘贰其行、二三其德、至于暴矣’会使早期细节成为需要认真观察的信息，提醒承诺要由长期行动核验；但它们不能证明男子从一开始就有已证实的预谋，也不能要求女子为没有预知未来负责。恋爱中的强烈投入可能使人忽略不协调信息，这值得我们学会审慎；但‘恋爱脑’不能成为责怪受伤者的标签。请把自己的两行改得更准确。
【舞台动作】
（教师承接前页）
（学生先独立形成）
（同伴限定倾听）
（教师据真实材料校准）
（学生亲自修订）
（自然切页）
【本画面时间盒】
本句释义和翻回开头：65秒；个人双行首答：105秒；三份公开和证据追问：85秒；边界校准和本人修订：105秒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第一、五章之间的‘值得留意／不能断定’双行句
【切页触发】
男子的变化已经写明。第五章还有另一重孤立：外面的笑声散去以后，她只能独自思量。
【V6.6逻辑页】C503｜逻辑页31｜6分钟
【前页输入】
学生已经完成前页任务，手中保留与“言既遂矣，至于暴矣。氓之蚩蚩，抱布贸丝。匪来贸丝，来即我谋。将子无怒，秋以为期。”有关的原词或初稿。
【唯一困难】
学生容易看见“言既遂矣，至于暴矣。氓之蚩蚩，抱布贸丝。匪来贸丝，来即我谋。将子无怒，秋以为期。”，却不能把它准确接回人物和前后故事。
【唯一功能】
读清既遂—至暴的变化，并有限回看婚前警讯而不倒推预谋。
【文学对象】
言既遂矣，至于暴矣。氓之蚩蚩，抱布贸丝。匪来贸丝，来即我谋。将子无怒，秋以为期。
【信息状态】
首答前只给原诗、必要字面和一个自然问题；解释、分类、关系与代表答案在学生首稿后出现。
【学生主动作】
任选一处婚前细节；写现在能说明与仍不能说明
【参与路径】
个人先形成；需要交流时并行同桌或四人轮说；全班只公开少量有差异材料。
【可见产物】
有限回看双行句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C505与S03
【正常反例】
想不起、无新增、已经准确、不同意或暂时沉默均有诚实完成路径，不要求伪造改变。
【主视觉职责】
今昔证据边界
【插图资格】
无
【第一人称接收】
我刚才面对“言既遂矣，至于暴矣。氓之蚩蚩，抱布贸丝。匪来贸丝，来即我谋。将子无怒，秋以为期。”，留下了有限回看双行句；我能用原词说清自己新增或修正的理解。
【故事回接】
页面结束前由一句自然复述回到谁做了什么、人物处境怎样变化以及故事推进到哪里。
【删除损失】
删除会失去审慎与证据边界
【相邻反证】
相邻页不同时处理“学生容易看见“言既遂矣，至于暴矣。氓之蚩蚩，抱布贸丝。匪来贸丝，来即我谋。将子无怒，秋以为期。”，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【V6.6物理画面】C504-A｜300秒
【本画面为何存在】
用全课唯一声场体验外部笑声退去后女子独自思量。
【学生此刻看见】
笑声散去以后……｜兄弟不知，咥其笑矣。｜静言思之，躬自悼矣。｜外面的声音退去以后，空间里只剩下谁？
【教师逐字稿】
先把字音和词义说准：咥读xì，是笑的样子；躬是自身；悼是悲伤。现在全课只做这一次声场。教室两侧克制地低读‘兄弟不知，咥其笑矣’，不是表演嘲笑；声音完全退去后，真正沉默三秒，再由中间一位同学读‘静言思之，躬自悼矣’。其余人闭眼听，不忙着判断。（完成声场与静默。）请睁眼，只在纸上画三格：外声——沉默——内声，再用第三人称写一句：此刻的她处在怎样的位置？不交换，不审稿，也不要求讲自己的家庭。诗只写兄弟不了解而笑，随后她静思、自悼；我们可以由此看见理解和托举的缺席，却不能虚构她怎样求助、所有家人怎样拒绝。最重的一笔，不是更响的控诉，而是笑声过去，只剩一个人面对自己的悲伤。
【舞台动作】
（教师承接前页）
（学生完成主动作）
（公开少量真实材料）
（教师据原诗归纳）
（自然切页）
【本画面时间盒】
完整课堂过程：300秒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教材第五章旁的外声—沉默—内声三格
【切页触发】
把这间屋子里的时间、声音和人物留下。下一页，我们用一小段生活把许多年写出来。
【V6.6逻辑页】C504｜逻辑页32｜5分钟
【前页输入】
学生已经完成前页任务，手中保留与“兄弟不知，咥其笑矣。静言思之，躬自悼矣。”有关的原词或初稿。
【唯一困难】
学生容易看见“兄弟不知，咥其笑矣。静言思之，躬自悼矣。”，却不能把它准确接回人物和前后故事。
【唯一功能】
用全课唯一声场体验外部笑声退去后女子独自思量。
【文学对象】
兄弟不知，咥其笑矣。静言思之，躬自悼矣。
【信息状态】
屏幕中间只保留空白；三秒沉默、站位和声场程序全部进入备注，不写在前台。
【学生主动作】
听外声—沉默—内声；静写第三人称处境
【参与路径】
个人先形成；需要交流时并行同桌或四人轮说；全班只公开少量有差异材料。
【可见产物】
声音层次与处境句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C505、S02与S03
【正常反例】
想不起、无新增、已经准确、不同意或暂时沉默均有诚实完成路径，不要求伪造改变。
【主视觉职责】
声场与留白
【插图资格】
I07须重审
【第一人称接收】
我刚才面对“兄弟不知，咥其笑矣。静言思之，躬自悼矣。”，留下了声音层次与处境句；我能用原词说清自己新增或修正的理解。
【故事回接】
页面结束前由一句自然复述回到谁做了什么、人物处境怎样变化以及故事推进到哪里。
【删除损失】
删除会失去社会孤立的声音经验
【相邻反证】
相邻页不同时处理“学生容易看见“兄弟不知，咥其笑矣。静言思之，躬自悼矣。”，却不能把它准确接回人物和前后故事。”；合并会挤掉必要首答、校准或故事回接。
【失败信号】
画面写出‘三秒沉默’；外声表演成夸张嘲笑；要求学生披露家庭经历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【V6.6物理画面】C505-A｜240秒
【本画面为何存在】
把第五章转译成不虚构的生活片段，直接供全文第二问使用。
【学生此刻看见】
一间屋子里的许多年｜夙兴夜寐｜既遂至暴｜兄弟不知｜躬自悼矣｜只写诗里有的日子，不替她增添诗外的遭遇。
【教师逐字稿】
第五章已经不用再做一次同构的章末互审。请看四个原句锚点：夙兴夜寐、靡有朝矣；言既遂矣、至于暴矣；兄弟不知、咥其笑矣；静言思之、躬自悼矣。现在合上书，用第三人称写四十到六十字，题目就是‘一间屋子里的许多年’。写她每天怎样过，男子怎样变化，外面的笑声退去后她怎样独自思量；不要添具体家务清单、具体伤害方式或诗中没有的求助过程。教师安静巡视，不让同桌互相改。时间到后只匿名投影两份，我读给大家听，请全班说它能回到哪一句诗；暂时不评价辞藻高低。这段生活文字不是另一个装饰性任务，它会在全文第二问直接展出，用来把‘不幸’从标签还原成可观察的日常。
【舞台动作】
（教师承接前页）
（学生完成主动作）
（公开少量真实材料）
（教师据原诗归纳）
（自然切页）
【本画面时间盒】
完整课堂过程：240秒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第五章生活片段卡
【切页触发】
生活已经写到最深处。第六章不再增加新的日常事件，她开始重新看旧愿、旧事和誓言。
【V6.6逻辑页】C505｜逻辑页33｜4分钟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把第五章转译成不虚构的生活片段，直接供全文第二问使用。
【文学对象】
三岁为妇，靡室劳矣。夙兴夜寐，靡有朝矣。言既遂矣，至于暴矣。兄弟不知，咥其笑矣。静言思之，躬自悼矣。
【信息状态】
首答前只给原诗、必要字面和一个自然问题；解释、分类、关系与代表答案在学生首稿后出现。
【学生主动作】
合书写40—60字生活片段；匿名猜回原句
【参与路径】
个人先形成；需要交流时并行同桌或四人轮说；全班只公开少量有差异材料。
【可见产物】
第五章生活片段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S02直接展读
【正常反例】
想不起、无新增、已经准确、不同意或暂时沉默均有诚实完成路径，不要求伪造改变。
【主视觉职责】
学生文字
【插图资格】
无
【第一人称接收】
我刚才面对“三岁为妇，靡室劳矣。夙兴夜寐，靡有朝矣。言既遂矣，至于暴矣。兄弟不知，咥其笑矣。静言思之，躬自悼矣。”，留下了第五章生活片段；我能用原词说清自己新增或修正的理解。
【故事回接】
页面结束前由一句自然复述回到谁做了什么、人物处境怎样变化以及故事推进到哪里。
【删除损失】
删除会使全文活动重新从零写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【V6.6物理画面】C601-A｜240秒
【本画面为何存在】
发现末章不再新增生活事件，而在重新评价旧愿、旧事和誓言。
【学生此刻看见】
第六章｜她把哪些旧事重新放回眼前？｜及尔偕老，老使我怨。｜淇则有岸，隰则有泮。｜总角之宴，言笑晏晏。｜信誓旦旦，不思其反。｜反是不思，亦已焉哉。｜完整读完，再留下：｜一处回到过去的原句｜一处真正收束全诗的原句
【教师逐字稿】
第五章最后，她静下来，只能独自思量。第六章会不会立刻斩断过去？请先不要只等最后一句，让五句完整地走一次。读时听一听：她把哪些旧事重新放回眼前，哪一句才真正把全诗收住。（教师完整范读，学生再低声完整读。）现在才落笔：抄一处回到过去的原句，再抄一处真正收束全诗的原句；在末句旁只留一个你最初听见的声音词，听不准就留问号。同桌只核对是不是原句、时间是否真的回到过去，不替对方命名情绪。（等待。）我们先不把末句叫成觉醒或离开。女子要先重新经过偕老、边界、少年言笑和誓言，结尾才会到来。
【舞台动作】
（读取第五格）
（教师完整范读）
（学生完整低声读）
（读后才摘过去句和收束句）
（同桌只核对来源与时间）
（学生亲自修订）
【本画面时间盒】
承接第五格：25秒；教师和学生完整读章：90秒；个人两项初稿：60秒；同桌来源核对和修订：40秒；引用原句与转场：25秒
【现场分支】
只等亦已焉哉：先抄一处更早的旧事句，让停止之前的核验过程保留下来。
直接写已经离开：退回原句，只写收束声音；是否实际离开待C605区分。
情绪词互相不同：保留疲惫、怨、清醒等不同初听，不以投票选唯一。
【听者任务】
只核对原句和时间位置，不替同伴给末句定性。
【证据位置】
06F C601区
【切页触发】
先看第一个回环：同一个‘老’字，一边是愿望，一边为什么成了怨？
【V6.6逻辑页】C601｜逻辑页34｜4分钟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发现末章不再新增生活事件，而在重新评价旧愿、旧事和誓言。
【文学对象】
及尔偕老，老使我怨。淇则有岸，隰则有泮。总角之宴，言笑晏晏。信誓旦旦，不思其反。反是不思，亦已焉哉。
【信息状态】
首答前只给原诗、必要字面和一个自然问题；解释、分类、关系与代表答案在学生首稿后出现。
【学生主动作】
整章读；标旧事与可能收束句
【参与路径】
个人先形成；需要交流时并行同桌或四人轮说；全班只公开少量有差异材料。
【可见产物】
回望初稿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C602—C605
【正常反例】
想不起、无新增、已经准确、不同意或暂时沉默均有诚实完成路径，不要求伪造改变。
【主视觉职责】
第六章完整回望
【插图资格】
无
【第一人称接收】
我刚才面对“及尔偕老，老使我怨。淇则有岸，隰则有泮。总角之宴，言笑晏晏。信誓旦旦，不思其反。反是不思，亦已焉哉。”，留下了回望初稿；我能用原词说清自己新增或修正的理解。
【故事回接】
页面结束前由一句自然复述回到谁做了什么、人物处境怎样变化以及故事推进到哪里。
【删除损失】
删除会使末章被拆成名句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【V6.6物理画面】C602-A｜240秒
【本画面为何存在】
从同一‘老’字读出旧愿怎样折成现实怨意。
【学生此刻看见】
及尔偕老，老使我怨。｜第一个‘老’——｜第二个‘老’——｜同一个字，为什么折了回来？
【教师逐字稿】
请一组同学接读：前半句读‘及尔偕老’，后半句接‘老使我怨’。同一个‘老’字出现两次，先不要听我解释。每个人写两小行：第一次读到‘老’，你看见怎样的将来；第二次再读到‘老’，眼前的生活变成了什么？（教师等待个人落笔。）请两位同学读自己的两行，听众只指出他是否让两个‘老’落在了不同的时间里。现在听教师示范一次：前半句把声音送向共同的将来，后半句却让同一个字折回已经发生的怨与生活。请根据刚才听见的差别，自定一处停顿，再读。这里不急着只记一个‘反讽’标签；最要紧的是，一个字重新出现，旧愿便在后来现实中改变了声音。第六章正从这里开始检验过去。
【舞台动作】
（一组接读两个‘老’）
（学生双行静写）
（两份公开并辨时间）
（教师后置朗读示范）
（学生自定停顿重读）
（回接第六章）
【本画面时间盒】
接读与个人双行首答：85秒；两份公开与时间辨认：60秒；教师示范和学生重读：65秒；文学归纳与转场：30秒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教材第六章旁的两个‘老’字双行批注
【切页触发】
旧愿折回现实以后，诗忽然写淇水有岸、湿地有边。先把地貌看清，再谈它怎样接住前后文。
【V6.6逻辑页】C602｜逻辑页35｜4分钟
【前页输入】
学生已经完成前页任务，手中保留与“及尔偕老，老使我怨。”有关的原词或初稿。
【唯一困难】
学生容易看见“及尔偕老，老使我怨。”，却不能把它准确接回人物和前后故事。
【唯一功能】
从同一‘老’字读出旧愿怎样折成现实怨意。
【文学对象】
及尔偕老，老使我怨。
【信息状态】
首答前只给原诗、必要字面和一个自然问题；解释、分类、关系与代表答案在学生首稿后出现。
【学生主动作】
接读两个老；写旧愿与现实双行
【参与路径】
个人先形成；需要交流时并行同桌或四人轮说；全班只公开少量有差异材料。
【可见产物】
同词反折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同词复现
【插图资格】
无
【第一人称接收】
我刚才面对“及尔偕老，老使我怨。”，留下了同词反折；我能用原词说清自己新增或修正的理解。
【故事回接】
页面结束前由一句自然复述回到谁做了什么、人物处境怎样变化以及故事推进到哪里。
【删除损失】
删除会失去末章时间折返
【相邻反证】
相邻页不同时处理“学生容易看见“及尔偕老，老使我怨。”，却不能把它准确接回人物和前后故事。”；合并会挤掉必要首答、校准或故事回接。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【V6.6物理画面】C603-A｜300秒
【本画面为何存在】
先看清有界地貌，再形成能接前后文的一种或两种解释。
【学生此刻看见】
淇则有岸，隰则有泮。｜这两处地貌有什么共同点？｜放在前后句之间，它可能接住什么？
【教师逐字稿】
先把字面说准：隰读xí，是低湿的地方；泮读pàn，同畔，是边、岸。淇水有岸，低湿地有边。请先独立写一种可能：诗为什么在偕老与怨之后忽然说自然有界？你的解释要接回前一句或后面的回忆。（等待首解。）四人组轮流只读自己的解释和所接原句；听到不同想法，再补第二种。组内不要投票，把两种解释分别问清：它靠哪个词，怎样接前后文？最后每个人给更能说服自己的一个轻轻加圈，也可以并列，但要写保留理由。（等待。）教材允许两种理解：可反衬男子心意无常、没有限制；也可反衬女子若偕老将产生无边怨苦。它们不是随意猜测，都要经过全章语境。这里不要直接改写成现代口号‘做人要有边界’；先让诗自己的怨、反与信誓说话。
【舞台动作】
（个人字面口译）
（教师校音释义）
（个人写第一种解释）
（四人轮读证据）
（每人补第二种解释）
（个人排序或并列）
（教师后置多解）
【本画面时间盒】
口译与词义：46秒；个人第一种解释：63秒；四人证据轮读：71秒；个人补解和排序：58秒；公开两种衔接：29秒；教师后置归纳：33秒
【现场分支】
直接写现代边界：追问原句在偕老、怨和后文誓言之间怎样衔接，先恢复诗内意义。
只有一种解释：先保留，听见同伴或教师后再补第二种，不要求假装认同。
用人数判对错：取消表决，只比较各自接哪一句、靠哪个词。
【听者任务】
只追问解释的前后文落点和原词，不替全班选唯一答案。
【证据位置】
06F C603区
【切页触发】
自然边界之后，时间突然退回少年。她为什么在最痛的时候，还把当初的言笑和信誓完整地记起？
【V6.6逻辑页】C603｜逻辑页36｜5分钟
【前页输入】
学生已经完成前页任务，手中保留与“淇则有岸，隰则有泮。”有关的原词或初稿。
【唯一困难】
学生容易看见“淇则有岸，隰则有泮。”，却不能把它准确接回人物和前后故事。
【唯一功能】
先看清有界地貌，再形成能接前后文的一种或两种解释。
【文学对象】
淇则有岸，隰则有泮。
【信息状态】
首答前只给原诗、必要字面和一个自然问题；解释、分类、关系与代表答案在学生首稿后出现。
【学生主动作】
选择或并列解释；写前后文依据
【参与路径】
个人先形成；需要交流时并行同桌或四人轮说；全班只公开少量有差异材料。
【可见产物】
有依据解释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无人地貌与多解
【插图资格】
I09待A/B
【第一人称接收】
我刚才面对“淇则有岸，隰则有泮。”，留下了有依据解释；我能用原词说清自己新增或修正的理解。
【故事回接】
页面结束前由一句自然复述回到谁做了什么、人物处境怎样变化以及故事推进到哪里。
【删除损失】
删除会把自然图景变现代口号
【相邻反证】
相邻页不同时处理“学生容易看见“淇则有岸，隰则有泮。”，却不能把它准确接回人物和前后故事。”；合并会挤掉必要首答、校准或故事回接。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【V6.6物理画面】C604-B0｜180秒
【本画面为何存在】
让学生在无颜色、无分栏暗示下自行发现六处原词之间的关系。
【学生此刻看见】
这六处原词，怎样彼此照见？｜信誓旦旦｜至于暴矣｜言笑晏晏｜二三其德｜总角之宴｜不思其反｜先自己摆一摆：哪些词可以放在一起？依据是什么？
【教师逐字稿】
六张原词卡现在没有分栏、没有颜色提示，也没有规定要分成几类。请先自己摆：哪些词彼此照见？你可以分两组，也可以先做别的关系；只要说清依据。（教师不指向任何区域，等待个人首排。）把首排拍照或画在纸上，再切页。
【舞台动作】
（承接前一画面）
（说出本页唯一邀请）
（真实等待或处理现场作品）
（在答案越界前切页）
【本画面时间盒】
说明无预分类规则：25秒；个人随机卡首排：115秒；封存首排：25秒；切页：15秒
【现场分支】
暂时没有答案：允许留下真实空白，或先回到最确定的一处原词。
判断越过原诗：请指出依据；没有原词支撑时降低判断强度。
【听者任务】
本页先个人分类，不看他人落点。
【证据位置】
C604无答案首排照片或纸面图
【切页触发】
先保留你的排法。现在用原诗核验其中两组事实。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六张原词卡为同一中性色、随机散放；学生首排以后才显示旧日与后来两组事实。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【V6.6物理画面】C604-B1｜120秒
【本画面为何存在】
依据学生首排后置校准双真相，并让本人写出能同时容纳两组事实的一句。
【学生此刻看见】
她记得的旧日｜总角之宴｜言笑晏晏｜信誓旦旦｜后来显出的事实｜不思其反｜二三其德｜至于暴矣｜过去的欢乐是真；后来的失信也是真。｜请把两面都写进同一句话。
【教师逐字稿】
回到原句：‘总角之宴、言笑晏晏、信誓旦旦’是她确实记得的旧日；‘不思其反、二三其德、至于暴矣’是后来显出的事实。旧日欢乐是真的，后来失信也是真的。请不要让一面抹掉另一面，用自己的话写一句能同时容纳两组事实的判断。准确者可以保留原排。
【舞台动作】
（承接前一画面）
（说出本页唯一邀请）
（真实等待或处理现场作品）
（在答案越界前切页）
【本画面时间盒】
返诗校准两组事实：45秒；个人双真相句：55秒；收束：20秒
【现场分支】
暂时没有答案：允许留下真实空白，或先回到最确定的一处原词。
判断越过原诗：请指出依据；没有原词支撑时降低判断强度。
【听者任务】
确认综合句同时容纳旧日与后来。
【证据位置】
C604双真相个人句
【切页触发】
旧事没有被抹去，却也不能替后来的失信免责。末句因此更重。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六张原词卡为同一中性色、随机散放；学生首排以后才显示旧日与后来两组事实。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【V6.6物理画面】C605-A｜300秒
【本画面为何存在】
读清反—不思—已的收束，并区分停止判断与实际离开。
【学生此刻看见】
反是不思，亦已焉哉｜信誓旦旦，不思其反。｜反是不思，亦已焉哉！｜诗写到了哪里？又停在了哪里？
【教师逐字稿】
把最后两句连读。‘反’是违背，‘是’指这件事，‘已’是停止、了结；‘焉哉’连用，让声音在末尾收住。请先用自己的话翻译末句，再在纸上写两行：到‘亦已焉哉’，诗明确写出了女子怎样的判断；至于她后来怎样生活、去了哪里，诗有没有继续叙述？屏幕只有两个问题，没有替你填答案。（教师等待个人完成。）请听两份，若发言越过原诗，听者只问：‘这一步写在哪个词里？’现在教师校准：末句写到她对这段关系作出停止的判断；诗没有交代后来实际怎样行动、去了哪里。两种朗读都可以成立：一种决绝，一种疲惫而清醒；但都不能靠声音补写诗中没有的情节。请选择自己的停顿，再读末句。让‘亦已焉哉’停在证据边界上，而不是被我们续写成一个现成结局。
【舞台动作】
（连读末两句并定点释词）
（学生自然口译和边界双行首答）
（教师沉默等待）
（公开两份并追问原词）
（教师后置校准写到/未写到）
（学生自选声线重读）
【本画面时间盒】
连读、释词和自然口译：70秒；个人边界双行首答：75秒；公开两份与原词追问：65秒；后置校准、自选朗读和转场：90秒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教材末句旁的写到/未写到双行与自选停顿
【切页触发】
末句已经停住。现在回看六章，只让各章的人物、动作和转折在黑板上重新相接。
【V6.6逻辑页】C605｜逻辑页38｜5分钟
【前页输入】
学生已经完成前页任务，手中保留与“信誓旦旦，不思其反。反是不思，亦已焉哉。”有关的原词或初稿。
【唯一困难】
学生容易看见“信誓旦旦，不思其反。反是不思，亦已焉哉。”，却不能把它准确接回人物和前后故事。
【唯一功能】
读清反—不思—已的收束，并区分停止判断与实际离开。
【文学对象】
信誓旦旦，不思其反。反是不思，亦已焉哉。
【信息状态】
首答前只给原诗、必要字面和一个自然问题；解释、分类、关系与代表答案在学生首稿后出现。
【学生主动作】
选择停顿与声线；写诗写到与没有写到
【参与路径】
个人先形成；需要交流时并行同桌或四人轮说；全班只公开少量有差异材料。
【可见产物】
停止判断边界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C606_S01、S03与S08
【正常反例】
想不起、无新增、已经准确、不同意或暂时沉默均有诚实完成路径，不要求伪造改变。
【主视觉职责】
末句与静默
【插图资格】
无
【第一人称接收】
我刚才面对“信誓旦旦，不思其反。反是不思，亦已焉哉。”，留下了停止判断边界；我能用原词说清自己新增或修正的理解。
【故事回接】
页面结束前由一句自然复述回到谁做了什么、人物处境怎样变化以及故事推进到哪里。
【删除损失】
删除会把末句变成觉醒出走标签
【相邻反证】
相邻页不同时处理“学生容易看见“信誓旦旦，不思其反。反是不思，亦已焉哉。”，却不能把它准确接回人物和前后故事。”；合并会挤掉必要首答、校准或故事回接。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【V6.6物理画面】C606_S01-B0｜440秒
【本画面为何存在】
每个人在公共答案前独立写事件、关键句自然义和章间变化。
【学生此刻看见】
她的一生，怎样走到“亦已焉哉”？｜第一章　第二章　第三章　第四章　第五章　第六章｜每章留下：一件事｜一句诗的自然意思｜与前一章相比发生了什么变化
【教师逐字稿】
现在回答第一个问题：她的一生怎样走到‘亦已焉哉’？每个人先独立完成六章小长卷。每章只写三样：发生的一件事；一句关键原诗的自然意思；与前一章相比发生了什么变化。不会的地方留空，不看同伴。（四分钟后封存。）剩余时间检查是否六章都有落笔；不要等公共答案再补。
【舞台动作】
（承接前一画面）
（说出本页唯一邀请）
（真实等待或处理现场作品）
（在答案越界前切页）
【本画面时间盒】
说明六章三落点：50秒；个人六章长卷：250秒；自查空项：90秒；封存与分组：50秒
【现场分支】
暂时没有答案：允许留下真实空白，或先回到最确定的一处原词。
判断越过原诗：请指出依据；没有原词支撑时降低判断强度。
【听者任务】
本状态无公共声音，保护个人六章首答。
【证据位置】
公共答案前封存的个人六章长卷
【切页触发】
个人长卷已经封存，现在六组各自把一章说准。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【V6.6物理画面】C606_S01-B1｜250秒
【本画面为何存在】
以六张真实章卡形成公共长卷，让听众补转折。
【学生此刻看见】
六张章卡，接成她的一生｜看黑板上的真实长卷：每一章怎样接住前一章？｜只补自己原先缺少的一个转折。
【教师逐字稿】
六组各自只负责一章，但组内每个人都要读自己的三项；所有人说过以前不选代表。出现分歧就返诗，最后合成一张公共章卡。六张卡按次序接成长卷。听众只在自己的纸上补一处原先缺少的转折，不整段抄卡。现在请各组依次贴卡、说一句承接。
【舞台动作】
（承接前一画面）
（说出本页唯一邀请）
（真实等待或处理现场作品）
（在答案越界前切页）
【本画面时间盒】
组内全员互证：105秒；六张章卡接长卷：100秒；听众个人补转折：30秒；准备校准：15秒
【现场分支】
暂时没有答案：允许留下真实空白，或先回到最确定的一处原词。
判断越过原诗：请指出依据；没有原词支撑时降低判断强度。
【听者任务】
听每章怎样接住前章，只补自己真正缺少的一处。
【证据位置】
六张现场章卡与个人异色补写
【切页触发】
长卷已经由你们接起，下一页教师只校准顺序和断点。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【V6.6物理画面】C606_S01-B2｜190秒
【本画面为何存在】
教师沿原诗校准六章人生长卷，不把校准画面冒充个人检索。
【学生此刻看见】
相识议婚　→　等待迁嫁　→　桑叶劝告｜婚后贫困与失信　→　日复一日与孤立　→　回望旧誓，止息关系｜先看清这条路；下一页撤去答案。
【教师逐字稿】
请先看清这条公共长卷。沿原诗校准：相识议婚，等待迁嫁，桑叶劝告，婚后贫困与失信，日复一日与孤立，最后回望旧誓并作出止息判断。哪里与现场章卡不合，我只改事实，不抹去你们的自然话。现在把最容易断的一处圈在自己的长卷上。下一页我会撤去全部答案。
【舞台动作】
（承接前一画面）
（说出本页唯一邀请）
（真实等待或处理现场作品）
（在答案越界前切页）
【本画面时间盒】
教师朴素串讲：95秒；现场卡事实校准：55秒；个人圈断点：25秒；说明撤架：15秒
【现场分支】
暂时没有答案：允许留下真实空白，或先回到最确定的一处原词。
判断越过原诗：请指出依据；没有原词支撑时降低判断强度。
【听者任务】
核对教师是否忠实读取现场卡，并圈出自己的断点。
【证据位置】
校准后的公共长卷与个人断点圈
【切页触发】
请看最后一眼。下一页不再显示这条答案。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【V6.6物理画面】C606_S01-B3｜140秒
【本画面为何存在】
撤去六章答案，让每个人真正离屏复述并只修自己的断点。
【学生此刻看见】
现在不看答案。｜合上书，从第一章讲到第六章。｜断在何处，就回哪一句；补好以后，再合书讲完。
【教师逐字稿】
现在屏幕上没有六章答案。合上书，低声从第一章讲到第六章，谁都不要看黑板长卷。讲到真正断开的地方，在纸上做一个小记号；讲完以后才打开教材，只修那个断点，再合书从断点前一章重新讲到结尾。（教师巡视并抽取固定样本。）把这次修订封存。
【舞台动作】
（承接前一画面）
（说出本页唯一邀请）
（真实等待或处理现场作品）
（在答案越界前切页）
【本画面时间盒】
撤架闭卷复述：60秒；记录个人断点：20秒；返诗修复：35秒；再合书复述与封存：25秒
【现场分支】
暂时没有答案：允许留下真实空白，或先回到最确定的一处原词。
判断越过原诗：请指出依据；没有原词支撑时降低判断强度。
【听者任务】
每个人只检验自己的六章复述，不用公共答案代替。
【证据位置】
C606撤架复述断点与返诗修订
【切页触发】
她的一生已经能离开屏幕讲出。现在回答第二个问题：这些不幸落在怎样的日子里？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【V6.6物理画面】S02-B0｜250秒
【本画面为何存在】
真实取回C505个人生活片段，从旧稿抽取并补足第二问事实。
【学生此刻看见】
找回《一间屋子里的许多年》｜划出：她每天过着怎样的日子。｜划出：她在伴侣和兄弟那里遭遇了什么。｜旧稿若漏了一项，只在旁边补一句并写原诗。
【教师逐字稿】
请找回你在第五章写的《一间屋子里的许多年》。这次不另写一篇。先划出她每天怎样过，再划出她在伴侣和兄弟那里遭遇了什么。若旧稿漏掉第四章的贫困或男子失信，只在旁边补一句，并写托住它的原诗。（教师逐桌确认旧稿确实被取回。）
【舞台动作】
（承接前一画面）
（说出本页唯一邀请）
（真实等待或处理现场作品）
（在答案越界前切页）
【本画面时间盒】
找回C505旧稿：35秒；个人划取生活事实：120秒；返诗补缺：65秒；准备轮说：30秒
【现场分支】
暂时没有答案：允许留下真实空白，或先回到最确定的一处原词。
判断越过原诗：请指出依据；没有原词支撑时降低判断强度。
【听者任务】
本页先由本人取回旧稿，不重新生产替代材料。
【证据位置】
C505旧稿上的划线与补写
【切页触发】
旧稿已经重新打开，现在把生活话做成可以由原诗核验的卡。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【V6.6物理画面】S02-B1｜300秒
【本画面为何存在】
四人卡片与邻组交换，正面生活语言和背面原诗依据互相核验。
【学生此刻看见】
只看卡片正面：你能猜回哪一句诗？｜翻到背面核验。｜若写出了诗中没有的遭遇，把它退回原作者修订。
【教师逐字稿】
四个人依次读自己从旧稿中抽出的生活事实，所有人说过以前不合并。然后把相近内容合成三到五张卡：正面只写今天的生活话，背面写原诗。与邻组交换，只看正面猜回原句，再翻面核验；写出诗中没有的具体家务、伤害方式或求助过程，就退回原作者改稳。
【舞台动作】
（承接前一画面）
（说出本页唯一邀请）
（真实等待或处理现场作品）
（在答案越界前切页）
【本画面时间盒】
四人全员轮说：100秒；合成正反面卡：80秒；邻组猜诗核验：80秒；退回越界表述：40秒
【现场分支】
暂时没有答案：允许留下真实空白，或先回到最确定的一处原词。
判断越过原诗：请指出依据；没有原词支撑时降低判断强度。
【听者任务】
猜回原诗并指出一处越界或证据不足。
【证据位置】
S02正反面生活事实卡及退回修订
【切页触发】
卡片已经经得起原诗核验，下一页只归纳真实出现的生活事实。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【V6.6物理画面】S02-B2｜170秒
【本画面为何存在】
根据真实卡片后置归纳婚后不幸的生活表现。
【学生此刻看见】
日子贫困，家里的劳苦没有停歇｜说过的话变了，行为反复，后来甚至粗暴｜兄弟不了解她，反而以笑声相待｜没有人真正听见时，她只能独自悲伤｜每一项，都要回到原诗。
【教师逐字稿】
我只沿你们真实卡片归纳：日子贫困，家里的劳苦没有停歇；他说过的话变了，行为反复，后来甚至粗暴；兄弟不了解她，反而以笑声相待；没有人真正听见时，她只能独自悲伤。请每一项同时指出原诗，若我的话越过诗意就纠正。不要抄整页，先找自己原稿还缺哪一项。
【舞台动作】
（承接前一画面）
（说出本页唯一邀请）
（真实等待或处理现场作品）
（在答案越界前切页）
【本画面时间盒】
引用真实卡片：45秒；四类生活事实归纳：60秒；学生原诗纠错：35秒；个人定位缺项：30秒
【现场分支】
暂时没有答案：允许留下真实空白，或先回到最确定的一处原词。
判断越过原诗：请指出依据；没有原词支撑时降低判断强度。
【听者任务】
为每项归纳找到原诗，并纠正教师越界。
【证据位置】
公共生活事实板书与个人缺项标记
【切页触发】
答案即将撤去，下一页只留下你自己的第二问回答。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【V6.6物理画面】S02-B3｜120秒
【本画面为何存在】
撤去公共答案，让每个人完成带原诗的第二问末答。
【学生此刻看见】
现在只写自己的答案｜她婚后的不幸，具体落在怎样的日子里？｜至少写三种生活事实；每一种都带回一处原诗。｜把自己原先漏掉的一项补进去。
【教师逐字稿】
现在不看公共归纳。请独立回答：她婚后的不幸，具体落在怎样的日子里？至少写三种生活事实，每一种都带一处原诗；其中一项必须是你最初旧稿没有、经过交流才补到的。写完以后合书低声说一遍，不能只念古词。（教师收取固定样本。）
【舞台动作】
（承接前一画面）
（说出本页唯一邀请）
（真实等待或处理现场作品）
（在答案越界前切页）
【本画面时间盒】
个人第二问末答：70秒；合书低声复述：30秒；封存与抽样：20秒
【现场分支】
暂时没有答案：允许留下真实空白，或先回到最确定的一处原词。
判断越过原诗：请指出依据；没有原词支撑时降低判断强度。
【听者任务】
每个人完成自己的末答；不以公共卡替代。
【证据位置】
S02个人第二问末答
【切页触发】
日子已经说清，下面追问这场婚姻为什么走到这一步。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【V6.6物理画面】S03-B0｜320秒
【本画面为何存在】
每个人在未经分类的原句事实前写说明与不能说明。
【学生此刻看见】
这场婚姻为什么走到这一步？｜这组事实说明了什么？｜它不能被说成什么？｜先独立写下，再把证据放回她的一生。
【教师逐字稿】
每个人先面对本组的一组原句，独立写两行：这些事实说明了什么；它们又不能被说成什么。第二行尤其要防止把女子的等待、投入和劳作写成男子伤害她的原因。先写后说，不看分类名称。（等待并封存。）
【舞台动作】
（承接前一画面）
（说出本页唯一邀请）
（真实等待或处理现场作品）
（在答案越界前切页）
【本画面时间盒】
领取无分类原句：30秒；个人事实与边界首答：210秒；自查归责方向：45秒；封存：35秒
【现场分支】
暂时没有答案：允许留下真实空白，或先回到最确定的一处原词。
判断越过原诗：请指出依据；没有原词支撑时降低判断强度。
【听者任务】
本页先形成个人两行判断。
【证据位置】
S03个人事实—说明—不能说明首答
【切页触发】
每组已经有个人判断，下一页让这些因果箭头接受质询。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我能独立说明谁应为伤害负责、哪些日子使不幸继续、她缺少谁的理解，以及哪些不能归责于她。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【V6.6物理画面】S03-B1｜400秒
【本画面为何存在】
以现场事实—作用—边界卡和异色质询签形成原因长卷。
【学生此刻看见】
沿着她的一生，看看这些事实起了怎样的作用。｜谁应为伤害负责？哪些日子让不幸继续？她身边少了谁的理解？｜若一句判断说得太满，请写：原诗还不能证明。
【教师逐字稿】
组内每个人先读自己的两行，所有人说过以后才合成一张卡。沿人生长卷放置，再到邻组只质询一张：谁应为伤害负责？哪些日子让不幸继续？她身边少了谁的理解？若一句话说得太满，就写‘原诗还不能证明’。原组回来只能用原诗修订，不能用声音大小取胜。
【舞台动作】
（承接前一画面）
（说出本页唯一邀请）
（真实等待或处理现场作品）
（在答案越界前切页）
【本画面时间盒】
组内全员轮说：130秒；合卡并放入长卷：85秒；邻组质询一张：115秒；原组返诗修订：70秒
【现场分支】
暂时没有答案：允许留下真实空白，或先回到最确定的一处原词。
判断越过原诗：请指出依据；没有原词支撑时降低判断强度。
【听者任务】
质询一根因果箭头的责任、条件或证据强度。
【证据位置】
原因长卷、异色质询签与原组修订
【切页触发】
箭头经受过质询，下一页教师只把责任和边界说清。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我能独立说明谁应为伤害负责、哪些日子使不幸继续、她缺少谁的理解，以及哪些不能归责于她。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【V6.6物理画面】S03-B2｜180秒
【本画面为何存在】
后置形成不归责受伤者的原因结构和婚前审慎边界。
【学生此刻看见】
男子失信、反复并走向粗暴，伤害的责任在他｜贫困与劳作日复一日，关系里的担子越来越偏向一人｜兄弟不知而笑，她在困境中没有得到理解｜旧日欢乐与已有投入会让割舍更难，却不是她受伤的原因｜开头的细节值得留意，却不能倒推一开始就有预谋｜“亦已焉哉”是她醒悟后的回应，不是悲剧的原因
【教师逐字稿】
沿真实卡片收束：男子失信、反复并走向粗暴，伤害责任在他；贫困与劳作日复一日，关系的担子越来越偏向一人；兄弟不知而笑，她在困境中没有得到理解；旧日欢乐和已有投入会让割舍更难，却不是她受伤的原因；开头细节值得留意，却不能倒推一开始就有预谋；‘亦已焉哉’是她醒悟后的回应，不是悲剧原因。请只在自己的原稿旁标出一处需要降强度的判断。
【舞台动作】
（承接前一画面）
（说出本页唯一邀请）
（真实等待或处理现场作品）
（在答案越界前切页）
【本画面时间盒】
责任与日子归纳：75秒；归责边界与婚前审慎：70秒；个人降强度标记：35秒
【现场分支】
暂时没有答案：允许留下真实空白，或先回到最确定的一处原词。
判断越过原诗：请指出依据；没有原词支撑时降低判断强度。
【听者任务】
核对教师归纳是否把责任放对，也守住文本未写边界。
【证据位置】
S03个人首答旁的降强度修订
【切页触发】
公共归纳到这里。下一页撤掉它，每个人独立完成第三问。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我能独立说明谁应为伤害负责、哪些日子使不幸继续、她缺少谁的理解，以及哪些不能归责于她。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【V6.6物理画面】S03-B3｜180秒
【本画面为何存在】
撤去公共结构，让每个人用原诗完成第三问的完整末答。
【学生此刻看见】
现在不看归纳，只写自己的答案｜谁应为伤害负责？｜哪些日子让不幸继续？她缺少谁的理解？｜哪一项只是她的投入或回应，不能反过来怪她？｜每一层都写一处原诗。
【教师逐字稿】
现在不看归纳，写自己的完整答案。至少回答四层：谁应为伤害负责；哪些日子让不幸继续；她缺少谁的理解；哪一项只是她的投入或回应，不能反过来怪她。每层都写一处原诗。写完后把四层顺着讲一遍，缺哪层就只回那句诗修补。（教师固定抽样。）
【舞台动作】
（承接前一画面）
（说出本页唯一邀请）
（真实等待或处理现场作品）
（在答案越界前切页）
【本画面时间盒】
个人四层原因末答：110秒；离屏顺讲与自检：45秒；返诗修补与封存：25秒
【现场分支】
暂时没有答案：允许留下真实空白，或先回到最确定的一处原词。
判断越过原诗：请指出依据；没有原词支撑时降低判断强度。
【听者任务】
每个人拥有完整原因答案，不以本组一张卡代替。
【证据位置】
S03个人完整原因末答
【切页触发】
悲剧为什么发生已经说清，现在转向未来：好的共同生活靠什么站稳？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我能独立说明谁应为伤害负责、哪些日子使不幸继续、她缺少谁的理解，以及哪些不能归责于她。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【V6.6物理画面】S04-B0｜330秒
【本画面为何存在】
每个人先用一处原诗形成自己的婚姻观。
【学生此刻看见】
一段好的共同生活，最不能缺少什么？｜这处悲剧提醒我……｜因此，好的共同生活需要……｜只给未来的自己或朋友留一句话。
【教师逐字稿】
把书翻在自己最想引用的一处。只给未来的自己或朋友留一句话：‘这处悲剧提醒我……因此，好的共同生活需要……’先独立写，不谈自己的家庭，也不猜老师准备了哪些词。（教师退开等待。）写好后把原诗圈出来。
【舞台动作】
（承接前一画面）
（说出本页唯一邀请）
（真实等待或处理现场作品）
（在答案越界前切页）
【本画面时间盒】
返诗选择：50秒；个人关系条件：190秒；原诗标记与准备轮说：90秒
【现场分支】
暂时没有答案：允许留下真实空白，或先回到最确定的一处原词。
判断越过原诗：请指出依据；没有原词支撑时降低判断强度。
【听者任务】
本页先保护每个人自己的婚姻观。
【证据位置】
S04个人原诗与关系条件
【切页触发】
每个人都有一句话了，现在按座位依次说给小组听。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【V6.6物理画面】S04-B1｜280秒
【本画面为何存在】
四人全员轮说后形成每组唯一的给未来的卡。
【学生此刻看见】
把每组最想送给未来的一句话贴上来。｜先看哪些彼此照应，再看哪些彼此冲突。｜每张卡都要带着一处《氓》的原诗。
【教师逐字稿】
四个人按座位依次完整说。所有人说过以前不评价、不抢答；说完后才追问原诗、合并相近或保留冲突。每组只留一张最想送给未来的卡，必须同时写原诗和关系条件。贴上来以后，全班只看哪些彼此照应、哪些彼此冲突，不逐张念口号。
【舞台动作】
（承接前一画面）
（说出本页唯一邀请）
（真实等待或处理现场作品）
（在答案越界前切页）
【本画面时间盒】
四人全员轮说：130秒；追问与保留分歧：60秒；形成一组一卡：60秒；贴卡和初看：30秒
【现场分支】
暂时没有答案：允许留下真实空白，或先回到最确定的一处原词。
判断越过原诗：请指出依据；没有原词支撑时降低判断强度。
【听者任务】
听清每个人的原诗依据；所有人说过后才讨论。
【证据位置】
个人关系句与每组唯一未来卡
【切页触发】
卡片已经来自你们，下一页教师只沿这些真实话语收束。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【V6.6物理画面】S04-B2｜170秒
【本画面为何存在】
依据真实学生卡后置归纳，但保留学生原话的声音。
【学生此刻看见】
先看清一个人，再把诺言交给岁月证明｜说过的话，要落在日复一日的行动里｜家务、决定和责任，不能总压在一个人身上｜难的时候，彼此肯听；也知道可以向谁求助｜伤害一再发生，要有停止和离开的勇气
【教师逐字稿】
我先读几张你们的原话，不把它们覆盖掉。（按现场替换引号内容。）这些卡共同提醒我们：先看清一个人，再把诺言交给岁月证明；说过的话，要落在日复一日的行动里；家务、决定和责任，不能总压在一个人身上；难的时候彼此肯听，也知道可以向谁求助；伤害一再发生，要有停止和离开的勇气。现场没有的，我会明确说这是依据全文补充，不冒充你们的话。
【舞台动作】
（承接前一画面）
（说出本页唯一邀请）
（真实等待或处理现场作品）
（在答案越界前切页）
【本画面时间盒】
展读真实学生卡：55秒；后置文学化归纳：85秒；保留分歧与说明补充来源：30秒
【现场分支】
暂时没有答案：允许留下真实空白，或先回到最确定的一处原词。
判断越过原诗：请指出依据；没有原词支撑时降低判断强度。
【听者任务】
核对教师是否忠实引用学生卡，允许保留不同意见。
【证据位置】
黑板真实未来卡与教师后置短句
【切页触发】
这些话还要回到开头那幅文学长卷，由每个人亲自补上一句。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【V6.6物理画面】S04-B3｜120秒
【本画面为何存在】
每个人亲自把《氓》带回开头文学长卷，留下自己的新增认识。
【学生此刻看见】
回到开头那幅爱情与婚姻文学长卷｜《氓》为它新添了什么？｜请用自己的话补上一句。｜可以不同意教师的归纳，但要带着一处原诗。
【教师逐字稿】
请回看开头保存的爱情与婚姻文学长卷。现在每个人用自己的话补一句：‘《氓》为这幅长卷新添了——。’可以写婚前需要看清什么，也可以写婚后日子、背叛、家人态度、醒悟和止息；不必赞同教师归纳，但必须带着一处原诗。写完只与同桌交换读，不互相改成同一句。
【舞台动作】
（承接前一画面）
（说出本页唯一邀请）
（真实等待或处理现场作品）
（在答案越界前切页）
【本画面时间盒】
回看开头长卷：20秒；个人新增认识：65秒；同桌交换读：25秒；封存：10秒
【现场分支】
暂时没有答案：允许留下真实空白，或先回到最确定的一处原词。
判断越过原诗：请指出依据；没有原词支撑时降低判断强度。
【听者任务】
听见同桌新增的一条，不要求观点一致。
【证据位置】
O01文学回忆单上的S04新增句
【切页触发】
文学长卷已经多了一篇《氓》。下面把文化、字词和诗法收好。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【V6.6物理画面】S05A-B0｜130秒
【本画面为何存在】
合书完成五项无答案首答，允许真实留空。
【学生此刻看见】
《诗经》，我们真正记住了什么？｜它是什么？｜有多少篇？｜作品大致来自怎样的年代？｜分哪三类？《氓》在哪里？｜先合书写；不确定，可以留空。
【教师逐字稿】
请合上书和开篇批注，独立写五项：《诗经》是什么；现存多少篇；作品大致来自怎样的年代；分哪三类；《氓》收在哪里。不确定可以留空，不偷看同桌。（教师巡视并封存真实错空。）这页不公布答案。
【舞台动作】
（承接前一画面）
（说出本页唯一邀请）
（真实等待或处理现场作品）
（在答案越界前切页）
【本画面时间盒】
说明五项：20秒；合书个人检索：90秒；封存与切页：20秒
【现场分支】
暂时没有答案：允许留下真实空白，或先回到最确定的一处原词。
判断越过原诗：请指出依据；没有原词支撑时降低判断强度。
【听者任务】
本页无公共答案，允许真实留空。
【证据位置】
S05A五项文化首答
【切页触发】
首答已经封存，现在打开开篇批注，只修错空。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【V6.6物理画面】S05A-B1｜140秒
【本画面为何存在】
打开开篇批注校准五项事实，只修本人错空。
【学生此刻看见】
《诗经》｜我国第一部诗歌总集｜现存305篇｜作品大致产生于西周初年至春秋中叶｜风｜雅｜颂｜《氓》在《卫风》中｜只修自己错空的地方。
【教师逐字稿】
打开开篇批注核对：我国第一部诗歌总集，现存三百零五篇，作品大致产生于西周初年至春秋中叶，传统上分风、雅、颂，《氓》在《卫风》中。请只修自己错空的地方，不抄已经正确的项。教师只追问固定样本里的真实共错。
【舞台动作】
（承接前一画面）
（说出本页唯一邀请）
（真实等待或处理现场作品）
（在答案越界前切页）
【本画面时间盒】
五项准确校准：55秒；本人修错空：60秒；处理真实共错：25秒
【现场分支】
暂时没有答案：允许留下真实空白，或先回到最确定的一处原词。
判断越过原诗：请指出依据；没有原词支撑时降低判断强度。
【听者任务】
核对五项事实，并只修自己的错空。
【证据位置】
S05A本人修订稿
【切页触发】
答案只看这一遍。下一页再次合书，用自己的话取回。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【V6.6物理画面】S05A-B2｜90秒
【本画面为何存在】
再次撤去答案，让每个人用两句话说清《诗经》身份与《氓》位置。
【学生此刻看见】
现在再合上书｜用两句话说给同桌听：｜《诗经》的基本身份是什么？｜《氓》在其中什么位置？
【教师逐字稿】
现在再合上书。请用两句话说给同桌听：第一句说《诗经》的基本身份、篇数和年代；第二句说风雅颂以及《氓》的位置。甲说完，乙只指出一项遗漏，再交换；不能看屏幕找答案。（等待双方完成。）
【舞台动作】
（承接前一画面）
（说出本页唯一邀请）
（真实等待或处理现场作品）
（在答案越界前切页）
【本画面时间盒】
说明两句复述：10秒；甲说乙查：30秒；乙说甲查：30秒；本人补一项并切页：20秒
【现场分支】
暂时没有答案：允许留下真实空白，或先回到最确定的一处原词。
判断越过原诗：请指出依据；没有原词支撑时降低判断强度。
【听者任务】
只指出一项事实遗漏，不替同桌整句重写。
【证据位置】
S05A再合书双人口述与补项
【切页触发】
文化坐标已经真正取回，接着检查六章关键字词。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【V6.6物理画面】S05B-B0｜250秒
【本画面为何存在】
六章六项无答案首答，发现每个人真实错空。
【学生此刻看见】
六章关键字词，能不能回到原句？｜愆　筮　说　爽　咥　泮｜每项写：读音｜句中义｜原句。不会，可以留空。
【教师逐字稿】
合上书，六章各有一个最低门槛词：愆、筮、说、爽、咥、泮。每项写读音、句中义、所在原句；不会可以留空，不能只挑会的做。请先独立完成六项。（等待并封存。）这页不公布答案。
【舞台动作】
（承接前一画面）
（说出本页唯一邀请）
（真实等待或处理现场作品）
（在答案越界前切页）
【本画面时间盒】
说明六项门槛：30秒；个人六项首答：185秒；封存与切页：35秒
【现场分支】
暂时没有答案：允许留下真实空白，或先回到最确定的一处原词。
判断越过原诗：请指出依据；没有原词支撑时降低判断强度。
【听者任务】
本页无同伴答案，保护真实错空。
【证据位置】
S05B六章六词首答
【切页触发】
错空已经留下，现在打开教材逐项修。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【V6.6物理画面】S05B-B1｜275秒
【本画面为何存在】
打开教材逐项核对并由本人修复。
【学生此刻看见】
打开教材，只修自己错空的地方。｜每修一项，都把它送回所在原句。｜在对应句旁圈一个终读提醒。
【教师逐字稿】
打开教材，从第一章到第六章逐项核对。只修自己的错空；每修一项，都把它送回所在原句，并在原句旁圈一个终读提醒。教师巡视固定样本，只记录共错，不在这一页把答案抄到屏幕。修完六项后停笔。
【舞台动作】
（承接前一画面）
（说出本页唯一邀请）
（真实等待或处理现场作品）
（在答案越界前切页）
【本画面时间盒】
开书逐项核对：155秒；本人修订并回原句：85秒；圈终读提醒：25秒；切页：10秒
【现场分支】
暂时没有答案：允许留下真实空白，或先回到最确定的一处原词。
判断越过原诗：请指出依据；没有原词支撑时降低判断强度。
【听者任务】
依据教材修自己的错空，不交换抄写。
【证据位置】
S05B六项本人修订和终读提醒
【切页触发】
六项已经由本人核对，下一页把准确答案完整看一遍。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【V6.6物理画面】S05B-B2｜195秒
【本画面为何存在】
校准六项共性错处，再让学生自选两词加深。
【学生此刻看见】
六章六词，逐项校准｜愆（qiān）｜延误｜匪我愆期｜筮（shì）｜用蓍草占问｜尔卜尔筮｜说｜同“脱”，脱身｜犹可说也｜爽｜差错｜女也不爽｜咥（xì）｜笑的样子｜咥其笑矣｜泮｜同“畔”，边岸｜隰则有泮｜六项修好以后，再自选两个仍不稳的词。
【教师逐字稿】
逐项校准：愆读qiān，延误；筮读shì，用蓍草占问；说同‘脱’，脱身；爽是差错；咥读xì，笑的样子；泮同‘畔’，边岸。请同时找到六个原句，不要只看义项。固定样本中仍有共错的地方，我再讲一次。六项修好后，自选两个仍不稳的词作加深。
【舞台动作】
（承接前一画面）
（说出本页唯一邀请）
（真实等待或处理现场作品）
（在答案越界前切页）
【本画面时间盒】
六项完整校准：80秒；回六个原句：55秒；真实共错微讲：30秒；两词加深：30秒
【现场分支】
暂时没有答案：允许留下真实空白，或先回到最确定的一处原词。
判断越过原诗：请指出依据；没有原词支撑时降低判断强度。
【听者任务】
把六项答案逐一送回原句。
【证据位置】
S05B六项通关与两词加深
【切页触发】
字词已经回到六章，最后看这些句子怎样共同写成一首诗。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【V6.6物理画面】S06-B0｜250秒
【本画面为何存在】
把具体原句与事件拆成等大同色随机散卡，让学生真正自拟分组。
【学生此刻看见】
这些已经读过的句子，哪些可以放在一起？｜相识—迁嫁—婚后—止息｜信誓旦旦｜桑之落矣｜泣涕涟涟｜反是不思｜桑之未落｜淇水再现｜言笑晏晏｜于嗟鸠兮｜老｜老｜夙兴夜寐｜先自己分；不要猜老师准备了几类。
【教师逐字稿】
屏幕上的材料全部是等大、同色、随机散放的卡，没有预先分组。请先自己分，不要猜老师准备了几类。每成一组，写两件事：它们哪里相像；这样的写法怎样改变故事或声音。至少留两种可能分法，分得和别人不同也可以。（教师不指向任何卡群。）
【舞台动作】
（承接前一画面）
（说出本页唯一邀请）
（真实等待或处理现场作品）
（在答案越界前切页）
【本画面时间盒】
说明随机散卡规则：30秒；个人自主分组：155秒；写共同点与作用：50秒；封存：15秒
【现场分支】
暂时没有答案：允许留下真实空白，或先回到最确定的一处原词。
判断越过原诗：请指出依据；没有原词支撑时降低判断强度。
【听者任务】
本页独立分组，不从版式猜答案。
【证据位置】
S06个人随机散卡分组
【切页触发】
分法已经各不相同，下一页只比较真实出现的分组。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【V6.6物理画面】S06-B1｜250秒
【本画面为何存在】
比较黑板上的学生分法、差异和混杂。
【学生此刻看见】
看看黑板上你们自己的分法｜哪些其实在看同一种写法？｜哪些材料还混在一起？｜只用原诗说明。
【教师逐字稿】
看看黑板上四份真实分法。不要问哪一份最像标准答案，只问：哪些其实在看同一种写法，哪些材料仍混在一起？发言必须引用原诗，不能只说‘都是写感情’。每个人在自己的分组旁补一处同学带来的新关系。
【舞台动作】
（承接前一画面）
（说出本页唯一邀请）
（真实等待或处理现场作品）
（在答案越界前切页）
【本画面时间盒】
观看真实学生分法：55秒；比较相同与混杂：105秒；原诗追问：55秒；个人补一处关系：35秒
【现场分支】
暂时没有答案：允许留下真实空白，或先回到最确定的一处原词。
判断越过原诗：请指出依据；没有原词支撑时降低判断强度。
【听者任务】
辨认分组依据，并补一处此前没看到的原词关系。
【证据位置】
黑板真实分法与个人补关系
【切页触发】
你们已经从原句中看见关系，下一页再用准确术语命名。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【V6.6物理画面】S06-B2｜220秒
【本画面为何存在】
后置命名四类写法，并为每类补一处原诗和具体作用。
【学生此刻看见】
六章叙事推进｜桑叶比兴与前后对照｜词句复现、回环与反折｜四言节奏、叠词与声音｜每一类都要带一处原诗，也要说它怎样改变故事或声音。
【教师逐字稿】
教师只在学生分法之后命名四类：六章叙事推进；桑叶比兴与前后对照；词句复现、回环与反折；四言节奏、叠词与声音。每一类都必须补一处原诗，并说它具体改变了人物故事、时间或声音；‘生动形象、表达感情’不能停在这里。请先在自己的纸上为四类各留一个例子。
【舞台动作】
（承接前一画面）
（说出本页唯一邀请）
（真实等待或处理现场作品）
（在答案越界前切页）
【本画面时间盒】
后置命名四类：55秒；沿学生材料补原诗与作用：95秒；个人四类各留一例：50秒；切页：20秒
【现场分支】
暂时没有答案：允许留下真实空白，或先回到最确定的一处原词。
判断越过原诗：请指出依据；没有原词支撑时降低判断强度。
【听者任务】
把术语落回原诗和具体作用。
【证据位置】
S06四类知识图与个人四例草稿
【切页触发】
术语已经看过，下一页撤去教师例子，检验每个人是否真正拥有。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【V6.6物理画面】S06-B3｜180秒
【本画面为何存在】
撤去教师例子，完成四类最低识别，再自选两类深入说明。
【学生此刻看见】
四类都先留下一个原诗例子｜叙事｜比兴与对照｜复现与反折｜节奏与声音｜然后自选两类写深：｜原诗｜写法｜它怎样改变人物故事或声音
【教师逐字稿】
现在不看教师例子。四类都先独立写一处原诗：叙事，比兴与对照，复现与反折，节奏与声音；不会的类留空后再返诗找。四类补齐以后，自选两类写深：原诗是什么，写法怎样发生，它怎样改变人物故事或声音。最后只修自己真实不稳的地方。
【舞台动作】
（承接前一画面）
（说出本页唯一邀请）
（真实等待或处理现场作品）
（在答案越界前切页）
【本画面时间盒】
四类最低识别：70秒；返诗补齐空项：35秒；自选两类深入：60秒；本人修订与封存：15秒
【现场分支】
暂时没有答案：允许留下真实空白，或先回到最确定的一处原词。
判断越过原诗：请指出依据；没有原词支撑时降低判断强度。
【听者任务】
完成四类最低门槛，再深做两类。
【证据位置】
S06个人四类识别与两类深做
【切页触发】
文化、字词和诗法都已收回原诗。最后让《氓》完整响起。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【V6.6物理画面】S08-A｜420秒
【本画面为何存在】
每人只留下一个改变或问题，再让全诗完整响起并安静结束。
【学生此刻看见】
读完《氓》｜一处改变最大的理解｜一处最想带走的语言发现｜一个仍愿意追问的问题｜从“氓之蚩蚩”读到“亦已焉哉”
【教师逐字稿】
请先看自己一路留下的批注、长卷和最后的关系卡，只选一个出口：一处改变最大的理解；一处最想带走的语言发现；或者一个仍愿意追问的问题。三选一，写一句真实的话，不必把三项填满。（等待并收取少量自愿分享。）现在把屏幕降暗，翻回全文，也看一眼你在六个关键字词旁圈出的终读提醒。我们不再停下来分析，从‘氓之蚩蚩’完整读到‘亦已焉哉’。读到自己的提醒处，只把音义读稳；读到最想带走的一处，让声音自然慢一点。末句以后不加总结，安静停十五秒。
【舞台动作】
（教师承接前页）
（学生先独立形成）
（同伴限定倾听）
（教师据真实材料校准）
（学生亲自修订）
（自然切页）
【本画面时间盒】
三选一个人终课句：105秒；少量真实分享：75秒；完整终读：210秒；末句静默：15秒；自然收束：15秒
【现场分支】
暂时没有答案：允许先圈出最确定的一处原词，用不完整但真实的话开口；没有新增也可如实保留。
判断越过原诗：请指出依据；找不到相应原词时，把断言降低为问题、可能或文本未写。
【听者任务】
分享阶段只听取他人带走的原诗或问题；终读阶段共同维护节奏，不评价情绪是否相同。
【证据位置】
个人三选一终课句；完整终读与末句静默计时
【切页触发】
（末句后保持安静，不再切入新的结论页。）
【V6.6逻辑页】S08｜逻辑页46｜7分钟
【前页输入】
学生已经完成前页任务，手中保留与“S01—S04的个人答案、S07知识清单、《氓》全文及学生仍愿保留的真实问题”有关的原词或初稿。
【唯一困难】
学生容易看见“S01—S04的个人答案、S07知识清单、《氓》全文及学生仍愿保留的真实问题”，却不能把它准确接回人物和前后故事。
【唯一功能】
每人只留下一个改变或问题，再让全诗完整响起并安静结束。
【文学对象】
S01—S04的个人答案、S07知识清单、《氓》全文及学生仍愿保留的真实问题
【信息状态】
首答前只给原诗、必要字面和一个自然问题；解释、分类、关系与代表答案在学生首稿后出现。
【学生主动作】
三选一留下真实终课句；至少180秒完整朗读
【参与路径】
个人先形成；需要交流时并行同桌或四人轮说；全班只公开少量有差异材料。
【可见产物】
个人终课句和完整终读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真实试教评估
【正常反例】
没有发生明显改变者可选语言发现或真实问题，不伪造改变。
【主视觉职责】
原诗与留白
【插图资格】
无
【第一人称接收】
我刚才面对“S01—S04的个人答案、S07知识清单、《氓》全文及学生仍愿保留的真实问题”，留下了个人终课句和完整终读；我能用原词说清自己新增或修正的理解。
【故事回接】
页面结束前由一句自然复述回到谁做了什么、人物处境怎样变化以及故事推进到哪里。
【删除损失】
删除会失去个人出口和整体声音
【相邻反证】
相邻页不同时处理“学生容易看见“S01—S04的个人答案、S07知识清单、《氓》全文及学生仍愿保留的真实问题”，却不能把它准确接回人物和前后故事。”；合并会挤掉必要首答、校准或故事回接。
【失败信号】
学生只能复述活动手续，不能复述诗意；首答前已经看见完成关系或答案；产物在后页没有真实消费者
【声明边界】V3无插图桌面候选；不声称真实课堂或学生掌握已经通过。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29241F"/>
                </a:solidFill>
                <a:latin typeface="Noto Serif CJK SC" pitchFamily="34" charset="0"/>
                <a:ea typeface="Noto Serif CJK SC" pitchFamily="34" charset="-122"/>
                <a:cs typeface="Noto Serif CJK SC" pitchFamily="34" charset="-120"/>
              </a:rPr>
              <a:t>我们还记得哪些爱情与婚姻故事？</a:t>
            </a:r>
            <a:endParaRPr lang="en-US" sz="3800" dirty="0"/>
          </a:p>
        </p:txBody>
      </p:sp>
      <p:sp>
        <p:nvSpPr>
          <p:cNvPr id="6" name="Text 4"/>
          <p:cNvSpPr/>
          <p:nvPr/>
        </p:nvSpPr>
        <p:spPr>
          <a:xfrm>
            <a:off x="914400" y="1417320"/>
            <a:ext cx="10360152" cy="658368"/>
          </a:xfrm>
          <a:prstGeom prst="rect">
            <a:avLst/>
          </a:prstGeom>
          <a:noFill/>
          <a:ln/>
        </p:spPr>
        <p:txBody>
          <a:bodyPr wrap="square" lIns="0" tIns="0" rIns="0" bIns="0" rtlCol="0" anchor="ctr"/>
          <a:lstStyle/>
          <a:p>
            <a:pPr algn="ctr" indent="0" marL="0">
              <a:buNone/>
            </a:pPr>
            <a:r>
              <a:rPr lang="en-US" sz="2400" b="1" dirty="0">
                <a:solidFill>
                  <a:srgbClr val="A67F4A"/>
                </a:solidFill>
                <a:latin typeface="Noto Serif CJK SC" pitchFamily="34" charset="0"/>
                <a:ea typeface="Noto Serif CJK SC" pitchFamily="34" charset="-122"/>
                <a:cs typeface="Noto Serif CJK SC" pitchFamily="34" charset="-120"/>
              </a:rPr>
              <a:t>从小学想到高中：课文、小说、整本书……</a:t>
            </a:r>
            <a:endParaRPr lang="en-US" sz="2400" dirty="0"/>
          </a:p>
        </p:txBody>
      </p:sp>
      <p:sp>
        <p:nvSpPr>
          <p:cNvPr id="7" name="Text 5"/>
          <p:cNvSpPr/>
          <p:nvPr/>
        </p:nvSpPr>
        <p:spPr>
          <a:xfrm>
            <a:off x="960120" y="2148840"/>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篇名</a:t>
            </a:r>
            <a:endParaRPr lang="en-US" sz="2400" dirty="0"/>
          </a:p>
        </p:txBody>
      </p:sp>
      <p:sp>
        <p:nvSpPr>
          <p:cNvPr id="8" name="Shape 6"/>
          <p:cNvSpPr/>
          <p:nvPr/>
        </p:nvSpPr>
        <p:spPr>
          <a:xfrm>
            <a:off x="3977640" y="2514600"/>
            <a:ext cx="6903720" cy="0"/>
          </a:xfrm>
          <a:prstGeom prst="line">
            <a:avLst/>
          </a:prstGeom>
          <a:noFill/>
          <a:ln w="17780">
            <a:solidFill>
              <a:srgbClr val="DED0BC"/>
            </a:solidFill>
            <a:prstDash val="solid"/>
          </a:ln>
        </p:spPr>
      </p:sp>
      <p:sp>
        <p:nvSpPr>
          <p:cNvPr id="9" name="Text 7"/>
          <p:cNvSpPr/>
          <p:nvPr/>
        </p:nvSpPr>
        <p:spPr>
          <a:xfrm>
            <a:off x="960120" y="3182112"/>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用一句话唤回故事</a:t>
            </a:r>
            <a:endParaRPr lang="en-US" sz="2400" dirty="0"/>
          </a:p>
        </p:txBody>
      </p:sp>
      <p:sp>
        <p:nvSpPr>
          <p:cNvPr id="10" name="Shape 8"/>
          <p:cNvSpPr/>
          <p:nvPr/>
        </p:nvSpPr>
        <p:spPr>
          <a:xfrm>
            <a:off x="3977640" y="3547872"/>
            <a:ext cx="6903720" cy="0"/>
          </a:xfrm>
          <a:prstGeom prst="line">
            <a:avLst/>
          </a:prstGeom>
          <a:noFill/>
          <a:ln w="17780">
            <a:solidFill>
              <a:srgbClr val="DED0BC"/>
            </a:solidFill>
            <a:prstDash val="solid"/>
          </a:ln>
        </p:spPr>
      </p:sp>
      <p:sp>
        <p:nvSpPr>
          <p:cNvPr id="11" name="Text 9"/>
          <p:cNvSpPr/>
          <p:nvPr/>
        </p:nvSpPr>
        <p:spPr>
          <a:xfrm>
            <a:off x="960120" y="4215384"/>
            <a:ext cx="3108960" cy="411480"/>
          </a:xfrm>
          <a:prstGeom prst="rect">
            <a:avLst/>
          </a:prstGeom>
          <a:noFill/>
          <a:ln/>
        </p:spPr>
        <p:txBody>
          <a:bodyPr wrap="square" lIns="0" tIns="0" rIns="0" bIns="0" rtlCol="0" anchor="ctr"/>
          <a:lstStyle/>
          <a:p>
            <a:pPr indent="0" marL="0">
              <a:buNone/>
            </a:pPr>
            <a:r>
              <a:rPr lang="en-US" sz="2400" b="1" dirty="0">
                <a:solidFill>
                  <a:srgbClr val="725260"/>
                </a:solidFill>
                <a:latin typeface="Noto Serif CJK SC" pitchFamily="34" charset="0"/>
                <a:ea typeface="Noto Serif CJK SC" pitchFamily="34" charset="-122"/>
                <a:cs typeface="Noto Serif CJK SC" pitchFamily="34" charset="-120"/>
              </a:rPr>
              <a:t>它写到爱情或婚姻中的什么？</a:t>
            </a:r>
            <a:endParaRPr lang="en-US" sz="2400" dirty="0"/>
          </a:p>
        </p:txBody>
      </p:sp>
      <p:sp>
        <p:nvSpPr>
          <p:cNvPr id="12" name="Shape 10"/>
          <p:cNvSpPr/>
          <p:nvPr/>
        </p:nvSpPr>
        <p:spPr>
          <a:xfrm>
            <a:off x="3977640" y="4581144"/>
            <a:ext cx="6903720" cy="0"/>
          </a:xfrm>
          <a:prstGeom prst="line">
            <a:avLst/>
          </a:prstGeom>
          <a:noFill/>
          <a:ln w="17780">
            <a:solidFill>
              <a:srgbClr val="E9DDE2"/>
            </a:solidFill>
            <a:prstDash val="solid"/>
          </a:ln>
        </p:spPr>
      </p:sp>
      <p:sp>
        <p:nvSpPr>
          <p:cNvPr id="13" name="Text 11"/>
          <p:cNvSpPr/>
          <p:nvPr/>
        </p:nvSpPr>
        <p:spPr>
          <a:xfrm>
            <a:off x="914400" y="571500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先写你真正记得的一篇；想起新的，再添下去。</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FFFDFC"/>
                </a:solidFill>
                <a:latin typeface="Noto Serif CJK SC" pitchFamily="34" charset="0"/>
                <a:ea typeface="Noto Serif CJK SC" pitchFamily="34" charset="-122"/>
                <a:cs typeface="Noto Serif CJK SC" pitchFamily="34" charset="-120"/>
              </a:rPr>
              <a:t>一间教室，能想起多少种爱情与婚姻？</a:t>
            </a:r>
            <a:endParaRPr lang="en-US" sz="3800" dirty="0"/>
          </a:p>
        </p:txBody>
      </p:sp>
      <p:sp>
        <p:nvSpPr>
          <p:cNvPr id="6" name="Text 4"/>
          <p:cNvSpPr/>
          <p:nvPr/>
        </p:nvSpPr>
        <p:spPr>
          <a:xfrm>
            <a:off x="914400" y="1965960"/>
            <a:ext cx="10332720" cy="777240"/>
          </a:xfrm>
          <a:prstGeom prst="rect">
            <a:avLst/>
          </a:prstGeom>
          <a:noFill/>
          <a:ln/>
        </p:spPr>
        <p:txBody>
          <a:bodyPr wrap="square" lIns="0" tIns="0" rIns="0" bIns="0" rtlCol="0" anchor="ctr"/>
          <a:lstStyle/>
          <a:p>
            <a:pPr algn="ctr" indent="0" marL="0">
              <a:buNone/>
            </a:pPr>
            <a:r>
              <a:rPr lang="en-US" sz="3400" b="1" dirty="0">
                <a:solidFill>
                  <a:srgbClr val="EFE3CF"/>
                </a:solidFill>
                <a:latin typeface="Noto Serif CJK SC" pitchFamily="34" charset="0"/>
                <a:ea typeface="Noto Serif CJK SC" pitchFamily="34" charset="-122"/>
                <a:cs typeface="Noto Serif CJK SC" pitchFamily="34" charset="-120"/>
              </a:rPr>
              <a:t>《　　　　　　》写的是　　　　　　　　　　　　　　。</a:t>
            </a:r>
            <a:endParaRPr lang="en-US" sz="3400" dirty="0"/>
          </a:p>
        </p:txBody>
      </p:sp>
      <p:sp>
        <p:nvSpPr>
          <p:cNvPr id="7" name="Shape 5"/>
          <p:cNvSpPr/>
          <p:nvPr/>
        </p:nvSpPr>
        <p:spPr>
          <a:xfrm>
            <a:off x="1097280" y="3154680"/>
            <a:ext cx="9966960" cy="0"/>
          </a:xfrm>
          <a:prstGeom prst="line">
            <a:avLst/>
          </a:prstGeom>
          <a:noFill/>
          <a:ln w="13970">
            <a:solidFill>
              <a:srgbClr val="C5B39B"/>
            </a:solidFill>
            <a:prstDash val="solid"/>
          </a:ln>
        </p:spPr>
      </p:sp>
      <p:sp>
        <p:nvSpPr>
          <p:cNvPr id="8" name="Text 6"/>
          <p:cNvSpPr/>
          <p:nvPr/>
        </p:nvSpPr>
        <p:spPr>
          <a:xfrm>
            <a:off x="914400" y="4069080"/>
            <a:ext cx="10360152" cy="658368"/>
          </a:xfrm>
          <a:prstGeom prst="rect">
            <a:avLst/>
          </a:prstGeom>
          <a:noFill/>
          <a:ln/>
        </p:spPr>
        <p:txBody>
          <a:bodyPr wrap="square" lIns="0" tIns="0" rIns="0" bIns="0" rtlCol="0" anchor="ctr"/>
          <a:lstStyle/>
          <a:p>
            <a:pPr algn="ctr" indent="0" marL="0">
              <a:buNone/>
            </a:pPr>
            <a:r>
              <a:rPr lang="en-US" sz="2800" b="1" dirty="0">
                <a:solidFill>
                  <a:srgbClr val="DCE9E8"/>
                </a:solidFill>
                <a:latin typeface="Noto Serif CJK SC" pitchFamily="34" charset="0"/>
                <a:ea typeface="Noto Serif CJK SC" pitchFamily="34" charset="-122"/>
                <a:cs typeface="Noto Serif CJK SC" pitchFamily="34" charset="-120"/>
              </a:rPr>
              <a:t>听见一篇自己没有想到的，就把它添进自己的清单。</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03</a:t>
            </a:r>
            <a:endParaRPr lang="en-US" sz="1450" dirty="0"/>
          </a:p>
        </p:txBody>
      </p:sp>
      <p:sp>
        <p:nvSpPr>
          <p:cNvPr id="5" name="Text 3"/>
          <p:cNvSpPr/>
          <p:nvPr/>
        </p:nvSpPr>
        <p:spPr>
          <a:xfrm>
            <a:off x="1371600" y="1737360"/>
            <a:ext cx="9445752" cy="1371600"/>
          </a:xfrm>
          <a:prstGeom prst="rect">
            <a:avLst/>
          </a:prstGeom>
          <a:noFill/>
          <a:ln/>
        </p:spPr>
        <p:txBody>
          <a:bodyPr wrap="square" lIns="0" tIns="0" rIns="0" bIns="0" rtlCol="0" anchor="ctr"/>
          <a:lstStyle/>
          <a:p>
            <a:pPr algn="ctr" indent="0" marL="0">
              <a:buNone/>
            </a:pPr>
            <a:r>
              <a:rPr lang="en-US" sz="8000" b="1" dirty="0">
                <a:solidFill>
                  <a:srgbClr val="FFFDFC"/>
                </a:solidFill>
                <a:latin typeface="Noto Serif CJK SC" pitchFamily="34" charset="0"/>
                <a:ea typeface="Noto Serif CJK SC" pitchFamily="34" charset="-122"/>
                <a:cs typeface="Noto Serif CJK SC" pitchFamily="34" charset="-120"/>
              </a:rPr>
              <a:t>氓</a:t>
            </a:r>
            <a:endParaRPr lang="en-US" sz="8000" dirty="0"/>
          </a:p>
        </p:txBody>
      </p:sp>
      <p:sp>
        <p:nvSpPr>
          <p:cNvPr id="6" name="Text 4"/>
          <p:cNvSpPr/>
          <p:nvPr/>
        </p:nvSpPr>
        <p:spPr>
          <a:xfrm>
            <a:off x="4114800" y="3246120"/>
            <a:ext cx="3959352" cy="411480"/>
          </a:xfrm>
          <a:prstGeom prst="rect">
            <a:avLst/>
          </a:prstGeom>
          <a:noFill/>
          <a:ln/>
        </p:spPr>
        <p:txBody>
          <a:bodyPr wrap="square" lIns="0" tIns="0" rIns="0" bIns="0" rtlCol="0" anchor="ctr"/>
          <a:lstStyle/>
          <a:p>
            <a:pPr algn="ctr" indent="0" marL="0">
              <a:buNone/>
            </a:pPr>
            <a:r>
              <a:rPr lang="en-US" sz="2200" spc="300" kern="0" dirty="0">
                <a:solidFill>
                  <a:srgbClr val="EFE3CF"/>
                </a:solidFill>
                <a:latin typeface="Noto Sans CJK SC" pitchFamily="34" charset="0"/>
                <a:ea typeface="Noto Sans CJK SC" pitchFamily="34" charset="-122"/>
                <a:cs typeface="Noto Sans CJK SC" pitchFamily="34" charset="-120"/>
              </a:rPr>
              <a:t>méng</a:t>
            </a:r>
            <a:endParaRPr lang="en-US" sz="2200" dirty="0"/>
          </a:p>
        </p:txBody>
      </p:sp>
      <p:sp>
        <p:nvSpPr>
          <p:cNvPr id="7" name="Text 5"/>
          <p:cNvSpPr/>
          <p:nvPr/>
        </p:nvSpPr>
        <p:spPr>
          <a:xfrm>
            <a:off x="2926080" y="4206240"/>
            <a:ext cx="6336792" cy="502920"/>
          </a:xfrm>
          <a:prstGeom prst="rect">
            <a:avLst/>
          </a:prstGeom>
          <a:noFill/>
          <a:ln/>
        </p:spPr>
        <p:txBody>
          <a:bodyPr wrap="square" lIns="0" tIns="0" rIns="0" bIns="0" rtlCol="0" anchor="ctr"/>
          <a:lstStyle/>
          <a:p>
            <a:pPr algn="ctr" indent="0" marL="0">
              <a:buNone/>
            </a:pPr>
            <a:r>
              <a:rPr lang="en-US" sz="2800" dirty="0">
                <a:solidFill>
                  <a:srgbClr val="DED0BC"/>
                </a:solidFill>
                <a:latin typeface="Noto Serif CJK SC" pitchFamily="34" charset="0"/>
                <a:ea typeface="Noto Serif CJK SC" pitchFamily="34" charset="-122"/>
                <a:cs typeface="Noto Serif CJK SC" pitchFamily="34" charset="-120"/>
              </a:rPr>
              <a:t>《诗经·卫风》</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a:t>
            </a:r>
            <a:endParaRPr lang="en-US" sz="3400" dirty="0"/>
          </a:p>
        </p:txBody>
      </p:sp>
      <p:sp>
        <p:nvSpPr>
          <p:cNvPr id="6" name="Shape 4"/>
          <p:cNvSpPr/>
          <p:nvPr/>
        </p:nvSpPr>
        <p:spPr>
          <a:xfrm>
            <a:off x="749808" y="1600200"/>
            <a:ext cx="2487168" cy="1234440"/>
          </a:xfrm>
          <a:prstGeom prst="roundRect">
            <a:avLst>
              <a:gd name="adj" fmla="val 2963"/>
            </a:avLst>
          </a:prstGeom>
          <a:solidFill>
            <a:srgbClr val="EFE3CF"/>
          </a:solidFill>
          <a:ln w="13335">
            <a:solidFill>
              <a:srgbClr val="A67F4A"/>
            </a:solidFill>
            <a:prstDash val="solid"/>
          </a:ln>
        </p:spPr>
      </p:sp>
      <p:sp>
        <p:nvSpPr>
          <p:cNvPr id="7" name="Text 5"/>
          <p:cNvSpPr/>
          <p:nvPr/>
        </p:nvSpPr>
        <p:spPr>
          <a:xfrm>
            <a:off x="89611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我国第一部诗歌总集｜305篇</a:t>
            </a:r>
            <a:endParaRPr lang="en-US" sz="2400" dirty="0"/>
          </a:p>
        </p:txBody>
      </p:sp>
      <p:sp>
        <p:nvSpPr>
          <p:cNvPr id="8" name="Shape 6"/>
          <p:cNvSpPr/>
          <p:nvPr/>
        </p:nvSpPr>
        <p:spPr>
          <a:xfrm>
            <a:off x="3584448" y="1600200"/>
            <a:ext cx="2487168" cy="1234440"/>
          </a:xfrm>
          <a:prstGeom prst="roundRect">
            <a:avLst>
              <a:gd name="adj" fmla="val 2963"/>
            </a:avLst>
          </a:prstGeom>
          <a:solidFill>
            <a:srgbClr val="DCE9E8"/>
          </a:solidFill>
          <a:ln w="13335">
            <a:solidFill>
              <a:srgbClr val="446E78"/>
            </a:solidFill>
            <a:prstDash val="solid"/>
          </a:ln>
        </p:spPr>
      </p:sp>
      <p:sp>
        <p:nvSpPr>
          <p:cNvPr id="9" name="Text 7"/>
          <p:cNvSpPr/>
          <p:nvPr/>
        </p:nvSpPr>
        <p:spPr>
          <a:xfrm>
            <a:off x="373075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西周初年至春秋中叶</a:t>
            </a:r>
            <a:endParaRPr lang="en-US" sz="2400" dirty="0"/>
          </a:p>
        </p:txBody>
      </p:sp>
      <p:sp>
        <p:nvSpPr>
          <p:cNvPr id="10" name="Shape 8"/>
          <p:cNvSpPr/>
          <p:nvPr/>
        </p:nvSpPr>
        <p:spPr>
          <a:xfrm>
            <a:off x="6419088" y="1600200"/>
            <a:ext cx="2487168" cy="1234440"/>
          </a:xfrm>
          <a:prstGeom prst="roundRect">
            <a:avLst>
              <a:gd name="adj" fmla="val 2963"/>
            </a:avLst>
          </a:prstGeom>
          <a:solidFill>
            <a:srgbClr val="E1E7D9"/>
          </a:solidFill>
          <a:ln w="13335">
            <a:solidFill>
              <a:srgbClr val="657653"/>
            </a:solidFill>
            <a:prstDash val="solid"/>
          </a:ln>
        </p:spPr>
      </p:sp>
      <p:sp>
        <p:nvSpPr>
          <p:cNvPr id="11" name="Text 9"/>
          <p:cNvSpPr/>
          <p:nvPr/>
        </p:nvSpPr>
        <p:spPr>
          <a:xfrm>
            <a:off x="656539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风　雅　颂</a:t>
            </a:r>
            <a:endParaRPr lang="en-US" sz="2400" dirty="0"/>
          </a:p>
        </p:txBody>
      </p:sp>
      <p:sp>
        <p:nvSpPr>
          <p:cNvPr id="12" name="Shape 10"/>
          <p:cNvSpPr/>
          <p:nvPr/>
        </p:nvSpPr>
        <p:spPr>
          <a:xfrm>
            <a:off x="9253728" y="1600200"/>
            <a:ext cx="2487168" cy="1234440"/>
          </a:xfrm>
          <a:prstGeom prst="roundRect">
            <a:avLst>
              <a:gd name="adj" fmla="val 2963"/>
            </a:avLst>
          </a:prstGeom>
          <a:solidFill>
            <a:srgbClr val="E9DDE2"/>
          </a:solidFill>
          <a:ln w="13335">
            <a:solidFill>
              <a:srgbClr val="725260"/>
            </a:solidFill>
            <a:prstDash val="solid"/>
          </a:ln>
        </p:spPr>
      </p:sp>
      <p:sp>
        <p:nvSpPr>
          <p:cNvPr id="13" name="Text 11"/>
          <p:cNvSpPr/>
          <p:nvPr/>
        </p:nvSpPr>
        <p:spPr>
          <a:xfrm>
            <a:off x="940003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《氓》在《卫风》里</a:t>
            </a:r>
            <a:endParaRPr lang="en-US" sz="2400" dirty="0"/>
          </a:p>
        </p:txBody>
      </p:sp>
      <p:sp>
        <p:nvSpPr>
          <p:cNvPr id="14" name="Text 12"/>
          <p:cNvSpPr/>
          <p:nvPr/>
        </p:nvSpPr>
        <p:spPr>
          <a:xfrm>
            <a:off x="1005840" y="3520440"/>
            <a:ext cx="10149840" cy="594360"/>
          </a:xfrm>
          <a:prstGeom prst="rect">
            <a:avLst/>
          </a:prstGeom>
          <a:noFill/>
          <a:ln/>
        </p:spPr>
        <p:txBody>
          <a:bodyPr wrap="square" lIns="0" tIns="0" rIns="0" bIns="0" rtlCol="0" anchor="ctr"/>
          <a:lstStyle/>
          <a:p>
            <a:pPr algn="ctr" indent="0" marL="0">
              <a:buNone/>
            </a:pPr>
            <a:r>
              <a:rPr lang="en-US" sz="3200" b="1" dirty="0">
                <a:solidFill>
                  <a:srgbClr val="725260"/>
                </a:solidFill>
                <a:latin typeface="Noto Serif CJK SC" pitchFamily="34" charset="0"/>
                <a:ea typeface="Noto Serif CJK SC" pitchFamily="34" charset="-122"/>
                <a:cs typeface="Noto Serif CJK SC" pitchFamily="34" charset="-120"/>
              </a:rPr>
              <a:t>赋、比、兴——先记住名字，后面会真正遇见。</a:t>
            </a:r>
            <a:endParaRPr lang="en-US" sz="3200" dirty="0"/>
          </a:p>
        </p:txBody>
      </p:sp>
      <p:sp>
        <p:nvSpPr>
          <p:cNvPr id="15" name="Text 13"/>
          <p:cNvSpPr/>
          <p:nvPr/>
        </p:nvSpPr>
        <p:spPr>
          <a:xfrm>
            <a:off x="914400" y="4754880"/>
            <a:ext cx="10360152" cy="658368"/>
          </a:xfrm>
          <a:prstGeom prst="rect">
            <a:avLst/>
          </a:prstGeom>
          <a:noFill/>
          <a:ln/>
        </p:spPr>
        <p:txBody>
          <a:bodyPr wrap="square" lIns="0" tIns="0" rIns="0" bIns="0" rtlCol="0" anchor="ctr"/>
          <a:lstStyle/>
          <a:p>
            <a:pPr algn="ctr" indent="0" marL="0">
              <a:buNone/>
            </a:pP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她自己说｜第一章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氓之蚩蚩，抱布贸丝。匪来贸丝，来即我谋。</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送子涉淇，至于顿丘。匪我愆期，子无良媒。</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她自己说｜第二章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乘彼垝垣，以望复关。不见复关，泣涕涟涟。</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既见复关，载笑载言。尔卜尔筮，体无咎言。</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她自己说｜第三章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桑之未落，其叶沃若。于嗟鸠兮，无食桑葚！</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于嗟女兮，无与士耽！士之耽兮，犹可说也。</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她自己说｜第四章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桑之落矣，其黄而陨。自我徂尔，三岁食贫。</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淇水汤汤，渐车帷裳。女也不爽，士贰其行。</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她自己说｜第五章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三岁为妇，靡室劳矣。夙兴夜寐，靡有朝矣。</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言既遂矣，至于暴矣。兄弟不知，咥其笑矣。</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静言思之，躬自悼矣。</a:t>
            </a:r>
            <a:endParaRPr lang="en-US" sz="3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10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她自己说｜第六章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及尔偕老，老使我怨。淇则有岸，隰则有泮。</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总角之宴，言笑晏晏。信誓旦旦，不思其反。</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反是不思，亦已焉哉！</a:t>
            </a:r>
            <a:endParaRPr lang="en-US" sz="3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把第一次听见的《氓》留在纸上</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　　　　　　　　　　　　　　　　　　　　　　　”</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我看见……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我听见……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我想问……</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读懂六章，我们要回答什么？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她经历了什么？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她婚后的不幸，在生活中是什么样子？</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这场婚姻为什么走到这一步？</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第一章｜他做了什么？她又做了什么？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贸丝，还是来谋？</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第一句让我们看见什么？</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第二句又告诉了我们什么？</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哪一个字，让话转了方向？</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看一眼黑板上大家圈出的地方。</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先看见：抱布贸丝</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一个“匪”字，转过话头</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女子告诉我们：不是来换丝，是来谈婚事。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至于他的为人和后来，此刻还不能断定。</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她把他送了多远？</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　　涉　　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沿着三个动词，自己画出这段路。</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把你画的这段路，指给同桌看。</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谁在送？经过哪里？到达哪里？</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送　→　涉淇　→　至于顿丘</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她送他渡过淇水，一直送到顿丘。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这份投入，先由三个动作说出来。</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把这几句当作她说的一番话</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匪我愆期，子无良媒。</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将子无怒，秋以为期。</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先把她的话完整说成今天的语言。</a:t>
            </a:r>
            <a:endParaRPr lang="en-US" sz="2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再听一遍她的话</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哪里是在解释？</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哪里是在安抚？</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哪里是在重新约定？</a:t>
            </a:r>
            <a:endParaRPr lang="en-US" sz="2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29241F"/>
                </a:solidFill>
                <a:latin typeface="Noto Serif CJK SC" pitchFamily="34" charset="0"/>
                <a:ea typeface="Noto Serif CJK SC" pitchFamily="34" charset="-122"/>
                <a:cs typeface="Noto Serif CJK SC" pitchFamily="34" charset="-120"/>
              </a:rPr>
              <a:t>不是我故意拖延婚期，是你没有请来合适的媒人。</a:t>
            </a:r>
            <a:endParaRPr lang="en-US" sz="31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请你不要生气。</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就把婚期定在秋天吧。</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她没有把婚事推开，而是在解释、安抚、重新约定。</a:t>
            </a:r>
            <a:endParaRPr lang="en-US" sz="2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他怎样来，她怎样送，两个人怎样约？</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第二章｜她站到哪里？目光投向哪里？</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446E78"/>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乘彼垝垣，以望复关。</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不见复关，泣涕涟涟。</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既见复关，载笑载言。</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尔卜尔筮，体无咎言。</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两个“见”字，怎样牵动她的哭与笑？</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不见复关，泣涕涟涟。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既见复关，载笑载言。</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卜筮以后，婚事怎样走到迁移？</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尔卜尔筮，体无咎言。</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谁来？用什么来？谁迁？带着什么迁？</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从“秋以为期”到“以我贿迁”</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将子无怒，秋以为期。</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乘彼垝垣，以望复关。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前一章的哪件事，使后一章的等待成为必然？</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第三章｜迁嫁以后，诗里忽然出现了什么？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这片桑叶，是什么颜色、光泽和状态？</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30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于嗟女兮，无与士耽！</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这一声劝告，怎样落下？</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桑叶、斑鸠和女子重新连起来以后</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桑之未落，其叶沃若。</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于嗟鸠兮，无食桑葚！</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于嗟女兮，无与士耽！</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你又多听见了什么？</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桑叶在眼前</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劝告先落到斑鸠</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声音又来到女子身边</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由眼前物象起声、引出所咏，是“兴”；物与人的处境互相映照，又含着“比”。</a:t>
            </a:r>
            <a:endParaRPr lang="en-US" sz="2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同一个“耽”，哪些词改变了脱身处境？</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士之耽兮，犹可说也。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女之耽兮，不可说也！</a:t>
            </a:r>
            <a:endParaRPr lang="en-US" sz="3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迁嫁以后，为什么先有这一树桑叶？</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657653"/>
            </a:solidFill>
            <a:prstDash val="solid"/>
          </a:ln>
        </p:spPr>
      </p:sp>
      <p:sp>
        <p:nvSpPr>
          <p:cNvPr id="7" name="Text 5"/>
          <p:cNvSpPr/>
          <p:nvPr/>
        </p:nvSpPr>
        <p:spPr>
          <a:xfrm>
            <a:off x="1051560" y="199796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5633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3147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730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士之耽兮，犹可说也。女之耽兮，不可说也！</a:t>
            </a:r>
            <a:endParaRPr lang="en-US" sz="3100" dirty="0"/>
          </a:p>
        </p:txBody>
      </p:sp>
      <p:sp>
        <p:nvSpPr>
          <p:cNvPr id="11" name="Text 9"/>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把第三章讲回她的一生。</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第四章｜桑叶落下以后，诗写了哪些生活？</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B58B3E"/>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桑叶的新样子｜一句你听来像在判断的话</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桑之落矣，其黄而陨。</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未落／落　沃若／黄而陨</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翻回你原来的两种想法：</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保留、改写，还是撤回？为什么？</a:t>
            </a:r>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三岁食贫｜淇水汤汤</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自我徂尔，三岁食贫。</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淇水汤汤，渐车帷裳。</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这两句里的时间，一样长吗？</a:t>
            </a:r>
            <a:endParaRPr lang="en-US" sz="2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女也不爽，士贰其行。</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士也罔极，二三其德。</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不爽　贰行　罔极　二三其德</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先写准每个词，再标出它在说谁。</a:t>
            </a:r>
            <a:endParaRPr lang="en-US" sz="2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哪些词在说女子？哪些词在说男子？</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看看黑板上两份真实标法。</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只用上下句提出修正。</a:t>
            </a:r>
            <a:endParaRPr lang="en-US" sz="3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女子没有差错。</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男子行为前后不一。</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他的行为没有准则，品行反复无常。</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责任判断怎样一步步加重？</a:t>
            </a:r>
            <a:endParaRPr lang="en-US" sz="2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桑叶落下以后，发生了什么？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B58B3E"/>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第五章｜谁在忙碌，谁的声音从外面传来？</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725260"/>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三岁为妇，靡室劳矣。</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夙兴夜寐，靡有朝矣。</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言既遂矣，至于暴矣。</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兄弟不知，咥其笑矣。</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静言思之，躬自悼矣。</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一个反复的生活动作｜声音转向内心的原句</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三岁为妇，靡室劳矣。</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夙兴夜寐，靡有朝矣。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靡室劳矣：家里的劳苦活儿，没有一样不做。</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夙：早　兴：起身　夜寐：晚睡　朝：一日</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一天从哪里开始，到哪里结束？</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哪个字让它不只发生一天？</a:t>
            </a:r>
            <a:endParaRPr 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后来再看开头，哪些细节值得留意？</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抱布贸丝　来即我谋　将子无怒</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后来再看，值得留意</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只凭当时，不能断定</a:t>
            </a:r>
            <a:endParaRPr lang="en-US" sz="2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45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笑声散去以后……</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兄弟不知，咥其笑矣。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静言思之，躬自悼矣。</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外面的声音退去以后，空间里只剩下谁？</a:t>
            </a:r>
            <a:endParaRPr 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一间屋子里的许多年</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夙兴夜寐｜既遂至暴｜兄弟不知｜躬自悼矣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只写诗里有的日子，不替她增添诗外的遭遇。</a:t>
            </a: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第六章｜她把哪些旧事重新放回眼前？</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94473B"/>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及尔偕老，老使我怨。</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淇则有岸，隰则有泮。</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总角之宴，言笑晏晏。</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信誓旦旦，不思其反。</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反是不思，亦已焉哉。</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一处回到过去的原句｜一处真正收束全诗的原句</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及尔偕老，老使我怨。</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第一个‘老’——</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第二个‘老’——</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同一个字，为什么折了回来？</a:t>
            </a:r>
            <a:endParaRPr lang="en-US" sz="2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淇则有岸，隰则有泮。</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这两处地貌有什么共同点？</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放在前后句之间，它可能接住什么？</a:t>
            </a:r>
            <a:endParaRPr 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这六处原词，怎样彼此照见？</a:t>
            </a:r>
            <a:endParaRPr lang="en-US" sz="3400" dirty="0"/>
          </a:p>
        </p:txBody>
      </p:sp>
      <p:sp>
        <p:nvSpPr>
          <p:cNvPr id="6" name="Shape 4"/>
          <p:cNvSpPr/>
          <p:nvPr/>
        </p:nvSpPr>
        <p:spPr>
          <a:xfrm>
            <a:off x="749808" y="1536192"/>
            <a:ext cx="3246120" cy="1051560"/>
          </a:xfrm>
          <a:prstGeom prst="roundRect">
            <a:avLst>
              <a:gd name="adj" fmla="val 3478"/>
            </a:avLst>
          </a:prstGeom>
          <a:solidFill>
            <a:srgbClr val="FFFCF7"/>
          </a:solidFill>
          <a:ln w="13335">
            <a:solidFill>
              <a:srgbClr val="C5B39B"/>
            </a:solidFill>
            <a:prstDash val="solid"/>
          </a:ln>
        </p:spPr>
      </p:sp>
      <p:sp>
        <p:nvSpPr>
          <p:cNvPr id="7" name="Text 5"/>
          <p:cNvSpPr/>
          <p:nvPr/>
        </p:nvSpPr>
        <p:spPr>
          <a:xfrm>
            <a:off x="877824" y="1664208"/>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信誓旦旦</a:t>
            </a:r>
            <a:endParaRPr lang="en-US" sz="2400" dirty="0"/>
          </a:p>
        </p:txBody>
      </p:sp>
      <p:sp>
        <p:nvSpPr>
          <p:cNvPr id="8" name="Shape 6"/>
          <p:cNvSpPr/>
          <p:nvPr/>
        </p:nvSpPr>
        <p:spPr>
          <a:xfrm>
            <a:off x="4526280" y="1536192"/>
            <a:ext cx="3246120" cy="1051560"/>
          </a:xfrm>
          <a:prstGeom prst="roundRect">
            <a:avLst>
              <a:gd name="adj" fmla="val 3478"/>
            </a:avLst>
          </a:prstGeom>
          <a:solidFill>
            <a:srgbClr val="FFFCF7"/>
          </a:solidFill>
          <a:ln w="13335">
            <a:solidFill>
              <a:srgbClr val="C5B39B"/>
            </a:solidFill>
            <a:prstDash val="solid"/>
          </a:ln>
        </p:spPr>
      </p:sp>
      <p:sp>
        <p:nvSpPr>
          <p:cNvPr id="9" name="Text 7"/>
          <p:cNvSpPr/>
          <p:nvPr/>
        </p:nvSpPr>
        <p:spPr>
          <a:xfrm>
            <a:off x="4654296" y="1664208"/>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至于暴矣</a:t>
            </a:r>
            <a:endParaRPr lang="en-US" sz="2400" dirty="0"/>
          </a:p>
        </p:txBody>
      </p:sp>
      <p:sp>
        <p:nvSpPr>
          <p:cNvPr id="10" name="Shape 8"/>
          <p:cNvSpPr/>
          <p:nvPr/>
        </p:nvSpPr>
        <p:spPr>
          <a:xfrm>
            <a:off x="8302752" y="1536192"/>
            <a:ext cx="3246120" cy="1051560"/>
          </a:xfrm>
          <a:prstGeom prst="roundRect">
            <a:avLst>
              <a:gd name="adj" fmla="val 3478"/>
            </a:avLst>
          </a:prstGeom>
          <a:solidFill>
            <a:srgbClr val="FFFCF7"/>
          </a:solidFill>
          <a:ln w="13335">
            <a:solidFill>
              <a:srgbClr val="C5B39B"/>
            </a:solidFill>
            <a:prstDash val="solid"/>
          </a:ln>
        </p:spPr>
      </p:sp>
      <p:sp>
        <p:nvSpPr>
          <p:cNvPr id="11" name="Text 9"/>
          <p:cNvSpPr/>
          <p:nvPr/>
        </p:nvSpPr>
        <p:spPr>
          <a:xfrm>
            <a:off x="8430768" y="1664208"/>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言笑晏晏</a:t>
            </a:r>
            <a:endParaRPr lang="en-US" sz="2400" dirty="0"/>
          </a:p>
        </p:txBody>
      </p:sp>
      <p:sp>
        <p:nvSpPr>
          <p:cNvPr id="12" name="Shape 10"/>
          <p:cNvSpPr/>
          <p:nvPr/>
        </p:nvSpPr>
        <p:spPr>
          <a:xfrm>
            <a:off x="749808" y="2971800"/>
            <a:ext cx="3246120" cy="1051560"/>
          </a:xfrm>
          <a:prstGeom prst="roundRect">
            <a:avLst>
              <a:gd name="adj" fmla="val 3478"/>
            </a:avLst>
          </a:prstGeom>
          <a:solidFill>
            <a:srgbClr val="FFFCF7"/>
          </a:solidFill>
          <a:ln w="13335">
            <a:solidFill>
              <a:srgbClr val="C5B39B"/>
            </a:solidFill>
            <a:prstDash val="solid"/>
          </a:ln>
        </p:spPr>
      </p:sp>
      <p:sp>
        <p:nvSpPr>
          <p:cNvPr id="13" name="Text 11"/>
          <p:cNvSpPr/>
          <p:nvPr/>
        </p:nvSpPr>
        <p:spPr>
          <a:xfrm>
            <a:off x="877824" y="3099816"/>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二三其德</a:t>
            </a:r>
            <a:endParaRPr lang="en-US" sz="2400" dirty="0"/>
          </a:p>
        </p:txBody>
      </p:sp>
      <p:sp>
        <p:nvSpPr>
          <p:cNvPr id="14" name="Shape 12"/>
          <p:cNvSpPr/>
          <p:nvPr/>
        </p:nvSpPr>
        <p:spPr>
          <a:xfrm>
            <a:off x="4526280" y="2971800"/>
            <a:ext cx="3246120" cy="1051560"/>
          </a:xfrm>
          <a:prstGeom prst="roundRect">
            <a:avLst>
              <a:gd name="adj" fmla="val 3478"/>
            </a:avLst>
          </a:prstGeom>
          <a:solidFill>
            <a:srgbClr val="FFFCF7"/>
          </a:solidFill>
          <a:ln w="13335">
            <a:solidFill>
              <a:srgbClr val="C5B39B"/>
            </a:solidFill>
            <a:prstDash val="solid"/>
          </a:ln>
        </p:spPr>
      </p:sp>
      <p:sp>
        <p:nvSpPr>
          <p:cNvPr id="15" name="Text 13"/>
          <p:cNvSpPr/>
          <p:nvPr/>
        </p:nvSpPr>
        <p:spPr>
          <a:xfrm>
            <a:off x="4654296" y="3099816"/>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总角之宴</a:t>
            </a:r>
            <a:endParaRPr lang="en-US" sz="2400" dirty="0"/>
          </a:p>
        </p:txBody>
      </p:sp>
      <p:sp>
        <p:nvSpPr>
          <p:cNvPr id="16" name="Shape 14"/>
          <p:cNvSpPr/>
          <p:nvPr/>
        </p:nvSpPr>
        <p:spPr>
          <a:xfrm>
            <a:off x="8302752" y="2971800"/>
            <a:ext cx="3246120" cy="1051560"/>
          </a:xfrm>
          <a:prstGeom prst="roundRect">
            <a:avLst>
              <a:gd name="adj" fmla="val 3478"/>
            </a:avLst>
          </a:prstGeom>
          <a:solidFill>
            <a:srgbClr val="FFFCF7"/>
          </a:solidFill>
          <a:ln w="13335">
            <a:solidFill>
              <a:srgbClr val="C5B39B"/>
            </a:solidFill>
            <a:prstDash val="solid"/>
          </a:ln>
        </p:spPr>
      </p:sp>
      <p:sp>
        <p:nvSpPr>
          <p:cNvPr id="17" name="Text 15"/>
          <p:cNvSpPr/>
          <p:nvPr/>
        </p:nvSpPr>
        <p:spPr>
          <a:xfrm>
            <a:off x="8430768" y="3099816"/>
            <a:ext cx="2990088" cy="795528"/>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不思其反</a:t>
            </a:r>
            <a:endParaRPr lang="en-US" sz="2400" dirty="0"/>
          </a:p>
        </p:txBody>
      </p:sp>
      <p:sp>
        <p:nvSpPr>
          <p:cNvPr id="18" name="Text 16"/>
          <p:cNvSpPr/>
          <p:nvPr/>
        </p:nvSpPr>
        <p:spPr>
          <a:xfrm>
            <a:off x="914400" y="5623560"/>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先自己摆一摆：哪些词可以放在一起？依据是什么？</a:t>
            </a:r>
            <a:endParaRPr lang="en-US" sz="2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旧日与后来，两面都不能抹去</a:t>
            </a:r>
            <a:endParaRPr lang="en-US" sz="3400" dirty="0"/>
          </a:p>
        </p:txBody>
      </p:sp>
      <p:sp>
        <p:nvSpPr>
          <p:cNvPr id="6" name="Shape 4"/>
          <p:cNvSpPr/>
          <p:nvPr/>
        </p:nvSpPr>
        <p:spPr>
          <a:xfrm>
            <a:off x="786384" y="1508760"/>
            <a:ext cx="5010912" cy="2423160"/>
          </a:xfrm>
          <a:prstGeom prst="roundRect">
            <a:avLst>
              <a:gd name="adj" fmla="val 1509"/>
            </a:avLst>
          </a:prstGeom>
          <a:solidFill>
            <a:srgbClr val="FFFCF7"/>
          </a:solidFill>
          <a:ln w="13970">
            <a:solidFill>
              <a:srgbClr val="A67F4A"/>
            </a:solidFill>
            <a:prstDash val="solid"/>
          </a:ln>
        </p:spPr>
      </p:sp>
      <p:sp>
        <p:nvSpPr>
          <p:cNvPr id="7" name="Text 5"/>
          <p:cNvSpPr/>
          <p:nvPr/>
        </p:nvSpPr>
        <p:spPr>
          <a:xfrm>
            <a:off x="1014984" y="1783080"/>
            <a:ext cx="4553712" cy="411480"/>
          </a:xfrm>
          <a:prstGeom prst="rect">
            <a:avLst/>
          </a:prstGeom>
          <a:noFill/>
          <a:ln/>
        </p:spPr>
        <p:txBody>
          <a:bodyPr wrap="square" lIns="0" tIns="0" rIns="0" bIns="0" rtlCol="0" anchor="ctr"/>
          <a:lstStyle/>
          <a:p>
            <a:pPr algn="ctr" indent="0" marL="0">
              <a:buNone/>
            </a:pPr>
            <a:r>
              <a:rPr lang="en-US" sz="2300" b="1" dirty="0">
                <a:solidFill>
                  <a:srgbClr val="A67F4A"/>
                </a:solidFill>
                <a:latin typeface="Noto Serif CJK SC" pitchFamily="34" charset="0"/>
                <a:ea typeface="Noto Serif CJK SC" pitchFamily="34" charset="-122"/>
                <a:cs typeface="Noto Serif CJK SC" pitchFamily="34" charset="-120"/>
              </a:rPr>
              <a:t>她记得的旧日</a:t>
            </a:r>
            <a:endParaRPr lang="en-US" sz="2300" dirty="0"/>
          </a:p>
        </p:txBody>
      </p:sp>
      <p:sp>
        <p:nvSpPr>
          <p:cNvPr id="8" name="Text 6"/>
          <p:cNvSpPr/>
          <p:nvPr/>
        </p:nvSpPr>
        <p:spPr>
          <a:xfrm>
            <a:off x="1106424" y="2423160"/>
            <a:ext cx="4370832" cy="960120"/>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总角之宴｜言笑晏晏｜信誓旦旦</a:t>
            </a:r>
            <a:endParaRPr lang="en-US" sz="2500" dirty="0"/>
          </a:p>
        </p:txBody>
      </p:sp>
      <p:sp>
        <p:nvSpPr>
          <p:cNvPr id="9" name="Shape 7"/>
          <p:cNvSpPr/>
          <p:nvPr/>
        </p:nvSpPr>
        <p:spPr>
          <a:xfrm>
            <a:off x="6409944" y="1508760"/>
            <a:ext cx="5010912" cy="2423160"/>
          </a:xfrm>
          <a:prstGeom prst="roundRect">
            <a:avLst>
              <a:gd name="adj" fmla="val 1509"/>
            </a:avLst>
          </a:prstGeom>
          <a:solidFill>
            <a:srgbClr val="FFFCF7"/>
          </a:solidFill>
          <a:ln w="13970">
            <a:solidFill>
              <a:srgbClr val="725260"/>
            </a:solidFill>
            <a:prstDash val="solid"/>
          </a:ln>
        </p:spPr>
      </p:sp>
      <p:sp>
        <p:nvSpPr>
          <p:cNvPr id="10" name="Text 8"/>
          <p:cNvSpPr/>
          <p:nvPr/>
        </p:nvSpPr>
        <p:spPr>
          <a:xfrm>
            <a:off x="6638544" y="1783080"/>
            <a:ext cx="4553712" cy="411480"/>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后来显出的事实</a:t>
            </a:r>
            <a:endParaRPr lang="en-US" sz="2300" dirty="0"/>
          </a:p>
        </p:txBody>
      </p:sp>
      <p:sp>
        <p:nvSpPr>
          <p:cNvPr id="11" name="Text 9"/>
          <p:cNvSpPr/>
          <p:nvPr/>
        </p:nvSpPr>
        <p:spPr>
          <a:xfrm>
            <a:off x="6729984" y="2423160"/>
            <a:ext cx="4370832" cy="960120"/>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不思其反｜二三其德｜至于暴矣</a:t>
            </a:r>
            <a:endParaRPr lang="en-US" sz="2500" dirty="0"/>
          </a:p>
        </p:txBody>
      </p:sp>
      <p:sp>
        <p:nvSpPr>
          <p:cNvPr id="12" name="Text 10"/>
          <p:cNvSpPr/>
          <p:nvPr/>
        </p:nvSpPr>
        <p:spPr>
          <a:xfrm>
            <a:off x="1005840" y="4315968"/>
            <a:ext cx="10177272" cy="530352"/>
          </a:xfrm>
          <a:prstGeom prst="rect">
            <a:avLst/>
          </a:prstGeom>
          <a:noFill/>
          <a:ln/>
        </p:spPr>
        <p:txBody>
          <a:bodyPr wrap="square" lIns="0" tIns="0" rIns="0" bIns="0" rtlCol="0" anchor="ctr"/>
          <a:lstStyle/>
          <a:p>
            <a:pPr algn="ctr" indent="0" marL="0">
              <a:buNone/>
            </a:pPr>
            <a:r>
              <a:rPr lang="en-US" sz="2900" b="1" dirty="0">
                <a:solidFill>
                  <a:srgbClr val="29241F"/>
                </a:solidFill>
                <a:latin typeface="Noto Serif CJK SC" pitchFamily="34" charset="0"/>
                <a:ea typeface="Noto Serif CJK SC" pitchFamily="34" charset="-122"/>
                <a:cs typeface="Noto Serif CJK SC" pitchFamily="34" charset="-120"/>
              </a:rPr>
              <a:t>过去的欢乐是真；后来的失信也是真。</a:t>
            </a:r>
            <a:endParaRPr lang="en-US" sz="2900" dirty="0"/>
          </a:p>
        </p:txBody>
      </p:sp>
      <p:sp>
        <p:nvSpPr>
          <p:cNvPr id="13" name="Text 11"/>
          <p:cNvSpPr/>
          <p:nvPr/>
        </p:nvSpPr>
        <p:spPr>
          <a:xfrm>
            <a:off x="914400" y="516636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请把两面都写进同一句话。</a:t>
            </a:r>
            <a:endParaRPr lang="en-US" sz="2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3600" dirty="0"/>
          </a:p>
        </p:txBody>
      </p:sp>
      <p:sp>
        <p:nvSpPr>
          <p:cNvPr id="6" name="Shape 4"/>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信誓旦旦，不思其反。</a:t>
            </a:r>
            <a:endParaRPr lang="en-US" sz="2700" dirty="0"/>
          </a:p>
        </p:txBody>
      </p:sp>
      <p:sp>
        <p:nvSpPr>
          <p:cNvPr id="8" name="Shape 6"/>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2700" dirty="0"/>
          </a:p>
        </p:txBody>
      </p:sp>
      <p:sp>
        <p:nvSpPr>
          <p:cNvPr id="10" name="Shape 8"/>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诗写到了哪里？又停在了哪里？</a:t>
            </a:r>
            <a:endParaRPr lang="en-US" sz="2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她的一生，怎样走到“亦已焉哉”？</a:t>
            </a:r>
            <a:endParaRPr lang="en-US" sz="3500" dirty="0"/>
          </a:p>
        </p:txBody>
      </p:sp>
      <p:sp>
        <p:nvSpPr>
          <p:cNvPr id="6" name="Shape 4"/>
          <p:cNvSpPr/>
          <p:nvPr/>
        </p:nvSpPr>
        <p:spPr>
          <a:xfrm>
            <a:off x="914400" y="3246120"/>
            <a:ext cx="10195560" cy="0"/>
          </a:xfrm>
          <a:prstGeom prst="line">
            <a:avLst/>
          </a:prstGeom>
          <a:noFill/>
          <a:ln w="22860">
            <a:solidFill>
              <a:srgbClr val="DED0BC"/>
            </a:solidFill>
            <a:prstDash val="solid"/>
          </a:ln>
        </p:spPr>
      </p:sp>
      <p:sp>
        <p:nvSpPr>
          <p:cNvPr id="7" name="Shape 5"/>
          <p:cNvSpPr/>
          <p:nvPr/>
        </p:nvSpPr>
        <p:spPr>
          <a:xfrm>
            <a:off x="594360" y="2788920"/>
            <a:ext cx="1325880" cy="932688"/>
          </a:xfrm>
          <a:prstGeom prst="ellipse">
            <a:avLst/>
          </a:prstGeom>
          <a:solidFill>
            <a:srgbClr val="FFFCF7"/>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9" name="Shape 7"/>
          <p:cNvSpPr/>
          <p:nvPr/>
        </p:nvSpPr>
        <p:spPr>
          <a:xfrm>
            <a:off x="2514600" y="2788920"/>
            <a:ext cx="1325880" cy="932688"/>
          </a:xfrm>
          <a:prstGeom prst="ellipse">
            <a:avLst/>
          </a:prstGeom>
          <a:solidFill>
            <a:srgbClr val="FFFCF7"/>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1" name="Shape 9"/>
          <p:cNvSpPr/>
          <p:nvPr/>
        </p:nvSpPr>
        <p:spPr>
          <a:xfrm>
            <a:off x="4434840" y="2788920"/>
            <a:ext cx="1325880" cy="932688"/>
          </a:xfrm>
          <a:prstGeom prst="ellipse">
            <a:avLst/>
          </a:prstGeom>
          <a:solidFill>
            <a:srgbClr val="FFFCF7"/>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3" name="Shape 11"/>
          <p:cNvSpPr/>
          <p:nvPr/>
        </p:nvSpPr>
        <p:spPr>
          <a:xfrm>
            <a:off x="6355080" y="2788920"/>
            <a:ext cx="1325880" cy="932688"/>
          </a:xfrm>
          <a:prstGeom prst="ellipse">
            <a:avLst/>
          </a:prstGeom>
          <a:solidFill>
            <a:srgbClr val="FFFCF7"/>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5" name="Shape 13"/>
          <p:cNvSpPr/>
          <p:nvPr/>
        </p:nvSpPr>
        <p:spPr>
          <a:xfrm>
            <a:off x="8275320" y="2788920"/>
            <a:ext cx="1325880" cy="932688"/>
          </a:xfrm>
          <a:prstGeom prst="ellipse">
            <a:avLst/>
          </a:prstGeom>
          <a:solidFill>
            <a:srgbClr val="FFFCF7"/>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7" name="Shape 15"/>
          <p:cNvSpPr/>
          <p:nvPr/>
        </p:nvSpPr>
        <p:spPr>
          <a:xfrm>
            <a:off x="10195560" y="2788920"/>
            <a:ext cx="1325880" cy="932688"/>
          </a:xfrm>
          <a:prstGeom prst="ellipse">
            <a:avLst/>
          </a:prstGeom>
          <a:solidFill>
            <a:srgbClr val="FFFCF7"/>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每章留下：一件事｜一句诗的自然意思｜与前一章相比发生了什么变化</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六张章卡，接成她的一生</a:t>
            </a:r>
            <a:endParaRPr lang="en-US" sz="3500" dirty="0"/>
          </a:p>
        </p:txBody>
      </p:sp>
      <p:sp>
        <p:nvSpPr>
          <p:cNvPr id="6" name="Shape 4"/>
          <p:cNvSpPr/>
          <p:nvPr/>
        </p:nvSpPr>
        <p:spPr>
          <a:xfrm>
            <a:off x="914400" y="3246120"/>
            <a:ext cx="10195560" cy="0"/>
          </a:xfrm>
          <a:prstGeom prst="line">
            <a:avLst/>
          </a:prstGeom>
          <a:noFill/>
          <a:ln w="22860">
            <a:solidFill>
              <a:srgbClr val="DED0BC"/>
            </a:solidFill>
            <a:prstDash val="solid"/>
          </a:ln>
        </p:spPr>
      </p:sp>
      <p:sp>
        <p:nvSpPr>
          <p:cNvPr id="7" name="Shape 5"/>
          <p:cNvSpPr/>
          <p:nvPr/>
        </p:nvSpPr>
        <p:spPr>
          <a:xfrm>
            <a:off x="594360" y="2788920"/>
            <a:ext cx="1325880" cy="932688"/>
          </a:xfrm>
          <a:prstGeom prst="ellipse">
            <a:avLst/>
          </a:prstGeom>
          <a:solidFill>
            <a:srgbClr val="FFFCF7"/>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9" name="Shape 7"/>
          <p:cNvSpPr/>
          <p:nvPr/>
        </p:nvSpPr>
        <p:spPr>
          <a:xfrm>
            <a:off x="2514600" y="2788920"/>
            <a:ext cx="1325880" cy="932688"/>
          </a:xfrm>
          <a:prstGeom prst="ellipse">
            <a:avLst/>
          </a:prstGeom>
          <a:solidFill>
            <a:srgbClr val="FFFCF7"/>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1" name="Shape 9"/>
          <p:cNvSpPr/>
          <p:nvPr/>
        </p:nvSpPr>
        <p:spPr>
          <a:xfrm>
            <a:off x="4434840" y="2788920"/>
            <a:ext cx="1325880" cy="932688"/>
          </a:xfrm>
          <a:prstGeom prst="ellipse">
            <a:avLst/>
          </a:prstGeom>
          <a:solidFill>
            <a:srgbClr val="FFFCF7"/>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3" name="Shape 11"/>
          <p:cNvSpPr/>
          <p:nvPr/>
        </p:nvSpPr>
        <p:spPr>
          <a:xfrm>
            <a:off x="6355080" y="2788920"/>
            <a:ext cx="1325880" cy="932688"/>
          </a:xfrm>
          <a:prstGeom prst="ellipse">
            <a:avLst/>
          </a:prstGeom>
          <a:solidFill>
            <a:srgbClr val="FFFCF7"/>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5" name="Shape 13"/>
          <p:cNvSpPr/>
          <p:nvPr/>
        </p:nvSpPr>
        <p:spPr>
          <a:xfrm>
            <a:off x="8275320" y="2788920"/>
            <a:ext cx="1325880" cy="932688"/>
          </a:xfrm>
          <a:prstGeom prst="ellipse">
            <a:avLst/>
          </a:prstGeom>
          <a:solidFill>
            <a:srgbClr val="FFFCF7"/>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7" name="Shape 15"/>
          <p:cNvSpPr/>
          <p:nvPr/>
        </p:nvSpPr>
        <p:spPr>
          <a:xfrm>
            <a:off x="10195560" y="2788920"/>
            <a:ext cx="1325880" cy="932688"/>
          </a:xfrm>
          <a:prstGeom prst="ellipse">
            <a:avLst/>
          </a:prstGeom>
          <a:solidFill>
            <a:srgbClr val="FFFCF7"/>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只补自己原先缺少的一个转折。</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FFFDFC"/>
                </a:solidFill>
                <a:latin typeface="Noto Serif CJK SC" pitchFamily="34" charset="0"/>
                <a:ea typeface="Noto Serif CJK SC" pitchFamily="34" charset="-122"/>
                <a:cs typeface="Noto Serif CJK SC" pitchFamily="34" charset="-120"/>
              </a:rPr>
              <a:t>相识议婚　→　等待迁嫁　→　桑叶劝告</a:t>
            </a:r>
            <a:endParaRPr lang="en-US" sz="3500" dirty="0"/>
          </a:p>
        </p:txBody>
      </p:sp>
      <p:sp>
        <p:nvSpPr>
          <p:cNvPr id="6" name="Shape 4"/>
          <p:cNvSpPr/>
          <p:nvPr/>
        </p:nvSpPr>
        <p:spPr>
          <a:xfrm>
            <a:off x="914400" y="3246120"/>
            <a:ext cx="10195560" cy="0"/>
          </a:xfrm>
          <a:prstGeom prst="line">
            <a:avLst/>
          </a:prstGeom>
          <a:noFill/>
          <a:ln w="22860">
            <a:solidFill>
              <a:srgbClr val="C5B39B"/>
            </a:solidFill>
            <a:prstDash val="solid"/>
          </a:ln>
        </p:spPr>
      </p:sp>
      <p:sp>
        <p:nvSpPr>
          <p:cNvPr id="7" name="Shape 5"/>
          <p:cNvSpPr/>
          <p:nvPr/>
        </p:nvSpPr>
        <p:spPr>
          <a:xfrm>
            <a:off x="594360" y="2788920"/>
            <a:ext cx="1325880" cy="932688"/>
          </a:xfrm>
          <a:prstGeom prst="ellipse">
            <a:avLst/>
          </a:prstGeom>
          <a:solidFill>
            <a:srgbClr val="383129"/>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相识议婚</a:t>
            </a:r>
            <a:endParaRPr lang="en-US" sz="1600" dirty="0"/>
          </a:p>
        </p:txBody>
      </p:sp>
      <p:sp>
        <p:nvSpPr>
          <p:cNvPr id="9" name="Shape 7"/>
          <p:cNvSpPr/>
          <p:nvPr/>
        </p:nvSpPr>
        <p:spPr>
          <a:xfrm>
            <a:off x="2514600" y="2788920"/>
            <a:ext cx="1325880" cy="932688"/>
          </a:xfrm>
          <a:prstGeom prst="ellipse">
            <a:avLst/>
          </a:prstGeom>
          <a:solidFill>
            <a:srgbClr val="383129"/>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等待迁嫁</a:t>
            </a:r>
            <a:endParaRPr lang="en-US" sz="1600" dirty="0"/>
          </a:p>
        </p:txBody>
      </p:sp>
      <p:sp>
        <p:nvSpPr>
          <p:cNvPr id="11" name="Shape 9"/>
          <p:cNvSpPr/>
          <p:nvPr/>
        </p:nvSpPr>
        <p:spPr>
          <a:xfrm>
            <a:off x="4434840" y="2788920"/>
            <a:ext cx="1325880" cy="932688"/>
          </a:xfrm>
          <a:prstGeom prst="ellipse">
            <a:avLst/>
          </a:prstGeom>
          <a:solidFill>
            <a:srgbClr val="383129"/>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桑叶劝告</a:t>
            </a:r>
            <a:endParaRPr lang="en-US" sz="1600" dirty="0"/>
          </a:p>
        </p:txBody>
      </p:sp>
      <p:sp>
        <p:nvSpPr>
          <p:cNvPr id="13" name="Shape 11"/>
          <p:cNvSpPr/>
          <p:nvPr/>
        </p:nvSpPr>
        <p:spPr>
          <a:xfrm>
            <a:off x="6355080" y="2788920"/>
            <a:ext cx="1325880" cy="932688"/>
          </a:xfrm>
          <a:prstGeom prst="ellipse">
            <a:avLst/>
          </a:prstGeom>
          <a:solidFill>
            <a:srgbClr val="383129"/>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婚后失衡</a:t>
            </a:r>
            <a:endParaRPr lang="en-US" sz="1600" dirty="0"/>
          </a:p>
        </p:txBody>
      </p:sp>
      <p:sp>
        <p:nvSpPr>
          <p:cNvPr id="15" name="Shape 13"/>
          <p:cNvSpPr/>
          <p:nvPr/>
        </p:nvSpPr>
        <p:spPr>
          <a:xfrm>
            <a:off x="8275320" y="2788920"/>
            <a:ext cx="1325880" cy="932688"/>
          </a:xfrm>
          <a:prstGeom prst="ellipse">
            <a:avLst/>
          </a:prstGeom>
          <a:solidFill>
            <a:srgbClr val="383129"/>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劳作孤立</a:t>
            </a:r>
            <a:endParaRPr lang="en-US" sz="1600" dirty="0"/>
          </a:p>
        </p:txBody>
      </p:sp>
      <p:sp>
        <p:nvSpPr>
          <p:cNvPr id="17" name="Shape 15"/>
          <p:cNvSpPr/>
          <p:nvPr/>
        </p:nvSpPr>
        <p:spPr>
          <a:xfrm>
            <a:off x="10195560" y="2788920"/>
            <a:ext cx="1325880" cy="932688"/>
          </a:xfrm>
          <a:prstGeom prst="ellipse">
            <a:avLst/>
          </a:prstGeom>
          <a:solidFill>
            <a:srgbClr val="383129"/>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回望止息</a:t>
            </a:r>
            <a:endParaRPr lang="en-US" sz="16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EFE3CF"/>
                </a:solidFill>
                <a:latin typeface="Noto Serif CJK SC" pitchFamily="34" charset="0"/>
                <a:ea typeface="Noto Serif CJK SC" pitchFamily="34" charset="-122"/>
                <a:cs typeface="Noto Serif CJK SC" pitchFamily="34" charset="-120"/>
              </a:rPr>
              <a:t>先看清这条路；下一页撤去答案。</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ctr" indent="0" marL="0">
              <a:buNone/>
            </a:pPr>
            <a:r>
              <a:rPr lang="en-US" sz="3900" b="1" dirty="0">
                <a:solidFill>
                  <a:srgbClr val="FFFDFC"/>
                </a:solidFill>
                <a:latin typeface="Noto Serif CJK SC" pitchFamily="34" charset="0"/>
                <a:ea typeface="Noto Serif CJK SC" pitchFamily="34" charset="-122"/>
                <a:cs typeface="Noto Serif CJK SC" pitchFamily="34" charset="-120"/>
              </a:rPr>
              <a:t>现在不看答案。</a:t>
            </a:r>
            <a:endParaRPr lang="en-US" sz="3900" dirty="0"/>
          </a:p>
        </p:txBody>
      </p:sp>
      <p:sp>
        <p:nvSpPr>
          <p:cNvPr id="6" name="Text 4"/>
          <p:cNvSpPr/>
          <p:nvPr/>
        </p:nvSpPr>
        <p:spPr>
          <a:xfrm>
            <a:off x="1188720" y="2057400"/>
            <a:ext cx="9811512" cy="566928"/>
          </a:xfrm>
          <a:prstGeom prst="rect">
            <a:avLst/>
          </a:prstGeom>
          <a:noFill/>
          <a:ln/>
        </p:spPr>
        <p:txBody>
          <a:bodyPr wrap="square" lIns="0" tIns="0" rIns="0" bIns="0" rtlCol="0" anchor="ctr">
            <a:normAutofit/>
          </a:bodyPr>
          <a:lstStyle/>
          <a:p>
            <a:pPr algn="ctr" indent="0" marL="0">
              <a:buNone/>
            </a:pPr>
            <a:r>
              <a:rPr lang="en-US" sz="2900" b="1" dirty="0">
                <a:solidFill>
                  <a:srgbClr val="FFFDFC"/>
                </a:solidFill>
                <a:latin typeface="Noto Serif CJK SC" pitchFamily="34" charset="0"/>
                <a:ea typeface="Noto Serif CJK SC" pitchFamily="34" charset="-122"/>
                <a:cs typeface="Noto Serif CJK SC" pitchFamily="34" charset="-120"/>
              </a:rPr>
              <a:t>合上书，从第一章讲到第六章。</a:t>
            </a:r>
            <a:endParaRPr lang="en-US" sz="2900" dirty="0"/>
          </a:p>
        </p:txBody>
      </p:sp>
      <p:sp>
        <p:nvSpPr>
          <p:cNvPr id="7" name="Text 5"/>
          <p:cNvSpPr/>
          <p:nvPr/>
        </p:nvSpPr>
        <p:spPr>
          <a:xfrm>
            <a:off x="1188720" y="29718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EFE3CF"/>
                </a:solidFill>
                <a:latin typeface="Noto Serif CJK SC" pitchFamily="34" charset="0"/>
                <a:ea typeface="Noto Serif CJK SC" pitchFamily="34" charset="-122"/>
                <a:cs typeface="Noto Serif CJK SC" pitchFamily="34" charset="-120"/>
              </a:rPr>
              <a:t>断在何处，就回哪一句；补好以后，再合书讲完。</a:t>
            </a:r>
            <a:endParaRPr lang="en-US" sz="2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找回《一间屋子里的许多年》</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划出：她每天过着怎样的日子。</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划出：她在伴侣和兄弟那里遭遇了什么。</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旧稿若漏了一项，只在旁边补一句并写原诗。</a:t>
            </a:r>
            <a:endParaRPr lang="en-US" sz="2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只看卡片正面：你能猜回哪一句诗？</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翻到背面核验。</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若写出了诗中没有的遭遇，把它退回原作者修订。</a:t>
            </a:r>
            <a:endParaRPr lang="en-US" sz="3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日子贫困，家里的劳苦没有停歇</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说过的话变了，行为反复，后来甚至粗暴</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兄弟不了解她，反而以笑声相待</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没有人真正听见时，她只能独自悲伤</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每一项，都要回到原诗。</a:t>
            </a:r>
            <a:endParaRPr lang="en-US"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现在只写自己的答案</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700" b="1" dirty="0">
                <a:solidFill>
                  <a:srgbClr val="725260"/>
                </a:solidFill>
                <a:latin typeface="Noto Serif CJK SC" pitchFamily="34" charset="0"/>
                <a:ea typeface="Noto Serif CJK SC" pitchFamily="34" charset="-122"/>
                <a:cs typeface="Noto Serif CJK SC" pitchFamily="34" charset="-120"/>
              </a:rPr>
              <a:t>她婚后的不幸，具体落在怎样的日子里？</a:t>
            </a:r>
            <a:endParaRPr lang="en-US" sz="27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414016"/>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至少写三种生活事实；每一种都带回一处原诗。</a:t>
            </a:r>
            <a:endParaRPr lang="en-US" sz="2700" dirty="0"/>
          </a:p>
        </p:txBody>
      </p:sp>
      <p:sp>
        <p:nvSpPr>
          <p:cNvPr id="9" name="Shape 7"/>
          <p:cNvSpPr/>
          <p:nvPr/>
        </p:nvSpPr>
        <p:spPr>
          <a:xfrm>
            <a:off x="914400" y="3017520"/>
            <a:ext cx="10195560" cy="0"/>
          </a:xfrm>
          <a:prstGeom prst="line">
            <a:avLst/>
          </a:prstGeom>
          <a:noFill/>
          <a:ln w="10160">
            <a:solidFill>
              <a:srgbClr val="DED0BC"/>
            </a:solidFill>
            <a:prstDash val="solid"/>
          </a:ln>
        </p:spPr>
      </p:sp>
      <p:sp>
        <p:nvSpPr>
          <p:cNvPr id="10" name="Text 8"/>
          <p:cNvSpPr/>
          <p:nvPr/>
        </p:nvSpPr>
        <p:spPr>
          <a:xfrm>
            <a:off x="914400" y="3346704"/>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把自己原先漏掉的一项补进去。</a:t>
            </a:r>
            <a:endParaRPr lang="en-US" sz="2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这场婚姻为什么走到这一步？</a:t>
            </a:r>
            <a:endParaRPr lang="en-US" sz="3600" dirty="0"/>
          </a:p>
        </p:txBody>
      </p:sp>
      <p:sp>
        <p:nvSpPr>
          <p:cNvPr id="6" name="Shape 4"/>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这组事实说明了什么？</a:t>
            </a:r>
            <a:endParaRPr lang="en-US" sz="2700" dirty="0"/>
          </a:p>
        </p:txBody>
      </p:sp>
      <p:sp>
        <p:nvSpPr>
          <p:cNvPr id="8" name="Shape 6"/>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它不能被说成什么？</a:t>
            </a:r>
            <a:endParaRPr lang="en-US" sz="2700" dirty="0"/>
          </a:p>
        </p:txBody>
      </p:sp>
      <p:sp>
        <p:nvSpPr>
          <p:cNvPr id="10" name="Shape 8"/>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先独立写下，再把证据放回她的一生。</a:t>
            </a:r>
            <a:endParaRPr lang="en-US" sz="2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沿着她的一生，看看这些事实起了怎样的作用。</a:t>
            </a:r>
            <a:endParaRPr lang="en-US" sz="3100" dirty="0"/>
          </a:p>
        </p:txBody>
      </p:sp>
      <p:sp>
        <p:nvSpPr>
          <p:cNvPr id="6" name="Shape 4"/>
          <p:cNvSpPr/>
          <p:nvPr/>
        </p:nvSpPr>
        <p:spPr>
          <a:xfrm>
            <a:off x="768096" y="1572768"/>
            <a:ext cx="5198364" cy="3858768"/>
          </a:xfrm>
          <a:prstGeom prst="roundRect">
            <a:avLst>
              <a:gd name="adj" fmla="val 948"/>
            </a:avLst>
          </a:prstGeom>
          <a:solidFill>
            <a:srgbClr val="383129"/>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谁应为伤害负责？哪些日子让不幸继续？她身边少了谁的理解？</a:t>
            </a:r>
            <a:endParaRPr lang="en-US" sz="3000" dirty="0"/>
          </a:p>
        </p:txBody>
      </p:sp>
      <p:sp>
        <p:nvSpPr>
          <p:cNvPr id="8" name="Shape 6"/>
          <p:cNvSpPr/>
          <p:nvPr/>
        </p:nvSpPr>
        <p:spPr>
          <a:xfrm>
            <a:off x="6222492" y="1572768"/>
            <a:ext cx="5198364" cy="3858768"/>
          </a:xfrm>
          <a:prstGeom prst="roundRect">
            <a:avLst>
              <a:gd name="adj" fmla="val 948"/>
            </a:avLst>
          </a:prstGeom>
          <a:solidFill>
            <a:srgbClr val="383129"/>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若一句判断说得太满，请写：原诗还不能证明。</a:t>
            </a:r>
            <a:endParaRPr lang="en-US" sz="3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男子失信、反复并走向粗暴，伤害的责任在他</a:t>
            </a:r>
            <a:endParaRPr lang="en-US" sz="3600" dirty="0"/>
          </a:p>
        </p:txBody>
      </p:sp>
      <p:sp>
        <p:nvSpPr>
          <p:cNvPr id="6" name="Shape 4"/>
          <p:cNvSpPr/>
          <p:nvPr/>
        </p:nvSpPr>
        <p:spPr>
          <a:xfrm>
            <a:off x="777240" y="1417320"/>
            <a:ext cx="5074920" cy="4206240"/>
          </a:xfrm>
          <a:prstGeom prst="roundRect">
            <a:avLst>
              <a:gd name="adj" fmla="val 870"/>
            </a:avLst>
          </a:prstGeom>
          <a:solidFill>
            <a:srgbClr val="383129"/>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贫困与劳作日复一日，关系里的担子越来越偏向一人</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兄弟不知而笑，她在困境中没有得到理解</a:t>
            </a:r>
            <a:endParaRPr lang="en-US" sz="2800" dirty="0"/>
          </a:p>
        </p:txBody>
      </p:sp>
      <p:sp>
        <p:nvSpPr>
          <p:cNvPr id="9" name="Text 7"/>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旧日欢乐与已有投入会让割舍更难，却不是她受伤的原因</a:t>
            </a:r>
            <a:endParaRPr lang="en-US" sz="2800" dirty="0"/>
          </a:p>
        </p:txBody>
      </p:sp>
      <p:sp>
        <p:nvSpPr>
          <p:cNvPr id="10" name="Shape 8"/>
          <p:cNvSpPr/>
          <p:nvPr/>
        </p:nvSpPr>
        <p:spPr>
          <a:xfrm>
            <a:off x="6373368" y="1417320"/>
            <a:ext cx="5074920" cy="4206240"/>
          </a:xfrm>
          <a:prstGeom prst="roundRect">
            <a:avLst>
              <a:gd name="adj" fmla="val 870"/>
            </a:avLst>
          </a:prstGeom>
          <a:solidFill>
            <a:srgbClr val="383129"/>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开头的细节值得留意，却不能倒推一开始就有预谋</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“亦已焉哉”是她醒悟后的回应，不是悲剧的原因</a:t>
            </a:r>
            <a:endParaRPr lang="en-US" sz="2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现在不看归纳，只写自己的答案</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700" b="1" dirty="0">
                <a:solidFill>
                  <a:srgbClr val="725260"/>
                </a:solidFill>
                <a:latin typeface="Noto Serif CJK SC" pitchFamily="34" charset="0"/>
                <a:ea typeface="Noto Serif CJK SC" pitchFamily="34" charset="-122"/>
                <a:cs typeface="Noto Serif CJK SC" pitchFamily="34" charset="-120"/>
              </a:rPr>
              <a:t>谁应为伤害负责？</a:t>
            </a:r>
            <a:endParaRPr lang="en-US" sz="27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414016"/>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哪些日子让不幸继续？她缺少谁的理解？</a:t>
            </a:r>
            <a:endParaRPr lang="en-US" sz="2700" dirty="0"/>
          </a:p>
        </p:txBody>
      </p:sp>
      <p:sp>
        <p:nvSpPr>
          <p:cNvPr id="9" name="Shape 7"/>
          <p:cNvSpPr/>
          <p:nvPr/>
        </p:nvSpPr>
        <p:spPr>
          <a:xfrm>
            <a:off x="914400" y="3017520"/>
            <a:ext cx="10195560" cy="0"/>
          </a:xfrm>
          <a:prstGeom prst="line">
            <a:avLst/>
          </a:prstGeom>
          <a:noFill/>
          <a:ln w="10160">
            <a:solidFill>
              <a:srgbClr val="DED0BC"/>
            </a:solidFill>
            <a:prstDash val="solid"/>
          </a:ln>
        </p:spPr>
      </p:sp>
      <p:sp>
        <p:nvSpPr>
          <p:cNvPr id="10" name="Text 8"/>
          <p:cNvSpPr/>
          <p:nvPr/>
        </p:nvSpPr>
        <p:spPr>
          <a:xfrm>
            <a:off x="914400" y="3346704"/>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哪一项只是她的投入或回应，不能反过来怪她？</a:t>
            </a:r>
            <a:endParaRPr lang="en-US" sz="2700" dirty="0"/>
          </a:p>
        </p:txBody>
      </p:sp>
      <p:sp>
        <p:nvSpPr>
          <p:cNvPr id="11" name="Shape 9"/>
          <p:cNvSpPr/>
          <p:nvPr/>
        </p:nvSpPr>
        <p:spPr>
          <a:xfrm>
            <a:off x="914400" y="3950208"/>
            <a:ext cx="10195560" cy="0"/>
          </a:xfrm>
          <a:prstGeom prst="line">
            <a:avLst/>
          </a:prstGeom>
          <a:noFill/>
          <a:ln w="10160">
            <a:solidFill>
              <a:srgbClr val="DED0BC"/>
            </a:solidFill>
            <a:prstDash val="solid"/>
          </a:ln>
        </p:spPr>
      </p:sp>
      <p:sp>
        <p:nvSpPr>
          <p:cNvPr id="12" name="Text 10"/>
          <p:cNvSpPr/>
          <p:nvPr/>
        </p:nvSpPr>
        <p:spPr>
          <a:xfrm>
            <a:off x="914400" y="4279392"/>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每一层都写一处原诗。</a:t>
            </a:r>
            <a:endParaRPr lang="en-US" sz="2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一段好的共同生活，最不能缺少什么？</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这处悲剧提醒我……</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因此，好的共同生活需要……</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只给未来的自己或朋友留一句话。</a:t>
            </a:r>
            <a:endParaRPr lang="en-US" sz="27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把每组最想送给未来的一句话贴上来。</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先看哪些彼此照应，再看哪些彼此冲突。</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每张卡都要带着一处《氓》的原诗。</a:t>
            </a:r>
            <a:endParaRPr lang="en-US" sz="3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先看清一个人，再把诺言交给岁月证明</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说过的话，要落在日复一日的行动里</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家务、决定和责任，不能总压在一个人身上</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难的时候，彼此肯听；也知道可以向谁求助</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伤害一再发生，要有停止和离开的勇气</a:t>
            </a:r>
            <a:endParaRPr lang="en-US" sz="2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回到开头那幅爱情与婚姻文学长卷</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700" b="1" dirty="0">
                <a:solidFill>
                  <a:srgbClr val="725260"/>
                </a:solidFill>
                <a:latin typeface="Noto Serif CJK SC" pitchFamily="34" charset="0"/>
                <a:ea typeface="Noto Serif CJK SC" pitchFamily="34" charset="-122"/>
                <a:cs typeface="Noto Serif CJK SC" pitchFamily="34" charset="-120"/>
              </a:rPr>
              <a:t>《氓》为它新添了什么？</a:t>
            </a:r>
            <a:endParaRPr lang="en-US" sz="27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414016"/>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请用自己的话补上一句。</a:t>
            </a:r>
            <a:endParaRPr lang="en-US" sz="2700" dirty="0"/>
          </a:p>
        </p:txBody>
      </p:sp>
      <p:sp>
        <p:nvSpPr>
          <p:cNvPr id="9" name="Shape 7"/>
          <p:cNvSpPr/>
          <p:nvPr/>
        </p:nvSpPr>
        <p:spPr>
          <a:xfrm>
            <a:off x="914400" y="3017520"/>
            <a:ext cx="10195560" cy="0"/>
          </a:xfrm>
          <a:prstGeom prst="line">
            <a:avLst/>
          </a:prstGeom>
          <a:noFill/>
          <a:ln w="10160">
            <a:solidFill>
              <a:srgbClr val="DED0BC"/>
            </a:solidFill>
            <a:prstDash val="solid"/>
          </a:ln>
        </p:spPr>
      </p:sp>
      <p:sp>
        <p:nvSpPr>
          <p:cNvPr id="10" name="Text 8"/>
          <p:cNvSpPr/>
          <p:nvPr/>
        </p:nvSpPr>
        <p:spPr>
          <a:xfrm>
            <a:off x="914400" y="3346704"/>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可以不同意教师的归纳，但要带着一处原诗。</a:t>
            </a:r>
            <a:endParaRPr lang="en-US" sz="27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《诗经》，我们真正记住了什么？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它是什么？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有多少篇？</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作品大致来自怎样的年代？</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分哪三类？《氓》在哪里？</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先合书写；不确定，可以留空。</a:t>
            </a:r>
            <a:endParaRPr lang="en-US" sz="2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《诗经》｜把五项事实校准</a:t>
            </a:r>
            <a:endParaRPr lang="en-US" sz="3400" dirty="0"/>
          </a:p>
        </p:txBody>
      </p:sp>
      <p:sp>
        <p:nvSpPr>
          <p:cNvPr id="6" name="Shape 4"/>
          <p:cNvSpPr/>
          <p:nvPr/>
        </p:nvSpPr>
        <p:spPr>
          <a:xfrm>
            <a:off x="786384" y="1572768"/>
            <a:ext cx="3401568" cy="1234440"/>
          </a:xfrm>
          <a:prstGeom prst="roundRect">
            <a:avLst>
              <a:gd name="adj" fmla="val 2963"/>
            </a:avLst>
          </a:prstGeom>
          <a:solidFill>
            <a:srgbClr val="FFFCF7"/>
          </a:solidFill>
          <a:ln w="13335">
            <a:solidFill>
              <a:srgbClr val="A67F4A"/>
            </a:solidFill>
            <a:prstDash val="solid"/>
          </a:ln>
        </p:spPr>
      </p:sp>
      <p:sp>
        <p:nvSpPr>
          <p:cNvPr id="7" name="Text 5"/>
          <p:cNvSpPr/>
          <p:nvPr/>
        </p:nvSpPr>
        <p:spPr>
          <a:xfrm>
            <a:off x="969264"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《诗经》｜我国第一部诗歌总集</a:t>
            </a:r>
            <a:endParaRPr lang="en-US" sz="2100" dirty="0"/>
          </a:p>
        </p:txBody>
      </p:sp>
      <p:sp>
        <p:nvSpPr>
          <p:cNvPr id="8" name="Shape 6"/>
          <p:cNvSpPr/>
          <p:nvPr/>
        </p:nvSpPr>
        <p:spPr>
          <a:xfrm>
            <a:off x="4572000" y="1572768"/>
            <a:ext cx="3401568" cy="1234440"/>
          </a:xfrm>
          <a:prstGeom prst="roundRect">
            <a:avLst>
              <a:gd name="adj" fmla="val 2963"/>
            </a:avLst>
          </a:prstGeom>
          <a:solidFill>
            <a:srgbClr val="FFFCF7"/>
          </a:solidFill>
          <a:ln w="13335">
            <a:solidFill>
              <a:srgbClr val="446E78"/>
            </a:solidFill>
            <a:prstDash val="solid"/>
          </a:ln>
        </p:spPr>
      </p:sp>
      <p:sp>
        <p:nvSpPr>
          <p:cNvPr id="9" name="Text 7"/>
          <p:cNvSpPr/>
          <p:nvPr/>
        </p:nvSpPr>
        <p:spPr>
          <a:xfrm>
            <a:off x="4754880"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现存305篇</a:t>
            </a:r>
            <a:endParaRPr lang="en-US" sz="2100" dirty="0"/>
          </a:p>
        </p:txBody>
      </p:sp>
      <p:sp>
        <p:nvSpPr>
          <p:cNvPr id="10" name="Shape 8"/>
          <p:cNvSpPr/>
          <p:nvPr/>
        </p:nvSpPr>
        <p:spPr>
          <a:xfrm>
            <a:off x="8357616" y="1572768"/>
            <a:ext cx="3401568" cy="1234440"/>
          </a:xfrm>
          <a:prstGeom prst="roundRect">
            <a:avLst>
              <a:gd name="adj" fmla="val 2963"/>
            </a:avLst>
          </a:prstGeom>
          <a:solidFill>
            <a:srgbClr val="FFFCF7"/>
          </a:solidFill>
          <a:ln w="13335">
            <a:solidFill>
              <a:srgbClr val="657653"/>
            </a:solidFill>
            <a:prstDash val="solid"/>
          </a:ln>
        </p:spPr>
      </p:sp>
      <p:sp>
        <p:nvSpPr>
          <p:cNvPr id="11" name="Text 9"/>
          <p:cNvSpPr/>
          <p:nvPr/>
        </p:nvSpPr>
        <p:spPr>
          <a:xfrm>
            <a:off x="8540496"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作品大致产生于西周初年至春秋中叶</a:t>
            </a:r>
            <a:endParaRPr lang="en-US" sz="2100" dirty="0"/>
          </a:p>
        </p:txBody>
      </p:sp>
      <p:sp>
        <p:nvSpPr>
          <p:cNvPr id="12" name="Shape 10"/>
          <p:cNvSpPr/>
          <p:nvPr/>
        </p:nvSpPr>
        <p:spPr>
          <a:xfrm>
            <a:off x="786384" y="3172968"/>
            <a:ext cx="3401568" cy="1234440"/>
          </a:xfrm>
          <a:prstGeom prst="roundRect">
            <a:avLst>
              <a:gd name="adj" fmla="val 2963"/>
            </a:avLst>
          </a:prstGeom>
          <a:solidFill>
            <a:srgbClr val="FFFCF7"/>
          </a:solidFill>
          <a:ln w="13335">
            <a:solidFill>
              <a:srgbClr val="725260"/>
            </a:solidFill>
            <a:prstDash val="solid"/>
          </a:ln>
        </p:spPr>
      </p:sp>
      <p:sp>
        <p:nvSpPr>
          <p:cNvPr id="13" name="Text 11"/>
          <p:cNvSpPr/>
          <p:nvPr/>
        </p:nvSpPr>
        <p:spPr>
          <a:xfrm>
            <a:off x="969264" y="33924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风｜雅｜颂</a:t>
            </a:r>
            <a:endParaRPr lang="en-US" sz="2100" dirty="0"/>
          </a:p>
        </p:txBody>
      </p:sp>
      <p:sp>
        <p:nvSpPr>
          <p:cNvPr id="14" name="Shape 12"/>
          <p:cNvSpPr/>
          <p:nvPr/>
        </p:nvSpPr>
        <p:spPr>
          <a:xfrm>
            <a:off x="4572000" y="3172968"/>
            <a:ext cx="3401568" cy="1234440"/>
          </a:xfrm>
          <a:prstGeom prst="roundRect">
            <a:avLst>
              <a:gd name="adj" fmla="val 2963"/>
            </a:avLst>
          </a:prstGeom>
          <a:solidFill>
            <a:srgbClr val="FFFCF7"/>
          </a:solidFill>
          <a:ln w="13335">
            <a:solidFill>
              <a:srgbClr val="94473B"/>
            </a:solidFill>
            <a:prstDash val="solid"/>
          </a:ln>
        </p:spPr>
      </p:sp>
      <p:sp>
        <p:nvSpPr>
          <p:cNvPr id="15" name="Text 13"/>
          <p:cNvSpPr/>
          <p:nvPr/>
        </p:nvSpPr>
        <p:spPr>
          <a:xfrm>
            <a:off x="4754880" y="33924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《氓》在《卫风》中</a:t>
            </a:r>
            <a:endParaRPr lang="en-US" sz="2100" dirty="0"/>
          </a:p>
        </p:txBody>
      </p:sp>
      <p:sp>
        <p:nvSpPr>
          <p:cNvPr id="16" name="Text 14"/>
          <p:cNvSpPr/>
          <p:nvPr/>
        </p:nvSpPr>
        <p:spPr>
          <a:xfrm>
            <a:off x="914400" y="521208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只修自己错空的地方。</a:t>
            </a:r>
            <a:endParaRPr 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71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ctr" indent="0" marL="0">
              <a:buNone/>
            </a:pPr>
            <a:r>
              <a:rPr lang="en-US" sz="3900" b="1" dirty="0">
                <a:solidFill>
                  <a:srgbClr val="FFFDFC"/>
                </a:solidFill>
                <a:latin typeface="Noto Serif CJK SC" pitchFamily="34" charset="0"/>
                <a:ea typeface="Noto Serif CJK SC" pitchFamily="34" charset="-122"/>
                <a:cs typeface="Noto Serif CJK SC" pitchFamily="34" charset="-120"/>
              </a:rPr>
              <a:t>现在再合上书</a:t>
            </a:r>
            <a:endParaRPr lang="en-US" sz="3900" dirty="0"/>
          </a:p>
        </p:txBody>
      </p:sp>
      <p:sp>
        <p:nvSpPr>
          <p:cNvPr id="6" name="Text 4"/>
          <p:cNvSpPr/>
          <p:nvPr/>
        </p:nvSpPr>
        <p:spPr>
          <a:xfrm>
            <a:off x="1188720" y="2057400"/>
            <a:ext cx="9811512" cy="566928"/>
          </a:xfrm>
          <a:prstGeom prst="rect">
            <a:avLst/>
          </a:prstGeom>
          <a:noFill/>
          <a:ln/>
        </p:spPr>
        <p:txBody>
          <a:bodyPr wrap="square" lIns="0" tIns="0" rIns="0" bIns="0" rtlCol="0" anchor="ctr">
            <a:normAutofit/>
          </a:bodyPr>
          <a:lstStyle/>
          <a:p>
            <a:pPr algn="ctr" indent="0" marL="0">
              <a:buNone/>
            </a:pPr>
            <a:r>
              <a:rPr lang="en-US" sz="2900" b="1" dirty="0">
                <a:solidFill>
                  <a:srgbClr val="FFFDFC"/>
                </a:solidFill>
                <a:latin typeface="Noto Serif CJK SC" pitchFamily="34" charset="0"/>
                <a:ea typeface="Noto Serif CJK SC" pitchFamily="34" charset="-122"/>
                <a:cs typeface="Noto Serif CJK SC" pitchFamily="34" charset="-120"/>
              </a:rPr>
              <a:t>用两句话说给同桌听：</a:t>
            </a:r>
            <a:endParaRPr lang="en-US" sz="2900" dirty="0"/>
          </a:p>
        </p:txBody>
      </p:sp>
      <p:sp>
        <p:nvSpPr>
          <p:cNvPr id="7" name="Text 5"/>
          <p:cNvSpPr/>
          <p:nvPr/>
        </p:nvSpPr>
        <p:spPr>
          <a:xfrm>
            <a:off x="1188720" y="29718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FFFDFC"/>
                </a:solidFill>
                <a:latin typeface="Noto Serif CJK SC" pitchFamily="34" charset="0"/>
                <a:ea typeface="Noto Serif CJK SC" pitchFamily="34" charset="-122"/>
                <a:cs typeface="Noto Serif CJK SC" pitchFamily="34" charset="-120"/>
              </a:rPr>
              <a:t>《诗经》的基本身份是什么？</a:t>
            </a:r>
            <a:endParaRPr lang="en-US" sz="2500" dirty="0"/>
          </a:p>
        </p:txBody>
      </p:sp>
      <p:sp>
        <p:nvSpPr>
          <p:cNvPr id="8" name="Text 6"/>
          <p:cNvSpPr/>
          <p:nvPr/>
        </p:nvSpPr>
        <p:spPr>
          <a:xfrm>
            <a:off x="1188720" y="38862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EFE3CF"/>
                </a:solidFill>
                <a:latin typeface="Noto Serif CJK SC" pitchFamily="34" charset="0"/>
                <a:ea typeface="Noto Serif CJK SC" pitchFamily="34" charset="-122"/>
                <a:cs typeface="Noto Serif CJK SC" pitchFamily="34" charset="-120"/>
              </a:rPr>
              <a:t>《氓》在其中什么位置？</a:t>
            </a:r>
            <a:endParaRPr lang="en-US" sz="25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六章关键字词，能不能回到原句？</a:t>
            </a:r>
            <a:endParaRPr lang="en-US" sz="3400" dirty="0"/>
          </a:p>
        </p:txBody>
      </p:sp>
      <p:sp>
        <p:nvSpPr>
          <p:cNvPr id="6" name="Shape 4"/>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8" name="Shape 6"/>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0" name="Shape 8"/>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2" name="Shape 10"/>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4" name="Shape 12"/>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6" name="Shape 14"/>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8" name="Text 16"/>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每项写：读音｜句中义｜原句。不会，可以留空。</a:t>
            </a:r>
            <a:endParaRPr lang="en-US" sz="25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打开教材，只修自己错空的地方。</a:t>
            </a:r>
            <a:endParaRPr lang="en-US" sz="3400" dirty="0"/>
          </a:p>
        </p:txBody>
      </p:sp>
      <p:sp>
        <p:nvSpPr>
          <p:cNvPr id="6" name="Shape 4"/>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8" name="Shape 6"/>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0" name="Shape 8"/>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2" name="Shape 10"/>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4" name="Shape 12"/>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6" name="Shape 14"/>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8" name="Text 16"/>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在对应句旁圈一个终读提醒。</a:t>
            </a:r>
            <a:endParaRPr lang="en-US" sz="2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六章六词，逐项校准</a:t>
            </a:r>
            <a:endParaRPr lang="en-US" sz="3400" dirty="0"/>
          </a:p>
        </p:txBody>
      </p:sp>
      <p:sp>
        <p:nvSpPr>
          <p:cNvPr id="6" name="Shape 4"/>
          <p:cNvSpPr/>
          <p:nvPr/>
        </p:nvSpPr>
        <p:spPr>
          <a:xfrm>
            <a:off x="786384" y="1572768"/>
            <a:ext cx="34015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987552"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愆（qiān）｜延误｜匪我愆期</a:t>
            </a:r>
            <a:endParaRPr lang="en-US" sz="2000" dirty="0"/>
          </a:p>
        </p:txBody>
      </p:sp>
      <p:sp>
        <p:nvSpPr>
          <p:cNvPr id="8" name="Shape 6"/>
          <p:cNvSpPr/>
          <p:nvPr/>
        </p:nvSpPr>
        <p:spPr>
          <a:xfrm>
            <a:off x="4572000" y="1572768"/>
            <a:ext cx="34015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4773168"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筮（shì）｜用蓍草占问｜尔卜尔筮</a:t>
            </a:r>
            <a:endParaRPr lang="en-US" sz="2000" dirty="0"/>
          </a:p>
        </p:txBody>
      </p:sp>
      <p:sp>
        <p:nvSpPr>
          <p:cNvPr id="10" name="Shape 8"/>
          <p:cNvSpPr/>
          <p:nvPr/>
        </p:nvSpPr>
        <p:spPr>
          <a:xfrm>
            <a:off x="8357616" y="1572768"/>
            <a:ext cx="34015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8558784"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说｜同“脱”，脱身｜犹可说也</a:t>
            </a:r>
            <a:endParaRPr lang="en-US" sz="2000" dirty="0"/>
          </a:p>
        </p:txBody>
      </p:sp>
      <p:sp>
        <p:nvSpPr>
          <p:cNvPr id="12" name="Shape 10"/>
          <p:cNvSpPr/>
          <p:nvPr/>
        </p:nvSpPr>
        <p:spPr>
          <a:xfrm>
            <a:off x="786384" y="3328416"/>
            <a:ext cx="34015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987552"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爽｜差错｜女也不爽</a:t>
            </a:r>
            <a:endParaRPr lang="en-US" sz="2000" dirty="0"/>
          </a:p>
        </p:txBody>
      </p:sp>
      <p:sp>
        <p:nvSpPr>
          <p:cNvPr id="14" name="Shape 12"/>
          <p:cNvSpPr/>
          <p:nvPr/>
        </p:nvSpPr>
        <p:spPr>
          <a:xfrm>
            <a:off x="4572000" y="3328416"/>
            <a:ext cx="34015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4773168"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咥（xì）｜笑的样子｜咥其笑矣</a:t>
            </a:r>
            <a:endParaRPr lang="en-US" sz="2000" dirty="0"/>
          </a:p>
        </p:txBody>
      </p:sp>
      <p:sp>
        <p:nvSpPr>
          <p:cNvPr id="16" name="Shape 14"/>
          <p:cNvSpPr/>
          <p:nvPr/>
        </p:nvSpPr>
        <p:spPr>
          <a:xfrm>
            <a:off x="8357616" y="3328416"/>
            <a:ext cx="34015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8558784"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泮｜同“畔”，边岸｜隰则有泮</a:t>
            </a:r>
            <a:endParaRPr lang="en-US" sz="2000" dirty="0"/>
          </a:p>
        </p:txBody>
      </p:sp>
      <p:sp>
        <p:nvSpPr>
          <p:cNvPr id="18" name="Text 16"/>
          <p:cNvSpPr/>
          <p:nvPr/>
        </p:nvSpPr>
        <p:spPr>
          <a:xfrm>
            <a:off x="914400" y="5330952"/>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六项修好以后，再自选两个仍不稳的词。</a:t>
            </a:r>
            <a:endParaRPr lang="en-US" sz="2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这些已经读过的句子，哪些可以放在一起？</a:t>
            </a:r>
            <a:endParaRPr lang="en-US" sz="3400" dirty="0"/>
          </a:p>
        </p:txBody>
      </p:sp>
      <p:sp>
        <p:nvSpPr>
          <p:cNvPr id="6" name="Shape 4"/>
          <p:cNvSpPr/>
          <p:nvPr/>
        </p:nvSpPr>
        <p:spPr>
          <a:xfrm>
            <a:off x="749808" y="1536192"/>
            <a:ext cx="2487168" cy="841248"/>
          </a:xfrm>
          <a:prstGeom prst="roundRect">
            <a:avLst>
              <a:gd name="adj" fmla="val 4348"/>
            </a:avLst>
          </a:prstGeom>
          <a:solidFill>
            <a:srgbClr val="FFFCF7"/>
          </a:solidFill>
          <a:ln w="13335">
            <a:solidFill>
              <a:srgbClr val="C5B39B"/>
            </a:solidFill>
            <a:prstDash val="solid"/>
          </a:ln>
        </p:spPr>
      </p:sp>
      <p:sp>
        <p:nvSpPr>
          <p:cNvPr id="7" name="Text 5"/>
          <p:cNvSpPr/>
          <p:nvPr/>
        </p:nvSpPr>
        <p:spPr>
          <a:xfrm>
            <a:off x="877824" y="1664208"/>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相识—迁嫁—婚后—止息</a:t>
            </a:r>
            <a:endParaRPr lang="en-US" sz="2000" dirty="0"/>
          </a:p>
        </p:txBody>
      </p:sp>
      <p:sp>
        <p:nvSpPr>
          <p:cNvPr id="8" name="Shape 6"/>
          <p:cNvSpPr/>
          <p:nvPr/>
        </p:nvSpPr>
        <p:spPr>
          <a:xfrm>
            <a:off x="3465576" y="1536192"/>
            <a:ext cx="2487168" cy="841248"/>
          </a:xfrm>
          <a:prstGeom prst="roundRect">
            <a:avLst>
              <a:gd name="adj" fmla="val 4348"/>
            </a:avLst>
          </a:prstGeom>
          <a:solidFill>
            <a:srgbClr val="FFFCF7"/>
          </a:solidFill>
          <a:ln w="13335">
            <a:solidFill>
              <a:srgbClr val="C5B39B"/>
            </a:solidFill>
            <a:prstDash val="solid"/>
          </a:ln>
        </p:spPr>
      </p:sp>
      <p:sp>
        <p:nvSpPr>
          <p:cNvPr id="9" name="Text 7"/>
          <p:cNvSpPr/>
          <p:nvPr/>
        </p:nvSpPr>
        <p:spPr>
          <a:xfrm>
            <a:off x="3593592" y="1664208"/>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信誓旦旦</a:t>
            </a:r>
            <a:endParaRPr lang="en-US" sz="2000" dirty="0"/>
          </a:p>
        </p:txBody>
      </p:sp>
      <p:sp>
        <p:nvSpPr>
          <p:cNvPr id="10" name="Shape 8"/>
          <p:cNvSpPr/>
          <p:nvPr/>
        </p:nvSpPr>
        <p:spPr>
          <a:xfrm>
            <a:off x="6181344" y="1536192"/>
            <a:ext cx="2487168" cy="841248"/>
          </a:xfrm>
          <a:prstGeom prst="roundRect">
            <a:avLst>
              <a:gd name="adj" fmla="val 4348"/>
            </a:avLst>
          </a:prstGeom>
          <a:solidFill>
            <a:srgbClr val="FFFCF7"/>
          </a:solidFill>
          <a:ln w="13335">
            <a:solidFill>
              <a:srgbClr val="C5B39B"/>
            </a:solidFill>
            <a:prstDash val="solid"/>
          </a:ln>
        </p:spPr>
      </p:sp>
      <p:sp>
        <p:nvSpPr>
          <p:cNvPr id="11" name="Text 9"/>
          <p:cNvSpPr/>
          <p:nvPr/>
        </p:nvSpPr>
        <p:spPr>
          <a:xfrm>
            <a:off x="6309360" y="1664208"/>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桑之落矣</a:t>
            </a:r>
            <a:endParaRPr lang="en-US" sz="2000" dirty="0"/>
          </a:p>
        </p:txBody>
      </p:sp>
      <p:sp>
        <p:nvSpPr>
          <p:cNvPr id="12" name="Shape 10"/>
          <p:cNvSpPr/>
          <p:nvPr/>
        </p:nvSpPr>
        <p:spPr>
          <a:xfrm>
            <a:off x="8897112" y="1536192"/>
            <a:ext cx="2487168" cy="841248"/>
          </a:xfrm>
          <a:prstGeom prst="roundRect">
            <a:avLst>
              <a:gd name="adj" fmla="val 4348"/>
            </a:avLst>
          </a:prstGeom>
          <a:solidFill>
            <a:srgbClr val="FFFCF7"/>
          </a:solidFill>
          <a:ln w="13335">
            <a:solidFill>
              <a:srgbClr val="C5B39B"/>
            </a:solidFill>
            <a:prstDash val="solid"/>
          </a:ln>
        </p:spPr>
      </p:sp>
      <p:sp>
        <p:nvSpPr>
          <p:cNvPr id="13" name="Text 11"/>
          <p:cNvSpPr/>
          <p:nvPr/>
        </p:nvSpPr>
        <p:spPr>
          <a:xfrm>
            <a:off x="9025128" y="1664208"/>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泣涕涟涟</a:t>
            </a:r>
            <a:endParaRPr lang="en-US" sz="2000" dirty="0"/>
          </a:p>
        </p:txBody>
      </p:sp>
      <p:sp>
        <p:nvSpPr>
          <p:cNvPr id="14" name="Shape 12"/>
          <p:cNvSpPr/>
          <p:nvPr/>
        </p:nvSpPr>
        <p:spPr>
          <a:xfrm>
            <a:off x="749808" y="2670048"/>
            <a:ext cx="2487168" cy="841248"/>
          </a:xfrm>
          <a:prstGeom prst="roundRect">
            <a:avLst>
              <a:gd name="adj" fmla="val 4348"/>
            </a:avLst>
          </a:prstGeom>
          <a:solidFill>
            <a:srgbClr val="FFFCF7"/>
          </a:solidFill>
          <a:ln w="13335">
            <a:solidFill>
              <a:srgbClr val="C5B39B"/>
            </a:solidFill>
            <a:prstDash val="solid"/>
          </a:ln>
        </p:spPr>
      </p:sp>
      <p:sp>
        <p:nvSpPr>
          <p:cNvPr id="15" name="Text 13"/>
          <p:cNvSpPr/>
          <p:nvPr/>
        </p:nvSpPr>
        <p:spPr>
          <a:xfrm>
            <a:off x="877824" y="2798064"/>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反是不思</a:t>
            </a:r>
            <a:endParaRPr lang="en-US" sz="2000" dirty="0"/>
          </a:p>
        </p:txBody>
      </p:sp>
      <p:sp>
        <p:nvSpPr>
          <p:cNvPr id="16" name="Shape 14"/>
          <p:cNvSpPr/>
          <p:nvPr/>
        </p:nvSpPr>
        <p:spPr>
          <a:xfrm>
            <a:off x="3465576" y="2670048"/>
            <a:ext cx="2487168" cy="841248"/>
          </a:xfrm>
          <a:prstGeom prst="roundRect">
            <a:avLst>
              <a:gd name="adj" fmla="val 4348"/>
            </a:avLst>
          </a:prstGeom>
          <a:solidFill>
            <a:srgbClr val="FFFCF7"/>
          </a:solidFill>
          <a:ln w="13335">
            <a:solidFill>
              <a:srgbClr val="C5B39B"/>
            </a:solidFill>
            <a:prstDash val="solid"/>
          </a:ln>
        </p:spPr>
      </p:sp>
      <p:sp>
        <p:nvSpPr>
          <p:cNvPr id="17" name="Text 15"/>
          <p:cNvSpPr/>
          <p:nvPr/>
        </p:nvSpPr>
        <p:spPr>
          <a:xfrm>
            <a:off x="3593592" y="2798064"/>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桑之未落</a:t>
            </a:r>
            <a:endParaRPr lang="en-US" sz="2000" dirty="0"/>
          </a:p>
        </p:txBody>
      </p:sp>
      <p:sp>
        <p:nvSpPr>
          <p:cNvPr id="18" name="Shape 16"/>
          <p:cNvSpPr/>
          <p:nvPr/>
        </p:nvSpPr>
        <p:spPr>
          <a:xfrm>
            <a:off x="6181344" y="2670048"/>
            <a:ext cx="2487168" cy="841248"/>
          </a:xfrm>
          <a:prstGeom prst="roundRect">
            <a:avLst>
              <a:gd name="adj" fmla="val 4348"/>
            </a:avLst>
          </a:prstGeom>
          <a:solidFill>
            <a:srgbClr val="FFFCF7"/>
          </a:solidFill>
          <a:ln w="13335">
            <a:solidFill>
              <a:srgbClr val="C5B39B"/>
            </a:solidFill>
            <a:prstDash val="solid"/>
          </a:ln>
        </p:spPr>
      </p:sp>
      <p:sp>
        <p:nvSpPr>
          <p:cNvPr id="19" name="Text 17"/>
          <p:cNvSpPr/>
          <p:nvPr/>
        </p:nvSpPr>
        <p:spPr>
          <a:xfrm>
            <a:off x="6309360" y="2798064"/>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淇水再现</a:t>
            </a:r>
            <a:endParaRPr lang="en-US" sz="2000" dirty="0"/>
          </a:p>
        </p:txBody>
      </p:sp>
      <p:sp>
        <p:nvSpPr>
          <p:cNvPr id="20" name="Shape 18"/>
          <p:cNvSpPr/>
          <p:nvPr/>
        </p:nvSpPr>
        <p:spPr>
          <a:xfrm>
            <a:off x="8897112" y="2670048"/>
            <a:ext cx="2487168" cy="841248"/>
          </a:xfrm>
          <a:prstGeom prst="roundRect">
            <a:avLst>
              <a:gd name="adj" fmla="val 4348"/>
            </a:avLst>
          </a:prstGeom>
          <a:solidFill>
            <a:srgbClr val="FFFCF7"/>
          </a:solidFill>
          <a:ln w="13335">
            <a:solidFill>
              <a:srgbClr val="C5B39B"/>
            </a:solidFill>
            <a:prstDash val="solid"/>
          </a:ln>
        </p:spPr>
      </p:sp>
      <p:sp>
        <p:nvSpPr>
          <p:cNvPr id="21" name="Text 19"/>
          <p:cNvSpPr/>
          <p:nvPr/>
        </p:nvSpPr>
        <p:spPr>
          <a:xfrm>
            <a:off x="9025128" y="2798064"/>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言笑晏晏</a:t>
            </a:r>
            <a:endParaRPr lang="en-US" sz="2000" dirty="0"/>
          </a:p>
        </p:txBody>
      </p:sp>
      <p:sp>
        <p:nvSpPr>
          <p:cNvPr id="22" name="Shape 20"/>
          <p:cNvSpPr/>
          <p:nvPr/>
        </p:nvSpPr>
        <p:spPr>
          <a:xfrm>
            <a:off x="2107692" y="3803904"/>
            <a:ext cx="2487168" cy="841248"/>
          </a:xfrm>
          <a:prstGeom prst="roundRect">
            <a:avLst>
              <a:gd name="adj" fmla="val 4348"/>
            </a:avLst>
          </a:prstGeom>
          <a:solidFill>
            <a:srgbClr val="FFFCF7"/>
          </a:solidFill>
          <a:ln w="13335">
            <a:solidFill>
              <a:srgbClr val="C5B39B"/>
            </a:solidFill>
            <a:prstDash val="solid"/>
          </a:ln>
        </p:spPr>
      </p:sp>
      <p:sp>
        <p:nvSpPr>
          <p:cNvPr id="23" name="Text 21"/>
          <p:cNvSpPr/>
          <p:nvPr/>
        </p:nvSpPr>
        <p:spPr>
          <a:xfrm>
            <a:off x="2235708" y="3931920"/>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于嗟鸠兮</a:t>
            </a:r>
            <a:endParaRPr lang="en-US" sz="2000" dirty="0"/>
          </a:p>
        </p:txBody>
      </p:sp>
      <p:sp>
        <p:nvSpPr>
          <p:cNvPr id="24" name="Shape 22"/>
          <p:cNvSpPr/>
          <p:nvPr/>
        </p:nvSpPr>
        <p:spPr>
          <a:xfrm>
            <a:off x="4823460" y="3803904"/>
            <a:ext cx="2487168" cy="841248"/>
          </a:xfrm>
          <a:prstGeom prst="roundRect">
            <a:avLst>
              <a:gd name="adj" fmla="val 4348"/>
            </a:avLst>
          </a:prstGeom>
          <a:solidFill>
            <a:srgbClr val="FFFCF7"/>
          </a:solidFill>
          <a:ln w="13335">
            <a:solidFill>
              <a:srgbClr val="C5B39B"/>
            </a:solidFill>
            <a:prstDash val="solid"/>
          </a:ln>
        </p:spPr>
      </p:sp>
      <p:sp>
        <p:nvSpPr>
          <p:cNvPr id="25" name="Text 23"/>
          <p:cNvSpPr/>
          <p:nvPr/>
        </p:nvSpPr>
        <p:spPr>
          <a:xfrm>
            <a:off x="4951476" y="3931920"/>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老｜老</a:t>
            </a:r>
            <a:endParaRPr lang="en-US" sz="2000" dirty="0"/>
          </a:p>
        </p:txBody>
      </p:sp>
      <p:sp>
        <p:nvSpPr>
          <p:cNvPr id="26" name="Shape 24"/>
          <p:cNvSpPr/>
          <p:nvPr/>
        </p:nvSpPr>
        <p:spPr>
          <a:xfrm>
            <a:off x="7539228" y="3803904"/>
            <a:ext cx="2487168" cy="841248"/>
          </a:xfrm>
          <a:prstGeom prst="roundRect">
            <a:avLst>
              <a:gd name="adj" fmla="val 4348"/>
            </a:avLst>
          </a:prstGeom>
          <a:solidFill>
            <a:srgbClr val="FFFCF7"/>
          </a:solidFill>
          <a:ln w="13335">
            <a:solidFill>
              <a:srgbClr val="C5B39B"/>
            </a:solidFill>
            <a:prstDash val="solid"/>
          </a:ln>
        </p:spPr>
      </p:sp>
      <p:sp>
        <p:nvSpPr>
          <p:cNvPr id="27" name="Text 25"/>
          <p:cNvSpPr/>
          <p:nvPr/>
        </p:nvSpPr>
        <p:spPr>
          <a:xfrm>
            <a:off x="7667244" y="3931920"/>
            <a:ext cx="2231136" cy="585216"/>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夙兴夜寐</a:t>
            </a:r>
            <a:endParaRPr lang="en-US" sz="2000" dirty="0"/>
          </a:p>
        </p:txBody>
      </p:sp>
      <p:sp>
        <p:nvSpPr>
          <p:cNvPr id="28" name="Text 26"/>
          <p:cNvSpPr/>
          <p:nvPr/>
        </p:nvSpPr>
        <p:spPr>
          <a:xfrm>
            <a:off x="914400" y="5623560"/>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先自己分；不要猜老师准备了几类。</a:t>
            </a:r>
            <a:endParaRPr lang="en-US" sz="2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看看黑板上你们自己的分法</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哪些其实在看同一种写法？</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哪些材料还混在一起？</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只用原诗说明。</a:t>
            </a:r>
            <a:endParaRPr lang="en-US" sz="27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六章叙事推进</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桑叶比兴与前后对照</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词句复现、回环与反折</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四言节奏、叠词与声音</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每一类都要带一处原诗，也要说它怎样改变故事或声音。</a:t>
            </a:r>
            <a:endParaRPr lang="en-US" sz="2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四类都先留下一个原诗例子</a:t>
            </a:r>
            <a:endParaRPr lang="en-US" sz="3400" dirty="0"/>
          </a:p>
        </p:txBody>
      </p:sp>
      <p:sp>
        <p:nvSpPr>
          <p:cNvPr id="6" name="Shape 4"/>
          <p:cNvSpPr/>
          <p:nvPr/>
        </p:nvSpPr>
        <p:spPr>
          <a:xfrm>
            <a:off x="804672" y="1691640"/>
            <a:ext cx="2468880" cy="1417320"/>
          </a:xfrm>
          <a:prstGeom prst="roundRect">
            <a:avLst>
              <a:gd name="adj" fmla="val 2581"/>
            </a:avLst>
          </a:prstGeom>
          <a:solidFill>
            <a:srgbClr val="FFFCF7"/>
          </a:solidFill>
          <a:ln w="13335">
            <a:solidFill>
              <a:srgbClr val="A67F4A"/>
            </a:solidFill>
            <a:prstDash val="solid"/>
          </a:ln>
        </p:spPr>
      </p:sp>
      <p:sp>
        <p:nvSpPr>
          <p:cNvPr id="7" name="Text 5"/>
          <p:cNvSpPr/>
          <p:nvPr/>
        </p:nvSpPr>
        <p:spPr>
          <a:xfrm>
            <a:off x="987552"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叙事</a:t>
            </a:r>
            <a:endParaRPr lang="en-US" sz="2200" dirty="0"/>
          </a:p>
        </p:txBody>
      </p:sp>
      <p:sp>
        <p:nvSpPr>
          <p:cNvPr id="8" name="Shape 6"/>
          <p:cNvSpPr/>
          <p:nvPr/>
        </p:nvSpPr>
        <p:spPr>
          <a:xfrm>
            <a:off x="3621024" y="1691640"/>
            <a:ext cx="2468880" cy="1417320"/>
          </a:xfrm>
          <a:prstGeom prst="roundRect">
            <a:avLst>
              <a:gd name="adj" fmla="val 2581"/>
            </a:avLst>
          </a:prstGeom>
          <a:solidFill>
            <a:srgbClr val="FFFCF7"/>
          </a:solidFill>
          <a:ln w="13335">
            <a:solidFill>
              <a:srgbClr val="657653"/>
            </a:solidFill>
            <a:prstDash val="solid"/>
          </a:ln>
        </p:spPr>
      </p:sp>
      <p:sp>
        <p:nvSpPr>
          <p:cNvPr id="9" name="Text 7"/>
          <p:cNvSpPr/>
          <p:nvPr/>
        </p:nvSpPr>
        <p:spPr>
          <a:xfrm>
            <a:off x="3803904"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比兴与对照</a:t>
            </a:r>
            <a:endParaRPr lang="en-US" sz="2200" dirty="0"/>
          </a:p>
        </p:txBody>
      </p:sp>
      <p:sp>
        <p:nvSpPr>
          <p:cNvPr id="10" name="Shape 8"/>
          <p:cNvSpPr/>
          <p:nvPr/>
        </p:nvSpPr>
        <p:spPr>
          <a:xfrm>
            <a:off x="6437376" y="1691640"/>
            <a:ext cx="2468880" cy="1417320"/>
          </a:xfrm>
          <a:prstGeom prst="roundRect">
            <a:avLst>
              <a:gd name="adj" fmla="val 2581"/>
            </a:avLst>
          </a:prstGeom>
          <a:solidFill>
            <a:srgbClr val="FFFCF7"/>
          </a:solidFill>
          <a:ln w="13335">
            <a:solidFill>
              <a:srgbClr val="446E78"/>
            </a:solidFill>
            <a:prstDash val="solid"/>
          </a:ln>
        </p:spPr>
      </p:sp>
      <p:sp>
        <p:nvSpPr>
          <p:cNvPr id="11" name="Text 9"/>
          <p:cNvSpPr/>
          <p:nvPr/>
        </p:nvSpPr>
        <p:spPr>
          <a:xfrm>
            <a:off x="6620256"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复现与反折</a:t>
            </a:r>
            <a:endParaRPr lang="en-US" sz="2200" dirty="0"/>
          </a:p>
        </p:txBody>
      </p:sp>
      <p:sp>
        <p:nvSpPr>
          <p:cNvPr id="12" name="Shape 10"/>
          <p:cNvSpPr/>
          <p:nvPr/>
        </p:nvSpPr>
        <p:spPr>
          <a:xfrm>
            <a:off x="9253728" y="1691640"/>
            <a:ext cx="2468880" cy="1417320"/>
          </a:xfrm>
          <a:prstGeom prst="roundRect">
            <a:avLst>
              <a:gd name="adj" fmla="val 2581"/>
            </a:avLst>
          </a:prstGeom>
          <a:solidFill>
            <a:srgbClr val="FFFCF7"/>
          </a:solidFill>
          <a:ln w="13335">
            <a:solidFill>
              <a:srgbClr val="725260"/>
            </a:solidFill>
            <a:prstDash val="solid"/>
          </a:ln>
        </p:spPr>
      </p:sp>
      <p:sp>
        <p:nvSpPr>
          <p:cNvPr id="13" name="Text 11"/>
          <p:cNvSpPr/>
          <p:nvPr/>
        </p:nvSpPr>
        <p:spPr>
          <a:xfrm>
            <a:off x="9436608"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节奏与声音</a:t>
            </a:r>
            <a:endParaRPr lang="en-US" sz="2200" dirty="0"/>
          </a:p>
        </p:txBody>
      </p:sp>
      <p:sp>
        <p:nvSpPr>
          <p:cNvPr id="14" name="Text 12"/>
          <p:cNvSpPr/>
          <p:nvPr/>
        </p:nvSpPr>
        <p:spPr>
          <a:xfrm>
            <a:off x="1005840" y="3977640"/>
            <a:ext cx="10149840" cy="457200"/>
          </a:xfrm>
          <a:prstGeom prst="rect">
            <a:avLst/>
          </a:prstGeom>
          <a:noFill/>
          <a:ln/>
        </p:spPr>
        <p:txBody>
          <a:bodyPr wrap="square" lIns="0" tIns="0" rIns="0" bIns="0" rtlCol="0" anchor="ctr"/>
          <a:lstStyle/>
          <a:p>
            <a:pPr algn="ctr" indent="0" marL="0">
              <a:buNone/>
            </a:pPr>
            <a:r>
              <a:rPr lang="en-US" sz="2700" b="1" dirty="0">
                <a:solidFill>
                  <a:srgbClr val="725260"/>
                </a:solidFill>
                <a:latin typeface="Noto Serif CJK SC" pitchFamily="34" charset="0"/>
                <a:ea typeface="Noto Serif CJK SC" pitchFamily="34" charset="-122"/>
                <a:cs typeface="Noto Serif CJK SC" pitchFamily="34" charset="-120"/>
              </a:rPr>
              <a:t>然后自选两类写深：</a:t>
            </a:r>
            <a:endParaRPr lang="en-US" sz="2700" dirty="0"/>
          </a:p>
        </p:txBody>
      </p:sp>
      <p:sp>
        <p:nvSpPr>
          <p:cNvPr id="15" name="Text 13"/>
          <p:cNvSpPr/>
          <p:nvPr/>
        </p:nvSpPr>
        <p:spPr>
          <a:xfrm>
            <a:off x="914400" y="470916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原诗｜写法｜它怎样改变人物故事或声音</a:t>
            </a:r>
            <a:endParaRPr 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79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读完《氓》</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一处改变最大的理解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一处最想带走的语言发现</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一个仍愿意追问的问题</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从“氓之蚩蚩”读到“亦已焉哉”</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语文备课系统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《氓》V6.6逐页功能重构课堂课件</dc:title>
  <dc:subject>《诗经·卫风·氓》逐页功能重构；79个可审查物理状态；无插图候选</dc:subject>
  <dc:creator>语文备课系统</dc:creator>
  <cp:lastModifiedBy>语文备课系统</cp:lastModifiedBy>
  <cp:revision>1</cp:revision>
  <dcterms:created xsi:type="dcterms:W3CDTF">2026-08-14T09:59:06Z</dcterms:created>
  <dcterms:modified xsi:type="dcterms:W3CDTF">2026-08-14T09:59:06Z</dcterms:modified>
</cp:coreProperties>
</file>
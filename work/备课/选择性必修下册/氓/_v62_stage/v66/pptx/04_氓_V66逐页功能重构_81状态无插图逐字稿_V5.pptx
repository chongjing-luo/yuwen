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notesMaster" Target="notesMasters/notesMaster1.xml"/><Relationship Id="rId84" Type="http://schemas.openxmlformats.org/officeDocument/2006/relationships/presProps" Target="presProps.xml"/><Relationship Id="rId85" Type="http://schemas.openxmlformats.org/officeDocument/2006/relationships/viewProps" Target="viewProps.xml"/><Relationship Id="rId86" Type="http://schemas.openxmlformats.org/officeDocument/2006/relationships/theme" Target="theme/theme1.xml"/><Relationship Id="rId8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【V6.6物理画面】O01-A｜300秒
【本画面为何存在】
让每个人从自己的阅读经历中先得到至少一条可说材料，并尽量扩大爱情与婚姻文学的篇目和主题范围。
【学生此刻看见】
我们还记得哪些爱情与婚姻故事？｜从小学想到高中：课文、小说、整本书……｜篇名｜用一句话唤回故事｜它写到爱情或婚姻中的什么？｜先写你真正记得的一篇；想起新的，再添下去。
【教师逐字稿】
今天先不急着翻到新课。请从小学一直想到高中：语文课文、小说、整本书里，哪些作品写过爱情，哪些写过婚姻？先写篇名，再用一句平常话把故事唤回来；最后写它谈到爱情或婚姻中的什么。这里不需要分析得很深，也没有三篇规定答案。真正记得什么，就先写什么。现在安静两分半。（教师不报篇名，退到后排巡视。）一时想不起，可以翻本班读过的篇目目录；只记得情节，也先留下情节。时间到，我会请大家把纸翻面一瞬，封住这一刻真正想起的内容，然后再与同学说。
【舞台动作】
（教师从零篇名开场）
（学生独立检索并静写）
（教师后排巡视而不报答案）
（学生封存个人首答）
（切到同伴互说）
【本画面时间盒】
说明三个落点：45秒；个人静默检索：165秒；补写和时间封存：60秒；转场：30秒
【现场分支】
一时想不起作品：允许翻看本班读过的篇目目录；只记得情节，也先留下真实情节。
只能想起篇名：先写最确定的一点故事；主题可以暂写‘还说不准’，不借同伴答案补抄。
【听者任务】
此页没有听者任务；每个人先保护自己的文学记忆。
【证据位置】
O01文学回忆单；公共作品出现前的时间封存照片或翻面状态
【切页触发】
每个人手里先有了一点自己的文学记忆。现在说给身边的人听，也听听自己没有想到的故事。
【V6.6逻辑页】O01｜逻辑页1｜5分钟
【前页输入】
学生尚未看到教师或同伴提供的任何标准篇目。
【唯一困难】
少数快想者容易垄断导入，抽象问题又会使多数学生尚未开口便退出。
【唯一功能】
让每个人从自己的阅读经历中先得到至少一条可说材料，并尽量扩大爱情与婚姻文学的篇目和主题范围。
【文学对象】
[object Object]
【信息状态】
公共篇目和教师分类全部未知；首答态只显示三个自然落笔处。
【学生主动作】
检索篇名和一句故事；写它谈到爱情或婚姻中的什么
【参与路径】
全员个人静写；任何公共声音出现前封存个人首答。
【可见产物】
时间封存的个人文学回忆单
【教师作用】
本页教师零供给：不报任何篇名与主题词，退到后排巡视只确认个人非空白；公共声音出现前不归纳、不举例；封存指令后才转场。
【真实等待】
台词明示“安静两分半”（时间盒：说明45秒/个人静默检索165秒/补写与封存60秒/转场30秒）；检索期间教师零插话，封存动作（翻面一瞬）真实发生。
【反馈与本人修订】
本页为个人封存页，无反馈修订环节；补记发生在 O02——听见自己没想到的篇目时当场添进个人清单。
【首次后用】
O02同桌轮说和公共增量
【正常反例】
想不起→翻本班读过的篇目目录（台词已授权）；只记得情节→先留真实情节；主题拿不准→写“还说不准”，不借同桌答案补抄。
【主视觉职责】
一张真正可以落笔的文学记忆纸
【插图资格】
禁止：图像会预列作品或主题。
【第一人称接收】
我从自己的阅读经历中想起了作品、故事和一个朴素主题；这些不是老师替我列出的。
【故事回接】
本页未入《氓》叙事；回接为：每人手里先有了一点自己的爱情/婚姻故事记忆，O02 将其长成全班文学版图，成为后文对照《氓》的底色（S06 回望时取回）。
【删除损失】
多数学生失去独立检索时间，公共发言被快想者占据。
【相邻反证】
O02负责表达和扩展，不能替代O01不受同伴影响的个人检索。
【失败信号】
大量答案来自邻座刚说的篇名；主题栏复制教师抽象词；固定样本有效材料率低于90%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【V6.6物理画面】O02-A｜480秒
【本画面为何存在】
分别实现每个人低压开口和全班文学版图的广度，让作品与朴素主题从学生话语中相遇。
【学生此刻看见】
一间教室，能想起多少种爱情与婚姻？｜我想起《　　　　　》：它写了　　　　　　　　　｜听见一篇自己没有想到的，就把它添进自己的清单。
【教师逐字稿】
先和同桌互相说：‘《什么》写的是怎样的爱情或婚姻故事。’说的人可以看自己的纸，听的人只在没听清时问一句；一分钟后交换。（等待。）现在前后四个人依次说一圈，每个人都说完以前不选代表、不替别人总结。四个人说完，只留下两三条彼此不同的作品或主题。接下来每组只向全班带来一条增量：黑板上没有的篇目，或者同一篇不同的朴素主题。请先说篇名，再说那句自然话。我只把你们真正说出的篇名和关键词写到黑板上，此刻不分类。听见自己没想到的，请添进个人清单。若本组没有新增，可以如实说‘我们先听记’，不制造差异。
【舞台动作】
（接回个人封存清单）
（同桌依次说与听）
（四人全员轮说并保留差异）
（各组贡献一个公共增量）
（个人补记后切页）
【本画面时间盒】
同桌互说：95秒；四人依次轮说：150秒；公共增量和板书：190秒；个人补记：45秒
【现场分支】
本组没有新增：如实说‘我们先听记’，把别组新篇目补进个人清单，不制造虚假差异。
主题说得过深或过空：请先回到一句故事，再用‘它写到……’说一条朴素认识。
【听者任务】
听清篇名、那句故事和朴素主题；只补一篇自己没有想到的作品或一个真实不同的理解。
【证据位置】
O01新增栏；黑板篇名＋学生主题长卷
【切页触发】
先别擦掉这面黑板。我们沿着大家真正说出的故事，去听一位更早的女子怎样讲自己的相识与后来。
【V6.6逻辑页】O02｜逻辑页2｜8分钟
【前页输入】
每人已有一份公共声音出现前封存的文学回忆单。
【唯一困难】
串行点名会让多数人长时间等待并听见重复；只收小组卡又掩盖个人声音——本页困难是“人人真实开口”与“全班不被同义材料淹没”同时成立。
【唯一功能】
分别实现每个人低压开口和全班文学版图的广度，让作品与朴素主题从学生话语中相遇。
【文学对象】
[object Object]
【信息状态】
教师不预填篇目和分类；课堂只逐步暴露同伴真实作品。
【学生主动作】
同桌和四人组内每人说一篇；公共阶段只贡献一条增量并补记新作品
【参与路径】
个人材料→同桌并行→四人全员轮说→每组一个公共增量→教师后置记录。
【可见产物】
黑板文学长卷和个人新增栏
【教师作用】
教师只把学生真正说出的篇名与关键词写上黑板、当场不分类不补篇；每组一条增量后才以“我们先听记”承认无新增组；归纳延迟到 O03。
【真实等待】
同桌互说95秒内零插话；四人按可见顺序轮说150秒、说完前不选代表；公共增量190秒逐组一条；个人补记45秒（时间盒明示）。
【反馈与本人修订】
听见自己没有想到的篇目或主题→当场补进 O01 单的新增栏；本组无新增→如实“先听记”后补记别组新篇目。
【首次后用】
O03教师引用并揭题；S04回投
【正常反例】
无新增组如实说“我们先听记”，不制造虚假差异；主题说过深或过空→被拉回“一句故事＋它写到什么”。
【主视觉职责】
一句自然表达入口；真正主视觉为现场黑板长卷
【插图资格】
禁止：现场学生作品是主视觉。
【第一人称接收】
我完整说过一篇，也从同学那里补到自己没有想到的作品或主题。
【故事回接】
黑板长卷是全班的爱情婚姻记忆版图；切页句完成回接：“沿着大家真正说出的故事，去听一位更早的女子怎样讲她的相识与后来”——O03 从这面黑板聚焦《氓》。
【删除损失】
失去全员声音或公共文学广度。
【相邻反证】
O01只能证明个人检索，O03只负责教师归纳；本页不可由两者代替。
【失败信号】
组长包办；四人未轮说便形成公共答案；公共材料少于8部作品或5个主题方向；教师提前分类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【V6.6物理画面】O03-A｜180秒
【本画面为何存在】
教师用现场文学长卷完成后置归纳，再从众多旧作聚焦到一位先秦女子的声音，完成题名、正音和出处。
【学生此刻看见】
氓｜méng｜《诗经·卫风》
【教师逐字稿】
请先把目光留在黑板上。（投影熄暗。）我从现场长卷里选三条彼此不同的材料来读：‘《____》写的是____’，‘《____》写的是____’，‘《____》还写到了____’。如果这些不是你们刚才的原话，请立刻纠正我。（停顿，按学生纠正改写。）我们今天想起的爱情与婚姻故事远不止一种，我不拿预先准备的词替它们分类；只把你们真正说出的几条线索圈出来。现在再听一个更早的故事：一位女子从相识讲到婚后的后来。（切题名页，停两秒。）题目只有一个字——氓。这个字在这里读méng，收在《诗经·卫风》里。请在题名旁写下读音，找到第一句‘氓之蚩蚩’。
【舞台动作】
（投影熄暗并回看现场长卷）
（教师引用三条学生原话）
（学生纠正教师事实误记）
（切出题名并正音）
（全员定位首句）
【本画面时间盒】
黑板引用和纠错：100秒；拍照、揭题与正音：50秒；定位首句：30秒
【现场分支】
教师误记篇名或主题：立即请原发言者纠正，并当场改写黑板，不用教师概括覆盖学生原话。
学生把氓读成máng：只校准本篇题名读méng，并请学生在题名旁补音后再定位首句。
【听者任务】
核对教师是否准确引用本班篇目和主题；随后读准题名并定位首句。
【证据位置】
黑板主题谱照片；教材题名旁注音
【切页触发】
先给这首诗一个最小的来处，再让她不被打断地把六章说完。
【V6.6逻辑页】O03｜逻辑页3｜3分钟
【前页输入】
黑板长卷已在（O02 产物，含每组增量）；每人清单带新增栏；学生尚未见过课题、注音与出处。
【唯一困难】
学生刚经历大量同伴声音，注意力仍在“量”上；困难是教师准确引用现场原话把长卷归属给本班，再聚焦到一位先秦女子的声音而不丢弃刚才的成果。
【唯一功能】
教师用现场文学长卷完成后置归纳，再从众多旧作聚焦到一位先秦女子的声音，完成题名、正音和出处。
【文学对象】
[object Object]
【信息状态】
归纳时投影熄暗，不以预制PPT覆盖现场；揭题时只暴露题名、读音和出处。
【学生主动作】
核对教师是否准确引用本班材料；读准méng并定位首句
【参与路径】
全班核对教师引用是否为本班原话（纠错即参与）→齐读正音一次；本页无小组环节，个人以“核对者”身份在场。
【可见产物】
主题谱照片和题名旁注音
【教师作用】
后置归纳：只从长卷选三条彼此不同的材料朗读，按学生当场纠正改写；不引入任何预备例子；正音 méng、板书“《诗经·卫风》”，不讲作者生平。
【真实等待】
三条引用后停顿等纠错（台词明示“如果这些不是你们刚才的原话，请立刻纠正我”）；正音后即转场，无展开讲解的停留。
【反馈与本人修订】
学生只纠正教师对现场篇名和主题的事实误记；教师当场改写。
【首次后用】
O04文化定位和O05起读
【正常反例】
被引用的学生可否认或修正自己的原话；无话可纠的学生只需目视黑板核对；注音后读不准不追读，后文跟读中自然校正。
【主视觉职责】
先由黑板长卷主导，再切换为题名和留白
【插图资格】
禁止：人物图会提前规定讲述者和悲剧主题。
【第一人称接收】
我看见本班文学回忆被准确保存，也知道新故事叫《氓》、读méng、出自《诗经·卫风》。
【故事回接】
题名与“她自己说”确立叙事主体：接下来六章由这位女子第一人称讲完（切页句“让她不被打断地把六章说完”）。
【删除损失】
导入成为篇目堆积，揭题与现场发言断裂。
【相邻反证】
只有本页把导入的真实公共作品接到新文本；独立抽象转场页已经删除。
【失败信号】
教师引用了不在黑板上的篇目（=预填）；正音后学生仍读 máng；长卷未拍照留档即被擦除（S06 回望失去对照物）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【V6.6物理画面】O04-A｜180秒
【本画面为何存在】
在不打断初听的前提下，给学生阅读《氓》所需的最低文化坐标，并只点名后文会亲自遇见的赋、比、兴。
【学生此刻看见】
《诗经》｜我国第一部诗歌总集｜305篇｜西周初年至春秋中叶｜风　雅　颂｜《氓》在《卫风》里｜赋、比、兴——先记住名字，后面会真正遇见。
【教师逐字稿】
翻开课文前，只给《氓》一个最小的来处。《诗经》是我国第一部诗歌总集，现存三百零五篇，作品大致产生于西周初年至春秋中叶。传统上分为风、雅、颂；《氓》在十五国风的《卫风》中。古人还用赋、比、兴谈《诗经》的写法。今天此刻只记住这三个名字，不背定义；读到第三章时，我们会亲自听见‘兴’怎样发生。请在题名旁只留下‘诗经—卫风—氓’这条归属，不抄整页。
【舞台动作】
（题名页后给最低文化坐标）
（教师短讲而不展开百科）
（学生只做归属批注）
（教师巡视真实错项）
（立即回到全文初读）
【本画面时间盒】
最低文化坐标微讲：115秒；学生归属批注：35秒；回到讲述者：30秒
【现场分支】
学生追问为何又称诗三百：说明‘诗三百’是概称，现存篇数按课堂口径记305篇；不在此页展开版本学。
已有知识与本页表述不同：先核对教材和本课口径，只修归属事实；其余差异记录为课后追问。
【听者任务】
听清作品身份和归属；赋、比、兴只记名字，不提前抄定义。
【证据位置】
教材题名旁的‘诗经—卫风—氓’归属批注
【切页触发】
来处已经清楚。现在不再介绍，让她从第一句讲到最后一句。
【V6.6逻辑页】O04｜逻辑页4｜3分钟
【前页输入】
学生已经知道题名、读音和《诗经·卫风》出处，但没有系统文化坐标。
【唯一困难】
没有最低文化坐标，学生会把《氓》当作孤立古诗；背景过多又会压过讲述者的声音。
【唯一功能】
在不打断初听的前提下，给学生阅读《氓》所需的最低文化坐标，并只点名后文会亲自遇见的赋、比、兴。
【文学对象】
[object Object]
【信息状态】
只揭示最低事实和术语名称；比兴定义及本诗例子保持未知。
【学生主动作】
听取必要文化微讲；在题下注记诗经—卫风—氓的归属
【参与路径】
教师必要微讲；全员完成一个最低成本的归属批注。
【可见产物】
题名旁的归属批注
【教师作用】
准确说明第一部诗歌总集、305篇、大致年代、风雅颂和篇目归属；不展开无关百科。
【真实等待】
微讲后留35秒完成批注并巡视真实错项。
【反馈与本人修订】
学生只修正归属批注；更完整知识在S05A合书检索后修复。
【首次后用】
C303B命名兴；S05A合书检索
【正常反例】
已有相关知识者不额外抄写；有不同教材表述时以本课教材和课程常用表述校准。
【主视觉职责】
诗经—卫风—氓的简洁归属关系
【插图资格】
禁止：古籍装饰不能增加当前理解。
【第一人称接收】
我知道《氓》在《诗经·卫风》中，也知道赋、比、兴要等到原诗里再理解。
【故事回接】
微讲立即结束，回到女子第一人称六章讲述。
【删除损失】
初读失去作品身份，结尾检索变成第一次讲授。
【相邻反证】
题名页无法同时承担文化坐标；结尾检索不能作为第一次讲授。
【失败信号】
背景微讲超过三分钟；学生抄百科表格；提前讲完比兴答案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【V6.6物理画面】O05-B1｜65秒
【本画面为何存在】
让第一章以可供后排阅读的完整画面进入，朗读不被解释打断。
【学生此刻看见】
她自己说｜第一章｜氓之蚩蚩，抱布贸丝。匪来贸丝，来即我谋。｜送子涉淇，至于顿丘。匪我愆期，子无良媒。｜将子无怒，秋以为期。
【教师逐字稿】
现在让第一章完整响起。眼睛跟着屏幕，暂时不要翻注释，也不解释人物。请从‘氓之蚩蚩’读到‘秋以为期’。读完只在教材旁点一个真正停住你的地方；没有停点也可以不画。（领读第一章，末句后停三秒。）不要讨论，声音继续往第二章走。
【舞台动作】
（承接前一画面）
（说出本页唯一邀请）
（真实等待或处理现场作品）
（在答案越界前切页）
【本画面时间盒】
说明初听方式：10秒；完整朗读第一章：45秒；留下停点并切页：10秒
【现场分支】
跟丢诗行：不倒回讲解；请从教师正在读的这一行重新跟上，停点留在真正重新进入的位置。
提前翻注释：轻声提醒先让整章响完；生词只留问号，细读时再处理。
【听者任务】
跟住第一章声音，只留一个真实停点。
【证据位置】
教材第一章旁的停点或问号
【切页触发】
她已经定下秋天。接着听她怎样等待。
【V6.6逻辑页】O05｜逻辑页5｜3分钟
【前页输入】
学生知道作品来处，但尚未收到人物主题和三问框架。
【唯一困难】
初次见面即逐句讲解会把完整声音切碎；困难是让前三章作为声音整体被接收——学生只留停点，不理解任务、不留答案。
【唯一功能】
不中断地接收第一至三章，让初见、等待、迁嫁和劝告先作为声音发生。
【文学对象】
氓之蚩蚩，抱布贸丝,匪来贸丝，来即我谋,送子涉淇，至于顿丘,匪我愆期，子无良媒,将子无怒，秋以为期,乘彼垝垣，以望复关,不见复关，泣涕涟涟,既见复关，载笑载言,尔卜尔筮，体无咎言,以尔车来，以我贿迁,桑之未落，其叶沃若,于嗟鸠兮，无食桑葚,于嗟女兮，无与士耽,士之耽兮，犹可说也,女之耽兮，不可说也
【信息状态】
只暴露原诗声音；主题、章意和知识解释保持未知。
【学生主动作】
眼随声走；只在真实停顿处留点或问号
【参与路径】
个人与文本独处：静听＋教材旁留点/问号；本页无任何交流环节，停点不收集、不比较。
【可见产物】
教材停点
【教师作用】
朗读载体：教师连续听读承载节奏，零讲解零提问；声速与停顿本身就是本页唯一的教学行为。
【真实等待】
三分钟连续朗读零插话（时间盒：朗读全程）；停点标记随听随点、不打断跟读。
【反馈与本人修订】
本页无修订；停点将在 O07 被取回转化为文字（初听卡）。
【首次后用】
O06无声接续
【正常反例】
没有停顿处“也只管继续听”（台词已含）；全篇无停点的学生如实不留标记，不造点。
【主视觉职责】
第一至三章原诗
【插图资格】
无
【第一人称接收】
我完整听完了第一至三章；在某句旁留下了自己的停点或问号；我知道那是我停下的地方，不是老师规定的重点。
【故事回接】
声音层面经历初见→等待→迁嫁→劝告（一至三章事件在听中发生）；为 O06 后半段的婚变转折蓄势。
【删除损失】
删除会失去开放接收
【相邻反证】
O05 与 O06 是一次不间断全文首读的两段物理承接（切页句“无声切页，朗读不断”）；若并入 O06，三章后的自然换气点与听者确认停点的时点消失。
【失败信号】
朗读被打断插入讲解；停点被教师收集比较（变成任务）；教师预告后三章内容（剧透）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【V6.6物理画面】O05-B2｜60秒
【本画面为何存在】
让第二章以可供后排阅读的完整画面接续，保持女子讲述的声音。
【学生此刻看见】
她自己说｜第二章｜乘彼垝垣，以望复关。不见复关，泣涕涟涟。｜既见复关，载笑载言。尔卜尔筮，体无咎言。｜以尔车来，以我贿迁。
【教师逐字稿】
第二章接着来，不回头讲第一章。请从‘乘彼垝垣’读到‘以我贿迁’。注意不见与既见之间，声音怎样从哭转向笑；此刻只听，不下结论。（完整朗读。）在真正听见变化的词旁轻轻一点，我们继续。
【舞台动作】
（承接前一画面）
（说出本页唯一邀请）
（真实等待或处理现场作品）
（在答案越界前切页）
【本画面时间盒】
承接与进入：8秒；完整朗读第二章：44秒；停点与切页：8秒
【现场分支】
在垝垣、卜筮处读音卡顿：先在字旁留问号，跟住当前句；本遍不为释词中断女子的声音。
只顾圈词而错过后句：停笔，从教师此刻所在的句子重新跟读；不补画并未真正听见的停点。
【听者任务】
听见第二章哭与笑的转折，不分析原因。
【证据位置】
教材第二章停点
【切页触发】
婚事走到迁嫁，第三章却先出现一树桑叶。
【V6.6逻辑页】O05｜逻辑页5｜3分钟
【前页输入】
学生知道作品来处，但尚未收到人物主题和三问框架。
【唯一困难】
初次见面即逐句讲解会把完整声音切碎；困难是让前三章作为声音整体被接收——学生只留停点，不理解任务、不留答案。
【唯一功能】
不中断地接收第一至三章，让初见、等待、迁嫁和劝告先作为声音发生。
【文学对象】
氓之蚩蚩，抱布贸丝,匪来贸丝，来即我谋,送子涉淇，至于顿丘,匪我愆期，子无良媒,将子无怒，秋以为期,乘彼垝垣，以望复关,不见复关，泣涕涟涟,既见复关，载笑载言,尔卜尔筮，体无咎言,以尔车来，以我贿迁,桑之未落，其叶沃若,于嗟鸠兮，无食桑葚,于嗟女兮，无与士耽,士之耽兮，犹可说也,女之耽兮，不可说也
【信息状态】
只暴露原诗声音；主题、章意和知识解释保持未知。
【学生主动作】
眼随声走；只在真实停顿处留点或问号
【参与路径】
个人与文本独处：静听＋教材旁留点/问号；本页无任何交流环节，停点不收集、不比较。
【可见产物】
教材停点
【教师作用】
朗读载体：教师连续听读承载节奏，零讲解零提问；声速与停顿本身就是本页唯一的教学行为。
【真实等待】
三分钟连续朗读零插话（时间盒：朗读全程）；停点标记随听随点、不打断跟读。
【反馈与本人修订】
本页无修订；停点将在 O07 被取回转化为文字（初听卡）。
【首次后用】
O06无声接续
【正常反例】
没有停顿处“也只管继续听”（台词已含）；全篇无停点的学生如实不留标记，不造点。
【主视觉职责】
第一至三章原诗
【插图资格】
无
【第一人称接收】
我完整听完了第一至三章；在某句旁留下了自己的停点或问号；我知道那是我停下的地方，不是老师规定的重点。
【故事回接】
声音层面经历初见→等待→迁嫁→劝告（一至三章事件在听中发生）；为 O06 后半段的婚变转折蓄势。
【删除损失】
删除会失去开放接收
【相邻反证】
O05 与 O06 是一次不间断全文首读的两段物理承接（切页句“无声切页，朗读不断”）；若并入 O06，三章后的自然换气点与听者确认停点的时点消失。
【失败信号】
朗读被打断插入讲解；停点被教师收集比较（变成任务）；教师预告后三章内容（剧透）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【V6.6物理画面】O05-B3｜55秒
【本画面为何存在】
让第三章的桑叶与劝告完整落下，并无声接入后半首。
【学生此刻看见】
她自己说｜第三章｜桑之未落，其叶沃若。于嗟鸠兮，无食桑葚！｜于嗟女兮，无与士耽！士之耽兮，犹可说也。｜女之耽兮，不可说也！
【教师逐字稿】
现在读第三章。让桑叶、斑鸠和劝告先作为声音来到耳边，不急着说比兴。请从‘桑之未落’读到‘不可说也’。（完整朗读，末句稍停。）如果有一句让你忽然听见警告，只在旁边画一个小点；后半首马上接上。
【舞台动作】
（承接前一画面）
（说出本页唯一邀请）
（真实等待或处理现场作品）
（在答案越界前切页）
【本画面时间盒】
进入第三章：8秒；完整朗读第三章：40秒；末句停留与切页：7秒
【现场分支】
提前喊出比兴：先把术语写在页边，不展开；这一遍只听桑叶、斑鸠和女子依次怎样出现。
无食、无与读成现代否定：只在字旁留问号并继续；细读第三章时再校准，不截断初听。
【听者任务】
听物象和劝告怎样相继出现。
【证据位置】
教材第三章停点
【切页触发】
警告落下以后，第四章开始讲婚后的日子。
【V6.6逻辑页】O05｜逻辑页5｜3分钟
【前页输入】
学生知道作品来处，但尚未收到人物主题和三问框架。
【唯一困难】
初次见面即逐句讲解会把完整声音切碎；困难是让前三章作为声音整体被接收——学生只留停点，不理解任务、不留答案。
【唯一功能】
不中断地接收第一至三章，让初见、等待、迁嫁和劝告先作为声音发生。
【文学对象】
氓之蚩蚩，抱布贸丝,匪来贸丝，来即我谋,送子涉淇，至于顿丘,匪我愆期，子无良媒,将子无怒，秋以为期,乘彼垝垣，以望复关,不见复关，泣涕涟涟,既见复关，载笑载言,尔卜尔筮，体无咎言,以尔车来，以我贿迁,桑之未落，其叶沃若,于嗟鸠兮，无食桑葚,于嗟女兮，无与士耽,士之耽兮，犹可说也,女之耽兮，不可说也
【信息状态】
只暴露原诗声音；主题、章意和知识解释保持未知。
【学生主动作】
眼随声走；只在真实停顿处留点或问号
【参与路径】
个人与文本独处：静听＋教材旁留点/问号；本页无任何交流环节，停点不收集、不比较。
【可见产物】
教材停点
【教师作用】
朗读载体：教师连续听读承载节奏，零讲解零提问；声速与停顿本身就是本页唯一的教学行为。
【真实等待】
三分钟连续朗读零插话（时间盒：朗读全程）；停点标记随听随点、不打断跟读。
【反馈与本人修订】
本页无修订；停点将在 O07 被取回转化为文字（初听卡）。
【首次后用】
O06无声接续
【正常反例】
没有停顿处“也只管继续听”（台词已含）；全篇无停点的学生如实不留标记，不造点。
【主视觉职责】
第一至三章原诗
【插图资格】
无
【第一人称接收】
我完整听完了第一至三章；在某句旁留下了自己的停点或问号；我知道那是我停下的地方，不是老师规定的重点。
【故事回接】
声音层面经历初见→等待→迁嫁→劝告（一至三章事件在听中发生）；为 O06 后半段的婚变转折蓄势。
【删除损失】
删除会失去开放接收
【相邻反证】
O05 与 O06 是一次不间断全文首读的两段物理承接（切页句“无声切页，朗读不断”）；若并入 O06，三章后的自然换气点与听者确认停点的时点消失。
【失败信号】
朗读被打断插入讲解；停点被教师收集比较（变成任务）；教师预告后三章内容（剧透）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【V6.6物理画面】O06-B4｜50秒
【本画面为何存在】
让第四章的多年贫困、渡水与责任判断完整进入。
【学生此刻看见】
她自己说｜第四章｜桑之落矣，其黄而陨。自我徂尔，三岁食贫。｜淇水汤汤，渐车帷裳。女也不爽，士贰其行。｜士也罔极，二三其德。
【教师逐字稿】
朗读不中断，接第四章。请从‘桑之落矣’读到‘二三其德’。这一遍只让多年贫困、渡水和两个人的行为进入，不解释责任术语。（完整朗读。）在一句最难顺下来的地方留问号，然后切到第五章。
【舞台动作】
（承接前一画面）
（说出本页唯一邀请）
（真实等待或处理现场作品）
（在答案越界前切页）
【本画面时间盒】
无声承接：5秒；完整朗读第四章：38秒；留问号与切页：7秒
【现场分支】
在汤汤、渐处卡住：给生字留问号，从‘女也不爽’重新跟上；本遍不断开讲词。
提前评价谁对谁错：把判断暂写在诗边，继续听到‘二三其德’以后；责任要在逐句细读中核验。
【听者任务】
跟住第四章人物主体，不抢答责任判断。
【证据位置】
教材第四章问号或停点
【切页触发】
多年生活还会被拆成每一天。
【V6.6逻辑页】O06｜逻辑页6｜3分钟
【前页输入】
前三章已经连续响过，朗读不因换页停止。
【唯一困难】
后三章情绪急转（劳苦、受暴、决绝），困难是让声音把转折带完而不被提前解释；“亦已焉哉”需要完整落下的空间。
【唯一功能】
无缝接收第四至六章并让末句落下。
【文学对象】
桑之落矣，其黄而陨,自我徂尔，三岁食贫,淇水汤汤，渐车帷裳,女也不爽，士贰其行,士也罔极，二三其德,三岁为妇，靡室劳矣,夙兴夜寐，靡有朝矣,言既遂矣，至于暴矣,兄弟不知，咥其笑矣,静言思之，躬自悼矣,及尔偕老，老使我怨,淇则有岸，隰则有泮,总角之宴，言笑晏晏,信誓旦旦，不思其反,反是不思，亦已焉哉
【信息状态】
只继续暴露原诗，末句后保持十五秒无解释静默。
【学生主动作】
继续听读；末句后确认停点
【参与路径】
继续个人静听；末句后默数自己的停点数（为 O07 选句做准备），无交流环节。
【可见产物】
教材停点
【教师作用】
延续同一朗读声不换节奏；末句后完全静默切页，绝不接“这首诗表达了……”式总结。
【真实等待】
三分钟连续朗读零插话；末句后停顿至切页句出现，期间教师零语言。
【反馈与本人修订】
本页无修订；停点在下一页转化为初听卡文字。
【首次后用】
O07取回
【正常反例】
无停点的学生等末句落下即可，不强制造句；跟不上朗读速度的学生听完全程即算完成。
【主视觉职责】
第四至六章原诗
【插图资格】
无
【第一人称接收】
我听完了全诗六章；末句落下后，我能指出一句最留住我的句子，并知道它在第几章。
【故事回接】
声音层面完成婚变→决绝；切页句把全诗第一次完整经历交给学生：“把第一次听见的《氓》，留在纸上”。
【删除损失】
删除会把全诗压成婚前故事
【相邻反证】
与 O05 合并则一次首读的物理承接与换气点消失；与 O07 合并则末句落下后的静默书写被挤掉——三页各承担“声音上半/声音下半/起点文字化”。
【失败信号】
末句后教师立即总结主题；后半朗读节奏与前半不一致（声音断裂）；学生被要求当场分享停点（应留到O07）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【V6.6物理画面】O06-B5｜50秒
【本画面为何存在】
让第五章的日复一日、外部笑声与内心悲悼完整进入。
【学生此刻看见】
她自己说｜第五章｜三岁为妇，靡室劳矣。夙兴夜寐，靡有朝矣。｜言既遂矣，至于暴矣。兄弟不知，咥其笑矣。｜静言思之，躬自悼矣。
【教师逐字稿】
第五章继续。请从‘三岁为妇’读到‘躬自悼矣’。先听一天怎样重复，外面的笑声又怎样退到她独自的思量。（完整朗读。）不评论人物，只把一处声音变化留在教材上。
【舞台动作】
（承接前一画面）
（说出本页唯一邀请）
（真实等待或处理现场作品）
（在答案越界前切页）
【本画面时间盒】
进入第五章：6秒；完整朗读第五章：37秒；声音停点与切页：7秒
【现场分支】
夙兴夜寐与靡有朝错行：教师用手停在当前行，学生从这里重新进入；不回讲上一章。
咥的读音使全班停住：教师只给读音xì，立即接回原句；词义留待后文，不让声音链断开。
【听者任务】
听清外面的笑声与女子内心声音。
【证据位置】
教材第五章声音停点
【切页触发】
最后一章，她把旧愿、旧事和誓言重新放回眼前。
【V6.6逻辑页】O06｜逻辑页6｜3分钟
【前页输入】
前三章已经连续响过，朗读不因换页停止。
【唯一困难】
后三章情绪急转（劳苦、受暴、决绝），困难是让声音把转折带完而不被提前解释；“亦已焉哉”需要完整落下的空间。
【唯一功能】
无缝接收第四至六章并让末句落下。
【文学对象】
桑之落矣，其黄而陨,自我徂尔，三岁食贫,淇水汤汤，渐车帷裳,女也不爽，士贰其行,士也罔极，二三其德,三岁为妇，靡室劳矣,夙兴夜寐，靡有朝矣,言既遂矣，至于暴矣,兄弟不知，咥其笑矣,静言思之，躬自悼矣,及尔偕老，老使我怨,淇则有岸，隰则有泮,总角之宴，言笑晏晏,信誓旦旦，不思其反,反是不思，亦已焉哉
【信息状态】
只继续暴露原诗，末句后保持十五秒无解释静默。
【学生主动作】
继续听读；末句后确认停点
【参与路径】
继续个人静听；末句后默数自己的停点数（为 O07 选句做准备），无交流环节。
【可见产物】
教材停点
【教师作用】
延续同一朗读声不换节奏；末句后完全静默切页，绝不接“这首诗表达了……”式总结。
【真实等待】
三分钟连续朗读零插话；末句后停顿至切页句出现，期间教师零语言。
【反馈与本人修订】
本页无修订；停点在下一页转化为初听卡文字。
【首次后用】
O07取回
【正常反例】
无停点的学生等末句落下即可，不强制造句；跟不上朗读速度的学生听完全程即算完成。
【主视觉职责】
第四至六章原诗
【插图资格】
无
【第一人称接收】
我听完了全诗六章；末句落下后，我能指出一句最留住我的句子，并知道它在第几章。
【故事回接】
声音层面完成婚变→决绝；切页句把全诗第一次完整经历交给学生：“把第一次听见的《氓》，留在纸上”。
【删除损失】
删除会把全诗压成婚前故事
【相邻反证】
与 O05 合并则一次首读的物理承接与换气点消失；与 O07 合并则末句落下后的静默书写被挤掉——三页各承担“声音上半/声音下半/起点文字化”。
【失败信号】
末句后教师立即总结主题；后半朗读节奏与前半不一致（声音断裂）；学生被要求当场分享停点（应留到O07）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【V6.6物理画面】O06-B6｜80秒
【本画面为何存在】
让第六章回望旧愿并使末句真正落下，随后守住无解释静默。
【学生此刻看见】
她自己说｜第六章｜及尔偕老，老使我怨。淇则有岸，隰则有泮。｜总角之宴，言笑晏晏。信誓旦旦，不思其反。｜反是不思，亦已焉哉！
【教师逐字稿】
这是第六章。请从‘及尔偕老’一直读到‘亦已焉哉’。末句以后谁都不要立刻解释，让它自己落下。（完整朗读；末句后教师退到侧面，保持十五秒静默。）现在只在最想回看的原句旁点一下，不说答案。
【舞台动作】
（承接前一画面）
（说出本页唯一邀请）
（真实等待或处理现场作品）
（在答案越界前切页）
【本画面时间盒】
进入第六章：8秒；完整朗读第六章：45秒；末句静默：15秒；留下停点：12秒
【现场分支】
在泮、反处读音或回环卡住：只给必要读音，接回整句；不在终读前展开解释。
末句后有人笑或出声：教师不责备、不总结，等声音落下后重新计十五秒，让末句真正停住。
【听者任务】
跟读到末句，并共同守住十五秒静默。
【证据位置】
教材第六章停点；末句静默计时
【切页触发】
先不解释整首诗，把第一次真正停住你的地方留下来。
【V6.6逻辑页】O06｜逻辑页6｜3分钟
【前页输入】
前三章已经连续响过，朗读不因换页停止。
【唯一困难】
后三章情绪急转（劳苦、受暴、决绝），困难是让声音把转折带完而不被提前解释；“亦已焉哉”需要完整落下的空间。
【唯一功能】
无缝接收第四至六章并让末句落下。
【文学对象】
桑之落矣，其黄而陨,自我徂尔，三岁食贫,淇水汤汤，渐车帷裳,女也不爽，士贰其行,士也罔极，二三其德,三岁为妇，靡室劳矣,夙兴夜寐，靡有朝矣,言既遂矣，至于暴矣,兄弟不知，咥其笑矣,静言思之，躬自悼矣,及尔偕老，老使我怨,淇则有岸，隰则有泮,总角之宴，言笑晏晏,信誓旦旦，不思其反,反是不思，亦已焉哉
【信息状态】
只继续暴露原诗，末句后保持十五秒无解释静默。
【学生主动作】
继续听读；末句后确认停点
【参与路径】
继续个人静听；末句后默数自己的停点数（为 O07 选句做准备），无交流环节。
【可见产物】
教材停点
【教师作用】
延续同一朗读声不换节奏；末句后完全静默切页，绝不接“这首诗表达了……”式总结。
【真实等待】
三分钟连续朗读零插话；末句后停顿至切页句出现，期间教师零语言。
【反馈与本人修订】
本页无修订；停点在下一页转化为初听卡文字。
【首次后用】
O07取回
【正常反例】
无停点的学生等末句落下即可，不强制造句；跟不上朗读速度的学生听完全程即算完成。
【主视觉职责】
第四至六章原诗
【插图资格】
无
【第一人称接收】
我听完了全诗六章；末句落下后，我能指出一句最留住我的句子，并知道它在第几章。
【故事回接】
声音层面完成婚变→决绝；切页句把全诗第一次完整经历交给学生：“把第一次听见的《氓》，留在纸上”。
【删除损失】
删除会把全诗压成婚前故事
【相邻反证】
与 O05 合并则一次首读的物理承接与换气点消失；与 O07 合并则末句落下后的静默书写被挤掉——三页各承担“声音上半/声音下半/起点文字化”。
【失败信号】
末句后教师立即总结主题；后半朗读节奏与前半不一致（声音断裂）；学生被要求当场分享停点（应留到O07）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【V6.6物理画面】O07-A｜240秒
【本画面为何存在】
保存每个人第一次真正听见的句子，不让三问覆盖个人起点。
【学生此刻看见】
把第一次听见的《氓》留在纸上｜“　　　　　　　　　　　　　　　　　　　　　　　”｜我看见……｜我听见……｜我想问……
【教师逐字稿】
现在才发《氓》初听卡。请接过来，不必翻面。如果有一句把你留了下来，就把它完整抄下，再接一句自然话：‘我看见……’‘我听见……’或者‘我想问……’。不要猜老师最喜欢哪一句。暂时没有找到，也可以写‘尚未找到’，先听同桌说完，再决定要不要补。（静默书写五十五秒。）现在两个人各说一次。听的人不评价深不深，只补记一个自己原先没有注意到的地方。（交换完成后，教师读出两三份停在不同诗句的文字。）这些话先留在黑板右侧，下一页我们从这里继续。
【舞台动作】
（发下03B《氓》初听卡）
（个人静默书写）
（同桌各说一次）
（听者补记不同之处）
（读出两三份真实文字并留在黑板右侧）
【本画面时间盒】
发下初听卡：14秒；个人书写：73秒；同桌交换与补记：93秒；教师读出真实文字并保留：60秒
【现场分支】
尚未找到：先听同桌；仍没有就保留‘尚未找到’，不复制同桌句子。
只写情绪词：追问‘是哪一句的哪个画面或声音让你这样写’，有依据再补，不直接替写。
两人完全相同：允许相同；听者可补记‘我们停在同一句，但理由不同/相同’，不制造差异。
【听者任务】
复述自己听见的一个不同注意点；不替同伴解释全诗。
【证据位置】
O07初听卡；黑板右侧的真实初听关键词
【切页触发】
六章已经完整地响过，大家停下的地方也留在这里。现在我们把这首诗慢慢读懂。
【V6.6逻辑页】O07｜逻辑页7｜4分钟
【前页输入】
六章声音已完整响过（O05-O06）；每人教材上留有自己的停点标记；初听卡此刻才发放（真实分发时点）。
【唯一困难】
三问一旦先出现，学生的“第一句”会被问题塑形；困难是保护“第一次真正听见”的个人起点不被任务覆盖。
【唯一功能】
保存每个人第一次真正听见的句子，不让三问覆盖个人起点。
【文学对象】
[object Object]
【信息状态】
三问尚未出现；卡片此刻发放（登记首次可见）；教师不示范“好的初听句”，黑板右侧只承载学生真实文字。
【学生主动作】
抄下一句；接写我看见、听见或想问
【参与路径】
个人静写55秒→同桌各说一次（听者不评深浅只补漏）→全班仅由教师在 O08 引用、不展评。
【可见产物】
个人初听卡
【教师作用】
巡视确认非空白但不评价句子深浅；不补造、不给“标准停点”；引用推迟到 O08 且只用真实文字。
【真实等待】
静默书写55秒（台词明示）；同桌互说限时一轮；教师巡视零插话。
【反馈与本人修订】
听同桌说完后可补换自己的句子（“再决定要不要补”）——修订动作即换句重写，卡上保留原句痕迹。
【首次后用】
O08引用
【正常反例】
暂时没有停点可以写‘尚未找到’，先听同桌后仍可保留，不复制他人句子。
【主视觉职责】
一句原诗与个人留白
【插图资格】
无
【第一人称接收】
我抄下了一句真正留住我的诗，并接了一句“我看见/听见/想问”的自然话；这是我自己的起点，不是老师期待的那一句。
【故事回接】
初听卡是学生与这首诗关系的起点句；S06 综合页将回望“第一次停在哪里，现在停在哪里”。
【删除损失】
删除会失去真实接收起点
【相邻反证】
O08 的三问必须在本页之后出现——若合并，问题先于个人起点进入，保护失效；本页55秒静默书写也因此被挤掉。
【失败信号】
教师展示了示范句；三问提前出现在卡片上；学生抄的是邻座的句子而非自己的停点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【V6.6物理画面】O08-A｜120秒
【本画面为何存在】
把三问变成读后生成的全文导航：先讲经历，再看生活，最后追原因。
【学生此刻看见】
读懂六章，我们要回答什么？｜她经历了什么？｜她婚后的不幸，在生活中是什么样子？｜这场婚姻为什么走到这一步？
【教师逐字稿】
刚才，有同学停在‘____’，写下‘____’；也有同学在‘____’旁留下一个问题：‘____？’这些是我们第一次听见她时真正停下来的地方。（教师只引用O07黑板右侧的真实文字，不补造。）六章已经完整地响过。接下来慢慢读懂它，我们始终回来回答三个问题：她经历了什么？她婚后的不幸，在生活中是什么样子？这场婚姻为什么走到这一步？现在才发三问阅读书签，请接过来，把三问留好。第一问跟着事情走；第二问要看她具体过着怎样的日子；第三问要等事实一件件出现以后再判断。此刻不急着给答案。
【舞台动作】
（指向并引用真实初听文字）
（切出三问页）
（首次发下03C三问阅读书签）
（学生保存三问）
【本画面时间盒】
引用真实初听文字：35秒；呈现并读出三问：35秒；发书签并保存三问：35秒；说明后续取回：15秒
【现场分支】
初听文字都集中在一处：如实引用同一处的不同说法，不假称全班已经覆盖三问。
抢答原因：请学生把原话写在第三问旁，标‘初步判断’，不当场确认。
追问为何现在才发：回应‘先让整首诗自己说完，再用问题慢慢读懂它。’
【听者任务】
核对教师引用确实来自刚才的同学文字，并保存三问的稳定措辞。
【证据位置】
O07初听文字；O08现场首次发下的03C三问阅读书签
【切页触发】
三个问题先留在手边。现在从第一章开始，只看他做了什么、她又做了什么。
【V6.6逻辑页】O08｜逻辑页8｜2分钟
【前页输入】
全诗已经完整听过，个人初见也已保存。
【唯一困难】
问题若由教师直接布置即成外部任务；困难是让三问从学生的初听文字中长出来，并立即成为全课导航而不被抢答消耗。
【唯一功能】
把三问变成读后生成的全文导航：先讲经历，再看生活，最后追原因。
【文学对象】
[object Object]
【信息状态】
三问此刻首次出现；不显示标准答案和原因框架。
【学生主动作】
保存三问；暂不抢答
【参与路径】
全班接收三问并保存书签；教师引用初听文字时被引用者确认；明示“暂不抢答”，无讨论环节。
【可见产物】
三问书签
【教师作用】
只引用 O07 黑板右侧真实文字、不补造；设问后不给出任何方向性提示或示例答案。
【真实等待】
引用—设问—保存书签共2分钟；设问后停顿即切页，不留答问时间（时间盒明示）。
【反馈与本人修订】
本页无修订；书签在 S02-S04 被逐问回收时完成首尾呼应。
【首次后用】
六章积证并由S02—S04回收
【正常反例】
暂时想不出问题的学生保留三问原句作为阅读书签内容；立即能答者把话写在相应问题旁，标注为待原诗检验的初步判断，不冒充读过全诗的结论。
【主视觉职责】
三个自然问题
【插图资格】
无
【第一人称接收】
我知道了接下来要回答的三个问题；黑板上引用的某句初听文字（可能是我写的）成了问题的起点，我的起点被留在了全课里。
【故事回接】
三问即叙事导航：经历（她经历了什么）→生活（婚后的不幸是什么样子）→原因（婚姻为什么走到这一步）；切页句回到“从第一章慢慢读起”。
【删除损失】
删除后细读缺少共同方向
【相邻反证】
本页2分钟只设问不展开；并入 O07 会挤掉静默书写；三问书签此后贯穿六章积证并由 S02-S04 逐问回收，不可省略。
【失败信号】
教师对三问给出示例答案；引用的初听文字不在黑板上（补造）；三问措辞与 S02-S04 回收页不一致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【V6.6物理画面】C101-A｜300秒
【本画面为何存在】
让第一章完整进入，并确认女子怎样用第一人称讲两个人的行动。
【学生此刻看见】
第一章｜他做了什么？她又做了什么？｜氓之蚩蚩，抱布贸丝。｜匪来贸丝，来即我谋。｜送子涉淇，至于顿丘。｜匪我愆期，子无良媒。｜将子无怒，秋以为期。
【教师逐字稿】
我们已经知道，《氓》是一位女子回头讲自己的婚姻。现在不急着把第一章拆开，请翻到第一章。先听我把这一章完整读一遍，眼睛只跟着诗句走。随后请你自己再读一遍：男子做的事，用圈轻轻标出来；女子做的事，用线划出来。遇到不懂的词，先留一个问号，不要让一个词拦住整章。现在听读。（教师完整读完，停三秒。）轮到你们自己读。读完后，同桌只互相问一件事：‘这一处是谁做的？’不要替对方翻译，也不要给人物贴标签。（巡视并等待。）请看回自己的诗句。如果刚才标错了主体，就改回来；如果同桌找到了你漏掉的动作，回诗补一处。我们先听两位同学各说一个自己最确定的动作。（引用现场原话。）第一章已经有了一个很粗的轮廓：有人来，有人送，两个人还谈到了婚事。那些问号先留着，接下来让原词自己把故事说清。
【舞台动作】
（发03A第一章初读卡）
（教师完整读章后静默三秒）
（学生独立读并圈划）
（同桌只核对主体）
（引用两条现场动作后收束）
【本画面时间盒】
承接、发卡与教师完整听读：69秒；学生完整朗读并圈划：94秒；同桌核对行动主体：56秒；回诗修订与两条现场分享：56秒；教师引用原话收束并转场：25秒
【现场分支】
生词阻断：请学生先留问号并把整章读完；词义按C102—C104所在原句解决。
主体混淆：只追问‘诗中是谁在用“我”说话、她把谁称作“子”’，让学生自行回诗改画。
直接评价男子：回应‘这个判断先放在诗边，眼下只把本章写出的动作找准。’
【听者任务】
同桌发言时，只检查行动主体；全班分享时，核对自己是否漏掉同一原词。
【证据位置】
03A第一章初读卡及教材第一章旁批
【切页触发】
先看第一处：诗让我们先看见他做什么，女子随后又告诉我们什么？
【V6.6逻辑页】C101｜逻辑页9｜5分钟
【前页输入】
三问书签已保存（O08）；学生知道这是女子回头讲婚姻；尚未逐句读过第一章，行动初稿为空。
【唯一困难】
学生易把第一章当“译文对号”逐句翻；困难是同时用两套标记（圈男子动作／划女子动作）看清“谁在动”——第一人称回望里两个人物的行动易被混成一段流水。
【唯一功能】
让第一章完整进入，并确认女子怎样用第一人称讲两个人的行动。
【文学对象】
氓之蚩蚩，抱布贸丝。匪来贸丝，来即我谋。送子涉淇，至于顿丘。匪我愆期，子无良媒。将子无怒，秋以为期。
【信息状态】
首读态只有原诗与两套标记要求；词义校准、叙事分析与主题词均不出现（延迟到 C102 起）。
【学生主动作】
完整读章；圈男子动作、划女子动作
【参与路径】
教师听读→个人完整朗读并圈划（94秒）→同桌核对行动主体（56秒）→两条现场分享；无代表制。
【可见产物】
第一章行动初稿
【教师作用】
完整听读承载章的声音；巡视确认两类标记共存；收束只引用学生现场两条原话，不预告词义。
【真实等待】
时间盒明示：听读69秒→个人朗读圈划94秒→同桌核对56秒→现场分享与修订56秒；圈划期间零插话。
【反馈与本人修订】
同桌核对后用另一色笔改标记归属（“这句其实是她做的”）；现场分享后各自回诗修订。
【首次后用】
C102—C104
【正常反例】
归属分不清的句子先画“？”保留不硬归；读不完的学生跟读完成即算。
【主视觉职责】
整章原诗与圈划
【插图资格】
无
【第一人称接收】
我完整读了第一章并留下两类标记；我能指着一处说“这是他做的／这是她做的”，且知道这是她自己在讲。
【故事回接】
第一章作为故事被完整接收：他来（抱布贸丝／来即我谋）→她送（送子涉淇）→两人约（秋以为期）；切页句指向第一处细读。
【删除损失】
删除会使逐句讲解没有整章轮廓
【相邻反证】
C102-C104 才逐句细读；本页若拆句讲解，“完整进入一章”的整读功能即失，C105 合书重建也失去整读底子。
【失败信号】
整读被拆成逐句翻译；标记只圈了一方人物；首读态教师报出词义或主题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【V6.6物理画面】C102-B0｜110秒
【本画面为何存在】
只面对两句原诗，形成第一句所见与第二句所知的个人首答。
【学生此刻看见】
贸丝，还是来谋？｜氓之蚩蚩，抱布贸丝。｜匪来贸丝，来即我谋。｜第一句让我们看见什么？｜第二句又告诉了我们什么？
【教师逐字稿】
先不看解释。请把‘抱布贸丝’和‘来即我谋’分别说成今天的语言，再圈出让第二句转向的那个字。每个人先写，不能看同桌。（教师巡视，确认已有首答。）时间到，把答案停在这里；下一页只看大家实际圈在哪里。
【舞台动作】
（承接前一画面）
（说出本页唯一邀请）
（真实等待或处理现场作品）
（在答案越界前切页）
【本画面时间盒】
口译说明：20秒；个人首答：60秒；封存与切页：30秒
【现场分支】
暂时没有答案：允许留下真实空白，或先回到最确定的一处原词。
判断越过原诗：请指出依据；没有原词支撑时降低判断强度。
【听者任务】
本页无公共发言；保护个人首答。
【证据位置】
C102个人两句口译和圈字
【切页触发】
你们已经各自圈过。现在只比较真实分歧。
【V6.6逻辑页】C102｜逻辑页10｜5分钟
【前页输入】
行动初稿已留两类标记（C101）；学生知道第一章完整故事，尚未逐词面对首两句。
【唯一困难】
“抱布贸丝”极易读成做生意，“匪”受现代义干扰；困难是靠重复的“贸丝”与“匪—谋”转折自己读出“来意不在丝”，而非接受教师直译。
【唯一功能】
从重复的‘贸丝’和‘匪—谋’读出叙事转弯，校准首句易误词，并守住初见证据边界。
【文学对象】
氓之蚩蚩，抱布贸丝。匪来贸丝，来即我谋。
【信息状态】
首答只给两句和两个问题；叙事转弯、来意、人格和预谋判断都不预填。
【学生主动作】
自然口译并圈出转折字；把氓、蚩蚩、布、贸、即、谋送回原句
【参与路径】
个人自然口译58秒→双人分读互核42秒→分享与定点释义79秒→个人修订54秒；全部个人先行。
【可见产物】
叙事转弯句和首句词义旁批
【教师作用】
巡视不提示；分享后定点释义氓／蚩蚩／布／贸／即／谋并送回原句；守住初见证据边界，不为氓贴性格标签。
【真实等待】
时间盒明示：读题25秒→个人口译58秒（台词“安静七十秒”内含）→双人42秒→释义79秒→修订54秒→回诗42秒；口译期间屏幕无译文。
【反馈与本人修订】
定点释义后回原句亲手改自己的自然话与转折字圈选；边界项（无怒等）在修订段处理。
【首次后用】
C105与C503
【正常反例】
说不完整先写“谁做了什么”（台词已授权）；猜错词义如实保留原猜测供对照。
【主视觉职责】
原词转弯
【插图资格】
I01待A/B
【第一人称接收】
我把首两句说成了一句自然话，圈出让意思转过去的字（匪／谋）；揭示后我能说清自己原以为“贸丝”是什么、差在哪。
【故事回接】
他抱布的名义下是“来即我谋”——初见即有来意；切页句“诗不写一句她很投入，只让三个动词把一段路铺开”引出 C103。
【删除损失】
首句会被压成‘男子来求婚’的结论，叙事转弯、词义异说和证据边界同时丢失。
【相邻反证】
C103 只处理“送子涉淇”的空间感；若并入本页，两句词义＋一句空间共三重任务超出单页负荷（A-T22）。
【失败信号】
屏幕标出‘表面动作／真实来意’答案；学生看图猜人格；教师在首答前解释匪—谋关系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【V6.6物理画面】C102-B1｜40秒
【本画面为何存在】
观察学生真正圈出的转折处和不同口译。
【学生此刻看见】
哪一个字，让话转了方向？｜氓之蚩蚩，抱布贸丝。｜匪来贸丝，来即我谋。｜看一眼黑板上大家圈出的地方。
【教师逐字稿】
看黑板上两三处真实圈词，不宣布答案。哪一处能解释话为什么转弯？先用手指回自己的纸，再请一位同学只说‘我圈的是——，因为——’。听者只追问这个字前后各说了什么。（修正黑板事实。）现在切到校准页。
【舞台动作】
（承接前一画面）
（说出本页唯一邀请）
（真实等待或处理现场作品）
（在答案越界前切页）
【本画面时间盒】
观看真实首答：10秒；一份解释与追问：20秒；自查和切页：10秒
【现场分支】
暂时没有答案：允许留下真实空白，或先回到最确定的一处原词。
判断越过原诗：请指出依据；没有原词支撑时降低判断强度。
【听者任务】
核对所圈字是否真的改变前后意思。
【证据位置】
现场圈词板书与个人自查
【切页触发】
转弯已经被看见，接下来把它说准确。
【V6.6逻辑页】C102｜逻辑页10｜5分钟
【前页输入】
行动初稿已留两类标记（C101）；学生知道第一章完整故事，尚未逐词面对首两句。
【唯一困难】
“抱布贸丝”极易读成做生意，“匪”受现代义干扰；困难是靠重复的“贸丝”与“匪—谋”转折自己读出“来意不在丝”，而非接受教师直译。
【唯一功能】
从重复的‘贸丝’和‘匪—谋’读出叙事转弯，校准首句易误词，并守住初见证据边界。
【文学对象】
氓之蚩蚩，抱布贸丝。匪来贸丝，来即我谋。
【信息状态】
首答只给两句和两个问题；叙事转弯、来意、人格和预谋判断都不预填。
【学生主动作】
自然口译并圈出转折字；把氓、蚩蚩、布、贸、即、谋送回原句
【参与路径】
个人自然口译58秒→双人分读互核42秒→分享与定点释义79秒→个人修订54秒；全部个人先行。
【可见产物】
叙事转弯句和首句词义旁批
【教师作用】
巡视不提示；分享后定点释义氓／蚩蚩／布／贸／即／谋并送回原句；守住初见证据边界，不为氓贴性格标签。
【真实等待】
时间盒明示：读题25秒→个人口译58秒（台词“安静七十秒”内含）→双人42秒→释义79秒→修订54秒→回诗42秒；口译期间屏幕无译文。
【反馈与本人修订】
定点释义后回原句亲手改自己的自然话与转折字圈选；边界项（无怒等）在修订段处理。
【首次后用】
C105与C503
【正常反例】
说不完整先写“谁做了什么”（台词已授权）；猜错词义如实保留原猜测供对照。
【主视觉职责】
原词转弯
【插图资格】
I01待A/B
【第一人称接收】
我把首两句说成了一句自然话，圈出让意思转过去的字（匪／谋）；揭示后我能说清自己原以为“贸丝”是什么、差在哪。
【故事回接】
他抱布的名义下是“来即我谋”——初见即有来意；切页句“诗不写一句她很投入，只让三个动词把一段路铺开”引出 C103。
【删除损失】
首句会被压成‘男子来求婚’的结论，叙事转弯、词义异说和证据边界同时丢失。
【相邻反证】
C103 只处理“送子涉淇”的空间感；若并入本页，两句词义＋一句空间共三重任务超出单页负荷（A-T22）。
【失败信号】
屏幕标出‘表面动作／真实来意’答案；学生看图猜人格；教师在首答前解释匪—谋关系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【V6.6物理画面】C102-B2｜60秒
【本画面为何存在】
准确收束叙事转弯、自然口译和证据边界。
【学生此刻看见】
先看见：抱布贸丝｜一个“匪”字，转过话头｜女子告诉我们：不是来换丝，是来谈婚事。｜至于他的为人和后来，此刻还不能断定。
【教师逐字稿】
先看见的是‘抱布贸丝’，一个‘匪’字把话转过来：不是来换丝，而是来谈婚事。请把自己的口译改到准确。注意，此刻原诗只告诉我们来意发生了转折；不能因为后来不幸，就倒推他从第一刻已经被证实在伪装。请在越界判断旁画去过满的词。
【舞台动作】
（承接前一画面）
（说出本页唯一邀请）
（真实等待或处理现场作品）
（在答案越界前切页）
【本画面时间盒】
准确校准：25秒；证据边界：15秒；本人修订：20秒
【现场分支】
暂时没有答案：允许留下真实空白，或先回到最确定的一处原词。
判断越过原诗：请指出依据；没有原词支撑时降低判断强度。
【听者任务】
确认校准停在原诗可证范围。
【证据位置】
C102本人修订句
【切页触发】
叙事转弯已经清楚，第一句还有六个词要真正说准。
【V6.6逻辑页】C102｜逻辑页10｜5分钟
【前页输入】
行动初稿已留两类标记（C101）；学生知道第一章完整故事，尚未逐词面对首两句。
【唯一困难】
“抱布贸丝”极易读成做生意，“匪”受现代义干扰；困难是靠重复的“贸丝”与“匪—谋”转折自己读出“来意不在丝”，而非接受教师直译。
【唯一功能】
从重复的‘贸丝’和‘匪—谋’读出叙事转弯，校准首句易误词，并守住初见证据边界。
【文学对象】
氓之蚩蚩，抱布贸丝。匪来贸丝，来即我谋。
【信息状态】
首答只给两句和两个问题；叙事转弯、来意、人格和预谋判断都不预填。
【学生主动作】
自然口译并圈出转折字；把氓、蚩蚩、布、贸、即、谋送回原句
【参与路径】
个人自然口译58秒→双人分读互核42秒→分享与定点释义79秒→个人修订54秒；全部个人先行。
【可见产物】
叙事转弯句和首句词义旁批
【教师作用】
巡视不提示；分享后定点释义氓／蚩蚩／布／贸／即／谋并送回原句；守住初见证据边界，不为氓贴性格标签。
【真实等待】
时间盒明示：读题25秒→个人口译58秒（台词“安静七十秒”内含）→双人42秒→释义79秒→修订54秒→回诗42秒；口译期间屏幕无译文。
【反馈与本人修订】
定点释义后回原句亲手改自己的自然话与转折字圈选；边界项（无怒等）在修订段处理。
【首次后用】
C105与C503
【正常反例】
说不完整先写“谁做了什么”（台词已授权）；猜错词义如实保留原猜测供对照。
【主视觉职责】
原词转弯
【插图资格】
I01待A/B
【第一人称接收】
我把首两句说成了一句自然话，圈出让意思转过去的字（匪／谋）；揭示后我能说清自己原以为“贸丝”是什么、差在哪。
【故事回接】
他抱布的名义下是“来即我谋”——初见即有来意；切页句“诗不写一句她很投入，只让三个动词把一段路铺开”引出 C103。
【删除损失】
首句会被压成‘男子来求婚’的结论，叙事转弯、词义异说和证据边界同时丢失。
【相邻反证】
C103 只处理“送子涉淇”的空间感；若并入本页，两句词义＋一句空间共三重任务超出单页负荷（A-T22）。
【失败信号】
屏幕标出‘表面动作／真实来意’答案；学生看图猜人格；教师在首答前解释匪—谋关系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【V6.6物理画面】C102-B3｜90秒
【本画面为何存在】
把首句六个易含混词校准回具体语境，不用一个标签替代整句。
【学生此刻看见】
把第一句说准｜氓｜这里指诗中的男子｜蚩蚩｜忠厚的样子；一说嬉笑的样子｜布｜布匹；一说布币｜贸｜交易、交换｜即｜靠近、到这里来｜谋｜商量婚事｜把六个词送回原句，再完整说一遍。
【教师逐字稿】
把第一句的词送回语境：‘氓’在这里指诗中的男子；‘蚩蚩’按课下注释是忠厚的样子，古注另有嬉笑貌一说；‘布’通常解释为布匹，也有布币一说；‘贸’是交易、交换；‘即’是靠近、到这里来；‘谋’是商量婚事。异说可以知道，但本课口译必须前后一致。请在教材旁只补自己原先含混的词，再把两句完整说一遍。
【舞台动作】
（承接前一画面）
（说出本页唯一邀请）
（真实等待或处理现场作品）
（在答案越界前切页）
【本画面时间盒】
六词最低校准：45秒；本人旁批：25秒；完整口译与切页：20秒
【现场分支】
暂时没有答案：允许留下真实空白，或先回到最确定的一处原词。
判断越过原诗：请指出依据；没有原词支撑时降低判断强度。
【听者任务】
核对词义是否真正回到两句口译，不把‘蚩蚩’直接判作人格事实。
【证据位置】
C102首句六词旁批与完整口译
【切页触发】
来意和词义都已说准。接着看她把他送了多远。
【V6.6逻辑页】C102｜逻辑页10｜5分钟
【前页输入】
行动初稿已留两类标记（C101）；学生知道第一章完整故事，尚未逐词面对首两句。
【唯一困难】
“抱布贸丝”极易读成做生意，“匪”受现代义干扰；困难是靠重复的“贸丝”与“匪—谋”转折自己读出“来意不在丝”，而非接受教师直译。
【唯一功能】
从重复的‘贸丝’和‘匪—谋’读出叙事转弯，校准首句易误词，并守住初见证据边界。
【文学对象】
氓之蚩蚩，抱布贸丝。匪来贸丝，来即我谋。
【信息状态】
首答只给两句和两个问题；叙事转弯、来意、人格和预谋判断都不预填。
【学生主动作】
自然口译并圈出转折字；把氓、蚩蚩、布、贸、即、谋送回原句
【参与路径】
个人自然口译58秒→双人分读互核42秒→分享与定点释义79秒→个人修订54秒；全部个人先行。
【可见产物】
叙事转弯句和首句词义旁批
【教师作用】
巡视不提示；分享后定点释义氓／蚩蚩／布／贸／即／谋并送回原句；守住初见证据边界，不为氓贴性格标签。
【真实等待】
时间盒明示：读题25秒→个人口译58秒（台词“安静七十秒”内含）→双人42秒→释义79秒→修订54秒→回诗42秒；口译期间屏幕无译文。
【反馈与本人修订】
定点释义后回原句亲手改自己的自然话与转折字圈选；边界项（无怒等）在修订段处理。
【首次后用】
C105与C503
【正常反例】
说不完整先写“谁做了什么”（台词已授权）；猜错词义如实保留原猜测供对照。
【主视觉职责】
原词转弯
【插图资格】
I01待A/B
【第一人称接收】
我把首两句说成了一句自然话，圈出让意思转过去的字（匪／谋）；揭示后我能说清自己原以为“贸丝”是什么、差在哪。
【故事回接】
他抱布的名义下是“来即我谋”——初见即有来意；切页句“诗不写一句她很投入，只让三个动词把一段路铺开”引出 C103。
【删除损失】
首句会被压成‘男子来求婚’的结论，叙事转弯、词义异说和证据边界同时丢失。
【相邻反证】
C103 只处理“送子涉淇”的空间感；若并入本页，两句词义＋一句空间共三重任务超出单页负荷（A-T22）。
【失败信号】
屏幕标出‘表面动作／真实来意’答案；学生看图猜人格；教师在首答前解释匪—谋关系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【V6.6物理画面】C103-B0｜105秒
【本画面为何存在】
保留完整原句和未经连线的动词，让学生自己生成路径。
【学生此刻看见】
她把他送了多远？｜送子涉淇，至于顿丘。｜送　　涉　　至｜沿着三个动词，自己画出这段路。
【教师逐字稿】
只沿三个动词画路：送、涉、至。请在纸上标出谁送、经过哪里、到达哪里；此刻屏幕不画箭头。（等待。）画完以后用手指走一遍自己的路线，不与同桌核对。
【舞台动作】
（承接前一画面）
（说出本页唯一邀请）
（真实等待或处理现场作品）
（在答案越界前切页）
【本画面时间盒】
说明三个动词：20秒；个人画路：65秒；自指路线：20秒
【现场分支】
暂时没有答案：允许留下真实空白，或先回到最确定的一处原词。
判断越过原诗：请指出依据；没有原词支撑时降低判断强度。
【听者任务】
本页先独立形成空间路线。
【证据位置】
C103个人送行线
【切页触发】
路线在每个人手里，下一页说给同桌看。
【V6.6逻辑页】C103｜逻辑页11｜4分钟
【前页输入】
已知来意（C102）；细读单在手；尚未处理空间距离。
【唯一困难】
“送子涉淇”易被一句“她很爱他”概括掉；困难是把送—涉—至当身体可感的路程走一遍，让“投入”从动词而非形容词里长出来。
【唯一功能】
让‘送—涉—至’成为身体可感的空间长度，看见女子主动投入。
【文学对象】
送子涉淇，至于顿丘。
【信息状态】
首答态只有原句与三个动词；“她很爱他”式情感结论、地图背景与婚俗知识均不出现。
【学生主动作】
用指尖或笔迹连三个动词；说成一句自然话
【参与路径】
个人连线48秒→同桌互说核对36秒→释义与边界52秒→自然话分享44秒；单人低门槛起步。
【可见产物】
送行线
【教师作用】
说明“低虚构行线”规则后退开；定点只释送／涉／至三动词与淇／顿丘二地名；不作爱情评价引申。
【真实等待】
时间盒明示：说明24秒→个人连线48秒→同桌36秒→释义52秒→分享修订44秒→回接36秒；连线期间教师零语言。
【反馈与本人修订】
听过同伴路线后补／改自己的笔迹线；自然话在分享后回原句修订一次。
【首次后用】
C105
【正常反例】
连不直的学生只标能确定的起点与终点；“看不出感情”如实保留为观察。
【主视觉职责】
三个原词之间的空间
【插图资格】
I02待A/B
【第一人称接收】
我用手指和笔迹把送—涉—至连成一条线，能用自然话说出她送出了多远；“投入”这个词现在有三个动词托着。
【故事回接】
她送到顿丘而婚事未当场定下——切页句把话语交棒 C104。
【删除损失】
删除会把远送压成‘她送他’
【相邻反证】
C104 处理顿丘上的话语（匪我愆期…）；空间（身体）与话语（声音）是两种经验，合并则其一被滑过。
【失败信号】
学生写下“她很爱他”而无一动词支撑；行线画成装饰图而非三动词轨迹；教师提前给出“主动投入”结论词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【V6.6物理画面】C103-B1｜60秒
【本画面为何存在】
同桌对照路径，听清动作主体和到达位置。
【学生此刻看见】
把你画的这段路，指给同桌看。｜送子涉淇，至于顿丘。｜谁在送？经过哪里？到达哪里？
【教师逐字稿】
把路线指给同桌看。甲只说三句话：谁在送，经过哪里，到达哪里；乙只检查有没有漏掉一个动作，然后交换。教师只巡视，不公布完整箭头。（等待双方完成。）若两人的线不同，请把分歧留到下一页校准。
【舞台动作】
（承接前一画面）
（说出本页唯一邀请）
（真实等待或处理现场作品）
（在答案越界前切页）
【本画面时间盒】
说明互证规则：10秒；甲讲乙听：20秒；乙讲甲听：20秒；留下分歧并切页：10秒
【现场分支】
暂时没有答案：允许留下真实空白，或先回到最确定的一处原词。
判断越过原诗：请指出依据；没有原词支撑时降低判断强度。
【听者任务】
只核对人物、经过处与到达处三项。
【证据位置】
同桌双方指路线的完成痕迹
【切页触发】
现在让三个动词排成一条准确的路。
【V6.6逻辑页】C103｜逻辑页11｜4分钟
【前页输入】
已知来意（C102）；细读单在手；尚未处理空间距离。
【唯一困难】
“送子涉淇”易被一句“她很爱他”概括掉；困难是把送—涉—至当身体可感的路程走一遍，让“投入”从动词而非形容词里长出来。
【唯一功能】
让‘送—涉—至’成为身体可感的空间长度，看见女子主动投入。
【文学对象】
送子涉淇，至于顿丘。
【信息状态】
首答态只有原句与三个动词；“她很爱他”式情感结论、地图背景与婚俗知识均不出现。
【学生主动作】
用指尖或笔迹连三个动词；说成一句自然话
【参与路径】
个人连线48秒→同桌互说核对36秒→释义与边界52秒→自然话分享44秒；单人低门槛起步。
【可见产物】
送行线
【教师作用】
说明“低虚构行线”规则后退开；定点只释送／涉／至三动词与淇／顿丘二地名；不作爱情评价引申。
【真实等待】
时间盒明示：说明24秒→个人连线48秒→同桌36秒→释义52秒→分享修订44秒→回接36秒；连线期间教师零语言。
【反馈与本人修订】
听过同伴路线后补／改自己的笔迹线；自然话在分享后回原句修订一次。
【首次后用】
C105
【正常反例】
连不直的学生只标能确定的起点与终点；“看不出感情”如实保留为观察。
【主视觉职责】
三个原词之间的空间
【插图资格】
I02待A/B
【第一人称接收】
我用手指和笔迹把送—涉—至连成一条线，能用自然话说出她送出了多远；“投入”这个词现在有三个动词托着。
【故事回接】
她送到顿丘而婚事未当场定下——切页句把话语交棒 C104。
【删除损失】
删除会把远送压成‘她送他’
【相邻反证】
C104 处理顿丘上的话语（匪我愆期…）；空间（身体）与话语（声音）是两种经验，合并则其一被滑过。
【失败信号】
学生写下“她很爱他”而无一动词支撑；行线画成装饰图而非三动词轨迹；教师提前给出“主动投入”结论词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【V6.6物理画面】C103-B2｜75秒
【本画面为何存在】
用原词准确收束女子远送的空间长度。
【学生此刻看见】
送　→　涉淇　→　至于顿丘｜她送他渡过淇水，一直送到顿丘。｜这份投入，先由三个动作说出来。
【教师逐字稿】
原句的路是：她送他，渡过淇水，一直送到顿丘。请对照屏幕，只改自己真正画错或漏掉的地方。这里不先贴‘深情’标签；这份投入先由‘送、涉、至’三个动作说出来。把这句自然话写在路线旁。
【舞台动作】
（承接前一画面）
（说出本页唯一邀请）
（真实等待或处理现场作品）
（在答案越界前切页）
【本画面时间盒】
路线校准：25秒；本人修正：25秒；故事回接：25秒
【现场分支】
暂时没有答案：允许留下真实空白，或先回到最确定的一处原词。
判断越过原诗：请指出依据；没有原词支撑时降低判断强度。
【听者任务】
核对动作顺序，不评价感情程度。
【证据位置】
C103修订后路线与自然句
【切页触发】
路送到了顿丘，婚期为什么仍没有定下？
【V6.6逻辑页】C103｜逻辑页11｜4分钟
【前页输入】
已知来意（C102）；细读单在手；尚未处理空间距离。
【唯一困难】
“送子涉淇”易被一句“她很爱他”概括掉；困难是把送—涉—至当身体可感的路程走一遍，让“投入”从动词而非形容词里长出来。
【唯一功能】
让‘送—涉—至’成为身体可感的空间长度，看见女子主动投入。
【文学对象】
送子涉淇，至于顿丘。
【信息状态】
首答态只有原句与三个动词；“她很爱他”式情感结论、地图背景与婚俗知识均不出现。
【学生主动作】
用指尖或笔迹连三个动词；说成一句自然话
【参与路径】
个人连线48秒→同桌互说核对36秒→释义与边界52秒→自然话分享44秒；单人低门槛起步。
【可见产物】
送行线
【教师作用】
说明“低虚构行线”规则后退开；定点只释送／涉／至三动词与淇／顿丘二地名；不作爱情评价引申。
【真实等待】
时间盒明示：说明24秒→个人连线48秒→同桌36秒→释义52秒→分享修订44秒→回接36秒；连线期间教师零语言。
【反馈与本人修订】
听过同伴路线后补／改自己的笔迹线；自然话在分享后回原句修订一次。
【首次后用】
C105
【正常反例】
连不直的学生只标能确定的起点与终点；“看不出感情”如实保留为观察。
【主视觉职责】
三个原词之间的空间
【插图资格】
I02待A/B
【第一人称接收】
我用手指和笔迹把送—涉—至连成一条线，能用自然话说出她送出了多远；“投入”这个词现在有三个动词托着。
【故事回接】
她送到顿丘而婚事未当场定下——切页句把话语交棒 C104。
【删除损失】
删除会把远送压成‘她送他’
【相邻反证】
C104 处理顿丘上的话语（匪我愆期…）；空间（身体）与话语（声音）是两种经验，合并则其一被滑过。
【失败信号】
学生写下“她很爱他”而无一动词支撑；行线画成装饰图而非三动词轨迹；教师提前给出“主动投入”结论词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【V6.6物理画面】C104-B0｜135秒
【本画面为何存在】
先把四小句口译成一番连续的话。
【学生此刻看见】
把这几句当作她说的一番话｜匪我愆期，子无良媒。｜将子无怒，秋以为期。｜先把她的话完整说成今天的语言。
【教师逐字稿】
把四小句当成女子连续说出的一番话。先借注释口译‘愆、良媒、将、无、以……为期’，再用今天的话从头说到尾。请独立写，不填‘解释、安抚、另约’这些标签。（等待并封存。）
【舞台动作】
（承接前一画面）
（说出本页唯一邀请）
（真实等待或处理现场作品）
（在答案越界前切页）
【本画面时间盒】
释词定位：30秒；个人连续口译：80秒；封存：25秒
【现场分支】
暂时没有答案：允许留下真实空白，或先回到最确定的一处原词。
判断越过原诗：请指出依据；没有原词支撑时降低判断强度。
【听者任务】
本页无同伴答案，先保护连续口译。
【证据位置】
C104个人连续口译
【切页触发】
话已经各自说过，下一页只听它怎样推进。
【V6.6逻辑页】C104｜逻辑页12｜5分钟
【前页输入】
空间路线已连好（C103）；学生带着“送到顿丘但婚期未定”的悬置进入。
【唯一困难】
四小句易被当四个知识点（愆期／良媒／无怒／秋期）分记；困难是读成一轮完整话语——说明原因、安抚情绪、另约时间——听见语气功能。
【唯一功能】
把四小句读成说明条件、安抚和另约的一轮完整话语。
【文学对象】
匪我愆期，子无良媒。将子无怒，秋以为期。
【信息状态】
首答只给完整话语和自然问题；三类功能不做成三个已完成色块。
【学生主动作】
完整自然口译；同桌听一处含义是否清楚
【参与路径】
个人口译64秒→双人读听轮换61秒→分享与释义75秒→修订46秒；听者唯一任务是“听一处含义是否清楚”。
【可见产物】
对话与声音标记
【教师作用】
领起连读后退开；定点释义愆期／良媒并处理“无怒”边界（安抚≠纵容，不作现代恋爱引申）；不评判女子“守规矩”。
【真实等待】
时间盒明示：连读交代25秒→个人口译64秒→双人轮换61秒→分享释义75秒→修订46秒→合读29秒；口译期间零提示。
【反馈与本人修订】
同桌指出不清楚处后本人改读一次；释义后回原句修订四小句功能标注。
【首次后用】
C105与C503
【正常反例】
某小句功能说不清就标“存疑”；改读不要求感情色彩，清楚即可。
【主视觉职责】
完整话语而非四条注释
【插图资格】
无
【第一人称接收】
我把整轮话说成了自然话，并写出四小句各自在做什么（说明／安抚／约定）；同桌听过我的一处含义是否清楚。
【故事回接】
来—送—解释—安抚—约期全部发生；切页句把第一章推向整体重建（C105）。
【删除损失】
删除会失去女子怎样主动推进婚事
【相邻反证】
C105 合书重建以本页话语理解为前提；C503 婚后回望将取回“将子无怒”——本页是那组对照的起点，不可省。
【失败信号】
四小句被抄成四个注释词条；同桌互听变成互批翻译；教师对“无怒”作恋爱技巧式引申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【V6.6物理画面】C104-B1｜70秒
【本画面为何存在】
同桌只听一处意思或语气是否清楚。
【学生此刻看见】
再听一遍她的话｜哪里是在解释？｜哪里是在安抚？｜哪里是在重新约定？
【教师逐字稿】
现在同桌互相读自己的整段话。听者只回答三件事：哪里听到她在解释，哪里像在安抚，哪里重新约定了时间；说不准就指出原句，不替作者改写。交换后，每个人把一处最生硬的口译改顺。（等待。）
【舞台动作】
（承接前一画面）
（说出本页唯一邀请）
（真实等待或处理现场作品）
（在答案越界前切页）
【本画面时间盒】
说明听者任务：15秒；双方互读互听：35秒；本人改顺：20秒
【现场分支】
暂时没有答案：允许留下真实空白，或先回到最确定的一处原词。
判断越过原诗：请指出依据；没有原词支撑时降低判断强度。
【听者任务】
辨认解释、安抚和另约在何处发生。
【证据位置】
C104同桌回执和一处改读
【切页触发】
听感已经出现，下一页把字义和整番话说准。
【V6.6逻辑页】C104｜逻辑页12｜5分钟
【前页输入】
空间路线已连好（C103）；学生带着“送到顿丘但婚期未定”的悬置进入。
【唯一困难】
四小句易被当四个知识点（愆期／良媒／无怒／秋期）分记；困难是读成一轮完整话语——说明原因、安抚情绪、另约时间——听见语气功能。
【唯一功能】
把四小句读成说明条件、安抚和另约的一轮完整话语。
【文学对象】
匪我愆期，子无良媒。将子无怒，秋以为期。
【信息状态】
首答只给完整话语和自然问题；三类功能不做成三个已完成色块。
【学生主动作】
完整自然口译；同桌听一处含义是否清楚
【参与路径】
个人口译64秒→双人读听轮换61秒→分享与释义75秒→修订46秒；听者唯一任务是“听一处含义是否清楚”。
【可见产物】
对话与声音标记
【教师作用】
领起连读后退开；定点释义愆期／良媒并处理“无怒”边界（安抚≠纵容，不作现代恋爱引申）；不评判女子“守规矩”。
【真实等待】
时间盒明示：连读交代25秒→个人口译64秒→双人轮换61秒→分享释义75秒→修订46秒→合读29秒；口译期间零提示。
【反馈与本人修订】
同桌指出不清楚处后本人改读一次；释义后回原句修订四小句功能标注。
【首次后用】
C105与C503
【正常反例】
某小句功能说不清就标“存疑”；改读不要求感情色彩，清楚即可。
【主视觉职责】
完整话语而非四条注释
【插图资格】
无
【第一人称接收】
我把整轮话说成了自然话，并写出四小句各自在做什么（说明／安抚／约定）；同桌听过我的一处含义是否清楚。
【故事回接】
来—送—解释—安抚—约期全部发生；切页句把第一章推向整体重建（C105）。
【删除损失】
删除会失去女子怎样主动推进婚事
【相邻反证】
C105 合书重建以本页话语理解为前提；C503 婚后回望将取回“将子无怒”——本页是那组对照的起点，不可省。
【失败信号】
四小句被抄成四个注释词条；同桌互听变成互批翻译；教师对“无怒”作恋爱技巧式引申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【V6.6物理画面】C104-B2｜95秒
【本画面为何存在】
准确收束解释婚期、请其勿怒和另约秋期。
【学生此刻看见】
不是我故意拖延婚期，是你没有请来合适的媒人。｜请你不要生气。｜就把婚期定在秋天吧。｜她没有把婚事推开，而是在解释、安抚、重新约定。
【教师逐字稿】
校准：不是我故意拖延婚期，是你没有请来合适的媒人；请你不要生气；就把婚期定在秋天吧。请只修自己错的字义和主体。她并没有把婚事推开，而是在解释、安抚并重新约定。用自己的话再完整说一遍。
【舞台动作】
（承接前一画面）
（说出本页唯一邀请）
（真实等待或处理现场作品）
（在答案越界前切页）
【本画面时间盒】
准确口译：35秒；人物行动收束：25秒；本人再说与切页：35秒
【现场分支】
暂时没有答案：允许留下真实空白，或先回到最确定的一处原词。
判断越过原诗：请指出依据；没有原词支撑时降低判断强度。
【听者任务】
确认自然口译仍由女子连续说出。
【证据位置】
C104修订后连续口译
【切页触发】
来、送、约已经清楚，现在把第一章重新讲成一个故事。
【V6.6逻辑页】C104｜逻辑页12｜5分钟
【前页输入】
空间路线已连好（C103）；学生带着“送到顿丘但婚期未定”的悬置进入。
【唯一困难】
四小句易被当四个知识点（愆期／良媒／无怒／秋期）分记；困难是读成一轮完整话语——说明原因、安抚情绪、另约时间——听见语气功能。
【唯一功能】
把四小句读成说明条件、安抚和另约的一轮完整话语。
【文学对象】
匪我愆期，子无良媒。将子无怒，秋以为期。
【信息状态】
首答只给完整话语和自然问题；三类功能不做成三个已完成色块。
【学生主动作】
完整自然口译；同桌听一处含义是否清楚
【参与路径】
个人口译64秒→双人读听轮换61秒→分享与释义75秒→修订46秒；听者唯一任务是“听一处含义是否清楚”。
【可见产物】
对话与声音标记
【教师作用】
领起连读后退开；定点释义愆期／良媒并处理“无怒”边界（安抚≠纵容，不作现代恋爱引申）；不评判女子“守规矩”。
【真实等待】
时间盒明示：连读交代25秒→个人口译64秒→双人轮换61秒→分享释义75秒→修订46秒→合读29秒；口译期间零提示。
【反馈与本人修订】
同桌指出不清楚处后本人改读一次；释义后回原句修订四小句功能标注。
【首次后用】
C105与C503
【正常反例】
某小句功能说不清就标“存疑”；改读不要求感情色彩，清楚即可。
【主视觉职责】
完整话语而非四条注释
【插图资格】
无
【第一人称接收】
我把整轮话说成了自然话，并写出四小句各自在做什么（说明／安抚／约定）；同桌听过我的一处含义是否清楚。
【故事回接】
来—送—解释—安抚—约期全部发生；切页句把第一章推向整体重建（C105）。
【删除损失】
删除会失去女子怎样主动推进婚事
【相邻反证】
C105 合书重建以本页话语理解为前提；C503 婚后回望将取回“将子无怒”——本页是那组对照的起点，不可省。
【失败信号】
四小句被抄成四个注释词条；同桌互听变成互批翻译；教师对“无怒”作恋爱技巧式引申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【V6.6物理画面】C105-A｜300秒
【本画面为何存在】
示范怎样把局部词句重新讲成人物、动作和结果连贯的一章。
【学生此刻看见】
他怎样来，她怎样送，两个人怎样约？｜氓之蚩蚩，抱布贸丝。｜匪来贸丝，来即我谋。｜送子涉淇，至于顿丘。｜匪我愆期，子无良媒。｜将子无怒，秋以为期。
【教师逐字稿】
第一章每一句都已经读过。请先只看屏幕和教材，完整读一遍第一章。（教师领起第一句，随后让学生连续读完。）读完了，请把教材合上，把03A初读卡和03B细读单一起翻到背面，压在桌角；同桌互相看一眼，确认桌面上不再露出原诗。（等待纸面支架全部撤去。）请看我这里。（教师按B键熄暗屏幕。）现在用三十秒把这一章讲给同桌听。只讲三件事：他怎样来，她怎样送，婚事怎样暂缓又约定。听者不要接管故事，只在对方说完后补一个真正遗漏的地方；如果已经完整，就如实说‘我没有找到遗漏’。两人交换。（教师巡视，等待双方完成。）请讲述者暂时只打开教材，找到刚才遗漏的那一句；找到后立即合书，再补说一次，03A和03B仍保持背面朝上。现在把03B翻回来，只在六章故事轨道第一格写下自己的自然话，不需要模仿屏幕，也不要抄活动名称；03A仍扣住。（等待书写。）谁愿意读出自己的第一章一句话？（引用两条现场章意，在黑板保留不同措辞，并只修正事实断点。）我们共同说到的是：男子带着贸丝的动作来商量婚事；女子送他渡过淇水，说明媒妁条件，安抚对方，最后把婚期约在秋天。这个整理来自你们已经讲出的事件，不是要替换每个人的句子。请把第一格留好，下一章还会接着生长。至于‘蚩蚩’、贸丝与谋婚、‘无怒’这些早期细节，不在这里另设一份以后无人读取的个人标记；第五章出现明确的婚后事实时，我们会共同翻回原句。第一章的约定已经落在秋天；第二章，等待开始了。
【舞台动作】
（完整重读第一章）
（合上教材并将03A、03B同时翻到背面）
（同桌确认桌面不露原诗）
（按B键熄暗屏幕）
（学生在全部支架撤去后旁白）
（听者只补一处或诚实确认完整）
（只开教材定位后立即合书补说）
（只翻回03B写故事轨道，03A仍扣住）
【本画面时间盒】
完整重读第一章：45秒；交代旁白与听者边界：30秒；两人轮流三十秒旁白：75秒；听者补缺、回诗与补说：55秒；写自然章意与故事轨道第一格：50秒；引用学生章意、保存第一格并转场：45秒
【现场分支】
完全空白：允许先说最清楚的一段，再开书只找它前面和后面各发生了什么，不抄整章。
听者直接代讲：立即改问‘你只找到哪一个断点’，把回诗和补说权还给原讲述者。
没有遗漏：允许诚实确认完整；原讲述者在章意旁补一个支撑原词，不制造修改。
用后来结局定性：请暂时只保留第一章能证明的事实和印象；第五章C503出现后来事实时再共同回看固定原词。
【听者任务】
只核对来、送、婚事暂缓与约定三处是否连成故事；全班听章意时比较措辞，不抄教师统一答案。
【证据位置】
03B第一章细读单C105区域和六章故事轨道第一格
【切页触发】
第一格先留在这里。下一章，约定之后的日子从等待复关开始。
【V6.6逻辑页】C105｜逻辑页13｜5分钟
【前页输入】
C102-C104 的词义、路线、话语全部完成；03A 初读卡与 03B 细读单此刻翻面压桌角（合书条件成立）。
【唯一困难】
局部都读过后学生仍可能只会复述活动（圈了词、画了线）；困难是合书把来—送—约讲成一段故事，断点处返诗补说而非背书。
【唯一功能】
示范怎样把局部词句重新讲成人物、动作和结果连贯的一章。
【文学对象】
氓之蚩蚩，抱布贸丝。匪来贸丝，来即我谋。送子涉淇，至于顿丘。匪我愆期，子无良媒。将子无怒，秋以为期。
【信息状态】
旁白前教材合上、双单翻面；屏幕只有章题与轨道第一格；教师不先示范完整旁白。
【学生主动作】
合书讲来—送—约；真实断点处返诗补说
【参与路径】
完整重读45秒→两人轮流30秒旁白75秒→听者补缺返诗55秒→写章意50秒→引用保存45秒；两人各讲一遍。
【可见产物】
第一章章意
【教师作用】
领起重读第一句后让学生读完；宣听者边界（只补缺不评价）；收束只引用学生章意原话写入轨道第一格。
【真实等待】
时间盒明示六段（45／30／75／55／50／45秒）；旁白期间教师不插话，断点由讲者自己返诗。
【反馈与本人修订】
断点补说即修订（翻诗→补→继续）；听者补缺后讲者确认或改正。
【首次后用】
C201
【正常反例】
断点如实返诗补说不硬编；章意写不出整句先写三个词后补成句。
【主视觉职责】
第一次完整章意示范
【插图资格】
无
【第一人称接收】
我合书讲了第一章（来—送—约），真实断点处翻诗补说过；我的章意写进了故事轨道第一格。
【故事回接】
第一章以“章意＋轨道第一格”固定；切页句：“下一章，约定之后的日子从等待复关开始”。
【删除损失】
删除后前四页仍是碎片
【相邻反证】
每章只此一次正式合书重建（手法库规则）；C206 是两章接续且用不同结构（接力＋因果句），不复制本页单人旁白模板。
【失败信号】
旁白时教材未合上（照读）；教师先示范完整旁白；章意是活动罗列而非故事句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【V6.6物理画面】C201-A｜300秒
【本画面为何存在】
从秋期进入登垣等待，使‘乘—望’成为具体站位与视线。
【学生此刻看见】
第二章｜她站到哪里？目光投向哪里？｜乘彼垝垣，以望复关。｜不见复关，泣涕涟涟。｜既见复关，载笑载言。｜尔卜尔筮，体无咎言。｜以尔车来，以我贿迁。
【教师逐字稿】
第一章的婚期已经约在秋天。请先看一眼故事轨道第一格，不添新内容。第二章会把故事带到哪里？现在不要拿新的学习卡，只看屏幕和教材，听我把五句完整读一遍；眼睛跟着诗句走。（教师完整读章，末句后停两秒。）请你们自己完整读一遍。读完以后我才发03A；在卡上写三个你最确定的人物动作，按先后排开。一时只找到一两个，也照实留下。（读后发卡，静默书写。）请两位同学各读一个自己写下的原词；听的人只核对它是不是人物真正做的事。（引用现场原词，不补整章答案。）现在看03A上的首句：‘乘彼垝垣，以望复关。’借教材注释把它说成一句自然话，再只画一道目光：人站在哪里，望向哪里？不要画行走路线。（等待。）同桌互看，只问：人物站在哪里？线指向哪里？若画成已经走到复关，回到‘乘’和‘望’改回来。我们再校准四个词：‘乘’是登上，‘垝垣’是残破的墙，‘以’是来、用来；‘复关’是男子所住的地方，诗中借地名指向他。请沿自己画的目光重读首句。约定以后，她登上残墙，向复关望去。接下来，同一个方向上的不见与既见，会让她发生什么变化？
【舞台动作】
（打开第一章故事轨道第一格）
（教师完整读第二章）
（学生完整朗读）
（读后发03A）
（学生在03A写动作、口译并画目光）
（同桌核对站位与方向）
（教师后置校词并回读）
【本画面时间盒】
承接第一格与教师完整读章：38秒；学生完整朗读：38秒；读后发03A并写三个动作：58秒；引用动作初稿：29秒；首句自然口译和画目光：58秒；同桌核对、教师校词与故事回接：79秒
【现场分支】
只找到一两个动作：允许保留，不要求为凑够三个而抄词；同桌发言后再回诗补一个。
先写情绪词：若是泣、笑等实际动作可以保留；若只写伤心、高兴，追问原诗中人物做了什么。
画成行走路线：请用手分别按住‘乘’和‘望’，把人物留在垝垣上，只留下朝复关的目光。
不会画：允许只写‘垝垣 —望→ 复关’，不评价绘画能力。
【听者任务】
初稿只核对是否为原诗人物动作；视线只核对站位、方向和‘望’的原词依据。
【证据位置】
03A第二章初读与视线卡
【切页触发】
目光落向复关。现在把‘不见’和‘既见’放在一起，看这两句怎样突然转过去，又能不能被耳朵听出来。
【V6.6逻辑页】C201｜逻辑页14｜5分钟
【前页输入】
轨道第一格已存（C105 章意）；学生带着“秋以为期”的约定进入；尚未读第二章。
【唯一困难】
从第一章事件链切到等待与情绪波动，学生易把“泣涕／笑言”直接标签成喜怒；困难是先留下动作与视线（乘—望），情绪留给 C202 对照读。
【唯一功能】
从秋期进入登垣等待，使‘乘—望’成为具体站位与视线。
【文学对象】
乘彼垝垣，以望复关。不见复关，泣涕涟涟。既见复关，载笑载言。尔卜尔筮，体无咎言。以尔车来，以我贿迁。
【信息状态】
首读态只有原诗与动作／视线标记要求；“哭因为想他／笑因为见到他”式解释不出现。
【学生主动作】
整章读；留下三个动作和一道视线
【参与路径】
教师听读38秒→学生完整朗读38秒→发03A写三动作58秒→引用初稿29秒→首句口译画目光58秒→同桌核对与校词79秒。
【可见产物】
动作与视线初稿
【教师作用】
完整读章承载声音；引用动作初稿后再进首句；校词只限乘／垝垣／望／复关，情绪词不解释。
【真实等待】
时间盒明示六段；个人写三动作58秒期间零插话。
【反馈与本人修订】
同桌核对后改动作标记；首句口译在校词后回句修订。
【首次后用】
C202
【正常反例】
动作找不满三个先留两个；目光画不出的学生等 C202 对照再落笔。
【主视觉职责】
垝垣到复关的视线
【插图资格】
I03待A/B
【第一人称接收】
我完整读了第二章，留下三个动作与一道视线；能说出她站到哪里（垝垣）、目光投向哪里（复关）。
【故事回接】
约定之后的日子从登垣等待开始——切页句把“不见／既见”交给对照读。
【删除损失】
删除会让哭笑失去等待空间
【相邻反证】
C202 才处理不见／既见的对照；本页若预讲情绪转折，C202 的对照首答即被泄。
【失败信号】
首读态出现喜怒标签；三动作被教师预先报出；轨道第一格被改写而非承接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【V6.6物理画面】C202-A｜300秒
【本画面为何存在】
用正面对照读清条件变化怎样触发泣涕与笑言。
【学生此刻看见】
两个“见”字，怎样牵动她的哭与笑？｜不见复关，泣涕涟涟。｜既见复关，载笑载言。
【教师逐字稿】
请看同一个方向上的两句：‘不见复关，泣涕涟涟。既见复关，载笑载言。’先把每句说成自己的自然话，再在原诗里圈出彼此照应的词。不要先写伤心和高兴；先写没看见什么、已经看见什么，她实际做了什么。（静默等待。）请同桌一人读上句、一人读下句，只问：什么变化触发了她？她的动作怎样变？谁愿意读出自己圈的两组词？（引用现场原词。）我们校准：泣涕是哭泣流泪，涟涟是泪流不断；既是已经，两个载加强语气。若你的自然话只有情绪，请补上触发和动作。现在不再另开一张朗读程序页。每个人只在诗边标一处：你想让声音从哪里转过去？可以改变停顿、重音或语速，只选一处，旁边写托住它的原词。（等待轻声试读。）两人一组，第一位连读两句，第二位闭眼，只说‘我在____附近听见了变化’，或诚实说‘没有听出来’；读的人据此只改一处，再读一遍。然后交换，让每个人都读一次、听一次、改一次。（等待。）请一组愿意的同学呈现第二遍，听者只报原词。（引用真实声音。）两种读法可以不同，只要原词站得住，耳朵也真能听见。她由不见而泣、既见而笑，这一下转折已经从纸面进入声音。下面，婚事还要经过占问，并真正走向迁移。
【舞台动作】
（发03B）
（学生自然口译并圈原词）
（双人上下对读）
（教师引用原词后校词）
（每人标一处声音变化）
（双方各完成一次盲听、反馈和改读）
（引用一组真实声音）
【本画面时间盒】
承接视线与个人自然口译圈词：63秒；双人对读和触发互问：44秒；学生分享、教师定点释义与修订：53秒；个人单点朗读设计和轻声试读：34秒；双方盲听、反馈和各自改读：69秒；真实声音分享、故事回接与转场：37秒
【现场分支】
只贴情绪标签：追问哪一个变化触发、人物实际做了什么，使说法回到不见/既见和泣涕/笑言。
圈满所有词：只保留能与下句某词形成关系的两三处，并说清为什么相照应。
模仿教师：教师拒绝先示范，只问想突出哪个原词，允许不同声音方案。
没有听出来：如实记录，读者只改一处再读；第二遍仍不明显就留问号，不追加第三轮。
【听者任务】
先核对触发条件和人物动作；闭眼后只定位声音变化附近的原词，或如实报告未听出。
【证据位置】
03B C202区和教材原词、朗读标记
【切页触发】
见与不见的变化已经能被耳朵听见。下面把两句连起来：一次占问之后，婚事又怎样走向了实际迁移？
【V6.6逻辑页】C202｜逻辑页15｜5分钟
【前页输入】
三动作与视线初稿在手（C201）；知道她站垝垣望复关。
【唯一困难】
“泣涕涟涟／载笑载言”易被直接归因为想他／见到他；困难是沿“不见什么→已见什么→她实际做什么”自己读出条件与动作的扣合，并让耳朵听见转折。
【唯一功能】
用正面对照读清条件变化怎样触发泣涕与笑言。
【文学对象】
不见复关，泣涕涟涟。既见复关，载笑载言。
【信息状态】
首答态只有两句原诗与对齐任务；“条件—动作”术语与教师示范读均后置。
【学生主动作】
对齐四组原词；试读并说听见的转轴
【参与路径】
个人口译圈词63秒→双人对读互问44秒→分享释义53秒→单点朗读设计34秒→盲听互馈69秒→声音分享37秒；人人设计、人人被听。
【可见产物】
条件—动作对照
【教师作用】
巡视不示范读；分享后定点释义并收“条件变化触发动作”；盲听反馈只说“听见／没听见转折”，不评感情。
【真实等待】
时间盒明示六段；个人圈词63秒与朗读设计34秒期间零插话；盲听双方各一轮。
【反馈与本人修订】
盲听反馈后各自改读一次（改重音／停顿位置）；释义后回原词修订对齐。
【首次后用】
C206
【正常反例】
设计不出声音方案的用“慢读前句、快读后句”保底；听不出转折的学生如实说“没听出来”，二遍再试。
【主视觉职责】
两组正面对照
【插图资格】
无
【第一人称接收】
我对齐了四组原词（不见／既见、泣涕／笑言等），设计并试读了一个单点，盲听后改过一次读法；转折现在能被我的耳朵听见。
【故事回接】
见与不见的变化被耳朵听见；切页句把“一次占问之后婚事怎样迁移”交给 C204。
【删除损失】
删除会丢失第二章最强情态转折
【相邻反证】
C204 处理卜筮与迁移；声音对照与因序分析是两种经验，朗读谱设计并入 C204 将超载。
【失败信号】
对齐表被教师预先填好；盲听反馈变成朗读打分；情绪标签先于原词对齐出现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【V6.6物理画面】C204-A｜360秒
【本画面为何存在】
准确理解本次卜筮，并沿‘以尔/以我’读清占问到迁嫁的因序。
【学生此刻看见】
卜筮以后，婚事怎样走到迁移？｜尔卜尔筮，体无咎言。｜以尔车来，以我贿迁。｜谁来？用什么来？谁迁？带着什么迁？
【教师逐字稿】
第二章最后两句要连起来读：‘尔卜尔筮，体无咎言。以尔车来，以我贿迁。’第一句有四项不能靠猜的知识：卜，是用龟甲占问；筮，是用蓍草占卦；体，是显示的兆象；咎言，是不祥之语。支架到这里为止，完整意思请你自己组织。先按谁做什么、结果怎样，把第一句说成自然话，再写：这次占问得到什么结果？（等待。）同桌只核对四项有没有错位。谁愿意读自己的句子？（引用后校准。）如果你写了‘一定幸福、保证以后’，圈起来；原句只写这次没有不祥。没有越界的同学不必制造错误，只在无咎言旁补‘这次’。接着看第二句。不要先说‘他们结婚了’，请沿‘以尔’和‘以我’分成两边，在03B写清每边是谁、带着什么、做什么。（等待。）现在校准：贿是财物，这里指嫁妆；迁是迁往男子家。同桌一人指‘以尔’一侧，一人指‘以我’一侧，只检查主体、物件、动作有没有放错；不需要交换表演。最后一起合读原句，再把两句连成一句自然的故事话：占问写了什么，接着发生什么？（引用两条现场表达。）这次占问无不祥，婚事继续；车来、财物迁，女子的生活位置也随之改变。第二章已经走到迁移，现在撤去局部支架，看整章能不能重新成为一段故事。
【舞台动作】
（连读两句）
（教师给四项最小文化支架）
（学生独立口译占问）
（同桌核对名物）
（教师后置时间边界）
（学生拆分以尔/以我双方动作）
（同桌有界核对并合句）
（回到占问—迁移因序）
【本画面时间盒】
连读两句与最小文化支架：41秒；个人占问口译和结果：56秒；同桌名物核对、分享与时间限定：64秒；个人拆分以尔和以我：56秒；同桌对应核对与教师校词：60秒；两句合回故事、个人修订与转场：83秒
【现场分支】
无法组织占问句：只提供‘你—卜筮—兆象—无不祥’四个位置，不念完成句。
直接推出幸福：只问原句写的是哪一次、有没有写后来生活，把说法降回当次结果。
压成他们结婚：追问以尔和以我各是谁的动作，车和贿在哪一边，先拆开再合。
嫁妆归属错位：请按住‘以我’，把贿移回这一侧，不直接报完整译文。
【听者任务】
占问部分只核对四项名物；迁移部分只核对两侧主体、物件和动作；都不提前讨论后来婚姻。
【证据位置】
03B C204区
【切页触发】
占问无不祥，车来、财物迁，第二章已经走到实际迁移。现在收起局部提示，把等待到迁移完整讲一次。
【V6.6逻辑页】C204｜逻辑页16｜6分钟
【前页输入】
对照读完不见／既见（C202）；知道第二章在情绪高点；尚未接触卜筮知识。
【唯一困难】
卜／筮／体／咎言四项知识无法靠猜；困难是先准确口译占问，再沿“以尔／以我”看清占问→车来→贿迁的因序与双方主体。
【唯一功能】
准确理解本次卜筮，并沿‘以尔/以我’读清占问到迁嫁的因序。
【文学对象】
尔卜尔筮，体无咎言。以尔车来，以我贿迁。
【信息状态】
首答只对齐尔／我、车／贿、来／迁；完整因序由学生口译和现场板书后置形成。
【学生主动作】
区分双方主体、物件与动作；口头连接因序
【参与路径】
个人占问口译56秒→同桌名物核对64秒→拆分以尔以我56秒→同桌对应核对60秒→合回故事83秒；两轮同桌各有边界。
【可见产物】
两句因序
【教师作用】
开头即给四项知识最小支架（41秒，台词明示“支架到这里”）后退开；校词只限名物；不作婚俗评价引申。
【真实等待】
时间盒明示六段；两轮个人时段（56＋56秒）零插话。
【反馈与本人修订】
同桌核对后改正主体归属；两句合回故事时本人修订自己的因序句。
【首次后用】
C206
【正常反例】
名物记不住可留半开（“筮＝用蓍草？”），核对后补全；因序连不出先并排两句事实。
【主视觉职责】
三节点因序
【插图资格】
仅抽象因序示意
【第一人称接收】
我口译了占问句并写出结果；亲手拆分了以尔（车来）与以我（贿迁）的主体—物件—动作；两句因序连成了话。
【故事回接】
占问无不祥→车来→财物迁，第二章走到实际迁移；切页句把等待到迁移的整体讲述交给 C206。
【删除损失】
删除会把无咎—车来—贿迁压成泛泛成婚
【相邻反证】
C206 两章接续以本页因序完成为前提；卜筮四词属“无法靠猜测可靠获得”的教师微讲项，拆入 C206 会稀释重建时间。
【失败信号】
默认画面出现卜筮→无咎→车来→贿迁完成流程；文化微讲扩展成占卜史；主体混淆未修订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【V6.6物理画面】C206-A｜360秒
【本画面为何存在】
把第一、二章接成‘约定怎样成为等待与迁移’，避免第二次复制章末模板。
【学生此刻看见】
从“秋以为期”到“以我贿迁”｜将子无怒，秋以为期。｜乘彼垝垣，以望复关。｜以尔车来，以我贿迁。｜前一章的哪件事，使后一章的等待成为必然？
【教师逐字稿】
先把教材摊开，目光从第一章末的‘秋以为期’移到第二章。每个人先写两小句：第一章发生了什么；第二章发生了什么。不要分工。（等待并巡视。）现在同桌接力，一人先讲第一章，另一人接第二章；交换角色，再讲一次。两个人都讲过两章以后，各自补一句：第一章的哪件事，使第二章的等待成为必然？请两组公开不同连接。教师最后沿原诗板书：他抱布来谋婚，她远送并约定秋期；约定使她登垣等待，由不见到既见，卜筮无咎后车来贿迁。请每个人把这条因果补进自己的两章概括，不抄同桌整句。
【舞台动作】
（教师承接前页）
（学生先独立形成）
（同伴限定倾听）
（教师据真实材料校准）
（学生亲自修订）
（自然切页）
【本画面时间盒】
个人两章概括：90秒；同桌交换角色接力：120秒；个人章间因果：55秒；公开两组和教师板书：65秒；本人修订：30秒
【现场分支】
暂时没有答案：允许先圈出最确定的一处原词，用不完整但真实的话开口；没有新增也可如实保留。
判断越过原诗：请指出依据；找不到相应原词时，把断言降低为问题、可能或文本未写。
【听者任务】
听清发言依据的是哪一句诗、给人物故事增加了什么；只补遗漏或提出一处证据追问。
【证据位置】
每个人的第一、二章自然概括和秋期因果句
【切页触发】
故事已经走到迁嫁。第三章却没有立刻写婚后的日子，眼前先出现了一树桑叶。
【V6.6逻辑页】C206｜逻辑页17｜6分钟
【前页输入】
第一章章意在轨道第一格；C202／C204 的对照与因序完成；教材摊开可返。
【唯一困难】
单章各自能讲后，章间因果（秋期之约→等待→迁移）仍是暗的；困难是接力讲时不分工、各自补出因果句——不复制 C105 的单人旁白模板。
【唯一功能】
把第一、二章接成‘约定怎样成为等待与迁移’，避免第二次复制章末模板。
【文学对象】
乘彼垝垣，以望复关。不见复关，泣涕涟涟。既见复关，载笑载言。尔卜尔筮，体无咎言。以尔车来，以我贿迁。
【信息状态】
不显示来—送—约／等—见—迁完成章意；学生接力后教师才板书。
【学生主动作】
每人先写两章各发生什么；同桌接力后各自补出章间因果
【参与路径】
个人两章概括90秒（台词明示“不要分工”）→同桌接力120秒→个人章间因果55秒→公开两组65秒→本人修订30秒。
【可见产物】
个人两章自然概括和秋期因果句
【教师作用】
巡视确认接力两人都讲；公开时板书两组因果句原文；不提供标准因果表述；修订归本人。
【真实等待】
时间盒明示五段；90秒个人概括与55秒因果句期间零插话。
【反馈与本人修订】
公开两组后30秒本人修订自己的因果句；接力中卡壳由本人返诗补说，同桌不代讲。
【首次后用】
C301
【正常反例】
因果补不出先并排两句事实并标“关系待想”；接力卡壳返诗，不硬编。
【主视觉职责】
章间铰链
【插图资格】
无
【第一人称接收】
我写了两章各一句概括、与同桌接力各讲过一章、并亲手补出一句章间因果（如“约在秋天，所以她天天登垣望”）；修订后因果句是我的。
【故事回接】
约定怎样成为等待与迁移——两章连成一段；切页句转折：“第三章却没有立刻写婚后的日子，眼前先出现了一树桑叶”。
【删除损失】
删除会失去跨章因果
【相邻反证】
与 C105 构成“单章重建→两章接续”的能力升级链；S 系列不再重复此式——综合页改用证据组织而非再讲故事。
【失败信号】
接力变成一人独讲两章；因果句由教师板书后学生抄；两章概括照抄章意格无一字新组织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【V6.6物理画面】C301-A｜240秒
【本画面为何存在】
发现迁嫁之后诗没有立即写婚后事件，而先转入物象和劝告。
【学生此刻看见】
第三章｜迁嫁以后，诗里忽然出现了什么？｜桑之未落，其叶沃若。｜于嗟鸠兮，无食桑葚！｜于嗟女兮，无与士耽！｜士之耽兮，犹可说也。｜女之耽兮，不可说也！
【教师逐字稿】
第二章最后，车来了，财物迁了，女子的生活也换了地方。请从故事轨道把前两格连着说一遍，然后只看第三章。先不要问桑叶象征什么，也不要找手法；让五句诗完整地响一遍。读到你自己觉得说话方式变了，可以轻轻停半拍；没有这种感觉，就照原来的节奏读完。（教师范读后，全班个人低声再读。）现在才落笔：迁嫁以后，眼前最先出现了什么？哪一句开始不像叙事，像是在劝告？每一项都抄回一个原词或原句。没有听出转折，可以留问号。同桌只检查你写的是不是这五句里的东西，不替你解释。（等待核对与修订。）我们先保留两件事：桑叶先进入眼前，声音随后改变。它为什么这样写，先不急着回答。
【舞台动作】
（连说前两章故事轨道）
（教师完整范读）
（学生个人完整低声读）
（读后才写两项初稿）
（同桌只核对来源）
（学生亲自修订）
【本画面时间盒】
恢复前两章故事位置：35秒；教师范读与学生完整低声读：85秒；个人读后生成：55秒；同桌来源核对和修订：40秒；引用初稿并转场：25秒
【现场分支】
没有听出变化：声音栏诚实留问号，只写最先看见的物象；C303再用两句对读帮助耳朵发现。
先报比兴：把术语暂放纸边，追问初读时先看见哪一物、从哪句开始听见劝告。
写活动词：将‘朗读、圈词’改成诗中真实出现的物象或一句原诗。
【听者任务】
只核对同伴所写物象和转折句是否来自第三章，不评判解释深浅。
【证据位置】
03C C301区
【切页触发】
先不越过这片桑叶。它还没有落，叶子正是‘沃若’。这个词究竟让你看见什么？
【V6.6逻辑页】C301｜逻辑页18｜4分钟
【前页输入】
前两格故事轨道已连讲（C206 的两章因果）；学生尚未读第三章。
【唯一困难】
迁嫁之后学生期待“接着讲婚后”，诗却转入桑叶与劝告；困难是不急着问“桑叶象征什么”，先完整接收这次换声并留下物象与劝告句。
【唯一功能】
发现迁嫁之后诗没有立即写婚后事件，而先转入物象和劝告。
【文学对象】
桑之未落，其叶沃若。于嗟鸠兮，无食桑葚。于嗟女兮，无与士耽。士之耽兮，犹可说也。女之耽兮，不可说也。
【信息状态】
标题不先说故事停驻、比兴和回望；学生从整章发现物象与声音转向。
【学生主动作】
完整读章；留下物象和换声句
【参与路径】
教师范读＋学生完整低声读85秒→个人读后生成55秒→同桌来源核对40秒→引用初稿转场25秒；个人生成先于任何交流。
【可见产物】
换声初稿
【教师作用】
恢复故事位置后退开；台词明示“先不要问桑叶象征什么，也不要找手法”；收束只引用换声初稿原句。
【真实等待】
时间盒明示：恢复35秒→范读与低声读85秒→个人生成55秒→同桌核对40秒→引用25秒；生成期零插话。
【反馈与本人修订】
同桌核对“物象与换声句是否真在诗中”后修订；解释性联想本页不处理（留给 C302 假设卡）。
【首次后用】
C302—C303
【正常反例】
读不出换声的学生如实只留物象；“为什么插桑叶”的疑问先写在页边不展开。
【主视觉职责】
第三章完整换声
【插图资格】
无
【第一人称接收】
我完整读了第三章，留下了物象（桑叶／斑鸠）与换声句（于嗟女兮…）；我注意到诗没有立刻写婚后事件，但先不解释为什么。
【故事回接】
迁嫁之后诗先给一树未落的桑叶与两声劝告——叙事暂停、警告先行；切页句把“沃若”交给 C302 细看。
【删除损失】
删除会把比兴变成教师答案
【相邻反证】
C302 逐句处理“沃若”；本页若提前释义桑叶，C302 的感官首答与 C303 的删句实验均被泄。
【失败信号】
首读态追问或回答了桑叶的象征义；换声句由教师预先圈好；学生把五句当成注释逐条抄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【V6.6物理画面】C302-A｜240秒
【本画面为何存在】
从‘沃若’形成色泽、质地和生命感，再留下可由后文检验的联想。
【学生此刻看见】
桑之未落，其叶沃若。｜这片桑叶，是什么颜色、光泽和状态？
【教师逐字稿】
把这句先说成自然话。‘沃若’是润泽的样子。现在先不写象征，不让一个熟悉答案盖住眼前的叶子。请静静看这行诗十秒，想一想它的色泽、质地和生命状态；在纸上写两个能被‘沃若’托住的词。（静默十秒后继续等待。）有了感觉，才允许联想：它可能让你想到怎样的青春、情感或关系状态？请留下两种可能，每一种旁边都写出刚才哪个词托住它。同桌只问一句：‘你的联想从沃若的哪一种感觉生出来？’不替对方选择。（等待。）如果你写的是‘桑叶就是爱情’，请把话放轻，改成‘可能让我想到……’；找不到依据，也可以删去联想，保留感官词和问号。第四章还有‘黄而陨’，我们会带着今天的两种想法回来筛选。
【舞台动作】
（个人自然口译）
（静默观察十秒）
（写两个感官词）
（写两项可能联想）
（同桌只追问依据）
（学生改弱或保留问号）
【本画面时间盒】
个人口译与词义校准：44秒；静默观察和感官词：43秒；两项假设独立生成：63秒；同桌依据追问：43秒；个人修订和转场：47秒
【现场分支】
只写固定象征：将‘就是’改成‘可能让我想到’，再补一项不同层次的可能或诚实问号。
无感官依据：先删去联想，只保留沃若所能托住的颜色、质地或生命状态。
没有联想：允许只写感官词和问号，第四章对照黄而陨后再生成。
【听者任务】
只追问联想的感官依据，不判断谁的象征义更像标准答案。
【证据位置】
03C C302区桑叶假设卡
【切页触发】
桑叶的意思先不封口。下一句，一声‘于嗟’落在斑鸠身上；再一声，又落到了谁身上？
【V6.6逻辑页】C302｜逻辑页19｜4分钟
【前页输入】
换声初稿已留物象（C301）；学生尚未给“沃若”任何书面解释。
【唯一困难】
“沃若”最容易被“比喻女子年轻貌美”的熟悉答案直接封口；困难是先形成色泽、质地、生命感的感官词，并把解释留成可被后文检验的假设。
【唯一功能】
从‘沃若’形成色泽、质地和生命感，再留下可由后文检验的联想。
【文学对象】
桑之未落，其叶沃若。
【信息状态】
首答无青桑图、无‘生命感’提示；学生从沃若形成感官词后才允许校准。
【学生主动作】
写两个感官词；留下一种可能
【参与路径】
个人口译与校准44秒→静默观察写感官词43秒→两项假设独立生成63秒→同桌依据追问43秒→个人修订47秒；假设严格个人先行。
【可见产物】
桑叶假设
【教师作用】
给“沃若＝润泽”的最小校准后即退；不提供任何象征答案；追问只问“你的依据是哪个词”，不评对错。
【真实等待】
时间盒明示：口译44秒→静默观察43秒（台词“静静看十秒”）→独立假设63秒→同桌追问43秒→修订47秒；假设生成期零插话零示例。
【反馈与本人修订】
同桌依据追问后修订假设措辞（不是换答案）；修订权在作者本人。
【首次后用】
C402真修订
【正常反例】
感官词写不出的先留一个；两个解释想不全就写一个＋“另一种待想”，不借同桌的。
【主视觉职责】
青润桑叶与原词
【插图资格】
I04a待A/B
【第一人称接收】
我静静看了这行诗十秒，写下两个能被“沃若”托住的感官词和两种可能解释；我知道这只是假设，第四章会来检验它。
【故事回接】
桑叶的意思先不封口——切页句把第二声“于嗟”引向斑鸠与女子；本页假设卡成为第四章的真实待证材料。
【删除损失】
删除会退回标准象征义
【相邻反证】
C402 将以“桑之落矣”真检验本页假设（经历后文改变前文）；若本页提前给唯一解释，C402 的保留／改写／撤回三选即无对象。
【失败信号】
教师说出“比喻女子青春”类封口答案；假设卡上只有一个标准答案且全班相同；感官词抄自注释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【V6.6物理画面】C303A-A｜180秒
【本画面为何存在】
在已经读过第三章以后，有意删去桑叶和斑鸠两句重新听劝女句，感受原诗句群被抽空后的声音损失。
【学生此刻看见】
于嗟女兮，无与士耽！｜这一声劝告，怎样落下？
【教师逐字稿】
我们刚才已经读过完整的第三章。现在做一次有意的删句再听，不假装自己忘记了前文。请用一张空白纸盖住桑叶和斑鸠两句，屏幕也只留下：‘于嗟女兮，无与士耽！’读一遍，写下：拿掉前两句以后，这声劝告变得怎样？你失去了什么，又多了什么？可以写急、重、近、直，也可以用自己的词，但要说清你听见的差异。（教师退开，等待。）请两位同学只读自己的句子，不判断谁更好。先把这次删句记录留住，下一页恢复原句群，再看声音如何改变。
【舞台动作】
（教师承接前页）
（学生先独立形成）
（同伴限定倾听）
（教师据真实材料校准）
（学生亲自修订）
（自然切页）
【本画面时间盒】
说明删句实验边界：35秒；删句再听与个人记录：75秒；两份公开：45秒；封存与转场：25秒
【现场分支】
暂时没有答案：允许先圈出最确定的一处原词，用不完整但真实的话开口；没有新增也可如实保留。
判断越过原诗：请指出依据；找不到相应原词时，把断言降低为问题、可能或文本未写。
【听者任务】
听清发言依据的是哪一句诗、给人物故事增加了什么；只补遗漏或提出一处证据追问。
【证据位置】
C303A删句再听记录
【切页触发】
现在把纸移开，让桑叶和斑鸠重新回来。
【V6.6逻辑页】C303A｜逻辑页20｜3分钟
【前页输入】
第三章已完整读过（C301）；学生手头有换声初稿；空白纸一张用于盖句。
【唯一困难】
完整读过第三章后，学生难以察觉劝女句对前两句的依赖；困难是有意删句重听（而非假装忘记），真实感受句群被抽空后的声音损失。
【唯一功能】
在已经读过第三章以后，有意删去桑叶和斑鸠两句重新听劝女句，感受原诗句群被抽空后的声音损失。
【文学对象】
桑之未落，其叶沃若。于嗟鸠兮，无食桑葚！于嗟女兮，无与士耽！
【信息状态】
物理画面绝不显示桑叶、斑鸠、由物及人、比兴名称或比较答案。
【学生主动作】
有意删去前两句后再听劝女句；写删句后的声音变化
【参与路径】
说明删句实验边界35秒→删句再听与个人记录75秒→两份公开45秒→封存转场25秒；记录严格个人、再听时无声。
【可见产物】
删句再听记录
【教师作用】
只宣实验边界（“不假装忘记前文”）；再听期间零提示；公开两份记录时不作优劣比较。
【真实等待】
时间盒明示：边界35秒→删句再听75秒（教师不读不评）→公开45秒→封存25秒。
【反馈与本人修订】
本页无修订——删句记录封存，待 C303B 恢复句群后比较修订（两页构成一次实验的对照臂）。
【首次后用】
C303B恢复句群后比较
【正常反例】
听不出差别的学生如实写“暂时没听出少了什么”；记录不要求术语。
【主视觉职责】
唯一暴露的劝女原句和大面积暗色留白
【插图资格】
无
【第一人称接收】
我明知前文存在，却故意拿掉两句再听，感到了句群被删后的声音变化。
【故事回接】
劝告被抽空物象后单薄地悬着——声音损失本身是“兴”存在的证据；切页句：“把纸移开，让桑叶和斑鸠重新回来”。
【删除损失】
无法把比兴从术语还原为句群有无造成的可感差异。
【相邻反证】
C303B必须读取这份删句记录；合成一张静态页会污染比较。
【失败信号】
把删句再听冒充未知前文的基线；教师先说由物及人；记录未封存便进入校准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【V6.6物理画面】C303B-B1｜185秒
【本画面为何存在】
恢复三句但不命名结构，让学生形成有依据修订。
【学生此刻看见】
桑叶、斑鸠和女子重新连起来以后｜桑之未落，其叶沃若。｜于嗟鸠兮，无食桑葚！｜于嗟女兮，无与士耽！｜你又多听见了什么？
【教师逐字稿】
把纸移开，桑叶和斑鸠重新回来。请连读三句，再打开删句记录，在下面续写：‘原句回来以后，我又听见了——，因为——。’不许只写‘更生动’，必须指出一个原词或一个声音次序。（等待。）请两位同学读前后两句，听者只判断依据是否在诗里。
【舞台动作】
（承接前一画面）
（说出本页唯一邀请）
（真实等待或处理现场作品）
（在答案越界前切页）
【本画面时间盒】
恢复句群与连读：40秒；个人比较修订：80秒；两份公开与原词追问：50秒；切页：15秒
【现场分支】
暂时没有答案：允许留下真实空白，或先回到最确定的一处原词。
判断越过原诗：请指出依据；没有原词支撑时降低判断强度。
【听者任务】
只核对新增听感是否回到原词。
【证据位置】
C303A删句记录下方的比较修订
【切页触发】
你们已经听见差异，现在再给这种写法准确的名字。
【V6.6逻辑页】C303B｜逻辑页21｜5分钟
【前页输入】
删句记录在手（C303A 封存物）；三章已读；尚未接触比兴术语。
【唯一困难】
恢复句群后，学生易直接接受“比兴”定义而跳过比较；困难是先用自己的词说出“回来以后我多听见了什么”，再接受后置命名。
【唯一功能】
恢复完整句群，让学生比较删句前后声音增加了什么，再后置命名由物起声、由物及人的兴与比。
【文学对象】
桑之未落，其叶沃若。于嗟鸠兮，无食桑葚！于嗟女兮，无与士耽！
【信息状态】
先恢复原句但不显示桑→鸠→女箭头和比兴定义；学生比较后教师命名。
【学生主动作】
恢复并连读三句；比较删句记录并用原词修订
【参与路径】
恢复句群连读50秒→前后比较与个人修订85秒→公开两份与原词追问65秒→释词、命名比兴与重读100秒；比较先于命名。
【可见产物】
由物及人的比较修订句
【教师作用】
追问只用原词（“多听见的是哪个字给的声音？”）；比兴命名在学生比较句出现之后（后置归纳）；随后领一次重读体会由物及人。
【真实等待】
时间盒明示：连读50秒→个人比较修订85秒→公开65秒→命名与重读100秒；修订期内不出现术语。
【反馈与本人修订】
在删句记录下方续写“原句回来以后，我又听见了____，因为____”——旧记录保留，修订以续写呈现（修订痕迹本身是证据）。
【首次后用】
C305处境对照；S06艺术收纳
【正常反例】
比较多不出的学生重听一遍后再写；不接受术语（比／兴）替换自己的话作为比较句。
【主视觉职责】
桑—鸠—女三句的连续声音，不预画完成箭头
【插图资格】
无
【第一人称接收】
我比较了有意删句与恢复原句时的声音差异，再理解比兴怎样从桑、鸠来到女子。
【故事回接】
声音由物来到人（桑叶→斑鸠→女子），“兴”在经验后获得名字；切页句把“耽”的男女差异交给 C305。
【删除损失】
比兴仍是没有经历的术语。
【相邻反证】
C303A提供删句后的再听记录，C305讨论男女处境；本页独自承担恢复、比较和命名。
【失败信号】
首屏画出完成箭头；教师在比较前给比兴定义；学生只抄术语未修订首答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【V6.6物理画面】C303B-B2｜115秒
【本画面为何存在】
准确命名桑—鸠—女的声音路径及比、兴。
【学生此刻看见】
桑叶在眼前｜劝告先落到斑鸠｜声音又来到女子身边｜由眼前物象起声、引出所咏，是“兴”；物与人的处境互相映照，又含着“比”。
【教师逐字稿】
‘于嗟’读xū jiē，是感叹词；‘无’同‘毋’，是不要；‘耽’是沉溺。眼前先有桑叶，劝告先落到斑鸠，声音再来到女子身边。由眼前物象起声、引出所咏，是‘兴’；物与人的处境互相映照，又含着‘比’。请回看自己的比较句，只补一个术语，不要抄整页。最后连读三句。
【舞台动作】
（承接前一画面）
（说出本页唯一邀请）
（真实等待或处理现场作品）
（在答案越界前切页）
【本画面时间盒】
释词：25秒；命名比兴：45秒；本人补名与连读：45秒
【现场分支】
暂时没有答案：允许留下真实空白，或先回到最确定的一处原词。
判断越过原诗：请指出依据；没有原词支撑时降低判断强度。
【听者任务】
把术语贴回刚才真实听见的声音路径。
【证据位置】
C303B比较句旁的术语补记
【切页触发】
声音由物来到人，同一个‘耽’落在男女身上却并不相同。
【V6.6逻辑页】C303B｜逻辑页21｜5分钟
【前页输入】
删句记录在手（C303A 封存物）；三章已读；尚未接触比兴术语。
【唯一困难】
恢复句群后，学生易直接接受“比兴”定义而跳过比较；困难是先用自己的词说出“回来以后我多听见了什么”，再接受后置命名。
【唯一功能】
恢复完整句群，让学生比较删句前后声音增加了什么，再后置命名由物起声、由物及人的兴与比。
【文学对象】
桑之未落，其叶沃若。于嗟鸠兮，无食桑葚！于嗟女兮，无与士耽！
【信息状态】
先恢复原句但不显示桑→鸠→女箭头和比兴定义；学生比较后教师命名。
【学生主动作】
恢复并连读三句；比较删句记录并用原词修订
【参与路径】
恢复句群连读50秒→前后比较与个人修订85秒→公开两份与原词追问65秒→释词、命名比兴与重读100秒；比较先于命名。
【可见产物】
由物及人的比较修订句
【教师作用】
追问只用原词（“多听见的是哪个字给的声音？”）；比兴命名在学生比较句出现之后（后置归纳）；随后领一次重读体会由物及人。
【真实等待】
时间盒明示：连读50秒→个人比较修订85秒→公开65秒→命名与重读100秒；修订期内不出现术语。
【反馈与本人修订】
在删句记录下方续写“原句回来以后，我又听见了____，因为____”——旧记录保留，修订以续写呈现（修订痕迹本身是证据）。
【首次后用】
C305处境对照；S06艺术收纳
【正常反例】
比较多不出的学生重听一遍后再写；不接受术语（比／兴）替换自己的话作为比较句。
【主视觉职责】
桑—鸠—女三句的连续声音，不预画完成箭头
【插图资格】
无
【第一人称接收】
我比较了有意删句与恢复原句时的声音差异，再理解比兴怎样从桑、鸠来到女子。
【故事回接】
声音由物来到人（桑叶→斑鸠→女子），“兴”在经验后获得名字；切页句把“耽”的男女差异交给 C305。
【删除损失】
比兴仍是没有经历的术语。
【相邻反证】
C303A提供删句后的再听记录，C305讨论男女处境；本页独自承担恢复、比较和命名。
【失败信号】
首屏画出完成箭头；教师在比较前给比兴定义；学生只抄术语未修订首答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【V6.6物理画面】C305-A｜300秒
【本画面为何存在】
从相同‘耽/说’和不同‘士/女、可/不可’读出处境不对等。
【学生此刻看见】
同一个“耽”，哪些词改变了脱身处境？｜士之耽兮，犹可说也。｜女之耽兮，不可说也！
【教师逐字稿】
最后两句要并在一起读。‘说’在这里读tuō，同‘脱’，是摆脱、脱身。先各自口译，再圈出完全相同的词，框住真正改变结果的词。（等待。）请用一句现代话，只说诗中明写的处境差异，不解释为什么。原因写成‘后文待证’。（等待生成。）交换看同桌的句子，只做一件事：若看见‘女性天生、她活该、因为她沉溺所以他才……’这样的越界词，把那个词轻轻圈出来，不替对方重写。作者自己删改，回到士/女、犹可/不可。（等待修订。）这两句写明：同样沉溺，男子尚可脱身，女子却更难脱身。它没有写女性天生如何；更不能把女子的投入变成男子后来失信或粗暴的原因。为什么难，第四、第五章会让婚后的日子一件件出现。
【舞台动作】
（个人口译）
（圈同词框异词）
（写无归因处境句）
（同桌只圈越界词）
（作者亲自删改）
（连读校验并保存待证）
【本画面时间盒】
个人口译与通假义：58秒；同异词圈框：50秒；无归因处境句生成：63秒；同桌越界词核查：46秒；作者修订与教师边界校准：58秒；连读和转场：25秒
【现场分支】
性别本质化：圈出‘天生’，改回诗中明写的士/女、可/不可处境差异。
受伤者归责：立即删去女子投入导致男子伤害的因果，把造成伤害与退出困难分开。
追问原因：把问题登记为后文待证；不凭第三章补造婚后结构。
【听者任务】
只检查同伴是否准确陈述处境差异、是否加入无证归因；不提供完整改写句。
【证据位置】
03C C305区
【切页触发】
五句诗已经逐句走过。现在撤去局部提示，把桑叶、两声劝告和脱身差异讲回女子的一段回望。
【V6.6逻辑页】C305｜逻辑页22｜5分钟
【前页输入】
劝告句群已连读（C303B）；学生尚未处理末两句。
【唯一困难】
“女之耽不可说”极易滑成“女子太傻／男子负心”的归因；困难是只用诗中明写（耽／说相同，士女／可不可不同）写一条处境对照句，不越出文本。
【唯一功能】
从相同‘耽/说’和不同‘士/女、可/不可’读出处境不对等。
【文学对象】
士之耽兮，犹可说也。女之耽兮，不可说也！
【信息状态】
首答态只有两句原诗与圈框任务；“说＝脱”校准在个人口译后给出；归因式结论（谁负心）不出现。
【学生主动作】
写一条只陈述诗中处境的对照句
【参与路径】
个人口译与通假义58秒→同异圈框50秒→处境句生成63秒→同桌越界词核查46秒→作者修订与边界校准58秒→连读25秒。
【可见产物】
处境判断
【教师作用】
给“说＝tuō，同脱”的最小校准；核查环节只辨“诗里写了／我推断”；校准责任边界（处境不同是诗写的事实，不引申为性别论断）。
【真实等待】
时间盒明示六段；处境句生成63秒零插话；越界核查同桌执行、作者本人改。
【反馈与本人修订】
越界词被指出后由作者本人降格（改回“诗写”或删除）；修订后的句子保留原句对照。
【首次后用】
第四、五章验证并由S03回收
【正常反例】
写不出整句的先列两组词的差异；“我推断”标注后允许保留，不算失败。
【主视觉职责】
两句并排
【插图资格】
无
【第一人称接收】
我圈出了完全相同的词（耽／说）、框住了改变结果的词（士／女、可／不可），写出了一条只陈述诗中处境的对照句；越界词被同桌核查过。
【故事回接】
同一个“耽”，脱身处境并不相同——警告落定为处境事实；切页句把五章合起来交给 C306 整体重讲。
【删除损失】
删除会把劝女归为天性论
【相邻反证】
第四、五章将验证这条处境句并由 S03 回收原因判断；本页若提前给原因，S03 的因果链首答即被泄。
【失败信号】
处境句写成对男子的道德审判；“可／不可”被教师预先框出；对照句抄注释而无圈框痕迹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【V6.6物理画面】C306-A｜240秒
【本画面为何存在】
让每个人把第三章的物象、由物及人的劝告、男女处境差异和经历后回望重新讲成一段。
【学生此刻看见】
迁嫁以后，为什么先有这一树桑叶？｜桑之未落，其叶沃若。｜于嗟鸠兮，无食桑葚！｜于嗟女兮，无与士耽！｜士之耽兮，犹可说也。女之耽兮，不可说也！｜用三四句话，把桑叶、劝告和她的处境连起来。
【教师逐字稿】
请把第三章完整读一遍。现在每个人用三四句自然话写清：迁嫁以后，诗为什么先让桑叶出现；劝告怎样从斑鸠来到女子；同一个‘耽’怎样写出不同的脱身处境；这更像当时旁边人的话，还是经历后的回望。（等待。）合上书，低声把这段讲给自己听。讲到真正断开的地方，立刻打开书找到那一句，再合书补完。请一位同学讲，其他人只指出他漏了哪一步；每个人最后都要在自己的文字上亲自补回。
【舞台动作】
（教师承接前页）
（学生先独立形成）
（同伴限定倾听）
（教师据真实材料校准）
（学生亲自修订）
（自然切页）
【本画面时间盒】
完整重读：35秒；个人自然章意：95秒；合书低声口述和返诗：55秒；公开一份和个人修订：55秒
【现场分支】
暂时没有答案：允许先圈出最确定的一处原词，用不完整但真实的话开口；没有新增也可如实保留。
判断越过原诗：请指出依据；找不到相应原词时，把断言降低为问题、可能或文本未写。
【听者任务】
听清发言依据的是哪一句诗、给人物故事增加了什么；只补遗漏或提出一处证据追问。
【证据位置】
每个人的第三章自然章意及返诗修订痕迹
【切页触发】
这份回望还只是警告。第四章，桑叶真正落下，婚后的生活也随之出现。
【V6.6逻辑页】C306｜逻辑页23｜4分钟
【前页输入】
学生已经体验由物及人的比兴，并读出处境不等。
【唯一困难】
物象、劝告、处境差异三层都走过之后，学生仍可能并列复述；困难是把“经历后的回望”这一层也讲进章意——这像当时她旁边人的事后感叹，而不是现场日记。
【唯一功能】
让每个人把第三章的物象、由物及人的劝告、男女处境差异和经历后回望重新讲成一段。
【文学对象】
桑之未落，其叶沃若。于嗟鸠兮，无食桑葚。于嗟女兮，无与士耽。士之耽兮，犹可说也。女之耽兮，不可说也。
【信息状态】
不预填完整章意；学生首答后教师只补真实断点。
【学生主动作】
每人写第三章自然章意；合书口述后在断点返诗修订
【参与路径】
全员个人写→全员低声自述→抽样一份→全员返诗修订。
【可见产物】
个人第三章自然章意
【教师作用】
只给“当时旁人／事后回望”的视角提示，不给章意框架；公开一份后由他人定位断点；修订归本人。
【真实等待】
时间盒明示：完整重读35秒→个人自然章意95秒→合书低声口述与返诗55秒→公开一份55秒；章意撰写期零提示。
【反馈与本人修订】
公开定位断点后本人返诗修订章意；口述断点即补说。
【首次后用】
C401进入桑叶落下；C606六章检索
【正常反例】
章意写不出“回望”层的先写三层事实再标注“感叹待补”；口述卡壳返诗，不背书。
【主视觉职责】
第三章完整原诗和一条开放叙事入口
【插图资格】
无
【第一人称接收】
我能把比兴和处境差异放回迁嫁后的回望，而不只记一个术语。
【故事回接】
第三章以“警告＋回望”形态收束并写入轨道；切页句转折：“第四章，桑叶真正落下，婚后的生活也随之出现”。
【删除损失】
第三章仍是比兴术语和两句性别对照，不能接回故事。
【相邻反证】
C303B命名写法，C305辨处境；本页独自完成第三章个人重建。
【失败信号】
只有公开一人形成章意；学生只写‘用了比兴’；无法从迁嫁接到第四章桑落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【V6.6物理画面】C401-A｜240秒
【本画面为何存在】
先找到重现的桑，再区分生活事实和责任判断。
【学生此刻看见】
第四章｜桑叶落下以后，诗写了哪些生活？｜桑之落矣，其黄而陨。｜自我徂尔，三岁食贫。｜淇水汤汤，渐车帷裳。｜女也不爽，士贰其行。｜士也罔极，二三其德。｜完整读完，再留下：｜桑叶的新样子｜一句你听来像在判断的话
【教师逐字稿】
第三章最后，我们留下两件还不能封口的东西：一张‘沃若’桑叶的双假设卡，一个‘为什么女子更难脱身’的问号。请先把它们放在手边，不急着打开答案。现在让第四章五句诗完整地响一遍。第一遍只听它写了哪些生活；第二遍再留意，女子是否一直都在讲事情，还是有一句开始说她对这段关系的看法。（教师范读，学生再完整低声读。）现在才落笔：桑叶有了什么新样子？抄下原词。再抄一句你听来不像只在讲事情、而像在判断的话。暂时听不出来，就把问号留在这里。同桌只核对是不是第四章里的原词原句，不替对方解释。（等待核对和修订。）我们先把大家找到的句子留在纸上，不急着裁定。接下来从那片桑叶重新读起，让这五句自己告诉我们，她经历了什么，又怎样说起两个人。
【舞台动作】
（取回第三章桑叶卡和待证问号）
（教师完整范读）
（学生个人完整低声读）
（读后才写状态与判断初稿）
（同桌只核对原句来源）
（学生亲自修订）
【本画面时间盒】
恢复第三章两份待证材料：30秒；教师范读和学生完整朗读：85秒；个人生成两项初稿：55秒；同桌来源核对和修订：40秒；引用现场原句并转场：30秒
【现场分支】
只写悲伤或变心：把抽象词收回，先抄桑叶新状态和你认为声音变硬的完整原句。
判断起点不同：允许暂存两个位置，不由教师投票裁决；C404比较‘不爽/贰’时再修。
直接归因女子沉溺：先停止因果判断，本页只登记经历与判断的先后，不把第三章的耽变成伤害责任。
【听者任务】
只检查同伴是否抄自第四章、是否写成原词原句，不评判解释深浅。
【证据位置】
04D C401区
【切页触发】
先回到那片桑叶。第三章它‘沃若’，这一章却‘黄而陨’；你原来的两种想法，经得住这一落吗？
【V6.6逻辑页】C401｜逻辑页24｜4分钟
【前页输入】
手边有两件未封口材料：沃若双假设卡与“为何女子更难脱身”问号（C302/C305 产物）；尚未读第四章。
【唯一困难】
学生易把“女也不爽，士贰其行”直接读成情绪控诉；困难是整章读时先分三区——物象、生活事实、责任判断——让判断有事实托底。
【唯一功能】
先找到重现的桑，再区分生活事实和责任判断。
【文学对象】
桑之落矣，其黄而陨。自我徂尔，三岁食贫。淇水汤汤，渐车帷裳。女也不爽，士贰其行。士也罔极，二三其德。
【信息状态】
首读态只有原诗与三区标记任务；假设卡与问号此刻不打开（台词明示“不急着打开答案”）；责任结论不出现。
【学生主动作】
整章读；圈物象、画事实、框判断
【参与路径】
恢复待证材料30秒→范读与完整朗读85秒→个人两项初稿55秒→同桌来源核对40秒→引用转场30秒。
【可见产物】
章内三区
【教师作用】
宣“两件材料先放一边不打开”；巡视确认三区标记；引用现场原句收束，不预告桑叶答案。
【真实等待】
时间盒明示五段；个人初稿55秒零插话。
【反馈与本人修订】
同桌核对三区归属后修订标记；判断词误入事实区的移回。
【首次后用】
C402—C404_405
【正常反例】
三区分不清的句子先归“待定”区；假设卡忍住不翻的学生如实等待。
【主视觉职责】
完整第四章三区
【插图资格】
无
【第一人称接收】
我完整读了第四章，圈出物象、画出生活事实、框出判断词；我能指出哪一句是“发生了什么”、哪一句是“她说谁变了”。
【故事回接】
桑叶重现但已“黄而陨”，生活事实（食贫／渡水）与责任判断（不爽／贰行）同章出现；切页句把旧假设推向检验。
【删除损失】
删除会失去事实与判断的边界
【相邻反证】
C402 才翻回假设卡检验；本页若先释“黄而陨”的对照义，C402 的保留／改写／撤回首答即被泄。
【失败信号】
首读态打开并讲解了假设卡；判断词被当成事实画出；教师预告桑叶落下的象征义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【V6.6物理画面】C402-A｜300秒
【本画面为何存在】
用后文真正检验前文的桑叶解释，经历后文改变前文。
【学生此刻看见】
桑之未落，其叶沃若。｜桑之落矣，其黄而陨。｜未落／落　沃若／黄而陨｜翻回你原来的两种想法：｜保留、改写，还是撤回？为什么？
【教师逐字稿】
请把第三章的桑叶卡真正翻回来，不要另起一张新纸。左边读‘桑之未落，其叶沃若’，右边读‘桑之落矣，其黄而陨’。‘陨’是坠落。两句用同样的节拍各读两遍，圈出相互顶住的词：未落与落，沃若与黄而陨。（等待对读。）现在看你原来的两种可能。第四章来了以后，每一种是保留、改写，还是撤回？请直接在旧稿上动笔，旁边补第四章的一处原词，或者补一句位置说明：前一句在迁嫁后的劝告开端，后一句在婚后回顾开端。（等待个人修订。）同桌只追问：新句究竟改变了你哪一处？若没有改变，也要说它怎样加强了你的解释。不同答案可以并存，但‘桑叶就是……’这样一锤定音的话要放轻。我们此刻可以说，桑叶荣枯让人联想到青春、情感或关系状态的变化，也把叙事从婚前带到婚后；究竟偏重哪一层，要让全文语境托住。
【舞台动作】
（打开第三章旧桑叶卡）
（两句同节拍对读）
（圈两组状态词）
（学生在旧稿上双色修订）
（同桌只追问新句造成的改变）
（学生补证或降低判断强度）
【本画面时间盒】
恢复旧稿与两句对读：54秒；圈状态词并校准陨：46秒；个人保留改写撤回：83秒；同桌追问语境依据：54秒；学生再修与教师后置归纳：63秒
【现场分支】
只等标准答案：请先比较自己两项旧稿受到新句怎样影响；教师不替你选青春、爱情或关系中的一个。
两项完全一样：把第二项改到不同层次，或诚实撤回，只保留一项有前后句支撑的解释。
没有修改：允许保留，但必须补写黄而陨怎样加强或限制旧解释，不为形式制造改动。
【听者任务】
只追问新句与章内位置怎样影响旧解，不投票选唯一象征义。
【证据位置】
03C旧桑叶卡双色修订＋04D C402区
【切页触发】
桑叶由盛转衰，诗也从劝告走进日子。接下来的两句，一句压着多年，一句忽然把淇水推到眼前。
【V6.6逻辑页】C402｜逻辑页25｜5分钟
【前页输入】
沃若双假设卡在手（C302 产物，未封口）；刚读完第四章首句“黄而陨”。
【唯一困难】
后文检验前文时，学生最省力的动作是“换一个新答案”；困难是真翻回第三章旧卡，在保留／改写／撤回三选中作出决定并补新依据。
【唯一功能】
用后文真正检验前文的桑叶解释，经历后文改变前文。
【文学对象】
桑之未落，其叶沃若。桑之落矣，其黄而陨。
【信息状态】
旧卡此刻翻回（真实分发时点）；两句并读；“陨＝坠落”校准后置；教师不给“正确解释”。
【学生主动作】
保留、改写或撤回旧假设；补新依据
【参与路径】
恢复旧稿对读54秒→圈状态词与校准46秒→个人三选83秒→同桌追问语境依据54秒→再修与教师后置归纳63秒。
【可见产物】
桑叶解释修订
【教师作用】
两句同节拍各读两遍的领读者；“陨”校准者；归纳后置——只在学生三选完成后引用原话整理，不给唯一答案。
【真实等待】
时间盒明示五段；三选83秒零插话零示例。
【反馈与本人修订】
同桌追问依据后可再修一次；改写与撤回须在旧卡上留痕（划线保留原句）。
【首次后用】
C406与S06
【正常反例】
两个假设都舍不得删的允许“保留但降格”；依据找不出的标“待第四章后再验”。
【主视觉职责】
同枝前后状态
【插图资格】
I04c待A/B
【第一人称接收】
我把旧卡翻回来（没有另起新纸），对读两句后作出了三选之一并补了新依据（如“黄而陨”顶住了“茂盛”的解释）；旧答案的改动痕迹在卡上。
【故事回接】
桑叶由盛转衰，解释随证据修订——诗从劝告走进日子；切页句把“三岁食贫／淇水汤汤”交给 C403。
【删除损失】
删除会让意象理解仍是猜答案
【相邻反证】
本页是“经历后文改变前文”的机制实现（U3/U8）；若允许另起新纸，前文理解的变化不可见，检验退化为替换。
【失败信号】
学生另起新纸写答案（检验不可见）；教师宣布标准解释后学生照抄三选；旧假设无人选择撤回（全保留＝假检验）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【V6.6物理画面】C403-A｜300秒
【本画面为何存在】
让多年生活与当下渡水片刻同时存在。
【学生此刻看见】
三岁食贫｜淇水汤汤｜自我徂尔，三岁食贫。｜淇水汤汤，渐车帷裳。｜这两句里的时间，一样长吗？
【教师逐字稿】
先把两句说准。‘徂’是往，‘食贫’是过贫苦生活；‘汤汤’读shāng shāng，写水势浩大；‘渐’读jiān，是浸湿；帷裳是车旁的帷幔。现在不急着分析。左半教室读第一句，把‘三岁’读得能让人感到日子很长；右半教室读第二句，让‘汤汤’有水势，但不要喊。交换一次，其余人闭眼听：哪一句像把多年压在四字里，哪一句把一个瞬间推到眼前？（等待两轮朗读和听者落笔。）请每人写两句第三人称旁白：一句只说多年里发生什么，一句只说淇水这一刻看见什么。写完同桌只圈一个诗中找不到的词，比如离开、归家、被赶走、向东向西；作者自己决定删除或改弱。（等待修订。）我们可以看见长期食贫，也可以看见浩荡淇水浸湿车帷；诗没有告诉我们这次渡水的方向，更没有在这里写完她是否离开。事实站稳以后，下一句才开始辨明责任。
【舞台动作】
（个人自然口译）
（教师定点校音释义）
（左右半班分部朗读）
（交换声音角色）
（个人写双镜头旁白）
（同桌只圈越界词）
（作者亲自修订）
【本画面时间盒】
个人口译和定点释义：61秒；两轮分部朗读与闭眼听：64秒；个人双镜头旁白：61秒；同桌越界词核查：39秒；作者修订、分享与转场：75秒
【现场分支】
把三岁只算三年：按教材语境校准为多年，不把诗中概数锁成精确年限。
补写归家离开：圈出无原句依据的方向或结局词，改回淇水、水势和车帷被浸的事实。
不愿变化朗读：允许准确平读，并承担闭眼听者任务；体验不强制表演。
【听者任务】
听辨长期压缩与瞬间展开；核查旁白是否越过原句补写方向、动机或结局。
【证据位置】
04D C403区
【切页触发】
多年食贫，淇水浸帷，这是她讲出的经历。紧接着，她不再只讲发生了什么，而开始说：谁没有差错，谁的行为变了。
【V6.6逻辑页】C403｜逻辑页26｜5分钟
【前页输入】
桑叶解释已修订（C402）；四项音义（徂／食贫／汤汤／渐）待校准。
【唯一困难】
“三岁食贫”是压在一起的多年，“淇水汤汤”是推到眼前的片刻；困难是让长时与瞬间同时存在于一段双镜头旁白，而不是概括成“生活艰苦”。
【唯一功能】
让多年生活与当下渡水片刻同时存在。
【文学对象】
自我徂尔，三岁食贫。淇水汤汤，渐车帷裳。
【信息状态】
首答不显示‘多年／片刻’完成答案；教师在学生读写以后命名两种时间尺度。
【学生主动作】
听长时与展开的声音；写双时间旁白
【参与路径】
个人口译与定点释义61秒→两轮分部朗读与闭眼听64秒→个人双镜头旁白61秒→同桌越界词核查39秒→作者修订分享与转场75秒。
【可见产物】
双时间旁白
【教师作用】
四项音义的最小校准者；分部朗读的组织者；闭眼听期间零语言；分享只引旁白原句不评文采。
【真实等待】
时间盒明示五段；旁白撰写61秒与闭眼听64秒期间零插话。
【反馈与本人修订】
越界词核查后作者本人改写；重听后允许调换两个镜头的顺序并说明理由。
【首次后用】
C404_405与S02
【正常反例】
双镜头写不出的先分别写“多年一句＋当天一句”不要求衔接；听不出的如实写感受不到时间差。
【主视觉职责】
多年与片刻并置
【插图资格】
I05待A/B
【第一人称接收】
我闭眼听了两轮分部朗读，写了一段双时间旁白——一句压着多年、一句推到眼前；越界词被同桌核查过，修订后是我的。
【故事回接】
多年食贫、淇水浸帷——她讲出的经历有了两种时间；切页句：“她不再只讲发生了什么，而开始说谁没有差错、谁的行为变了”。
【删除损失】
删除会让责任判断缺少婚后事实
【相邻反证】
C404_405 处理责任词链；时间体验与责任判断是两种经验；本页旁白将被 S02 生活事实直接取回，不可省。
【失败信号】
旁白被概括成“生活很苦”一句；闭眼听被取消或插话；教师示范了双镜头写法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【V6.6物理画面】C404_405-B0｜180秒
【本画面为何存在】
在完整三句中先写四词短义并标清人物主体。
【学生此刻看见】
女也不爽，士贰其行。｜士也罔极，二三其德。｜不爽　贰行　罔极　二三其德｜先写准每个词，再标出它在说谁。
【教师逐字稿】
在两句原诗里先写四个词的短义：不爽、贰行、罔极、二三其德。每个词旁再标它说的是女子还是男子。请独立完成；不确定可以留空，不能先看同桌。（等待并封存。）
【舞台动作】
（承接前一画面）
（说出本页唯一邀请）
（真实等待或处理现场作品）
（在答案越界前切页）
【本画面时间盒】
说明词义与主体双任务：25秒；个人首答：120秒；封存与取样：35秒
【现场分支】
暂时没有答案：允许留下真实空白，或先回到最确定的一处原词。
判断越过原诗：请指出依据；没有原词支撑时降低判断强度。
【听者任务】
本页先形成自己的词义和主体判断。
【证据位置】
C404_405四词首答
【切页触发】
两份真实标法已经抽出，下一页只比较分歧。
【V6.6逻辑页】C404_405｜逻辑页27｜7分钟
【前页输入】
生活事实与双时间旁白已完成（C403）；学生尚未面对责任四词。
【唯一困难】
不爽／贰行／罔极／二三其德易被抄成四条注释；困难是先写此刻能确定的短义（不确定留问号），再把四组词排成逐步加重的证据链并分清谁在说谁。
【唯一功能】
把四组词连成逐步加重的责任证据链。
【文学对象】
女也不爽，士贰其行。士也罔极，二三其德。
【信息状态】
首答态只有两句原诗与短义任务；释义校准在公开首答之后（逐词）；责任结论的因果解释（为什么变）留给 S03。
【学生主动作】
排序着色四组词；用自然话说清责任
【参与路径】
连读与个人短义首答105秒→公开两份与逐词校准115秒→个人画关系与黑板质询120秒→责任边界、重读与转场80秒。
【可见产物】
责任证据链
【教师作用】
短义首答后才逐词校准（爽／贰／罔极／二三其德）；黑板只呈现学生的链并接受质询；边界守住“诗写行为与责任，不写原因”。
【真实等待】
时间盒明示四段；105秒首答期零提示（台词明示“不要先抄现成释义”）；质询期学生主导。
【反馈与本人修订】
校准后回词修订短义；链条顺序在质询后可重排，本人执笔。
【首次后用】
C406与S03
【正常反例】
短义不确定就留问号待校准，不算错；排不出全链的先排两词并说明理由。
【主视觉职责】
四词递进链
【插图资格】
无
【第一人称接收】
我在四个词下各写了短义（有问号的后来校准了），用深浅两色标出说女子与说男子的词，排出了一条逐步加重的链，并能用自然话说清“谁没有差错、谁变了”。
【故事回接】
桑叶、生活事实、责任判断三层齐备；切页句：“只把这三层讲回一个完整故事”（交 C406）。
【删除损失】
拆页会把同一判断切碎并重复核查
【相邻反证】
C406 章意与 S03 原因回收都以这条链为证据；本页若提前讲“为什么变”（时代／性格归因），S03 因果首答即被泄。
【失败信号】
短义首答前出现注释投影；链条由教师排好后学生着色；责任词被引申为对男子的人身审判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【V6.6物理画面】C404_405-B1｜105秒
【本画面为何存在】
公开两份真实首答，用上下句比较词义和主体分歧。
【学生此刻看见】
哪些词在说女子？哪些词在说男子？｜看看黑板上两份真实标法。｜只用上下句提出修正。
【教师逐字稿】
看黑板上两份真实标法。先不说谁对，只问：上下句分别以‘女’和‘士’起头，四个词各跟着谁？请一位同学指出一处分歧，另一位只用上下句修正。所有人同时检查自己的主体标记。
【舞台动作】
（承接前一画面）
（说出本页唯一邀请）
（真实等待或处理现场作品）
（在答案越界前切页）
【本画面时间盒】
观看真实分歧：20秒；一处分歧互证：45秒；全员自查：25秒；切页：15秒
【现场分支】
暂时没有答案：允许留下真实空白，或先回到最确定的一处原词。
判断越过原诗：请指出依据；没有原词支撑时降低判断强度。
【听者任务】
只用句中主体纠正，不先评价责任轻重。
【证据位置】
现场两份标法与个人自查
【切页触发】
人物已经分清，接下来把四个词的判断力度读出来。
【V6.6逻辑页】C404_405｜逻辑页27｜7分钟
【前页输入】
生活事实与双时间旁白已完成（C403）；学生尚未面对责任四词。
【唯一困难】
不爽／贰行／罔极／二三其德易被抄成四条注释；困难是先写此刻能确定的短义（不确定留问号），再把四组词排成逐步加重的证据链并分清谁在说谁。
【唯一功能】
把四组词连成逐步加重的责任证据链。
【文学对象】
女也不爽，士贰其行。士也罔极，二三其德。
【信息状态】
首答态只有两句原诗与短义任务；释义校准在公开首答之后（逐词）；责任结论的因果解释（为什么变）留给 S03。
【学生主动作】
排序着色四组词；用自然话说清责任
【参与路径】
连读与个人短义首答105秒→公开两份与逐词校准115秒→个人画关系与黑板质询120秒→责任边界、重读与转场80秒。
【可见产物】
责任证据链
【教师作用】
短义首答后才逐词校准（爽／贰／罔极／二三其德）；黑板只呈现学生的链并接受质询；边界守住“诗写行为与责任，不写原因”。
【真实等待】
时间盒明示四段；105秒首答期零提示（台词明示“不要先抄现成释义”）；质询期学生主导。
【反馈与本人修订】
校准后回词修订短义；链条顺序在质询后可重排，本人执笔。
【首次后用】
C406与S03
【正常反例】
短义不确定就留问号待校准，不算错；排不出全链的先排两词并说明理由。
【主视觉职责】
四词递进链
【插图资格】
无
【第一人称接收】
我在四个词下各写了短义（有问号的后来校准了），用深浅两色标出说女子与说男子的词，排出了一条逐步加重的链，并能用自然话说清“谁没有差错、谁变了”。
【故事回接】
桑叶、生活事实、责任判断三层齐备；切页句：“只把这三层讲回一个完整故事”（交 C406）。
【删除损失】
拆页会把同一判断切碎并重复核查
【相邻反证】
C406 章意与 S03 原因回收都以这条链为证据；本页若提前讲“为什么变”（时代／性格归因），S03 因果首答即被泄。
【失败信号】
短义首答前出现注释投影；链条由教师排好后学生着色；责任词被引申为对男子的人身审判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【V6.6物理画面】C404_405-B2｜135秒
【本画面为何存在】
校准四词，在句内范围说明双方行为与伤害责任，再由学生亲自画出语意的加重。
【学生此刻看见】
“女也不爽”，说的是哪一层？｜在这段婚姻的操持中，她并无差失。｜男子却行为前后不一，后来反复无常。｜她过去的判断可以反思；男子的失信与伤害不能归责于她。
【教师逐字稿】
校准：‘不爽’是没有差错。放在‘女也不爽，士贰其行’这两句里，诗先说明她在这段婚姻的操持中并无差失；‘贰其行’写男子行为前后不一；‘罔极’是没有准则；‘二三其德’写品行反复无常。这不能扩大成‘她一生所有判断都无需反思’。她过去的判断可以反思；男子后来的失信、反复与粗暴不能归责于她。请把责任判断按语意由浅到深连起来，再写一句诗怎样分清两个人的责任。
【舞台动作】
（承接前一画面）
（说出本页唯一邀请）
（真实等待或处理现场作品）
（在答案越界前切页）
【本画面时间盒】
四词准确校准：45秒；个人责任递进图：55秒；写自然判断句：35秒
【现场分支】
暂时没有答案：允许留下真实空白，或先回到最确定的一处原词。
判断越过原诗：请指出依据；没有原词支撑时降低判断强度。
【听者任务】
核对责任主体和语意加重。
【证据位置】
C404_405修订后的责任递进图
【切页触发】
词义已经分清，现在把第四章重新讲回桑叶落下后的生活。
【V6.6逻辑页】C404_405｜逻辑页27｜7分钟
【前页输入】
生活事实与双时间旁白已完成（C403）；学生尚未面对责任四词。
【唯一困难】
不爽／贰行／罔极／二三其德易被抄成四条注释；困难是先写此刻能确定的短义（不确定留问号），再把四组词排成逐步加重的证据链并分清谁在说谁。
【唯一功能】
把四组词连成逐步加重的责任证据链。
【文学对象】
女也不爽，士贰其行。士也罔极，二三其德。
【信息状态】
首答态只有两句原诗与短义任务；释义校准在公开首答之后（逐词）；责任结论的因果解释（为什么变）留给 S03。
【学生主动作】
排序着色四组词；用自然话说清责任
【参与路径】
连读与个人短义首答105秒→公开两份与逐词校准115秒→个人画关系与黑板质询120秒→责任边界、重读与转场80秒。
【可见产物】
责任证据链
【教师作用】
短义首答后才逐词校准（爽／贰／罔极／二三其德）；黑板只呈现学生的链并接受质询；边界守住“诗写行为与责任，不写原因”。
【真实等待】
时间盒明示四段；105秒首答期零提示（台词明示“不要先抄现成释义”）；质询期学生主导。
【反馈与本人修订】
校准后回词修订短义；链条顺序在质询后可重排，本人执笔。
【首次后用】
C406与S03
【正常反例】
短义不确定就留问号待校准，不算错；排不出全链的先排两词并说明理由。
【主视觉职责】
四词递进链
【插图资格】
无
【第一人称接收】
我在四个词下各写了短义（有问号的后来校准了），用深浅两色标出说女子与说男子的词，排出了一条逐步加重的链，并能用自然话说清“谁没有差错、谁变了”。
【故事回接】
桑叶、生活事实、责任判断三层齐备；切页句：“只把这三层讲回一个完整故事”（交 C406）。
【删除损失】
拆页会把同一判断切碎并重复核查
【相邻反证】
C406 章意与 S03 原因回收都以这条链为证据；本页若提前讲“为什么变”（时代／性格归因），S03 因果首答即被泄。
【失败信号】
短义首答前出现注释投影；链条由教师排好后学生着色；责任词被引申为对男子的人身审判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【V6.6物理画面】C406-A｜360秒
【本画面为何存在】
在教师三层板书模型后，独立完成第四章章意。
【学生此刻看见】
桑叶落下以后，发生了什么？｜桑之落矣，其黄而陨。｜自我徂尔，三岁食贫。｜淇水汤汤，渐车帷裳。｜女也不爽，士贰其行。｜士也罔极，二三其德。
【教师逐字稿】
请把第四章再读一遍。每个人先用三四句自然话写清：桑叶发生了什么变化；她嫁过去以后经历了怎样的生活和渡水片刻；诗怎样分清两个人的行为与责任。（等待，不给三层标题。）现在合上书，低声讲给自己听四十五秒。真正断开的地方立刻返诗，找到原句以后合书补完。请一位同学讲，其他人只指出应该回到哪一句。教师根据真实材料在黑板后置写出三个短语：桑叶变化、婚后生活、责任判断。每个人再看自己的章意，补一处原词或改一处责任表述。
【舞台动作】
（教师承接前页）
（学生先独立形成）
（同伴限定倾听）
（教师据真实材料校准）
（学生亲自修订）
（自然切页）
【本画面时间盒】
完整重读：40秒；个人第四章自然章意：125秒；合书低声口述和返诗：65秒；公开一份和定位断点：60秒；教师后置板书和本人修订：70秒
【现场分支】
暂时没有答案：允许先圈出最确定的一处原词，用不完整但真实的话开口；没有新增也可如实保留。
判断越过原诗：请指出依据；找不到相应原词时，把断言降低为问题、可能或文本未写。
【听者任务】
听清发言依据的是哪一句诗、给人物故事增加了什么；只补遗漏或提出一处证据追问。
【证据位置】
每个人的第四章自然章意、原词补证和责任修订
【切页触发】
第四章已经把生活事实和责任说清。第五章会把三岁拆成每一天，又让屋外的笑声传进来。
【V6.6逻辑页】C406｜逻辑页28｜6分钟
【前页输入】
C402 假设已检验、C403 双时间旁白、C404_405 证据链在手；尚未写第四章章意。
【唯一困难】
三层（物象／事实／责任）都走过，学生仍可能逐层罗列；困难是合成一段章意——且本页要求在教师板书模型之前独立成文，板书后置验证而非先给框架。
【唯一功能】
在教师三层板书模型后，独立完成第四章章意。
【文学对象】
桑之落矣，其黄而陨。自我徂尔，三岁食贫。淇水汤汤，渐车帷裳。女也不爽，士贰其行。士也罔极，二三其德。
【信息状态】
首屏不预填物象／生活／责任三卡；三层由学生复述后的现场板书形成。
【学生主动作】
每人写第四章自然章意；合书口述并在断点返诗修订
【参与路径】
完整重读40秒→个人章意125秒→合书低声口述与返诗65秒→公开一份与定位断点60秒→教师后置板书与本人修订70秒。
【可见产物】
个人第四章自然章意
【教师作用】
章意期零提示（台词明示“不给三层标题”）；公开一份后由他人定位断点；板书在修订之前只作对照模型。
【真实等待】
时间盒明示五段；125秒独立章意期零插话。
【反馈与本人修订】
断点返诗补说；板书出现后本人对照修订（只改自己认为该改处）。
【首次后用】
C501与S03
【正常反例】
章意先写三层关键词再连成句；口述断点如实返诗，不背板书。
【主视觉职责】
三层板书
【插图资格】
无
【第一人称接收】
我先独立写出了第四章章意（没等三层标题），合书口述过、断点返诗补说过；教师板书后我对照修订了一处。
【故事回接】
第四章以“桑落—食贫渡水—责任分明”收束并写入轨道；切页句预告第五章“把三岁拆成每一天，又让屋外的笑声传进来”。
【删除损失】
删除会使第四章三层关系散开
【相邻反证】
教师三层板书模型若前置，本页退化为填表（G3 覆盖虚假）；与 C306 同构但能力升级——本页多了“独立成文先于模型”的要求。
【失败信号】
只有随机一人形成章意；学生只抄三层标题；个人文字没有任何原词或责任边界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【V6.6物理画面】C501-A｜240秒
【本画面为何存在】
完整听见第五章，并定位动作和声音的主体。
【学生此刻看见】
第五章｜谁在忙碌，谁的声音从外面传来？｜三岁为妇，靡室劳矣。｜夙兴夜寐，靡有朝矣。｜言既遂矣，至于暴矣。｜兄弟不知，咥其笑矣。｜静言思之，躬自悼矣。｜完整读完，再留下：｜一个反复的生活动作｜声音转向内心的原句
【教师逐字稿】
第四章说到男子的行为反复无常。第五章不先讲一个抽象结论，而是把门推开，让我们看见日子怎样过。请让五句诗完整响一遍；读的时候先不圈‘苦’‘惨’这些词，只听谁在做事，谁的声音从外面传来，什么时候声音收进女子心里。（教师范读，学生低声完整再读。）现在才落笔：抄一个会在生活中反复发生的动作；再抄一处你觉得声音已经转入她内心的原句。不确定可以留问号。同桌只核对是否来自第五章，不替对方讲答案。（等待修订。）我们先保留一条大致路径：日常劳作在前，男子和家人的声音进入，最后只剩她静下来思量。每一步究竟怎样写，继续往下走。
【舞台动作】
（读取第四章故事轨道第四格）
（教师完整范读）
（学生完整低声读）
（读后才写两项初稿）
（同桌只核对原句来源）
（学生亲自修订）
【本画面时间盒】
承接第四格：25秒；教师和学生完整读章：90秒；个人生成两项初稿：60秒；同桌来源核对和修订：40秒；引用现场原句与转场：25秒
【现场分支】
只写很辛苦：请改回诗中人物实际做的动作，例如起、寐，或抄一整句。
把兄弟理解成所有家人：本页只保留诗中明确的兄弟，不扩大到所有家人。
提前补写身体暴力：先回到‘暴’这一字；具体伤害方式诗中没有写，C503会守住边界。
【听者任务】
只核对动作和转折句是否来自第五章，不评价情绪是否深刻。
【证据位置】
05E C501区
【切页触发】
先不走向兄弟的笑声。前两句只写一天从什么时候开始、什么时候结束，却说这一天重复了许多年。
【V6.6逻辑页】C501｜逻辑页29｜4分钟
【前页输入】
第四章已辨明男子行为反复（贰其行、二三其德）；学生保留C404行动判断与C401标记经验，第五章未读，空间声音初稿为空。
【唯一困难】
学生易把第五章五句压成“女子很惨”的标签，听不出诗先写身体与日常（靡室劳、夙兴夜寐），再让外部声音（暴、咥笑）进入，最后收进女子内心（静言思之）的层次。
【唯一功能】
完整听见第五章，并定位动作和声音的主体。
【文学对象】
三岁为妇，靡室劳矣。夙兴夜寐，靡有朝矣。言既遂矣，至于暴矣。兄弟不知，咥其笑矣。静言思之，躬自悼矣。
【信息状态】
整章五句先完整响一遍，屏上不出现劳作、粗暴、孤立等归纳词；学生先以“谁在做事、谁的声音从外面来”听读，两项初稿落在读后。
【学生主动作】
整章读；标主体、动作和声音来源
【参与路径】
教师范读+学生低声整读90秒→个人抄一个反复动作与一处转入内心的原句60秒→同桌只核来源40秒→两条现场引用转场。
【可见产物】
空间声音初稿
【教师作用】
范读承载章的声音；巡视确认动作与声音两类标记都有；收束只引用学生现场原句并保留“大致路径”，不预告词义与责任判断。
【真实等待】
时间盒明示：承接25秒→整读90秒→个人两项初稿60秒→同桌来源核对40秒→现场引用与转场25秒；初稿期间零插话。
【反馈与本人修订】
同桌只核对所抄是否出自第五章，不讲对错；学生把情绪词改回动作或完整原句，或移动内心转折位置并保留理由。
【首次后用】
C502—C504
【正常反例】
只找到早起或晚睡一个动作可先保留；把“惨”当动作者回到原句改写；转折位置判不同可留待C504再修。
【主视觉职责】
第五章完整声场
【插图资格】
无
【第一人称接收】
我完整听了第五章并抄下一个会反复发生的生活动作与一处声音转入内心的原句；我能说出这两处分别是谁在动、谁在发声。
【故事回接】
婚后日常被打开：她多年操持家务、早起晚睡→他如愿后转粗暴→兄弟不知而笑→她静下来独自思量；切页句指向“一天叠成许多年”。
【删除损失】
删除会让不幸仍是标签
【相邻反证】
不并入C502：整章必须在词义与日程支架出现前完整接收；若首屏即注“靡室劳＝家务劳苦”，学生先记注释而失去“谁在做事”的整听。
【失败信号】
学生只记住“很惨”不能指认动作主体；读前屏上已出现劳苦或孤立归纳；两项初稿被同桌讲评成对错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【V6.6物理画面】C502-A｜300秒
【本画面为何存在】
把夙兴—夜寐拉成一天首尾，再叠入三岁与靡有朝的多年重复。
【学生此刻看见】
三岁为妇，靡室劳矣。｜夙兴夜寐，靡有朝矣。｜靡室劳矣：家里的劳苦活儿，没有一样不做。｜夙：早　兴：起身　夜寐：晚睡　朝：一日｜一天从哪里开始，到哪里结束？｜哪个字让它不只发生一天？
【教师逐字稿】
先借注释把两句说成自然话。三岁是多年；靡是没有；室劳是家务劳动；夙是早，兴是起身，夜寐是晚睡，朝在这里是一日。现在请两位同学分站教室前后：一位从‘夙兴’开始，一位在另一端接‘夜寐’；全班不齐读，只在两句末尾低声接出‘靡’。交换一次。听的人闭眼：一天从哪里开始，到哪里结束？哪个字让这种日子不只发生一天？（完成声场与等待。）现在每人写一句第三人称旁白，要同时有一天和多年，不添加具体家务清单。若写成‘贤妻无怨无悔、勤劳是她的美德’，同桌可以圈出美化劳苦或替人物补心情的词，作者自己改回长期家务、早起晚睡、没有一天例外的事实。（等待修订。）诗写她承担多年家务与时间负担；赞许一个人的勤勉，不能让不均衡的劳动从画面里消失。
【舞台动作】
（个人借注释口译）
（教师定点校词）
（两位学生分站早晚两端）
（全班只接两声靡）
（交换两端朗读）
（个人写生活旁白）
（同桌圈美化或补写词）
（作者亲自修订）
【本画面时间盒】
口译与词义校准：64秒；两轮空间声场与闭眼听：72秒；个人生活旁白：61秒；同桌用词核查：39秒；作者修订、分享和转场：64秒
【现场分支】
赞美贤惠盖过负担：允许保留赞许，但另写清劳动是否长期集中、时间是否有休止。
虚构具体家务：删去诗中未写的做饭、洗衣等清单，回到室劳、夙兴、夜寐。
不愿走位：留在座位用手指向早晚两端朗读，并承担闭眼听者任务。
【听者任务】
听早晚跨度和靡的无例外感；核查生活旁白是否美化劳苦或虚构细节。
【证据位置】
05E C502区
【切页触发】
多年这样生活以后，下一句忽然写‘既遂’和‘至于暴’。一个人的愿望满足了，另一个人的日子却走向哪里？
【V6.6逻辑页】C502｜逻辑页30｜5分钟
【前页输入】
C501已留一个反复生活动作与一处内心原句；靡、朝等词义尚未校准，嵌套时间线为空。
【唯一困难】
学生把“夙兴夜寐”译成勤劳贤惠的标签，听不出一天首尾被“三岁”“靡有朝”叠成多年重复，也可能用赞美掩盖劳动长期集中在一人身上。
【唯一功能】
把夙兴—夜寐拉成一天首尾，再叠入三岁与靡有朝的多年重复。
【文学对象】
三岁为妇，靡室劳矣。夙兴夜寐，靡有朝矣。
【信息状态】
原句与必要词义主位，问题开放；屏上不出现勤劳、贤惠、权责失衡等完成判断。
【学生主动作】
完成嵌套时间线；口头概括日常
【参与路径】
口译64秒→两位同学分站教室前后接读“夙兴”“夜寐”、全班句末低接“靡”两轮72秒→个人第三人称旁白61秒→同桌用词核查39秒→修订分享转场64秒。
【可见产物】
嵌套时间线
【教师作用】
先借注释把两句说成自然话；听者报告只限早晚跨度与无一日例外是否听见；不概括人物性格。
【真实等待】
时间盒明示：口译64秒→两轮声场72秒（听者闭眼）→个人旁白61秒→同桌核查39秒→修订分享64秒；旁白写作期间零插话。
【反馈与本人修订】
同桌只圈“贤妻无怨”一类浪漫化词或无证家务清单；作者把重音或停顿调整一次，改成有原句依据的长期家务与早起晚睡事实。
【首次后用】
C505与S02
【正常反例】
不愿走位者在座位两端指向朗读即可；认为勤劳值得赞美者保留赞许，但须另写劳动长期集中在一人身上的事实句。
【主视觉职责】
一天叠入多年
【插图资格】
I06须重审
【第一人称接收】
我在前后接读中听见一天从夙兴到夜寐、由靡连成无一日例外；我的旁白同时含一天与多年，核查后删去了浪漫化词。
【故事回接】
她的多年被写成日复一日：早起晚睡无一日例外、家务无一样不扛；切页句指向“愿望满足后他变成了什么样”。
【删除损失】
删除会失去日常劳作的时间结构
【相邻反证】
不并入C503：本页须让“一天×多年”的时间结构先成立；与“既遂—至暴”的行为反差同屏会两种思维互相淹没。
【失败信号】
旁白只剩“她很勤劳”无一天／多年结构；声场轮齐读或未闭眼听；同桌核查讲了人物评价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【V6.6物理画面】C503-A｜360秒
【本画面为何存在】
读清既遂—至暴的变化，并有限回看婚前警讯而不倒推预谋。
【学生此刻看见】
后来再看开头，哪些细节值得留意？｜抱布贸丝　来即我谋　将子无怒｜后来再看，值得留意｜只凭当时，不能断定
【教师逐字稿】
先读‘言既遂矣，至于暴矣’。‘言’是助词，‘遂’是如愿，‘暴’是粗暴；这句明写婚事如愿以后，他的行为走到了粗暴。现在翻回第一章，从‘抱布贸丝、来即我谋、将子无怒’中选一处，在纸上写两行：后来再看，这处值得留意什么；只凭当时，又不能断定什么。（等待首答。）请三位同学各读一处，听众只追问判断由哪个原词和哪条后来事实托住。后来的‘贰其行、二三其德、至于暴矣’会使早期细节成为需要认真观察的信息，提醒承诺要由长期行动核验；但它们不能证明男子从一开始就有已证实的预谋，也不能要求女子为没有预知未来负责。恋爱中的强烈投入可能使人忽略不协调信息，这值得我们学会审慎；但‘恋爱脑’不能成为责怪受伤者的标签。请把自己的两行改得更准确。
【舞台动作】
（教师承接前页）
（学生先独立形成）
（同伴限定倾听）
（教师据真实材料校准）
（学生亲自修订）
（自然切页）
【本画面时间盒】
本句释义和翻回开头：65秒；个人双行首答：105秒；三份公开和证据追问：85秒；边界校准和本人修订：105秒
【现场分支】
暂时没有答案：允许先圈出最确定的一处原词，用不完整但真实的话开口；没有新增也可如实保留。
判断越过原诗：请指出依据；找不到相应原词时，把断言降低为问题、可能或文本未写。
【听者任务】
听清发言依据的是哪一句诗、给人物故事增加了什么；只补遗漏或提出一处证据追问。
【证据位置】
第一、五章之间的‘值得留意／不能断定’双行句
【切页触发】
男子的变化已经写明。第五章还有另一重孤立：外面的笑声散去以后，她只能独自思量。
【V6.6逻辑页】C503｜逻辑页31｜6分钟
【前页输入】
C502已成立多年投入事实；第一章原文在教材可翻回；双行句（值得留意／不能断定）为空。
【唯一困难】
学生易把“暴”虚构为具体身体伤害，或把婚前细节一律倒推为有预谋伪装；难在后见之明使早期信息值得重看，而不等于当时已能断定。
【唯一功能】
读清既遂—至暴的变化，并有限回看婚前警讯而不倒推预谋。
【文学对象】
言既遂矣，至于暴矣。氓之蚩蚩，抱布贸丝。匪来贸丝，来即我谋。将子无怒，秋以为期。
【信息状态】
当前句在上、三处早期原词在下；问题允许发现警告而不预判蓄意欺骗或具体伤害方式；证据边界由教师在校准段明确。
【学生主动作】
任选一处婚前细节；写现在能说明与仍不能说明
【参与路径】
释义与翻回开头65秒→个人双行首答105秒→三份公开＋听众追问85秒→边界校准与本人修订105秒。
【可见产物】
有限回看双行句
【教师作用】
明确“暴”只到粗暴、诗未写方式；引用三份真实双行句整理“值得重看≠已证明”；不替学生生成唯一警告清单。
【真实等待】
时间盒明示：释义65秒→首答105秒（零插话）→公开追问85秒→校准修订105秒；追问只认原词与后来事实。
【反馈与本人修订】
听众只追问“由哪个原词、哪条后来事实托住”；作者把“一定伪装／早有暴力”改为“值得重看但此处尚不能证明”，或补一个被忽略的原词。
【首次后用】
C505与S03
【正常反例】
认为早期细节无异常者可保留，但须说明后文是否改变自己的阅读；判全是伪装者删去“一定、预谋”等超证据词。
【主视觉职责】
今昔证据边界
【插图资格】
无
【第一人称接收】
我选了“将子无怒”写下“后来值得重看／当时不能断定”两行；修订后我能说清自己的判断边界在哪两个原词之间。
【故事回接】
愿望满足后的态度转折（既遂—至暴）使开头的贸丝、议婚、无怒成为值得重看的信息；故事从相遇推进到关系质变。
【删除损失】
删除会失去审慎与证据边界
【相邻反证】
不并入C502：跨章回看与证据强度判断需要日常事实先成立；也不并入C504——理性判断与声场体验同屏会失焦。
【失败信号】
双行句只写“他是骗子”；公开段教师替学生列标准警告清单；“暴”被讲成具体伤害情节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【V6.6物理画面】C504-A｜300秒
【本画面为何存在】
用全课唯一声场体验外部笑声退去后女子独自思量。
【学生此刻看见】
笑声散去以后……｜兄弟不知，咥其笑矣。｜静言思之，躬自悼矣。｜外面的声音退去以后，空间里只剩下谁？
【教师逐字稿】
先把字音和词义说准：咥读xì，是笑的样子；躬是自身；悼是悲伤。现在全课只做这一次声场。教室两侧克制地低读‘兄弟不知，咥其笑矣’，不是表演嘲笑；声音完全退去后，真正沉默三秒，再由中间一位同学读‘静言思之，躬自悼矣’。其余人闭眼听，不忙着判断。（完成声场与静默。）请睁眼，只在纸上画三格：外声——沉默——内声，再用第三人称写一句：此刻的她处在怎样的位置？不交换，不审稿，也不要求讲自己的家庭。诗只写兄弟不了解而笑，随后她静思、自悼；我们可以由此看见理解和托举的缺席，却不能虚构她怎样求助、所有家人怎样拒绝。最重的一笔，不是更响的控诉，而是笑声过去，只剩一个人面对自己的悲伤。
【舞台动作】
（教师承接前页）
（学生完成主动作）
（公开少量真实材料）
（教师据原诗归纳）
（自然切页）
【本画面时间盒】
完整课堂过程：300秒
【现场分支】
暂时没有答案：允许先回到原句圈出最确定的一处，再用不完整但真实的话开口。
判断越过原诗：请说出依据；找不到相应原词时，把断言降为问题或可能。
【听者任务】
听清发言引用了哪一句诗、给人物故事增加了什么；只补遗漏，不替发言者重写答案。
【证据位置】
教材第五章旁的外声—沉默—内声三格
【切页触发】
把这间屋子里的时间、声音和人物留下。下一页，我们用一小段生活把许多年写出来。
【V6.6逻辑页】C504｜逻辑页32｜5分钟
【前页输入】
长期劳作与行为粗暴已成立；咥、躬、悼音义未校准；三格声场图未画。
【唯一困难】
学生用“家人不支持”的标签掠过笑声与沉默的声场，或补写求助被拒、全部家人恶意等诗外事实。
【唯一功能】
用全课唯一声场体验外部笑声退去后女子独自思量。
【文学对象】
兄弟不知，咥其笑矣。静言思之，躬自悼矣。
【信息状态】
两句上下相对只给最低词义；“支持缺失、孤立”等标签不出现；三秒沉默由课堂真实发生而非写在屏上。
【学生主动作】
听外声—沉默—内声；静写第三人称处境
【参与路径】
词义校准→两侧克制低读“兄弟不知，咥其笑矣”→真正沉默三秒→中间一人读“静言思之，躬自悼矣”→个人三格＋处境句（不交换不审稿）。
【可见产物】
声音层次与处境句
【教师作用】
只校音义（咥xì、躬、悼）与事实边界（只写兄弟、未写求助）；不审稿、不要求讲自己家庭、不代写处境句。
【真实等待】
300秒内声场—沉默—静写三段时点明确；外声退净后真实三秒内零言语；处境句写作不交换。
【反馈与本人修订】
听者只报告外声停止后三秒里的空间感；作者把“全家拒绝救她”改为“兄弟不了解并讥笑，她缺少理解与托举”，或保留更克制的原句判断。
【首次后用】
C505、S02与S03
【正常反例】
不愿朗读者做听者即可；认为兄弟只是不知而非恶意者保留复杂判断；没有私人经验不影响参与。
【主视觉职责】
声场与留白
【插图资格】
I07须重审
【第一人称接收】
我闭眼听见笑声退去、三秒空、然后只剩她自己的声音；我画的三格与处境句只用“兄弟不知、咥笑、静思自悼”以内的信息。
【故事回接】
外部最后一点声音（兄弟之笑）也退去，她从被讥笑转入独自思量；故事只剩她一个人面对自己。
【删除损失】
删除会失去社会孤立的声音经验
【相邻反证】
不并入C503：证据强度是理性判断，本页是全课唯一声场体验；合并会让情绪体验被讨论挤掉。
【失败信号】
三格画出“全家抛弃她”；沉默被教师口头倒计时填满；处境句后进入互审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【V6.6物理画面】C505-A｜240秒
【本画面为何存在】
把第五章转译成不虚构的生活片段，直接供全文第二问使用。
【学生此刻看见】
一间屋子里的许多年｜夙兴夜寐｜既遂至暴｜兄弟不知｜躬自悼矣｜只写诗里有的日子，不替她增添诗外的遭遇。
【教师逐字稿】
第五章已经不用再做一次同构的章末互审。请看四个原句锚点：夙兴夜寐、靡有朝矣；言既遂矣、至于暴矣；兄弟不知、咥其笑矣；静言思之、躬自悼矣。现在合上书，用第三人称写四十到六十字，题目就是‘一间屋子里的许多年’。写她每天怎样过，男子怎样变化，外面的笑声退去后她怎样独自思量；不要添具体家务清单、具体伤害方式或诗中没有的求助过程。教师安静巡视，不让同桌互相改。时间到后只匿名投影两份，我读给大家听，请全班说它能回到哪一句诗；暂时不评价辞藻高低。这段生活文字不是另一个装饰性任务，它会在全文第二问直接展出，用来把‘不幸’从标签还原成可观察的日常。
【舞台动作】
（教师承接前页）
（学生完成主动作）
（公开少量真实材料）
（教师据原诗归纳）
（自然切页）
【本画面时间盒】
完整课堂过程：240秒
【现场分支】
暂时没有答案：允许先回到原句圈出最确定的一处，再用不完整但真实的话开口。
判断越过原诗：请说出依据；找不到相应原词时，把断言降为问题或可能。
【听者任务】
听清发言引用了哪一句诗、给人物故事增加了什么；只补遗漏，不替发言者重写答案。
【证据位置】
第五章生活片段卡
【切页触发】
生活已经写到最深处。第六章不再增加新的日常事件，她开始重新看旧愿、旧事和誓言。
【V6.6逻辑页】C505｜逻辑页33｜4分钟
【前页输入】
五句已分别生成时间体验（C502）、回看判断（C503）与支持处境（C504）；40—60字生活片段为空。
【唯一困难】
学生记住沉重标签却不能撤开支架复述谁在何种日常里做什么、关系如何一步步把她推向孤立；也易在片段里添家务清单或伤害方式。
【唯一功能】
把第五章转译成不虚构的生活片段，直接供全文第二问使用。
【文学对象】
三岁为妇，靡室劳矣。夙兴夜寐，靡有朝矣。言既遂矣，至于暴矣。兄弟不知，咥其笑矣。静言思之，躬自悼矣。
【信息状态】
完整原诗重新主位、三个自然问题限定旁白范围；随后必须合书、翻背材料、熄屏，检索真实发生而非口头宣告。
【学生主动作】
合书写40—60字生活片段；匿名猜回原句
【参与路径】
四个原句锚点呈现→合书写40—60字第三人称片段→匿名投影两份→全班说它由哪几句托住→作者定位断点合书补说。
【可见产物】
第五章生活片段
【教师作用】
安静巡视不让同桌互改；只读两份匿名片段；只修事实顺序与暴、家人范围边界，不制造统一情绪。
【真实等待】
240秒内写作段零互改；匿名展读后讲述者只定位断点合书补说，不重写全篇。
【反馈与本人修订】
听者只核对“日常—变化—独处”三层是否齐全不代讲；作者用自己的自然话写第五格，删去勤劳、悲惨等标签替代。
【首次后用】
S02直接展读
【正常反例】
暂时讲不全者从最确定的一句开始，再只开教材找前后；没有遗漏者如实说完整，不制造不同。
【主视觉职责】
学生文字
【插图资格】
无
【第一人称接收】
我合上书写出她的一间屋子里的许多年；被投影时我能说出每一层由哪句原诗托住，断点在哪句补说。
【故事回接】
第五章成为可讲述的生活：多年操持→他如愿变粗暴→笑声退去→她独自思量；片段直接进入全文第二问（S02）。
【删除损失】
删除会使全文活动重新从零写
【相邻反证】
不并入C504：C504仍在声场体验两句，本页撤除全部支架做章内跨章重建；同屏会使体验与检索互相打断。
【失败信号】
片段写成家务或伤害清单；投影后教师代讲章意；未合书抄原文冒充重建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【V6.6物理画面】C601-A｜240秒
【本画面为何存在】
发现末章不再新增生活事件，而在重新评价旧愿、旧事和誓言。
【学生此刻看见】
第六章｜她把哪些旧事重新放回眼前？｜及尔偕老，老使我怨。｜淇则有岸，隰则有泮。｜总角之宴，言笑晏晏。｜信誓旦旦，不思其反。｜反是不思，亦已焉哉。｜完整读完，再留下：｜一处回到过去的原句｜一处真正收束全诗的原句
【教师逐字稿】
第五章最后，她静下来，只能独自思量。第六章会不会立刻斩断过去？请先不要只等最后一句，让五句完整地走一次。读时听一听：她把哪些旧事重新放回眼前，哪一句才真正把全诗收住。（教师完整范读，学生再低声完整读。）现在才落笔：抄一处回到过去的原句，再抄一处真正收束全诗的原句；在末句旁只留一个你最初听见的声音词，听不准就留问号。同桌只核对是不是原句、时间是否真的回到过去，不替对方命名情绪。（等待。）我们先不把末句叫成觉醒或离开。女子要先重新经过偕老、边界、少年言笑和誓言，结尾才会到来。
【舞台动作】
（读取第五格）
（教师完整范读）
（学生完整低声读）
（读后才摘过去句和收束句）
（同桌只核对来源与时间）
（学生亲自修订）
【本画面时间盒】
承接第五格：25秒；教师和学生完整读章：90秒；个人两项初稿：60秒；同桌来源核对和修订：40秒；引用原句与转场：25秒
【现场分支】
只等亦已焉哉：先抄一处更早的旧事句，让停止之前的核验过程保留下来。
直接写已经离开：退回原句，只写收束声音；是否实际离开待C605区分。
情绪词互相不同：保留疲惫、怨、清醒等不同初听，不以投票选唯一。
【听者任务】
只核对原句和时间位置，不替同伴给末句定性。
【证据位置】
06F C601区
【切页触发】
先看第一个回环：同一个‘老’字，一边是愿望，一边为什么成了怨？
【V6.6逻辑页】C601｜逻辑页34｜4分钟
【前页输入】
第五章止于“静言思之，躬自悼矣”的独自思量；学生保留C505生活片段与一个内心声音位置，第六章未读，回望初稿为空。
【唯一困难】
学生带着第五章孤立处境进入末章，容易直接抓住末句的决绝，看不见女子在说出“停止”之前重新核验了旧愿（及尔偕老）、共同记忆（总角之宴）与誓言（信誓旦旦）。
【唯一功能】
发现末章不再新增生活事件，而在重新评价旧愿、旧事和誓言。
【文学对象】
及尔偕老，老使我怨。淇则有岸，隰则有泮。总角之宴，言笑晏晏。信誓旦旦，不思其反。反是不思，亦已焉哉。
【信息状态】
整章五句先完整响一遍；标题与提示不出现违誓、觉醒、离开、决绝等结论词；“旧事回望＋收束句＋一个声音词”的初稿在读后落笔。
【学生主动作】
整章读；标旧事与可能收束句
【参与路径】
教师范读+学生低声整读90秒→个人抄一处回到过去的原句、一处收束全诗的原句并留一个声音词60秒→同桌只核来源与时间感40秒→引用原句转场25秒。
【可见产物】
回望初稿
【教师作用】
范读承载章声；巡视确认两类原句与声音词都有；收束只确认本章把怨意、边界、少年言笑、信誓放进同一回望，不命名末句情绪。
【真实等待】
时间盒明示：承接25秒→整读90秒→个人两项初稿60秒→同桌来源核对40秒→引用与转场25秒；初稿期间零插话。
【反馈与本人修订】
同桌只核对是否原句、时间是否回到过去，不替对方命名情绪；学生移动一次时间标记，或把抽象结论改回完整原句并保留声音问号。
【首次后用】
C602—C605
【正常反例】
第一句视为过去或当下可暂存分歧；声音词写不出留问号；同桌后仍有分歧不由教师立即裁决。
【主视觉职责】
第六章完整回望
【插图资格】
无
【第一人称接收】
我完整听了第六章并抄下一处回到过去的原句与一处收束全诗的原句；我能说出它们分别把她带回了什么、把全诗收在了哪里。
【故事回接】
末章不再新增生活事件：她重新经过偕老旧愿、自然边界、少年言笑与誓言，最后收在“亦已焉哉”；切页句指向“及尔偕老”的旧愿。
【删除损失】
删除会使末章被拆成名句
【相邻反证】
不并入C602：整章的未知声音必须先于“老”字解释发生；首屏即讲回环，学生只会去课下找修辞而不再听诗。
【失败信号】
初稿只有末句“亦已焉哉”；同桌替对方命名“觉醒”或“决绝”；标题或提示出现违誓等结论词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【V6.6物理画面】C602-A｜240秒
【本画面为何存在】
从同一‘老’字读出旧愿怎样折成现实怨意。
【学生此刻看见】
及尔偕老，老使我怨。｜第一个‘老’——｜第二个‘老’——｜同一个字，为什么折了回来？
【教师逐字稿】
请一组同学接读：前半句读‘及尔偕老’，后半句接‘老使我怨’。同一个‘老’字出现两次，先不要听我解释。每个人写两小行：第一次读到‘老’，你看见怎样的将来；第二次再读到‘老’，眼前的生活变成了什么？（教师等待个人落笔。）请两位同学读自己的两行，听众只指出他是否让两个‘老’落在了不同的时间里。现在听教师示范一次：前半句把声音送向共同的将来，后半句却让同一个字折回已经发生的怨与生活。请根据刚才听见的差别，自定一处停顿，再读。这里不急着只记一个‘反讽’标签；最要紧的是，一个字重新出现，旧愿便在后来现实中改变了声音。第六章正从这里开始检验过去。
【舞台动作】
（一组接读两个‘老’）
（学生双行静写）
（两份公开并辨时间）
（教师后置朗读示范）
（学生自定停顿重读）
（回接第六章）
【本画面时间盒】
接读与个人双行首答：85秒；两份公开与时间辨认：60秒；教师示范和学生重读：65秒；文学归纳与转场：30秒
【现场分支】
暂时没有答案：允许先回到原句圈出最确定的一处，再用不完整但真实的话开口。
判断越过原诗：请说出依据；找不到相应原词时，把断言降为问题或可能。
【听者任务】
听清发言引用了哪一句诗、给人物故事增加了什么；只补遗漏，不替发言者重写答案。
【证据位置】
教材第六章旁的两个‘老’字双行批注
【切页触发】
旧愿折回现实以后，诗忽然写淇水有岸、湿地有边。先把地貌看清，再谈它怎样接住前后文。
【V6.6逻辑页】C602｜逻辑页35｜4分钟
【前页输入】
C601已发现本章在重新回望旧事；两个“老”字未区分，旧愿／现实双行为空。
【唯一困难】
学生把“及尔偕老，老使我怨”平直译成“不能白头偕老”，听不出同一个“老”字如何把曾经的共同愿望反折成当下的怨意。
【唯一功能】
从同一‘老’字读出旧愿怎样折成现实怨意。
【文学对象】
及尔偕老，老使我怨。
【信息状态】
原句与最低词义居中，不显示愿望破裂、幻灭等教师答案；两个“老”的分别由学生在接读与双行中自己听出。
【学生主动作】
接读两个老；写旧愿与现实双行
【参与路径】
一组接读前半句／后半句，85秒内完成个人双行首答→两份公开与时间辨认60秒→教师示范与学生自定停顿重读65秒→文学归纳转场30秒。
【可见产物】
同词反折
【教师作用】
先不给解释；示范一次“前半句送向将来、后半句折回怨与生活”的读法；归纳只到同词回环，不急着发“反讽”标签。
【真实等待】
时间盒明示：接读与双行首答85秒→公开辨认60秒→示范重读65秒→归纳转场30秒；个人落笔期间零插话。
【反馈与本人修订】
听众只指出两个“老”是否落在不同时间里；作者补写两个时间层或只改一处交接停顿，使翻转可被听见。
【首次后用】
C606_S01与S06
【正常反例】
认为两处“老”都指年老者可先保留字面再补语境差异；不愿对读者做听者即可。
【主视觉职责】
同词复现
【插图资格】
无
【第一人称接收】
我在接读中第一次把“老”读向共同的将来、第二次读回眼下的怨；我的双行写出了这两个时间层，重读时调整了一处停顿。
【故事回接】
白头到老的旧愿被同一个“老”字折回当下的怨苦；故事从共同设想折返她此刻的处境；切页句转向淇水与低地的边界。
【删除损失】
删除会失去末章时间折返
【相邻反证】
不并入C603：本页核心是同词声音翻转，下一页是两种解释的证据比较；同屏会使两种证据状态互相干扰。
【失败信号】
双行写成两句翻译；公开段被评价“读得深情与否”；教师先讲“反讽”再让学生读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【V6.6物理画面】C603-A｜300秒
【本画面为何存在】
先看清有界地貌，再形成能接前后文的一种或两种解释。
【学生此刻看见】
淇则有岸，隰则有泮。｜这两处地貌有什么共同点？｜放在前后句之间，它可能接住什么？
【教师逐字稿】
先把字面说准：隰读xí，是低湿的地方；泮读pàn，同畔，是边、岸。淇水有岸，低湿地有边。请先独立写一种可能：诗为什么在偕老与怨之后忽然说自然有界？你的解释要接回前一句或后面的回忆。（等待首解。）四人组轮流只读自己的解释和所接原句；听到不同想法，再补第二种。组内不要投票，把两种解释分别问清：它靠哪个词，怎样接前后文？最后每个人给更能说服自己的一个轻轻加圈，也可以并列，但要写保留理由。（等待。）教材允许两种理解：可反衬男子心意无常、没有限制；也可反衬女子若偕老将产生无边怨苦。它们不是随意猜测，都要经过全章语境。这里不要直接改写成现代口号‘做人要有边界’；先让诗自己的怨、反与信誓说话。
【舞台动作】
（个人字面口译）
（教师校音释义）
（个人写第一种解释）
（四人轮读证据）
（每人补第二种解释）
（个人排序或并列）
（教师后置多解）
【本画面时间盒】
口译与词义：46秒；个人第一种解释：63秒；四人证据轮读：71秒；个人补解和排序：58秒；公开两种衔接：29秒；教师后置归纳：33秒
【现场分支】
直接写现代边界：追问原句在偕老、怨和后文誓言之间怎样衔接，先恢复诗内意义。
只有一种解释：先保留，听见同伴或教师后再补第二种，不要求假装认同。
用人数判对错：取消表决，只比较各自接哪一句、靠哪个词。
【听者任务】
只追问解释的前后文落点和原词，不替全班选唯一答案。
【证据位置】
06F C603区
【切页触发】
自然边界之后，时间突然退回少年。她为什么在最痛的时候，还把当初的言笑和信誓完整地记起？
【V6.6逻辑页】C603｜逻辑页36｜5分钟
【前页输入】
首句已把偕老旧愿折为怨；隰、泮字义未校准；第一种解释未写。
【唯一困难】
学生把岸、泮机械译成“做人要有边界”的口号，或只接受一个象征密码，忽略教材保留的多义衔接与证据比较过程。
【唯一功能】
先看清有界地貌，再形成能接前后文的一种或两种解释。
【文学对象】
淇则有岸，隰则有泮。
【信息状态】
原句与最低词义在先，只有开放问题；两种教材解释标签不提前展示，由个人首解与四人轮读生成。
【学生主动作】
选择或并列解释；写前后文依据
【参与路径】
口译词义46秒→个人第一种解释63秒→四人证据轮读71秒→个人补解与排序58秒→公开两种衔接29秒→教师后置归纳33秒。
【可见产物】
有依据解释
【教师作用】
只在最后说明教材两种理解（反衬男子无常／反衬女子怨苦无边）；轮读期间不投票、不站队；现代婚姻口号被改回原句语境。
【真实等待】
时间盒明示：口译46秒→首解63秒（零插话）→四人轮读71秒→补解排序58秒→公开29秒→归纳33秒；组内不投票。
【反馈与本人修订】
同伴只问“这解释接哪句、靠哪个词”；作者补第二种解释、调整排序，或把“做人要有边界”改回男子无常／女子怨苦的语境。
【首次后用】
C606_S01与S06
【正常反例】
只想到一种解释者先保留，听同伴后补第二种；认为两种皆可者标并列并写保留理由；不站队也可。
【主视觉职责】
无人地貌与多解
【插图资格】
I09待A/B
【第一人称接收】
我写出了“自然有界反衬什么”的一种解释并补上第二种；我能指出自己更信的那一种靠哪个词接住了前后文。
【故事回接】
淇水有岸、低地有边，反衬人事的无边——他的无常或她的怨苦；回望从旧愿经过自然落到誓言；切页句指向总角之宴的少年记忆。
【删除损失】
删除会把自然图景变现代口号
【相邻反证】
不并入C602：本页需要个人双解释与小组证据比较，时间结构和社会结构都与同词对读不同。
【失败信号】
解释停在“做事要有底线”口号；四人组投票决定正确解释；教师先亮两种标签再讨论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【V6.6物理画面】C604-B0｜180秒
【本画面为何存在】
让学生在无颜色、无分栏暗示下自行发现六处原词之间的关系。
【学生此刻看见】
这六处原词，怎样彼此照见？｜信誓旦旦｜至于暴矣｜言笑晏晏｜二三其德｜总角之宴｜不思其反｜先自己摆一摆：哪些词可以放在一起？依据是什么？
【教师逐字稿】
六张原词卡现在没有分栏、没有颜色提示，也没有规定要分成几类。请先自己摆：哪些词彼此照见？你可以分两组，也可以先做别的关系；只要说清依据。（教师不指向任何区域，等待个人首排。）把首排拍照或画在纸上，再切页。
【舞台动作】
（承接前一画面）
（说出本页唯一邀请）
（真实等待或处理现场作品）
（在答案越界前切页）
【本画面时间盒】
说明无预分类规则：25秒；个人随机卡首排：115秒；封存首排：25秒；切页：15秒
【现场分支】
暂时没有答案：允许留下真实空白，或先回到最确定的一处原词。
判断越过原诗：请指出依据；没有原词支撑时降低判断强度。
【听者任务】
本页先个人分类，不看他人落点。
【证据位置】
C604无答案首排照片或纸面图
【切页触发】
先保留你的排法。现在用原诗核验其中两组事实。
【V6.6逻辑页】C604｜逻辑页37｜5分钟
【前页输入】
当下事实（劳作、粗暴、反复、孤立）已成立；六张原词卡未分组；旧日／后来双栏为空。
【唯一困难】
学生把“总角之宴，言笑晏晏”当成关系本来很好的证据，或反过来把旧日全部判成伪装；难在同时保存当时经验的真实与后来违誓的责任。
【唯一功能】
同时保存旧日确有欢乐誓言和后来行为应受核验。
【文学对象】
总角之宴，言笑晏晏。信誓旦旦，不思其反。
【信息状态】
六张原词卡等大、同一中性色，按对齐托盘排布；源顺序交错两个语义族，使任何一行或一列都不构成分组暗示；学生首排以后才显示旧日与后来两组事实。
【学生主动作】
完成旧日事实与后来事实双栏；讨论两个极端答案
【参与路径】
词义校准与个人首排100秒→同桌只挑一张分歧卡比较55秒→两张分歧卡上黑板并返诗校准75秒→个人修订与转场70秒。
【可见产物】
双真相句
【教师作用】
只校词义与事实层（记忆真实＋行为违背）；不推断当初誓言的主观真伪；归纳时保存双真相。
【真实等待】
时间盒明示：首排100秒（零插话）→同桌分歧卡55秒→公开返诗75秒→修订归纳70秒；犹豫卡可放中间留问号。
【反馈与本人修订】
同桌只圈抹除旧日经验或用旧日替后来免责的词；作者把“全是假象／有美好就该坚持”改为“曾有和悦经验与诚恳誓言，但后来行为违背”。
【首次后用】
C605与S03
【正常反例】
认为旧日或含表象者保留可能，但不抹去叙述者记得的言笑晏晏；不愿判断动机者只写经验与行为。
【主视觉职责】
双栏事实
【插图资格】
I08待A/B
【第一人称接收】
我把六张原词卡分进“她记得的旧日”与“后来核验的事实”，犹豫的放了中间；修订后我能同时说出少年的欢乐是真的、后来的违背也是真的。
【故事回接】
少年言笑与信誓作为真实记忆被保存，又与“不思其反”的违誓对质；回望完成核验，故事只差一句收束；切页句指向末两句。
【删除损失】
删除会扁平化人物记忆
【相邻反证】
不并入C605：旧日经验与违誓核验必须先完成，末句才有资格读停止判断与声音；顺序颠倒会让决断失去依据。
【失败信号】
双栏只剩“全假的”；同桌比较变成说服对方；教师判定誓言当时真假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【V6.6物理画面】C604-B1｜120秒
【本画面为何存在】
依据学生首排后置校准双真相，并让本人写出能同时容纳两组事实的一句。
【学生此刻看见】
她记得的旧日｜总角之宴｜言笑晏晏｜信誓旦旦｜后来显出的事实｜不思其反｜二三其德｜至于暴矣｜过去的欢乐是真；后来的失信也是真。｜请把两面都写进同一句话。
【教师逐字稿】
先把旧句说准：‘总角’指少年时代，‘宴’在这里是欢乐，不是宴席；‘晏晏’是和柔温婉的样子，‘旦旦’是诚恳的样子。再回到原句：‘总角之宴、言笑晏晏、信誓旦旦’是她确实记得的旧日；‘不思其反、二三其德、至于暴矣’是后来显出的事实。旧日欢乐是真的，后来失信也是真的。请不要让一面抹掉另一面，用自己的话写一句能同时容纳两组事实的判断。准确者可以保留原排。
【舞台动作】
（承接前一画面）
（说出本页唯一邀请）
（真实等待或处理现场作品）
（在答案越界前切页）
【本画面时间盒】
四词最低校准：25秒；返诗核验两组事实：35秒；个人双真相句：45秒；收束：15秒
【现场分支】
暂时没有答案：允许留下真实空白，或先回到最确定的一处原词。
判断越过原诗：请指出依据；没有原词支撑时降低判断强度。
【听者任务】
确认综合句同时容纳旧日与后来。
【证据位置】
C604双真相个人句
【切页触发】
旧事没有被抹去，却也不能替后来的失信免责。末句因此更重。
【V6.6逻辑页】C604｜逻辑页37｜5分钟
【前页输入】
当下事实（劳作、粗暴、反复、孤立）已成立；六张原词卡未分组；旧日／后来双栏为空。
【唯一困难】
学生把“总角之宴，言笑晏晏”当成关系本来很好的证据，或反过来把旧日全部判成伪装；难在同时保存当时经验的真实与后来违誓的责任。
【唯一功能】
同时保存旧日确有欢乐誓言和后来行为应受核验。
【文学对象】
总角之宴，言笑晏晏。信誓旦旦，不思其反。
【信息状态】
六张原词卡等大、同一中性色，按对齐托盘排布；源顺序交错两个语义族，使任何一行或一列都不构成分组暗示；学生首排以后才显示旧日与后来两组事实。
【学生主动作】
完成旧日事实与后来事实双栏；讨论两个极端答案
【参与路径】
词义校准与个人首排100秒→同桌只挑一张分歧卡比较55秒→两张分歧卡上黑板并返诗校准75秒→个人修订与转场70秒。
【可见产物】
双真相句
【教师作用】
只校词义与事实层（记忆真实＋行为违背）；不推断当初誓言的主观真伪；归纳时保存双真相。
【真实等待】
时间盒明示：首排100秒（零插话）→同桌分歧卡55秒→公开返诗75秒→修订归纳70秒；犹豫卡可放中间留问号。
【反馈与本人修订】
同桌只圈抹除旧日经验或用旧日替后来免责的词；作者把“全是假象／有美好就该坚持”改为“曾有和悦经验与诚恳誓言，但后来行为违背”。
【首次后用】
C605与S03
【正常反例】
认为旧日或含表象者保留可能，但不抹去叙述者记得的言笑晏晏；不愿判断动机者只写经验与行为。
【主视觉职责】
双栏事实
【插图资格】
I08待A/B
【第一人称接收】
我把六张原词卡分进“她记得的旧日”与“后来核验的事实”，犹豫的放了中间；修订后我能同时说出少年的欢乐是真的、后来的违背也是真的。
【故事回接】
少年言笑与信誓作为真实记忆被保存，又与“不思其反”的违誓对质；回望完成核验，故事只差一句收束；切页句指向末两句。
【删除损失】
删除会扁平化人物记忆
【相邻反证】
不并入C605：旧日经验与违誓核验必须先完成，末句才有资格读停止判断与声音；顺序颠倒会让决断失去依据。
【失败信号】
双栏只剩“全假的”；同桌比较变成说服对方；教师判定誓言当时真假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【V6.6物理画面】C605-A｜300秒
【本画面为何存在】
读清反—不思—已的收束，并区分停止判断与实际离开。
【学生此刻看见】
反是不思，亦已焉哉｜信誓旦旦，不思其反。｜反是不思，亦已焉哉！｜诗写到了哪里？又停在了哪里？
【教师逐字稿】
把最后两句连读。‘反’是违背，‘是’指这件事，‘已’是停止、了结；‘焉哉’连用，让声音在末尾收住。请先用自己的话翻译末句，再在纸上写两行：到‘亦已焉哉’，诗明确写出了女子怎样的判断；至于她后来怎样生活、去了哪里，诗有没有继续叙述？屏幕只有两个问题，没有替你填答案。（教师等待个人完成。）请听两份，若发言越过原诗，听者只问：‘这一步写在哪个词里？’现在教师校准：末句写到她对这段关系作出停止的判断；诗没有交代后来实际怎样行动、去了哪里。两种朗读都可以成立：一种决绝，一种疲惫而清醒；但都不能靠声音补写诗中没有的情节。请选择自己的停顿，再读末句。让‘亦已焉哉’停在证据边界上，而不是被我们续写成一个现成结局。
【舞台动作】
（连读末两句并定点释词）
（学生自然口译和边界双行首答）
（教师沉默等待）
（公开两份并追问原词）
（教师后置校准写到/未写到）
（学生自选声线重读）
【本画面时间盒】
连读、释词和自然口译：70秒；个人边界双行首答：75秒；公开两份与原词追问：65秒；后置校准、自选朗读和转场：90秒
【现场分支】
暂时没有答案：允许先回到原句圈出最确定的一处，再用不完整但真实的话开口。
判断越过原诗：请说出依据；找不到相应原词时，把断言降为问题或可能。
【听者任务】
听清发言引用了哪一句诗、给人物故事增加了什么；只补遗漏，不替发言者重写答案。
【证据位置】
教材末句旁的写到/未写到双行与自选停顿
【切页触发】
末句已经停住。现在回看六章，只让各章的人物、动作和转折在黑板上重新相接。
【V6.6逻辑页】C605｜逻辑页38｜5分钟
【前页输入】
旧日言笑与信誓已保存、违誓已核验（C604）；末句词义未校准；边界双行为空。
【唯一困难】
学生把“亦已焉哉”只读成爽快决绝并直接叙述她已离家成功，或只读成无力悲伤；难在“判断已形成”与“行动未写”之间的边界。
【唯一功能】
读清反—不思—已的收束，并区分停止判断与实际离开。
【文学对象】
信誓旦旦，不思其反。反是不思，亦已焉哉。
【信息状态】
末两句完整并列、只给最低词义；标题不出现觉醒、离开、胜利；屏上只有两个问题，不替学生填答案。
【学生主动作】
选择停顿与声线；写诗写到与没有写到
【参与路径】
连读释词与自然口译70秒→个人“诗写到／没写到”双行首答75秒→公开两份与原词追问65秒→后置校准、自选朗读与转场90秒。
【可见产物】
停止判断边界
【教师作用】
校准只到“停止判断”与“实际离开未写”的边界；朗读允许疲惫、痛、清醒、决绝并存；不评最佳朗读。
【真实等待】
时间盒明示：口译70秒→双行首答75秒（零插话）→公开追问65秒→校准与自选朗读90秒；追问只认“写在哪个词里”。
【反馈与本人修订】
听者只写实际听见的声音与原词位置；作者把“她已成功离开”改为“她形成到此为止的判断，后续行动未写”，并按听感改一处停顿重音。
【首次后用】
C606_S01、S03与S08
【正常反例】
两种声线都听不出者先准确平读；认为两种兼有者写先后层次；不要求每人公开朗读。
【主视觉职责】
末句与静默
【插图资格】
无
【第一人称接收】
我写出了末句“诗明确写到的判断”与“诗没有交代的部分”；重读时我选定的停顿让我听见了自己的声线，而不是标签。
【故事回接】
“反—不思”回环核验违誓后，“亦已焉哉”收束全诗：她形成停止的判断；故事在此停住，后面的生活由诗外想象止步。
【删除损失】
删除会把末句变成觉醒出走标签
【相邻反证】
不并入C604：记忆保存与违誓核验先于双声体验与边界判断；合并会让末句在没有依据时被读成口号。
【失败信号】
双行写成“她离家出走成功了”；朗读被评出“最佳”；校准段教师补写后续生活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【V6.6物理画面】C606_S01-B0｜440秒
【本画面为何存在】
每个人在公共答案前独立写事件、关键句自然义和章间变化。
【学生此刻看见】
她的一生，怎样走到“亦已焉哉”？｜第一章　第二章　第三章　第四章　第五章　第六章｜每章留下：一件事｜一句诗的自然意思｜与前一章相比发生了什么变化
【教师逐字稿】
现在回答第一个问题：她的一生怎样走到‘亦已焉哉’？每个人先独立完成六章小长卷。每章只写三样：发生的一件事；一句关键原诗的自然意思；与前一章相比发生了什么变化。不会的地方留空，不看同伴。（四分钟后封存。）剩余时间检查是否六章都有落笔；不要等公共答案再补。
【舞台动作】
（承接前一画面）
（说出本页唯一邀请）
（真实等待或处理现场作品）
（在答案越界前切页）
【本画面时间盒】
说明六章三落点：50秒；个人六章长卷：250秒；自查空项：90秒；封存与分组：50秒
【现场分支】
暂时没有答案：允许留下真实空白，或先回到最确定的一处原词。
判断越过原诗：请指出依据；没有原词支撑时降低判断强度。
【听者任务】
本状态无公共声音，保护个人六章首答。
【证据位置】
公共答案前封存的个人六章长卷
【切页触发】
个人长卷已经封存，现在六组各自把一章说准。
【V6.6逻辑页】C606_S01｜逻辑页39｜17分钟
【前页输入】
五句的字词、声音、多解与事实边界均已生成（C601—C605）；六章小长卷为空，材料未封存。
【唯一困难】
学生分别记住了多义（岸泮）、双声（末句）与边界（停止判断），却不能撤开支架讲清她为何要回到旧事、停止判断怎样一步步形成。
【唯一功能】
只进行一次全诗人生统整，让六章成为有转折、有因果的长卷。
【文学对象】
及尔偕老，老使我怨。淇则有岸，隰则有泮。总角之宴，言笑晏晏。信誓旦旦，不思其反。反是不思，亦已焉哉。
【信息状态】
首屏只显示未完成六章时间线；相识、迁嫁、失衡、孤立、止息等章意不预填。
【学生主动作】
每人先独立完成六章小长卷；分组互证后接成公共长卷，再闭卷复述
【参与路径】
个人六章长卷先封存→六组各互证一章→一组一章卡→全班接成长卷→每人闭卷复述并返诗修复。
【可见产物】
时间封存的个人六章长卷和公共人生长卷
【教师作用】
沿原诗朴素串讲转折与因果；只修事实、顺序与多解边界；不替学生统一末句声线。
【真实等待】
时间盒明示：首答283秒（不看同伴）→互证216秒（全员先说）→接长卷181秒→串讲108秒→闭卷复述164秒→收束68秒；封存后翻回即违规。
【反馈与本人修订】
听者只核对“事件—原句—变化”三层与停止边界；讲述者定位断点后合书补说，用自然话写第六格；把实际离开改回停止判断。
【首次后用】
S02与S03
【正常反例】
讲不全者从“亦已焉哉”往前找理由；听者没有遗漏如实确认；缺一张章末卡者借同桌核对后在便笺补一格，不假装材料齐全。
【主视觉职责】
现场六章长卷
【插图资格】
无
【第一人称接收】
我先独立写出六章长卷，封存后靠闭卷复述接上公共长卷；我能从任一章说出它相对前一章的变化与关键原句。
【故事回接】
她的一生接成有转折的长卷：相遇议婚→等待迁嫁→劝诫→婚变→孤立→回望与停止；第一问“她经历了什么”在此回答。
【删除损失】
删除会失去全文第一问，拆页会重复重建
【相邻反证】
不并入C605：C605在两句支架内完成声音与边界，本页撤除全部支架做六章与全诗唯一一次统整；同屏会重复重建。
【失败信号】
个人纸带在公共答案后补抄；小组代表代替组员形成章意；长卷只有事件没有转折或因果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【V6.6物理画面】C606_S01-B1｜250秒
【本画面为何存在】
以六张真实章卡形成公共长卷，让听众补转折。
【学生此刻看见】
六张章卡，接成她的一生｜看黑板上的真实长卷：每一章怎样接住前一章？｜只补自己原先缺少的一个转折。
【教师逐字稿】
六组各自只负责一章，但组内每个人都要读自己的三项；所有人说过以前不选代表。出现分歧就返诗，最后合成一张公共章卡。六张卡按次序接成长卷。听众只在自己的纸上补一处原先缺少的转折，不整段抄卡。现在请各组依次贴卡、说一句承接。
【舞台动作】
（承接前一画面）
（说出本页唯一邀请）
（真实等待或处理现场作品）
（在答案越界前切页）
【本画面时间盒】
组内全员互证：105秒；六张章卡接长卷：100秒；听众个人补转折：30秒；准备校准：15秒
【现场分支】
暂时没有答案：允许留下真实空白，或先回到最确定的一处原词。
判断越过原诗：请指出依据；没有原词支撑时降低判断强度。
【听者任务】
听每章怎样接住前章，只补自己真正缺少的一处。
【证据位置】
六张现场章卡与个人异色补写
【切页触发】
长卷已经由你们接起，下一页教师只校准顺序和断点。
【V6.6逻辑页】C606_S01｜逻辑页39｜17分钟
【前页输入】
五句的字词、声音、多解与事实边界均已生成（C601—C605）；六章小长卷为空，材料未封存。
【唯一困难】
学生分别记住了多义（岸泮）、双声（末句）与边界（停止判断），却不能撤开支架讲清她为何要回到旧事、停止判断怎样一步步形成。
【唯一功能】
只进行一次全诗人生统整，让六章成为有转折、有因果的长卷。
【文学对象】
及尔偕老，老使我怨。淇则有岸，隰则有泮。总角之宴，言笑晏晏。信誓旦旦，不思其反。反是不思，亦已焉哉。
【信息状态】
首屏只显示未完成六章时间线；相识、迁嫁、失衡、孤立、止息等章意不预填。
【学生主动作】
每人先独立完成六章小长卷；分组互证后接成公共长卷，再闭卷复述
【参与路径】
个人六章长卷先封存→六组各互证一章→一组一章卡→全班接成长卷→每人闭卷复述并返诗修复。
【可见产物】
时间封存的个人六章长卷和公共人生长卷
【教师作用】
沿原诗朴素串讲转折与因果；只修事实、顺序与多解边界；不替学生统一末句声线。
【真实等待】
时间盒明示：首答283秒（不看同伴）→互证216秒（全员先说）→接长卷181秒→串讲108秒→闭卷复述164秒→收束68秒；封存后翻回即违规。
【反馈与本人修订】
听者只核对“事件—原句—变化”三层与停止边界；讲述者定位断点后合书补说，用自然话写第六格；把实际离开改回停止判断。
【首次后用】
S02与S03
【正常反例】
讲不全者从“亦已焉哉”往前找理由；听者没有遗漏如实确认；缺一张章末卡者借同桌核对后在便笺补一格，不假装材料齐全。
【主视觉职责】
现场六章长卷
【插图资格】
无
【第一人称接收】
我先独立写出六章长卷，封存后靠闭卷复述接上公共长卷；我能从任一章说出它相对前一章的变化与关键原句。
【故事回接】
她的一生接成有转折的长卷：相遇议婚→等待迁嫁→劝诫→婚变→孤立→回望与停止；第一问“她经历了什么”在此回答。
【删除损失】
删除会失去全文第一问，拆页会重复重建
【相邻反证】
不并入C605：C605在两句支架内完成声音与边界，本页撤除全部支架做六章与全诗唯一一次统整；同屏会重复重建。
【失败信号】
个人纸带在公共答案后补抄；小组代表代替组员形成章意；长卷只有事件没有转折或因果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【V6.6物理画面】C606_S01-B2｜190秒
【本画面为何存在】
教师沿原诗校准六章人生长卷，不把校准画面冒充个人检索。
【学生此刻看见】
相识议婚　→　等待迁嫁　→　桑叶劝告｜婚后贫困与失信　→　日复一日与孤立　→　回望旧誓，止息关系｜先看清这条路；下一页撤去答案。
【教师逐字稿】
请先看清这条公共长卷。沿原诗校准：相识议婚，等待迁嫁，桑叶劝告，婚后贫困与失信，日复一日与孤立，最后回望旧誓并作出止息判断。哪里与现场章卡不合，我只改事实，不抹去你们的自然话。现在把最容易断的一处圈在自己的长卷上。下一页我会撤去全部答案。
【舞台动作】
（承接前一画面）
（说出本页唯一邀请）
（真实等待或处理现场作品）
（在答案越界前切页）
【本画面时间盒】
教师朴素串讲：95秒；现场卡事实校准：55秒；个人圈断点：25秒；说明撤架：15秒
【现场分支】
暂时没有答案：允许留下真实空白，或先回到最确定的一处原词。
判断越过原诗：请指出依据；没有原词支撑时降低判断强度。
【听者任务】
核对教师是否忠实读取现场卡，并圈出自己的断点。
【证据位置】
校准后的公共长卷与个人断点圈
【切页触发】
请看最后一眼。下一页不再显示这条答案。
【V6.6逻辑页】C606_S01｜逻辑页39｜17分钟
【前页输入】
五句的字词、声音、多解与事实边界均已生成（C601—C605）；六章小长卷为空，材料未封存。
【唯一困难】
学生分别记住了多义（岸泮）、双声（末句）与边界（停止判断），却不能撤开支架讲清她为何要回到旧事、停止判断怎样一步步形成。
【唯一功能】
只进行一次全诗人生统整，让六章成为有转折、有因果的长卷。
【文学对象】
及尔偕老，老使我怨。淇则有岸，隰则有泮。总角之宴，言笑晏晏。信誓旦旦，不思其反。反是不思，亦已焉哉。
【信息状态】
首屏只显示未完成六章时间线；相识、迁嫁、失衡、孤立、止息等章意不预填。
【学生主动作】
每人先独立完成六章小长卷；分组互证后接成公共长卷，再闭卷复述
【参与路径】
个人六章长卷先封存→六组各互证一章→一组一章卡→全班接成长卷→每人闭卷复述并返诗修复。
【可见产物】
时间封存的个人六章长卷和公共人生长卷
【教师作用】
沿原诗朴素串讲转折与因果；只修事实、顺序与多解边界；不替学生统一末句声线。
【真实等待】
时间盒明示：首答283秒（不看同伴）→互证216秒（全员先说）→接长卷181秒→串讲108秒→闭卷复述164秒→收束68秒；封存后翻回即违规。
【反馈与本人修订】
听者只核对“事件—原句—变化”三层与停止边界；讲述者定位断点后合书补说，用自然话写第六格；把实际离开改回停止判断。
【首次后用】
S02与S03
【正常反例】
讲不全者从“亦已焉哉”往前找理由；听者没有遗漏如实确认；缺一张章末卡者借同桌核对后在便笺补一格，不假装材料齐全。
【主视觉职责】
现场六章长卷
【插图资格】
无
【第一人称接收】
我先独立写出六章长卷，封存后靠闭卷复述接上公共长卷；我能从任一章说出它相对前一章的变化与关键原句。
【故事回接】
她的一生接成有转折的长卷：相遇议婚→等待迁嫁→劝诫→婚变→孤立→回望与停止；第一问“她经历了什么”在此回答。
【删除损失】
删除会失去全文第一问，拆页会重复重建
【相邻反证】
不并入C605：C605在两句支架内完成声音与边界，本页撤除全部支架做六章与全诗唯一一次统整；同屏会重复重建。
【失败信号】
个人纸带在公共答案后补抄；小组代表代替组员形成章意；长卷只有事件没有转折或因果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【V6.6物理画面】C606_S01-B3｜140秒
【本画面为何存在】
同时撤去屏幕与黑板上的六章答案，让每个人真正离屏复述并只修自己的断点。
【学生此刻看见】
答案已经撤下。｜合上书，从第一章讲到第六章。｜断在何处，就回哪一句；补好以后，再合书讲完。
【教师逐字稿】
先把六张公共章卡从黑板上整体摘下，字面朝下放进文件夹；若内容写在固定黑板上，就先拍照保存，再用遮挡布完全盖住或擦除。请全班确认：屏幕、黑板和教室四周都看不到六章答案。现在合上书，低声从第一章讲到第六章。讲到真正断开的地方，在纸上做一个小记号；讲完以后才打开教材，只修那个断点，再合书从断点前一章重新讲到结尾。（教师巡视并抽取固定样本。）把这次修订封存。
【舞台动作】
（摘下、反扣或完全覆盖黑板公共长卷）
（请全班确认教室内无可见答案）
（学生合书连续复述）
（断点返诗）
（再合书复述并封存）
【本画面时间盒】
撤下或覆盖公共长卷：20秒；真正撤架后的闭卷复述：45秒；记录个人断点：15秒；返诗修复：35秒；再合书复述与封存：25秒
【现场分支】
黑板长卷仍可见：暂停计时，先整体反扣、摘下或完全覆盖；不能用‘请不要看’代替撤架。
固定板书无法立即擦除：先拍照保存，再用不透字的整幅遮挡布覆盖；确认后排看不到任何六章线索再开始。
【听者任务】
每个人只检验自己的六章复述，不用公共答案代替。
【证据位置】
公共长卷撤下或覆盖的现场照片；C606撤架复述断点与返诗修订
【切页触发】
她的一生已经能离开屏幕和黑板讲出。现在回答第二个问题：这些不幸落在怎样的日子里？
【V6.6逻辑页】C606_S01｜逻辑页39｜17分钟
【前页输入】
五句的字词、声音、多解与事实边界均已生成（C601—C605）；六章小长卷为空，材料未封存。
【唯一困难】
学生分别记住了多义（岸泮）、双声（末句）与边界（停止判断），却不能撤开支架讲清她为何要回到旧事、停止判断怎样一步步形成。
【唯一功能】
只进行一次全诗人生统整，让六章成为有转折、有因果的长卷。
【文学对象】
及尔偕老，老使我怨。淇则有岸，隰则有泮。总角之宴，言笑晏晏。信誓旦旦，不思其反。反是不思，亦已焉哉。
【信息状态】
首屏只显示未完成六章时间线；相识、迁嫁、失衡、孤立、止息等章意不预填。
【学生主动作】
每人先独立完成六章小长卷；分组互证后接成公共长卷，再闭卷复述
【参与路径】
个人六章长卷先封存→六组各互证一章→一组一章卡→全班接成长卷→每人闭卷复述并返诗修复。
【可见产物】
时间封存的个人六章长卷和公共人生长卷
【教师作用】
沿原诗朴素串讲转折与因果；只修事实、顺序与多解边界；不替学生统一末句声线。
【真实等待】
时间盒明示：首答283秒（不看同伴）→互证216秒（全员先说）→接长卷181秒→串讲108秒→闭卷复述164秒→收束68秒；封存后翻回即违规。
【反馈与本人修订】
听者只核对“事件—原句—变化”三层与停止边界；讲述者定位断点后合书补说，用自然话写第六格；把实际离开改回停止判断。
【首次后用】
S02与S03
【正常反例】
讲不全者从“亦已焉哉”往前找理由；听者没有遗漏如实确认；缺一张章末卡者借同桌核对后在便笺补一格，不假装材料齐全。
【主视觉职责】
现场六章长卷
【插图资格】
无
【第一人称接收】
我先独立写出六章长卷，封存后靠闭卷复述接上公共长卷；我能从任一章说出它相对前一章的变化与关键原句。
【故事回接】
她的一生接成有转折的长卷：相遇议婚→等待迁嫁→劝诫→婚变→孤立→回望与停止；第一问“她经历了什么”在此回答。
【删除损失】
删除会失去全文第一问，拆页会重复重建
【相邻反证】
不并入C605：C605在两句支架内完成声音与边界，本页撤除全部支架做六章与全诗唯一一次统整；同屏会重复重建。
【失败信号】
个人纸带在公共答案后补抄；小组代表代替组员形成章意；长卷只有事件没有转折或因果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【V6.6物理画面】S02-B0｜250秒
【本画面为何存在】
真实取回C505个人生活片段，从旧稿抽取并补足第二问事实。
【学生此刻看见】
找回《一间屋子里的许多年》｜划出：她每天过着怎样的日子。｜划出：她在伴侣和兄弟那里遭遇了什么。｜旧稿若漏了一项，只在旁边补一句并写原诗。
【教师逐字稿】
请找回你在第五章写的《一间屋子里的许多年》。这次不另写一篇。先划出她每天怎样过，再划出她在伴侣和兄弟那里遭遇了什么。若旧稿漏掉第四章的贫困或男子失信，只在旁边补一句，并写托住它的原诗。（教师逐桌确认旧稿确实被取回。）
【舞台动作】
（承接前一画面）
（说出本页唯一邀请）
（真实等待或处理现场作品）
（在答案越界前切页）
【本画面时间盒】
找回C505旧稿：35秒；个人划取生活事实：120秒；返诗补缺：65秒；准备轮说：30秒
【现场分支】
暂时没有答案：允许留下真实空白，或先回到最确定的一处原词。
判断越过原诗：请指出依据；没有原词支撑时降低判断强度。
【听者任务】
本页先由本人取回旧稿，不重新生产替代材料。
【证据位置】
C505旧稿上的划线与补写
【切页触发】
旧稿已经重新打开，现在把生活话做成可以由原诗核验的卡。
【V6.6逻辑页】S02｜逻辑页40｜14分钟
【前页输入】
C505《一间屋子里的许多年》片段在手；S01人生长卷已接成；生活事实卡与第二问末答为空。
【唯一困难】
学生能复述“贫困、背叛、压榨、无支持”等标签，却不能把古诗还原成可观察的日常；也易补写诗中没有的具体伤害方式或求助史。
【唯一功能】
用现实生活语言说清婚后不幸的具体表现，再通过交换、猜诗和撤回越界表述返回原诗。
【文学对象】
桑之落矣，其黄而陨,自我徂尔，三岁食贫,淇水汤汤，渐车帷裳,女也不爽，士贰其行,士也罔极，二三其德,三岁为妇，靡室劳矣,夙兴夜寐，靡有朝矣,言既遂矣，至于暴矣,兄弟不知，咥其笑矣,静言思之，躬自悼矣
【信息状态】
首答不显示标准五类不幸；教师归纳只在学生卡组形成和核验以后出现。
【学生主动作】
取回C505生活片段并由本人抽取两句现实生活事实；四人合成生活事实卡并与他组交换核验；每人完成第二问末答
【参与路径】
全员取回C505旧稿并抽取→四人全员轮说→一组3—5卡→组间交换→全班少量分歧卡→全员个人末答。
【可见产物】
C505个人片段、正反面生活事实卡和个人第二问末答
【教师作用】
不列现代术语清单；只引用现场片刻归纳长期贫苦劳作、失信粗暴、支持缺失与独自悲悼；不以标签替换学生作品。
【真实等待】
时间盒明示：个人取回146秒→四人轮说257秒（全员说过后才合并）→交换猜诗221秒→公共归纳216秒；轮说期间不评价不抢答。
【反馈与本人修订】
同伴只配诗或指出越界，不评谁更悲惨；作者删去具体暴力、完整求助史、全部家人等无证细节，或把抽象标签改成一天中的行为。
【首次后用】
S03读取失衡事实
【正常反例】
能准确配回者写“可配回，无需改”；不要求每人犯错；暂时写不出者先把原句译成谁在做什么。
【主视觉职责】
自然书写入口和学生真实生活事实卡
【插图资格】
无
【第一人称接收】
我能不用古词说清她婚后过着怎样的日子，又能把每一项送回原诗。
【故事回接】
婚后不幸落成可观察的生活：她多年劳作、他失信转粗暴、兄弟不知而笑、她独自思量；第二问获得每人末答，事实卡交S03放置。
【删除损失】
不幸仍停在辛苦、悲惨等标签，C505也会沦为孤立写作。
【相邻反证】
C505只产生一个第五章片段，S03讨论原因；本页独自完成全文第二问的生活化和原诗核验。
【失败信号】
生活语言只是古词同义替换；少数代表包办卡片；出现诗外具体伤害；正反面无法互相核验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【V6.6物理画面】S02-B1｜300秒
【本画面为何存在】
四人卡片与邻组交换，正面生活语言和背面原诗依据互相核验。
【学生此刻看见】
只看卡片正面：你能猜回哪一句诗？｜翻到背面核验。｜若写出了诗中没有的遭遇，把它退回这张卡的作者修订。
【教师逐字稿】
四个人依次读自己从旧稿中抽出的生活事实，所有人说过以前不合并。然后把相近内容合成三到五张卡：正面只写今天的生活话，背面写原诗。与邻组交换，只看正面猜回原句，再翻面核验；写出诗中没有的具体家务、伤害方式或求助过程，就退回这张卡的作者改稳。
【舞台动作】
（承接前一画面）
（说出本页唯一邀请）
（真实等待或处理现场作品）
（在答案越界前切页）
【本画面时间盒】
四人全员轮说：100秒；合成正反面卡：80秒；邻组猜诗核验：80秒；退回越界表述：40秒
【现场分支】
暂时没有答案：允许留下真实空白，或先回到最确定的一处原词。
判断越过原诗：请指出依据；没有原词支撑时降低判断强度。
【听者任务】
猜回原诗并指出一处越界或证据不足。
【证据位置】
S02正反面生活事实卡及退回修订
【切页触发】
卡片已经经得起原诗核验，下一页只归纳真实出现的生活事实。
【V6.6逻辑页】S02｜逻辑页40｜14分钟
【前页输入】
C505《一间屋子里的许多年》片段在手；S01人生长卷已接成；生活事实卡与第二问末答为空。
【唯一困难】
学生能复述“贫困、背叛、压榨、无支持”等标签，却不能把古诗还原成可观察的日常；也易补写诗中没有的具体伤害方式或求助史。
【唯一功能】
用现实生活语言说清婚后不幸的具体表现，再通过交换、猜诗和撤回越界表述返回原诗。
【文学对象】
桑之落矣，其黄而陨,自我徂尔，三岁食贫,淇水汤汤，渐车帷裳,女也不爽，士贰其行,士也罔极，二三其德,三岁为妇，靡室劳矣,夙兴夜寐，靡有朝矣,言既遂矣，至于暴矣,兄弟不知，咥其笑矣,静言思之，躬自悼矣
【信息状态】
首答不显示标准五类不幸；教师归纳只在学生卡组形成和核验以后出现。
【学生主动作】
取回C505生活片段并由本人抽取两句现实生活事实；四人合成生活事实卡并与他组交换核验；每人完成第二问末答
【参与路径】
全员取回C505旧稿并抽取→四人全员轮说→一组3—5卡→组间交换→全班少量分歧卡→全员个人末答。
【可见产物】
C505个人片段、正反面生活事实卡和个人第二问末答
【教师作用】
不列现代术语清单；只引用现场片刻归纳长期贫苦劳作、失信粗暴、支持缺失与独自悲悼；不以标签替换学生作品。
【真实等待】
时间盒明示：个人取回146秒→四人轮说257秒（全员说过后才合并）→交换猜诗221秒→公共归纳216秒；轮说期间不评价不抢答。
【反馈与本人修订】
同伴只配诗或指出越界，不评谁更悲惨；作者删去具体暴力、完整求助史、全部家人等无证细节，或把抽象标签改成一天中的行为。
【首次后用】
S03读取失衡事实
【正常反例】
能准确配回者写“可配回，无需改”；不要求每人犯错；暂时写不出者先把原句译成谁在做什么。
【主视觉职责】
自然书写入口和学生真实生活事实卡
【插图资格】
无
【第一人称接收】
我能不用古词说清她婚后过着怎样的日子，又能把每一项送回原诗。
【故事回接】
婚后不幸落成可观察的生活：她多年劳作、他失信转粗暴、兄弟不知而笑、她独自思量；第二问获得每人末答，事实卡交S03放置。
【删除损失】
不幸仍停在辛苦、悲惨等标签，C505也会沦为孤立写作。
【相邻反证】
C505只产生一个第五章片段，S03讨论原因；本页独自完成全文第二问的生活化和原诗核验。
【失败信号】
生活语言只是古词同义替换；少数代表包办卡片；出现诗外具体伤害；正反面无法互相核验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【V6.6物理画面】S02-B2｜170秒
【本画面为何存在】
根据真实卡片后置归纳婚后不幸的生活表现。
【学生此刻看见】
婚后的日子一直贫困，家里的劳苦没有停歇｜说过的话变了，行为反复，后来甚至粗暴｜兄弟不了解她，反而笑她｜笑声退去以后，她只能独自悲伤｜每一项，都要回到原诗。
【教师逐字稿】
我只沿你们真实卡片归纳：婚后的日子一直贫困，家里的劳苦没有停歇；他说过的话变了，行为反复，后来甚至粗暴；兄弟不了解她，反而笑她；笑声退去以后，她只能独自悲伤。请每一项同时指出原诗，若我的话越过诗意就纠正。不要抄整页，先找自己原稿还缺哪一项。
【舞台动作】
（承接前一画面）
（说出本页唯一邀请）
（真实等待或处理现场作品）
（在答案越界前切页）
【本画面时间盒】
引用真实卡片：45秒；四类生活事实归纳：60秒；学生原诗纠错：35秒；个人定位缺项：30秒
【现场分支】
暂时没有答案：允许留下真实空白，或先回到最确定的一处原词。
判断越过原诗：请指出依据；没有原词支撑时降低判断强度。
【听者任务】
为每项归纳找到原诗，并纠正教师越界。
【证据位置】
公共生活事实板书与个人缺项标记
【切页触发】
答案即将撤去，下一页只留下你自己的第二问回答。
【V6.6逻辑页】S02｜逻辑页40｜14分钟
【前页输入】
C505《一间屋子里的许多年》片段在手；S01人生长卷已接成；生活事实卡与第二问末答为空。
【唯一困难】
学生能复述“贫困、背叛、压榨、无支持”等标签，却不能把古诗还原成可观察的日常；也易补写诗中没有的具体伤害方式或求助史。
【唯一功能】
用现实生活语言说清婚后不幸的具体表现，再通过交换、猜诗和撤回越界表述返回原诗。
【文学对象】
桑之落矣，其黄而陨,自我徂尔，三岁食贫,淇水汤汤，渐车帷裳,女也不爽，士贰其行,士也罔极，二三其德,三岁为妇，靡室劳矣,夙兴夜寐，靡有朝矣,言既遂矣，至于暴矣,兄弟不知，咥其笑矣,静言思之，躬自悼矣
【信息状态】
首答不显示标准五类不幸；教师归纳只在学生卡组形成和核验以后出现。
【学生主动作】
取回C505生活片段并由本人抽取两句现实生活事实；四人合成生活事实卡并与他组交换核验；每人完成第二问末答
【参与路径】
全员取回C505旧稿并抽取→四人全员轮说→一组3—5卡→组间交换→全班少量分歧卡→全员个人末答。
【可见产物】
C505个人片段、正反面生活事实卡和个人第二问末答
【教师作用】
不列现代术语清单；只引用现场片刻归纳长期贫苦劳作、失信粗暴、支持缺失与独自悲悼；不以标签替换学生作品。
【真实等待】
时间盒明示：个人取回146秒→四人轮说257秒（全员说过后才合并）→交换猜诗221秒→公共归纳216秒；轮说期间不评价不抢答。
【反馈与本人修订】
同伴只配诗或指出越界，不评谁更悲惨；作者删去具体暴力、完整求助史、全部家人等无证细节，或把抽象标签改成一天中的行为。
【首次后用】
S03读取失衡事实
【正常反例】
能准确配回者写“可配回，无需改”；不要求每人犯错；暂时写不出者先把原句译成谁在做什么。
【主视觉职责】
自然书写入口和学生真实生活事实卡
【插图资格】
无
【第一人称接收】
我能不用古词说清她婚后过着怎样的日子，又能把每一项送回原诗。
【故事回接】
婚后不幸落成可观察的生活：她多年劳作、他失信转粗暴、兄弟不知而笑、她独自思量；第二问获得每人末答，事实卡交S03放置。
【删除损失】
不幸仍停在辛苦、悲惨等标签，C505也会沦为孤立写作。
【相邻反证】
C505只产生一个第五章片段，S03讨论原因；本页独自完成全文第二问的生活化和原诗核验。
【失败信号】
生活语言只是古词同义替换；少数代表包办卡片；出现诗外具体伤害；正反面无法互相核验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【V6.6物理画面】S02-B3｜120秒
【本画面为何存在】
撤去公共答案，让每个人完成四个方面齐全且带原诗的第二问末答，并按原稿状态诚实补缺或深化。
【学生此刻看见】
现在只写自己的答案｜她婚后的不幸，具体落在怎样的日子里？｜贫困与劳作｜失信与粗暴｜不被兄弟理解｜独自悲伤｜四个方面都写到；每一项都带回一处原诗。｜原稿有漏项，就补一项；原稿已齐全，就把一项说得更具体。
【教师逐字稿】
现在不看公共归纳。请独立回答：她婚后的不幸，具体落在怎样的日子里？贫困与劳作、失信与粗暴、不被兄弟理解、独自悲伤四个方面都要写到，每一项都带一处原诗。先对照最初旧稿：有漏项，就补一项；四项已经齐全，就圈出一项最容易只抄古词的内容，把它改成具体生活事实，再用原诗托住。不要为了留下修改痕迹而制造一个原本不存在的缺项。写完以后合书低声说一遍，不能只念古词。（教师收取固定样本。）
【舞台动作】
（承接前一画面）
（说出本页唯一邀请）
（真实等待或处理现场作品）
（在答案越界前切页）
【本画面时间盒】
个人四方面末答：85秒；合书低声复述：20秒；封存与抽样：15秒
【现场分支】
暂时没有答案：允许留下真实空白，或先回到最确定的一处原词。
判断越过原诗：请指出依据；没有原词支撑时降低判断强度。
【听者任务】
每个人完成自己的末答；不以公共卡替代。
【证据位置】
S02个人第二问末答
【切页触发】
日子已经说清，下面追问这场婚姻为什么走到这一步。
【V6.6逻辑页】S02｜逻辑页40｜14分钟
【前页输入】
C505《一间屋子里的许多年》片段在手；S01人生长卷已接成；生活事实卡与第二问末答为空。
【唯一困难】
学生能复述“贫困、背叛、压榨、无支持”等标签，却不能把古诗还原成可观察的日常；也易补写诗中没有的具体伤害方式或求助史。
【唯一功能】
用现实生活语言说清婚后不幸的具体表现，再通过交换、猜诗和撤回越界表述返回原诗。
【文学对象】
桑之落矣，其黄而陨,自我徂尔，三岁食贫,淇水汤汤，渐车帷裳,女也不爽，士贰其行,士也罔极，二三其德,三岁为妇，靡室劳矣,夙兴夜寐，靡有朝矣,言既遂矣，至于暴矣,兄弟不知，咥其笑矣,静言思之，躬自悼矣
【信息状态】
首答不显示标准五类不幸；教师归纳只在学生卡组形成和核验以后出现。
【学生主动作】
取回C505生活片段并由本人抽取两句现实生活事实；四人合成生活事实卡并与他组交换核验；每人完成第二问末答
【参与路径】
全员取回C505旧稿并抽取→四人全员轮说→一组3—5卡→组间交换→全班少量分歧卡→全员个人末答。
【可见产物】
C505个人片段、正反面生活事实卡和个人第二问末答
【教师作用】
不列现代术语清单；只引用现场片刻归纳长期贫苦劳作、失信粗暴、支持缺失与独自悲悼；不以标签替换学生作品。
【真实等待】
时间盒明示：个人取回146秒→四人轮说257秒（全员说过后才合并）→交换猜诗221秒→公共归纳216秒；轮说期间不评价不抢答。
【反馈与本人修订】
同伴只配诗或指出越界，不评谁更悲惨；作者删去具体暴力、完整求助史、全部家人等无证细节，或把抽象标签改成一天中的行为。
【首次后用】
S03读取失衡事实
【正常反例】
能准确配回者写“可配回，无需改”；不要求每人犯错；暂时写不出者先把原句译成谁在做什么。
【主视觉职责】
自然书写入口和学生真实生活事实卡
【插图资格】
无
【第一人称接收】
我能不用古词说清她婚后过着怎样的日子，又能把每一项送回原诗。
【故事回接】
婚后不幸落成可观察的生活：她多年劳作、他失信转粗暴、兄弟不知而笑、她独自思量；第二问获得每人末答，事实卡交S03放置。
【删除损失】
不幸仍停在辛苦、悲惨等标签，C505也会沦为孤立写作。
【相邻反证】
C505只产生一个第五章片段，S03讨论原因；本页独自完成全文第二问的生活化和原诗核验。
【失败信号】
生活语言只是古词同义替换；少数代表包办卡片；出现诗外具体伤害；正反面无法互相核验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【V6.6物理画面】S03-B0｜300秒
【本画面为何存在】
每个人在未经分类的原句事实前写说明与不能说明。
【学生此刻看见】
这场婚姻为什么走到这一步？｜这组事实说明了什么？｜它不能被说成什么？｜先独立写下，再把证据放回她的一生。
【教师逐字稿】
每个人先面对本组的一组原句，独立写两行：这些事实说明了什么；它们又不能被说成什么。第二行尤其要防止把女子的等待、投入和劳作写成男子伤害她的原因。先写后说，不看分类名称。（等待并封存。）
【舞台动作】
（承接前一画面）
（说出本页唯一邀请）
（真实等待或处理现场作品）
（在答案越界前切页）
【本画面时间盒】
领取无分类原句：25秒；个人事实与边界首答：195秒；自查归责方向：45秒；封存：35秒
【现场分支】
暂时没有答案：允许留下真实空白，或先回到最确定的一处原词。
判断越过原诗：请指出依据；没有原词支撑时降低判断强度。
【听者任务】
本页先形成个人两行判断。
【证据位置】
S03个人事实—说明—不能说明首答
【切页触发】
每组已经有个人判断，下一页让这些因果箭头接受质询。
【V6.6逻辑页】S03｜逻辑页41｜18分钟
【前页输入】
S02生活事实卡已合成并核验；人生长卷在黑板；事实—作用—边界卡与原因末答为空。
【唯一困难】
原因讨论容易把早期警告、男子伤害责任、女子难以停止的条件与现代猜测混成一句，甚至把伤害责任转回女子身上。
【唯一功能】
沿人生长卷区分直接责任、使失衡持续的条件、支持缺失、割舍困难、婚前警讯边界和女子回应，形成不归责受伤者的完整原因结构。
【文学对象】
[object Object]
【信息状态】
首答不显示警讯、沉没成本、责任、托举等预制分类；类别名称在学生制卡后用于质询。
【学生主动作】
每人写事实说明与不能说明；小组放置证据卡并接受他组原因类型质询；撤答后每人完成完整原因末答
【参与路径】
个人双行封存→五组全员轮说→一组一卡→轮换质询→原组修订→教师后置归纳。
【可见产物】
事实—作用—边界卡、经质询修订的原因长卷和个人原因末答
【教师作用】
阻断受伤者归责但不替学生猜男子动机；归纳给出“值得警惕≠完整预谋”“投入与支持缺失使停止困难但不分担责任”的边界。
【真实等待】
时间盒明示：首答204秒（封存）→轮说294秒（全员先说）→放置144秒→质询192秒→返诗修订114秒→归纳132秒；质询只认原句直接证明什么。
【反馈与本人修订】
同桌只问原句直接证明什么、有没有把“她为何难停”写成“他为何伤害”；作者把投入、劳作、共同记忆、支持缺失放回难以停止，把失信、反复、粗暴放回直接责任。
【首次后用】
S04由悲剧反推共同生活支点
【正常反例】
责任清楚证据稳妥者写“两项均通过，保留”；全班无真实分歧时不人为制造争议，直接比较两种准确表述。
【主视觉职责】
未完成的人生长卷与学生原因证据卡
【插图资格】
无
【第一人称接收】
我能独立说明责任、持续条件、支持缺失、为何难以割舍、婚前可观察而不可倒推的边界，以及她最后的回应。
【故事回接】
悲剧的形成被分层说清：他的失信反复粗暴直接造成伤害，她的投入与支持缺失使停止困难；第三问获得不归责受伤者的完整回答，长卷交S04反推支点。
【删除损失】
三问第三问缺少整体、有界和不归责的个人解释。
【相邻反证】
S02只说明生活表现，S04转向建设性讨论；本页独自承担原因结构和伦理边界。
【失败信号】
把女子投入、等待或劳作写成男子伤害的原因；把止息判断列为婚姻破裂原因；公共结构由教师在首答前给出；卡片在公共答案后补抄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【V6.6物理画面】S03-B1｜380秒
【本画面为何存在】
以现场事实—作用—边界卡和异色质询签形成原因长卷。
【学生此刻看见】
沿着她的一生，看看这些事实起了怎样的作用。｜谁应为伤害负责？哪些日子让不幸继续？她身边少了谁的理解？｜若一句判断说得太满，请写：原诗还不能证明。
【教师逐字稿】
组内每个人先读自己的两行，所有人说过以后才合成一张卡。沿人生长卷放置，再到邻组只质询一张：谁应为伤害负责？哪些日子让不幸继续？她身边少了谁的理解？若一句话说得太满，就写‘原诗还不能证明’。原组回来只能用原诗修订，不能用声音大小取胜。
【舞台动作】
（承接前一画面）
（说出本页唯一邀请）
（真实等待或处理现场作品）
（在答案越界前切页）
【本画面时间盒】
组内全员轮说：125秒；合卡并放入长卷：80秒；邻组质询一张：105秒；原组返诗修订：70秒
【现场分支】
暂时没有答案：允许留下真实空白，或先回到最确定的一处原词。
判断越过原诗：请指出依据；没有原词支撑时降低判断强度。
【听者任务】
质询一根因果箭头的责任、条件或证据强度。
【证据位置】
原因长卷、异色质询签与原组修订
【切页触发】
箭头经受过质询，下一页教师只把责任和边界说清。
【V6.6逻辑页】S03｜逻辑页41｜18分钟
【前页输入】
S02生活事实卡已合成并核验；人生长卷在黑板；事实—作用—边界卡与原因末答为空。
【唯一困难】
原因讨论容易把早期警告、男子伤害责任、女子难以停止的条件与现代猜测混成一句，甚至把伤害责任转回女子身上。
【唯一功能】
沿人生长卷区分直接责任、使失衡持续的条件、支持缺失、割舍困难、婚前警讯边界和女子回应，形成不归责受伤者的完整原因结构。
【文学对象】
[object Object]
【信息状态】
首答不显示警讯、沉没成本、责任、托举等预制分类；类别名称在学生制卡后用于质询。
【学生主动作】
每人写事实说明与不能说明；小组放置证据卡并接受他组原因类型质询；撤答后每人完成完整原因末答
【参与路径】
个人双行封存→五组全员轮说→一组一卡→轮换质询→原组修订→教师后置归纳。
【可见产物】
事实—作用—边界卡、经质询修订的原因长卷和个人原因末答
【教师作用】
阻断受伤者归责但不替学生猜男子动机；归纳给出“值得警惕≠完整预谋”“投入与支持缺失使停止困难但不分担责任”的边界。
【真实等待】
时间盒明示：首答204秒（封存）→轮说294秒（全员先说）→放置144秒→质询192秒→返诗修订114秒→归纳132秒；质询只认原句直接证明什么。
【反馈与本人修订】
同桌只问原句直接证明什么、有没有把“她为何难停”写成“他为何伤害”；作者把投入、劳作、共同记忆、支持缺失放回难以停止，把失信、反复、粗暴放回直接责任。
【首次后用】
S04由悲剧反推共同生活支点
【正常反例】
责任清楚证据稳妥者写“两项均通过，保留”；全班无真实分歧时不人为制造争议，直接比较两种准确表述。
【主视觉职责】
未完成的人生长卷与学生原因证据卡
【插图资格】
无
【第一人称接收】
我能独立说明责任、持续条件、支持缺失、为何难以割舍、婚前可观察而不可倒推的边界，以及她最后的回应。
【故事回接】
悲剧的形成被分层说清：他的失信反复粗暴直接造成伤害，她的投入与支持缺失使停止困难；第三问获得不归责受伤者的完整回答，长卷交S04反推支点。
【删除损失】
三问第三问缺少整体、有界和不归责的个人解释。
【相邻反证】
S02只说明生活表现，S04转向建设性讨论；本页独自承担原因结构和伦理边界。
【失败信号】
把女子投入、等待或劳作写成男子伤害的原因；把止息判断列为婚姻破裂原因；公共结构由教师在首答前给出；卡片在公共答案后补抄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【V6.6物理画面】S03-B2｜160秒
【本画面为何存在】
后置形成不归责受伤者的原因结构和婚前审慎边界。
【学生此刻看见】
男子失信、反复并走向粗暴，伤害的责任在他｜贫困与劳作日复一日，关系里的担子越来越偏向一人｜兄弟不知而笑，她在困境中没有得到理解｜旧日欢乐与已有投入会让割舍更难，却不是她受伤的原因｜开头的细节值得留意，却不能倒推一开始就有预谋｜“亦已焉哉”是她醒悟后的回应，不是悲剧的原因
【教师逐字稿】
沿真实卡片收束：男子失信、反复并走向粗暴，伤害责任在他；贫困与劳作日复一日，关系的担子越来越偏向一人；兄弟不知而笑，她在困境中没有得到理解；旧日欢乐和已有投入会让割舍更难，却不是她受伤的原因；开头细节值得留意，却不能倒推一开始就有预谋；‘亦已焉哉’是她醒悟后的回应，不是悲剧原因。请只在自己的原稿旁标出一处需要降强度的判断。
【舞台动作】
（承接前一画面）
（说出本页唯一邀请）
（真实等待或处理现场作品）
（在答案越界前切页）
【本画面时间盒】
责任与日子归纳：65秒；归责边界与婚前审慎：65秒；个人降强度标记：30秒
【现场分支】
暂时没有答案：允许留下真实空白，或先回到最确定的一处原词。
判断越过原诗：请指出依据；没有原词支撑时降低判断强度。
【听者任务】
核对教师归纳是否把责任放对，也守住文本未写边界。
【证据位置】
S03个人首答旁的降强度修订
【切页触发】
公共归纳到这里。下一页撤掉它，每个人独立完成第三问。
【V6.6逻辑页】S03｜逻辑页41｜18分钟
【前页输入】
S02生活事实卡已合成并核验；人生长卷在黑板；事实—作用—边界卡与原因末答为空。
【唯一困难】
原因讨论容易把早期警告、男子伤害责任、女子难以停止的条件与现代猜测混成一句，甚至把伤害责任转回女子身上。
【唯一功能】
沿人生长卷区分直接责任、使失衡持续的条件、支持缺失、割舍困难、婚前警讯边界和女子回应，形成不归责受伤者的完整原因结构。
【文学对象】
[object Object]
【信息状态】
首答不显示警讯、沉没成本、责任、托举等预制分类；类别名称在学生制卡后用于质询。
【学生主动作】
每人写事实说明与不能说明；小组放置证据卡并接受他组原因类型质询；撤答后每人完成完整原因末答
【参与路径】
个人双行封存→五组全员轮说→一组一卡→轮换质询→原组修订→教师后置归纳。
【可见产物】
事实—作用—边界卡、经质询修订的原因长卷和个人原因末答
【教师作用】
阻断受伤者归责但不替学生猜男子动机；归纳给出“值得警惕≠完整预谋”“投入与支持缺失使停止困难但不分担责任”的边界。
【真实等待】
时间盒明示：首答204秒（封存）→轮说294秒（全员先说）→放置144秒→质询192秒→返诗修订114秒→归纳132秒；质询只认原句直接证明什么。
【反馈与本人修订】
同桌只问原句直接证明什么、有没有把“她为何难停”写成“他为何伤害”；作者把投入、劳作、共同记忆、支持缺失放回难以停止，把失信、反复、粗暴放回直接责任。
【首次后用】
S04由悲剧反推共同生活支点
【正常反例】
责任清楚证据稳妥者写“两项均通过，保留”；全班无真实分歧时不人为制造争议，直接比较两种准确表述。
【主视觉职责】
未完成的人生长卷与学生原因证据卡
【插图资格】
无
【第一人称接收】
我能独立说明责任、持续条件、支持缺失、为何难以割舍、婚前可观察而不可倒推的边界，以及她最后的回应。
【故事回接】
悲剧的形成被分层说清：他的失信反复粗暴直接造成伤害，她的投入与支持缺失使停止困难；第三问获得不归责受伤者的完整回答，长卷交S04反推支点。
【删除损失】
三问第三问缺少整体、有界和不归责的个人解释。
【相邻反证】
S02只说明生活表现，S04转向建设性讨论；本页独自承担原因结构和伦理边界。
【失败信号】
把女子投入、等待或劳作写成男子伤害的原因；把止息判断列为婚姻破裂原因；公共结构由教师在首答前给出；卡片在公共答案后补抄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【V6.6物理画面】S03-B3｜240秒
【本画面为何存在】
撤去公共结构，让每个人用原诗完成六层原因与边界完整末答。
【学生此刻看见】
现在不看归纳，只写自己的答案｜谁应为伤害负责？｜哪些日子让不幸继续？她缺少谁的理解？｜什么让割舍更难，却不能成为责怪她的理由？｜开头哪些细节值得留意？又不能证明什么？｜“亦已焉哉”是什么回应？为什么不是悲剧原因？｜每一层都写一处原诗。
【教师逐字稿】
现在不看归纳，写自己的完整答案。六层都要面对：谁应为伤害负责；哪些日子让不幸继续；她缺少谁的理解；旧日欢乐和已有投入为什么使割舍更难、又为什么不能反过来怪她；开头哪些细节值得留意、又不能证明什么；‘亦已焉哉’是什么回应、为什么不是悲剧原因。每层带一处原诗。写完顺着讲一遍，缺哪层就只回那句诗修补。（教师固定抽样。）
【舞台动作】
（承接前一画面）
（说出本页唯一邀请）
（真实等待或处理现场作品）
（在答案越界前切页）
【本画面时间盒】
个人六层原因末答：155秒；离屏顺讲与自检：55秒；返诗修补与封存：30秒
【现场分支】
暂时没有答案：允许留下真实空白，或先回到最确定的一处原词。
判断越过原诗：请指出依据；没有原词支撑时降低判断强度。
【听者任务】
每个人拥有完整原因答案，不以本组一张卡代替。
【证据位置】
S03个人完整原因末答
【切页触发】
悲剧为什么发生已经说清，现在转向未来：好的共同生活靠什么站稳？
【V6.6逻辑页】S03｜逻辑页41｜18分钟
【前页输入】
S02生活事实卡已合成并核验；人生长卷在黑板；事实—作用—边界卡与原因末答为空。
【唯一困难】
原因讨论容易把早期警告、男子伤害责任、女子难以停止的条件与现代猜测混成一句，甚至把伤害责任转回女子身上。
【唯一功能】
沿人生长卷区分直接责任、使失衡持续的条件、支持缺失、割舍困难、婚前警讯边界和女子回应，形成不归责受伤者的完整原因结构。
【文学对象】
[object Object]
【信息状态】
首答不显示警讯、沉没成本、责任、托举等预制分类；类别名称在学生制卡后用于质询。
【学生主动作】
每人写事实说明与不能说明；小组放置证据卡并接受他组原因类型质询；撤答后每人完成完整原因末答
【参与路径】
个人双行封存→五组全员轮说→一组一卡→轮换质询→原组修订→教师后置归纳。
【可见产物】
事实—作用—边界卡、经质询修订的原因长卷和个人原因末答
【教师作用】
阻断受伤者归责但不替学生猜男子动机；归纳给出“值得警惕≠完整预谋”“投入与支持缺失使停止困难但不分担责任”的边界。
【真实等待】
时间盒明示：首答204秒（封存）→轮说294秒（全员先说）→放置144秒→质询192秒→返诗修订114秒→归纳132秒；质询只认原句直接证明什么。
【反馈与本人修订】
同桌只问原句直接证明什么、有没有把“她为何难停”写成“他为何伤害”；作者把投入、劳作、共同记忆、支持缺失放回难以停止，把失信、反复、粗暴放回直接责任。
【首次后用】
S04由悲剧反推共同生活支点
【正常反例】
责任清楚证据稳妥者写“两项均通过，保留”；全班无真实分歧时不人为制造争议，直接比较两种准确表述。
【主视觉职责】
未完成的人生长卷与学生原因证据卡
【插图资格】
无
【第一人称接收】
我能独立说明责任、持续条件、支持缺失、为何难以割舍、婚前可观察而不可倒推的边界，以及她最后的回应。
【故事回接】
悲剧的形成被分层说清：他的失信反复粗暴直接造成伤害，她的投入与支持缺失使停止困难；第三问获得不归责受伤者的完整回答，长卷交S04反推支点。
【删除损失】
三问第三问缺少整体、有界和不归责的个人解释。
【相邻反证】
S02只说明生活表现，S04转向建设性讨论；本页独自承担原因结构和伦理边界。
【失败信号】
把女子投入、等待或劳作写成男子伤害的原因；把止息判断列为婚姻破裂原因；公共结构由教师在首答前给出；卡片在公共答案后补抄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【V6.6物理画面】S04-B0｜330秒
【本画面为何存在】
每个人先用一处原诗形成自己的婚姻观。
【学生此刻看见】
一段好的共同生活，最不能缺少什么？｜这处悲剧提醒我……｜因此，好的共同生活需要……｜只给未来的自己或朋友留一句话。
【教师逐字稿】
把书翻在自己最想引用的一处。只给未来的自己或朋友留一句话：‘这处悲剧提醒我……因此，好的共同生活需要……’先独立写，不谈自己的家庭，也不猜老师准备了哪些词。（教师退开等待。）写好后把原诗圈出来。
【舞台动作】
（承接前一画面）
（说出本页唯一邀请）
（真实等待或处理现场作品）
（在答案越界前切页）
【本画面时间盒】
返诗选择：50秒；个人关系条件：190秒；原诗标记与准备轮说：90秒
【现场分支】
暂时没有答案：允许留下真实空白，或先回到最确定的一处原词。
判断越过原诗：请指出依据；没有原词支撑时降低判断强度。
【听者任务】
本页先保护每个人自己的婚姻观。
【证据位置】
S04个人原诗与关系条件
【切页触发】
每个人都有一句话了，现在按座位依次说给小组听。
【V6.6逻辑页】S04｜逻辑页42｜15分钟
【前页输入】
原因结构已完成（S03）；开课主题谱照片仍在教室；每人自选原诗一处与关系条件为空。
【唯一困难】
开课主题谱若不被重新打开，导入只是一场热闹；婚姻讨论又易滑向教师口号、私人自曝或抽象的“要有爱”。
【唯一功能】
让每个人以一处原诗形成婚姻观，再由全员轮说和冲突质询生成班级共同生活支点。
【文学对象】
[object Object]
【信息状态】
首屏不预填好的婚姻结构；教师支点只在学生卡片形成后归纳。
【学生主动作】
每人用一处原诗提出一个关系条件；四人全说后只留一张给未来的卡
【参与路径】
个人返诗→四人全员轮说→全员后才讨论→每组一卡→全班只看同义、冲突和缺项。
【可见产物】
每组一张给未来的共同生活支点卡
【教师作用】
只谈作品或第三人称；不收集学生恋爱婚姻家庭经历；归纳只到审慎了解、言行一致、劳动与权力平衡、责任承担、理解支持、及时止损等方向，不宣布唯一模板。
【真实等待】
时间盒明示：个人准备115秒→全员轮说254秒（所有人说过以前不评价不抢答）→合并一卡173秒→质询162秒→归纳127秒→回投69秒。
【反馈与本人修订】
同伴只核文本与行为是否对应，不评私人选择；作者把“要幸福、不要恋爱脑、要有爱”改成承诺是否经得起行动、劳动与决定是否长期失衡、伤害后是否担责等可观察行为。
【首次后用】
S08终课引用；真实试教评估
【正常反例】
原主题经《氓》后仍成立者写“保留”但说明多了哪一层；小组一致时不强制制造分歧；不愿公开者只在组内完成。
【主视觉职责】
开放问题；随后由真实学生卡形成平衡木
【插图资格】
无
【第一人称接收】
我用一处原诗表达了自己的婚姻观，也听见并参与形成了一张给未来的共同生活条件卡。
【故事回接】
从悲剧反推支点：理解、言行、平衡、责任、托举被贴上平衡木；开课主题谱被重新打开，导入的旧主题获得《氓》之后的新层次。
【删除损失】
全文讨论停在悲剧诊断，导入主题谱成为孤儿。
【相邻反证】
S03停在原因，S05转入知识；本页独自完成价值表达、建设性迁移和导入回扣。
【失败信号】
组长代劳；教师提前显示标准支点；讨论评判同学家庭或受伤者；多数学生只旁观公共卡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【V6.6物理画面】S04-B1｜280秒
【本画面为何存在】
四人全员轮说后形成每组唯一的给未来的卡。
【学生此刻看见】
把每组最想送给未来的一句话贴上来。｜先看哪些彼此照应，再看哪些彼此冲突。｜每张卡都要带着一处《氓》的原诗。
【教师逐字稿】
四个人按座位依次完整说。所有人说过以前不评价、不抢答；说完后才追问原诗、合并相近或保留冲突。每组只留一张最想送给未来的卡，必须同时写原诗和关系条件。贴上来以后，全班只看哪些彼此照应、哪些彼此冲突，不逐张念口号。
【舞台动作】
（承接前一画面）
（说出本页唯一邀请）
（真实等待或处理现场作品）
（在答案越界前切页）
【本画面时间盒】
四人全员轮说：130秒；追问与保留分歧：60秒；形成一组一卡：60秒；贴卡和初看：30秒
【现场分支】
暂时没有答案：允许留下真实空白，或先回到最确定的一处原词。
判断越过原诗：请指出依据；没有原词支撑时降低判断强度。
【听者任务】
听清每个人的原诗依据；所有人说过后才讨论。
【证据位置】
个人关系句与每组唯一未来卡
【切页触发】
卡片已经来自你们，下一页教师只沿这些真实话语收束。
【V6.6逻辑页】S04｜逻辑页42｜15分钟
【前页输入】
原因结构已完成（S03）；开课主题谱照片仍在教室；每人自选原诗一处与关系条件为空。
【唯一困难】
开课主题谱若不被重新打开，导入只是一场热闹；婚姻讨论又易滑向教师口号、私人自曝或抽象的“要有爱”。
【唯一功能】
让每个人以一处原诗形成婚姻观，再由全员轮说和冲突质询生成班级共同生活支点。
【文学对象】
[object Object]
【信息状态】
首屏不预填好的婚姻结构；教师支点只在学生卡片形成后归纳。
【学生主动作】
每人用一处原诗提出一个关系条件；四人全说后只留一张给未来的卡
【参与路径】
个人返诗→四人全员轮说→全员后才讨论→每组一卡→全班只看同义、冲突和缺项。
【可见产物】
每组一张给未来的共同生活支点卡
【教师作用】
只谈作品或第三人称；不收集学生恋爱婚姻家庭经历；归纳只到审慎了解、言行一致、劳动与权力平衡、责任承担、理解支持、及时止损等方向，不宣布唯一模板。
【真实等待】
时间盒明示：个人准备115秒→全员轮说254秒（所有人说过以前不评价不抢答）→合并一卡173秒→质询162秒→归纳127秒→回投69秒。
【反馈与本人修订】
同伴只核文本与行为是否对应，不评私人选择；作者把“要幸福、不要恋爱脑、要有爱”改成承诺是否经得起行动、劳动与决定是否长期失衡、伤害后是否担责等可观察行为。
【首次后用】
S08终课引用；真实试教评估
【正常反例】
原主题经《氓》后仍成立者写“保留”但说明多了哪一层；小组一致时不强制制造分歧；不愿公开者只在组内完成。
【主视觉职责】
开放问题；随后由真实学生卡形成平衡木
【插图资格】
无
【第一人称接收】
我用一处原诗表达了自己的婚姻观，也听见并参与形成了一张给未来的共同生活条件卡。
【故事回接】
从悲剧反推支点：理解、言行、平衡、责任、托举被贴上平衡木；开课主题谱被重新打开，导入的旧主题获得《氓》之后的新层次。
【删除损失】
全文讨论停在悲剧诊断，导入主题谱成为孤儿。
【相邻反证】
S03停在原因，S05转入知识；本页独自完成价值表达、建设性迁移和导入回扣。
【失败信号】
组长代劳；教师提前显示标准支点；讨论评判同学家庭或受伤者；多数学生只旁观公共卡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【V6.6物理画面】S04-B2｜100秒
【本画面为何存在】
只呈现当堂真实学生卡，让原作者和同学先把学生话语与原诗照应说清。
【学生此刻看见】
先听你们写下的话｜“　　　　　　　　　　　　　　　　”｜原作者读卡；同学只指出它照应的原诗，或仍保留的分歧。
【教师逐字稿】
现在只听你们刚才真正写下的话，不出现教师归纳。把一张当堂‘给未来的卡’放到实物展台，请原作者读一遍；再请两位同学只做一件事：指出它照应了《氓》的哪一句，或者说出仍然保留的分歧。若卡片说得太满，原作者可以当场改；若现场没有成熟卡，也如实保留空缺，不用预制范例冒充。
【舞台动作】
（切换到实物展台）
（放入一张当堂真实学生卡）
（请原作者读卡）
（同伴指出原诗照应或分歧）
（原作者决定保留或修订）
【本画面时间盒】
切换实物展台并展读真实卡：45秒；同学返诗或保留分歧：40秒；原作者决定是否修订：15秒
【现场分支】
现场没有成熟卡：如实保留空缺，引用一张仍有问题的真实卡让同学返诗；不得用预制‘优秀学生卡’替代。
学生把离开写成诗中既成事实：只请原作者回到‘亦已焉哉’修成‘作出止息判断’；现代建议留到下一物理状态。
【听者任务】
只核对这张真实卡照应哪一句原诗，或仍有什么分歧；此刻不接收教师标准答案。
【证据位置】
实物展台上的当堂真实未来卡、原诗照应与原作者修订
【切页触发】
你们的话已经先被听见。现在才把诗中写到的事实与我们由诗想到今天的话分开。
【V6.6逻辑页】S04｜逻辑页42｜15分钟
【前页输入】
原因结构已完成（S03）；开课主题谱照片仍在教室；每人自选原诗一处与关系条件为空。
【唯一困难】
开课主题谱若不被重新打开，导入只是一场热闹；婚姻讨论又易滑向教师口号、私人自曝或抽象的“要有爱”。
【唯一功能】
让每个人以一处原诗形成婚姻观，再由全员轮说和冲突质询生成班级共同生活支点。
【文学对象】
[object Object]
【信息状态】
首屏不预填好的婚姻结构；教师支点只在学生卡片形成后归纳。
【学生主动作】
每人用一处原诗提出一个关系条件；四人全说后只留一张给未来的卡
【参与路径】
个人返诗→四人全员轮说→全员后才讨论→每组一卡→全班只看同义、冲突和缺项。
【可见产物】
每组一张给未来的共同生活支点卡
【教师作用】
只谈作品或第三人称；不收集学生恋爱婚姻家庭经历；归纳只到审慎了解、言行一致、劳动与权力平衡、责任承担、理解支持、及时止损等方向，不宣布唯一模板。
【真实等待】
时间盒明示：个人准备115秒→全员轮说254秒（所有人说过以前不评价不抢答）→合并一卡173秒→质询162秒→归纳127秒→回投69秒。
【反馈与本人修订】
同伴只核文本与行为是否对应，不评私人选择；作者把“要幸福、不要恋爱脑、要有爱”改成承诺是否经得起行动、劳动与决定是否长期失衡、伤害后是否担责等可观察行为。
【首次后用】
S08终课引用；真实试教评估
【正常反例】
原主题经《氓》后仍成立者写“保留”但说明多了哪一层；小组一致时不强制制造分歧；不愿公开者只在组内完成。
【主视觉职责】
开放问题；随后由真实学生卡形成平衡木
【插图资格】
无
【第一人称接收】
我用一处原诗表达了自己的婚姻观，也听见并参与形成了一张给未来的共同生活条件卡。
【故事回接】
从悲剧反推支点：理解、言行、平衡、责任、托举被贴上平衡木；开课主题谱被重新打开，导入的旧主题获得《氓》之后的新层次。
【删除损失】
全文讨论停在悲剧诊断，导入主题谱成为孤儿。
【相邻反证】
S03停在原因，S05转入知识；本页独自完成价值表达、建设性迁移和导入回扣。
【失败信号】
组长代劳；教师提前显示标准支点；讨论评判同学家庭或受伤者；多数学生只旁观公共卡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【V6.6物理画面】S04-B3｜70秒
【本画面为何存在】
在学生卡已经被听见以后，分清诗中事实与由诗走向今天的建议。
【学生此刻看见】
听过你们的话，再分清两层｜诗中写到的｜承诺落空｜日子失衡｜兄弟不知而笑｜她作出止息判断｜由诗想到今天｜面对持续伤害，可以求助；必要时离开｜现代建议不是诗中已经发生的结局。
【教师逐字稿】
先看诗中真正写到的：承诺怎样落空，日子怎样失衡，兄弟不知而笑，她最后作出‘亦已焉哉’的止息判断。由诗走向今天，我们还可以提出一层现代建议：面对持续伤害，可以向可信的人和专业机构求助；必要时选择离开。这一层不是诗中已经发生的结局。若刚才的学生卡没有说到某一点，我会明确说‘这是教师依据全文补的一点’，不冒充你们的原话。
【舞台动作】
（关闭实物展台）
（切入两层收束页）
（先说诗中事实）
（再说现代建议及其文本边界）
【本画面时间盒】
诗中事实分层：35秒；现代建议与文本边界：25秒；说明教师补充来源：10秒
【现场分支】
学生认为建议等于诗中结局：回到末句，明确诗写出止息判断，没有交代后续行动；求助与离开属于今天的建议。
现场卡没有覆盖某一层：明确标注为教师依据全文补充，不伪装成班级共识。
【听者任务】
分清原诗事实、学生观点和教师现代建议，尤其守住末句没有写出后续行动。
【证据位置】
S04教师两层收束旁的个人边界批注
【切页触发】
分层已经清楚。接下来把这些认识带回开头的文学长卷。
【V6.6逻辑页】S04｜逻辑页42｜15分钟
【前页输入】
原因结构已完成（S03）；开课主题谱照片仍在教室；每人自选原诗一处与关系条件为空。
【唯一困难】
开课主题谱若不被重新打开，导入只是一场热闹；婚姻讨论又易滑向教师口号、私人自曝或抽象的“要有爱”。
【唯一功能】
让每个人以一处原诗形成婚姻观，再由全员轮说和冲突质询生成班级共同生活支点。
【文学对象】
[object Object]
【信息状态】
首屏不预填好的婚姻结构；教师支点只在学生卡片形成后归纳。
【学生主动作】
每人用一处原诗提出一个关系条件；四人全说后只留一张给未来的卡
【参与路径】
个人返诗→四人全员轮说→全员后才讨论→每组一卡→全班只看同义、冲突和缺项。
【可见产物】
每组一张给未来的共同生活支点卡
【教师作用】
只谈作品或第三人称；不收集学生恋爱婚姻家庭经历；归纳只到审慎了解、言行一致、劳动与权力平衡、责任承担、理解支持、及时止损等方向，不宣布唯一模板。
【真实等待】
时间盒明示：个人准备115秒→全员轮说254秒（所有人说过以前不评价不抢答）→合并一卡173秒→质询162秒→归纳127秒→回投69秒。
【反馈与本人修订】
同伴只核文本与行为是否对应，不评私人选择；作者把“要幸福、不要恋爱脑、要有爱”改成承诺是否经得起行动、劳动与决定是否长期失衡、伤害后是否担责等可观察行为。
【首次后用】
S08终课引用；真实试教评估
【正常反例】
原主题经《氓》后仍成立者写“保留”但说明多了哪一层；小组一致时不强制制造分歧；不愿公开者只在组内完成。
【主视觉职责】
开放问题；随后由真实学生卡形成平衡木
【插图资格】
无
【第一人称接收】
我用一处原诗表达了自己的婚姻观，也听见并参与形成了一张给未来的共同生活条件卡。
【故事回接】
从悲剧反推支点：理解、言行、平衡、责任、托举被贴上平衡木；开课主题谱被重新打开，导入的旧主题获得《氓》之后的新层次。
【删除损失】
全文讨论停在悲剧诊断，导入主题谱成为孤儿。
【相邻反证】
S03停在原因，S05转入知识；本页独自完成价值表达、建设性迁移和导入回扣。
【失败信号】
组长代劳；教师提前显示标准支点；讨论评判同学家庭或受伤者；多数学生只旁观公共卡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【V6.6物理画面】S04-B4｜120秒
【本画面为何存在】
每个人亲自把《氓》带回开头文学长卷，留下自己的新增认识。
【学生此刻看见】
回到开头那幅爱情与婚姻文学长卷｜《氓》为它新添了什么？｜请用自己的话补上一句。｜可以不同意教师的归纳，但要带着一处原诗。
【教师逐字稿】
请回看开头保存的爱情与婚姻文学长卷。现在每个人用自己的话补一句：‘《氓》为这幅长卷新添了——。’可以写婚前需要看清什么，也可以写婚后日子、背叛、家人态度、醒悟和止息；不必赞同教师归纳，但必须带着一处原诗。写完只与同桌交换读，不互相改成同一句。
【舞台动作】
（承接前一画面）
（说出本页唯一邀请）
（真实等待或处理现场作品）
（在答案越界前切页）
【本画面时间盒】
回看开头长卷：20秒；个人新增认识：65秒；同桌交换读：25秒；封存：10秒
【现场分支】
暂时没有答案：允许留下真实空白，或先回到最确定的一处原词。
判断越过原诗：请指出依据；没有原词支撑时降低判断强度。
【听者任务】
听见同桌新增的一条，不要求观点一致。
【证据位置】
O01文学回忆单上的S04新增句
【切页触发】
文学长卷已经多了一篇《氓》。下面把文化、字词和诗法收好。
【V6.6逻辑页】S04｜逻辑页42｜15分钟
【前页输入】
原因结构已完成（S03）；开课主题谱照片仍在教室；每人自选原诗一处与关系条件为空。
【唯一困难】
开课主题谱若不被重新打开，导入只是一场热闹；婚姻讨论又易滑向教师口号、私人自曝或抽象的“要有爱”。
【唯一功能】
让每个人以一处原诗形成婚姻观，再由全员轮说和冲突质询生成班级共同生活支点。
【文学对象】
[object Object]
【信息状态】
首屏不预填好的婚姻结构；教师支点只在学生卡片形成后归纳。
【学生主动作】
每人用一处原诗提出一个关系条件；四人全说后只留一张给未来的卡
【参与路径】
个人返诗→四人全员轮说→全员后才讨论→每组一卡→全班只看同义、冲突和缺项。
【可见产物】
每组一张给未来的共同生活支点卡
【教师作用】
只谈作品或第三人称；不收集学生恋爱婚姻家庭经历；归纳只到审慎了解、言行一致、劳动与权力平衡、责任承担、理解支持、及时止损等方向，不宣布唯一模板。
【真实等待】
时间盒明示：个人准备115秒→全员轮说254秒（所有人说过以前不评价不抢答）→合并一卡173秒→质询162秒→归纳127秒→回投69秒。
【反馈与本人修订】
同伴只核文本与行为是否对应，不评私人选择；作者把“要幸福、不要恋爱脑、要有爱”改成承诺是否经得起行动、劳动与决定是否长期失衡、伤害后是否担责等可观察行为。
【首次后用】
S08终课引用；真实试教评估
【正常反例】
原主题经《氓》后仍成立者写“保留”但说明多了哪一层；小组一致时不强制制造分歧；不愿公开者只在组内完成。
【主视觉职责】
开放问题；随后由真实学生卡形成平衡木
【插图资格】
无
【第一人称接收】
我用一处原诗表达了自己的婚姻观，也听见并参与形成了一张给未来的共同生活条件卡。
【故事回接】
从悲剧反推支点：理解、言行、平衡、责任、托举被贴上平衡木；开课主题谱被重新打开，导入的旧主题获得《氓》之后的新层次。
【删除损失】
全文讨论停在悲剧诊断，导入主题谱成为孤儿。
【相邻反证】
S03停在原因，S05转入知识；本页独自完成价值表达、建设性迁移和导入回扣。
【失败信号】
组长代劳；教师提前显示标准支点；讨论评判同学家庭或受伤者；多数学生只旁观公共卡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【V6.6物理画面】S05A-B0｜130秒
【本画面为何存在】
合书完成五项无答案首答，允许真实留空。
【学生此刻看见】
《诗经》，我们真正记住了什么？｜它是什么？｜有多少篇？｜作品大致来自怎样的年代？｜分哪三类？《氓》在哪里？｜先合书写；不确定，可以留空。
【教师逐字稿】
请合上书和开篇批注，独立写五项：《诗经》是什么；现存多少篇；作品大致来自怎样的年代；分哪三类；《氓》收在哪里。不确定可以留空，不偷看同桌。（教师巡视并封存真实错空。）这页不公布答案。
【舞台动作】
（承接前一画面）
（说出本页唯一邀请）
（真实等待或处理现场作品）
（在答案越界前切页）
【本画面时间盒】
说明五项：20秒；合书个人检索：90秒；封存与切页：20秒
【现场分支】
一项完全想不起：原位留空并画问号，不从同桌处补抄；下一页只修这个真实空项。
篇数、年代或分类混淆：先写自己最可能的答案并标问号，封存后再核对，不在首答页口头公布。
【听者任务】
本页无公共答案，允许真实留空。
【证据位置】
S05A五项文化首答
【切页触发】
首答已经封存，现在打开开篇批注，只修错空。
【V6.6逻辑页】S05A｜逻辑页43｜6分钟
【前页输入】
O04文化坐标已在开课给出并留在批注；五项修复稿为空；教材可翻回。
【唯一困难】
学生把“看过”当“记住”：开篇文化入口若无合书检索，第一部诗歌总集、305篇、年代、风雅颂与篇目归属五项可能一项也写不出。
【唯一功能】
检验开篇文化入口是否真正留下，并修复第一部诗歌总集、305篇、大致年代、风雅颂和篇目归属。
【文学对象】
[object Object]
【信息状态】
首答不显示第一部诗歌总集、305篇、年代、风雅颂和卫风答案；校准在等待以后。
【学生主动作】
合书完成五项文化检索；开书或看课堂批注核对，再合书串说
【参与路径】
合书五项首答125秒（封存）→开书与批注核对、本人只修错空项115秒→教师准确收束真实错项55秒→再合书同桌串说65秒。
【可见产物】
《诗经》五项文化修复稿
【教师作用】
核对段只给准确五项（首部诗歌总集、305篇、西周初年至春秋中叶、风雅颂、《卫风》）；收束只针对真实错项；不扩展新文化点。
【真实等待】
时间盒明示：合书首答125秒（不偷看）→开书修复115秒→收束55秒→合书串说65秒；首答与串说两次合书。
【反馈与本人修订】
开书后由本人只修自己错空处；同桌串说只核五项是否说全；全对者写“五项准确，无需改”。
【首次后用】
S06艺术收纳和S08终读
【正常反例】
不确定可以留空不偷看；只记得两三项者先修这两三项；串说不全者听同桌后自己再说一遍。
【主视觉职责】
四个开放检索问题
【插图资格】
无
【第一人称接收】
我合书写出了五项中的若干项，开书只修错空处；再合书时我能用两句话把五项连着说给同桌听。
【故事回接】
《诗经》坐标被真正收进口袋：她的声音属于《卫风》、来自三千年前的采诗传统；知识面兜底完成，切页句转向字词回句。
【删除损失】
开篇文化输入未经检索，学生可能把看过冒充记住。
【相邻反证】
不并入S05B：文化五项是检索修复，字词是音义原句通关；同屏会使两种检索互相打断、都无法合书完成。
【失败信号】
首答偷看批注或同桌；教师替学生逐项报答案；串说段仍开着书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【V6.6物理画面】S05A-B1｜140秒
【本画面为何存在】
打开开篇批注校准五项事实，只修本人错空。
【学生此刻看见】
《诗经》｜我国第一部诗歌总集｜现存305篇｜作品大致产生于西周初年至春秋中叶｜风｜雅｜颂｜《氓》在《卫风》中｜只修自己错空的地方。
【教师逐字稿】
打开开篇批注核对：我国第一部诗歌总集，现存三百零五篇，作品大致产生于西周初年至春秋中叶，传统上分风、雅、颂，《氓》在《卫风》中。请只修自己错空的地方，不抄已经正确的项。教师只追问固定样本里的真实共错。
【舞台动作】
（承接前一画面）
（说出本页唯一邀请）
（真实等待或处理现场作品）
（在答案越界前切页）
【本画面时间盒】
五项准确校准：55秒；本人修错空：60秒；处理真实共错：25秒
【现场分支】
五项原答全部正确：在原答旁作保留标记，不另抄一遍；把时间留给仍有错空的同学。
教材旧记与本页口径不同：定位具体差异，只按本课教材和课程通行表述修该项，课后再查版本问题。
【听者任务】
核对五项事实，并只修自己的错空。
【证据位置】
S05A本人修订稿
【切页触发】
答案只看这一遍。下一页再次合书，用自己的话取回。
【V6.6逻辑页】S05A｜逻辑页43｜6分钟
【前页输入】
O04文化坐标已在开课给出并留在批注；五项修复稿为空；教材可翻回。
【唯一困难】
学生把“看过”当“记住”：开篇文化入口若无合书检索，第一部诗歌总集、305篇、年代、风雅颂与篇目归属五项可能一项也写不出。
【唯一功能】
检验开篇文化入口是否真正留下，并修复第一部诗歌总集、305篇、大致年代、风雅颂和篇目归属。
【文学对象】
[object Object]
【信息状态】
首答不显示第一部诗歌总集、305篇、年代、风雅颂和卫风答案；校准在等待以后。
【学生主动作】
合书完成五项文化检索；开书或看课堂批注核对，再合书串说
【参与路径】
合书五项首答125秒（封存）→开书与批注核对、本人只修错空项115秒→教师准确收束真实错项55秒→再合书同桌串说65秒。
【可见产物】
《诗经》五项文化修复稿
【教师作用】
核对段只给准确五项（首部诗歌总集、305篇、西周初年至春秋中叶、风雅颂、《卫风》）；收束只针对真实错项；不扩展新文化点。
【真实等待】
时间盒明示：合书首答125秒（不偷看）→开书修复115秒→收束55秒→合书串说65秒；首答与串说两次合书。
【反馈与本人修订】
开书后由本人只修自己错空处；同桌串说只核五项是否说全；全对者写“五项准确，无需改”。
【首次后用】
S06艺术收纳和S08终读
【正常反例】
不确定可以留空不偷看；只记得两三项者先修这两三项；串说不全者听同桌后自己再说一遍。
【主视觉职责】
四个开放检索问题
【插图资格】
无
【第一人称接收】
我合书写出了五项中的若干项，开书只修错空处；再合书时我能用两句话把五项连着说给同桌听。
【故事回接】
《诗经》坐标被真正收进口袋：她的声音属于《卫风》、来自三千年前的采诗传统；知识面兜底完成，切页句转向字词回句。
【删除损失】
开篇文化输入未经检索，学生可能把看过冒充记住。
【相邻反证】
不并入S05B：文化五项是检索修复，字词是音义原句通关；同屏会使两种检索互相打断、都无法合书完成。
【失败信号】
首答偷看批注或同桌；教师替学生逐项报答案；串说段仍开着书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【V6.6物理画面】S05A-B2｜90秒
【本画面为何存在】
再次撤去答案，让每个人用两句话说清《诗经》身份与《氓》位置。
【学生此刻看见】
现在再合上书｜用两句话说给同桌听：｜《诗经》的基本身份是什么？｜《氓》在其中什么位置？
【教师逐字稿】
现在再合上书。请用两句话说给同桌听：第一句说《诗经》的基本身份、篇数和年代；第二句说风雅颂以及《氓》的位置。甲说完，乙只指出一项遗漏，再交换；不能看屏幕找答案。（等待双方完成。）
【舞台动作】
（承接前一画面）
（说出本页唯一邀请）
（真实等待或处理现场作品）
（在答案越界前切页）
【本画面时间盒】
说明两句复述：10秒；甲说乙查：30秒；乙说甲查：30秒；本人补一项并切页：20秒
【现场分支】
同桌只说笼统结论：听者只追问一项遗漏，如篇数或年代；说者自己补回，不由听者代说整句。
双方都遗漏同一项：先在纸上标出共同空缺，短暂打开批注核对，再合书各自重说。
【听者任务】
只指出一项事实遗漏，不替同桌整句重写。
【证据位置】
S05A再合书双人口述与补项
【切页触发】
文化坐标已经真正取回，接着检查六章关键字词。
【V6.6逻辑页】S05A｜逻辑页43｜6分钟
【前页输入】
O04文化坐标已在开课给出并留在批注；五项修复稿为空；教材可翻回。
【唯一困难】
学生把“看过”当“记住”：开篇文化入口若无合书检索，第一部诗歌总集、305篇、年代、风雅颂与篇目归属五项可能一项也写不出。
【唯一功能】
检验开篇文化入口是否真正留下，并修复第一部诗歌总集、305篇、大致年代、风雅颂和篇目归属。
【文学对象】
[object Object]
【信息状态】
首答不显示第一部诗歌总集、305篇、年代、风雅颂和卫风答案；校准在等待以后。
【学生主动作】
合书完成五项文化检索；开书或看课堂批注核对，再合书串说
【参与路径】
合书五项首答125秒（封存）→开书与批注核对、本人只修错空项115秒→教师准确收束真实错项55秒→再合书同桌串说65秒。
【可见产物】
《诗经》五项文化修复稿
【教师作用】
核对段只给准确五项（首部诗歌总集、305篇、西周初年至春秋中叶、风雅颂、《卫风》）；收束只针对真实错项；不扩展新文化点。
【真实等待】
时间盒明示：合书首答125秒（不偷看）→开书修复115秒→收束55秒→合书串说65秒；首答与串说两次合书。
【反馈与本人修订】
开书后由本人只修自己错空处；同桌串说只核五项是否说全；全对者写“五项准确，无需改”。
【首次后用】
S06艺术收纳和S08终读
【正常反例】
不确定可以留空不偷看；只记得两三项者先修这两三项；串说不全者听同桌后自己再说一遍。
【主视觉职责】
四个开放检索问题
【插图资格】
无
【第一人称接收】
我合书写出了五项中的若干项，开书只修错空处；再合书时我能用两句话把五项连着说给同桌听。
【故事回接】
《诗经》坐标被真正收进口袋：她的声音属于《卫风》、来自三千年前的采诗传统；知识面兜底完成，切页句转向字词回句。
【删除损失】
开篇文化输入未经检索，学生可能把看过冒充记住。
【相邻反证】
不并入S05B：文化五项是检索修复，字词是音义原句通关；同屏会使两种检索互相打断、都无法合书完成。
【失败信号】
首答偷看批注或同桌；教师替学生逐项报答案；串说段仍开着书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【V6.6物理画面】S05B-B0｜250秒
【本画面为何存在】
六章六项无答案首答，发现每个人真实错空。
【学生此刻看见】
六章关键字词，能不能回到原句？｜愆　筮　说　爽　咥　泮｜每项写：读音｜句中义｜原句。不会，可以留空。
【教师逐字稿】
合上书，六章各有一个最低门槛词：愆、筮、说、爽、咥、泮。每项写读音、句中义、所在原句；不会可以留空，不能只挑会的做。请先独立完成六项。（等待并封存。）这页不公布答案。
【舞台动作】
（承接前一画面）
（说出本页唯一邀请）
（真实等待或处理现场作品）
（在答案越界前切页）
【本画面时间盒】
说明六项门槛：30秒；个人六项首答：185秒；封存与切页：35秒
【现场分支】
只会读音，不会句中义或原句：三格分开保留，知道哪一格就写哪一格；空项不得用同桌答案补齐。
把‘说’按现代读音作答：照实封存这一读音，不现场提示；下一页由原句和通假关系修正。
【听者任务】
本页无同伴答案，保护真实错空。
【证据位置】
S05B六章六词首答
【切页触发】
错空已经留下，现在打开教材逐项修。
【V6.6逻辑页】S05B｜逻辑页44｜12分钟
【前页输入】
六章各词已在句中学过（愆、筮、说、爽、咥、泮）；通关卡为空；教材可翻回对应句。
【唯一困难】
逐句学过的字词离开原句就不认识；抽样词表会让多数人漏掉自己那一章的盲点，“全诗读通”被冒充。
【唯一功能】
用六章各一项全员最低门槛发现个人基础盲点，再以自选两词作加深，不让抽样词表冒充全诗读通。
【文学对象】
匪我愆期，子无良媒,尔卜尔筮，体无咎言,士之耽兮，犹可说也,女之耽兮，不可说也,女也不爽，士贰其行,兄弟不知，咥其笑矣,淇则有岸，隰则有泮
【信息状态】
首答只给六个目标词和原句任务，不给读音与义；校准后再显示答案。
【学生主动作】
独立完成六章六项音义原句；持教材修复空项，再自选两词加深
【参与路径】
全员六项首答→开书本人修复→教师只讲真实共错→个人两词加深。
【可见产物】
六章字词通关卡和两词加深稿
【教师作用】
微讲只针对固定样本共错项（愆拖延、筮占问、说同脱、爽差错、咥笑貌、泮同畔）；不逐项重讲；终读提醒由学生在教材对应句旁圈出。
【真实等待】
时间盒明示：合书首答210秒（不能先挑会的）→开书修复245秒→共错微讲105秒→自选加深125秒→终读提醒35秒。
【反馈与本人修订】
开书后本人只修自己错空处并在教材句旁圈终读提醒；同桌不互批；加深稿由自选两词各自完成。
【首次后用】
S08终读提醒
【正常反例】
不会的项留空不猜；只修复错空处后直接进加深；六项全对者直接进自选两词。
【主视觉职责】
六章关键原句与六个最低通关空位
【插图资格】
无
【第一人称接收】
我知道自己在哪一章的哪个词断过，也已经把读音和句中义修回原句。
【故事回接】
六个字词带着读音和句中义回到原句：愆期、卜筮、脱身、差错、咥笑、水岸各归其位；终读提醒圈定，切页句转向“写法怎样改变故事”。
【删除损失】
个人未选词盲点无法发现，逐句讲解没有基础语义兜底。
【相邻反证】
逐句细读分散发生，S08只终读；本页独自承担全诗基础语义的个人兜底。
【失败信号】
仍只任选两词；公共答案后补抄被计为首答；词义不回原句；六项没有固定样本审计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【V6.6物理画面】S05B-B1｜275秒
【本画面为何存在】
打开教材逐项核对并由本人修复。
【学生此刻看见】
打开教材，只修自己错空的地方。｜每修一项，都把它送回所在原句。｜在对应句旁圈一个终读提醒。
【教师逐字稿】
打开教材，从第一章到第六章逐项核对。只修自己的错空；每修一项，都把它送回所在原句，并在原句旁圈一个终读提醒。教师巡视固定样本，只记录共错，不在这一页把答案抄到屏幕。修完六项后停笔。
【舞台动作】
（承接前一画面）
（说出本页唯一邀请）
（真实等待或处理现场作品）
（在答案越界前切页）
【本画面时间盒】
开书逐项核对：155秒；本人修订并回原句：85秒；圈终读提醒：25秒；切页：10秒
【现场分支】
找到词却没有回到完整原句：沿本章向前后各读一句，确认主体和语境后再写句中义。
开始机械抄整页：停下，只改本人错空的读音、义项或原句；原先正确处只作保留标记。
【听者任务】
依据教材修自己的错空，不交换抄写。
【证据位置】
S05B六项本人修订和终读提醒
【切页触发】
六项已经由本人核对，下一页把准确答案完整看一遍。
【V6.6逻辑页】S05B｜逻辑页44｜12分钟
【前页输入】
六章各词已在句中学过（愆、筮、说、爽、咥、泮）；通关卡为空；教材可翻回对应句。
【唯一困难】
逐句学过的字词离开原句就不认识；抽样词表会让多数人漏掉自己那一章的盲点，“全诗读通”被冒充。
【唯一功能】
用六章各一项全员最低门槛发现个人基础盲点，再以自选两词作加深，不让抽样词表冒充全诗读通。
【文学对象】
匪我愆期，子无良媒,尔卜尔筮，体无咎言,士之耽兮，犹可说也,女之耽兮，不可说也,女也不爽，士贰其行,兄弟不知，咥其笑矣,淇则有岸，隰则有泮
【信息状态】
首答只给六个目标词和原句任务，不给读音与义；校准后再显示答案。
【学生主动作】
独立完成六章六项音义原句；持教材修复空项，再自选两词加深
【参与路径】
全员六项首答→开书本人修复→教师只讲真实共错→个人两词加深。
【可见产物】
六章字词通关卡和两词加深稿
【教师作用】
微讲只针对固定样本共错项（愆拖延、筮占问、说同脱、爽差错、咥笑貌、泮同畔）；不逐项重讲；终读提醒由学生在教材对应句旁圈出。
【真实等待】
时间盒明示：合书首答210秒（不能先挑会的）→开书修复245秒→共错微讲105秒→自选加深125秒→终读提醒35秒。
【反馈与本人修订】
开书后本人只修自己错空处并在教材句旁圈终读提醒；同桌不互批；加深稿由自选两词各自完成。
【首次后用】
S08终读提醒
【正常反例】
不会的项留空不猜；只修复错空处后直接进加深；六项全对者直接进自选两词。
【主视觉职责】
六章关键原句与六个最低通关空位
【插图资格】
无
【第一人称接收】
我知道自己在哪一章的哪个词断过，也已经把读音和句中义修回原句。
【故事回接】
六个字词带着读音和句中义回到原句：愆期、卜筮、脱身、差错、咥笑、水岸各归其位；终读提醒圈定，切页句转向“写法怎样改变故事”。
【删除损失】
个人未选词盲点无法发现，逐句讲解没有基础语义兜底。
【相邻反证】
逐句细读分散发生，S08只终读；本页独自承担全诗基础语义的个人兜底。
【失败信号】
仍只任选两词；公共答案后补抄被计为首答；词义不回原句；六项没有固定样本审计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【V6.6物理画面】S05B-B2｜195秒
【本画面为何存在】
校准六项共性错处，再让学生自选两词加深。
【学生此刻看见】
六章六词，逐项校准｜愆（qiān）｜延误｜匪我愆期｜筮（shì）｜用蓍草占问｜尔卜尔筮｜说（tuō）｜同“脱”，脱身｜犹可说也｜爽（shuǎng）｜差错｜女也不爽｜咥（xì）｜笑的样子｜咥其笑矣｜泮（pàn）｜同“畔”，边岸｜隰则有泮｜六项修好以后，再自选两个仍不稳的词。
【教师逐字稿】
逐项校准：愆读qiān，延误；筮读shì，用蓍草占问；说在这里读tuō，同‘脱’，脱身；爽读shuǎng，是差错；咥读xì，笑的样子；泮读pàn，同‘畔’，边岸。请同时找到六个原句，不要只看义项。固定样本中仍有共错的地方，我再讲一次。六项修好后，自选两个仍不稳的词作加深。
【舞台动作】
（承接前一画面）
（说出本页唯一邀请）
（真实等待或处理现场作品）
（在答案越界前切页）
【本画面时间盒】
六项完整校准：80秒；回六个原句：55秒；真实共错微讲：30秒；两词加深：30秒
【现场分支】
只记通假本字，仍不会放回原句：把‘说同脱’和‘泮同畔’各放回整句口译一次，不把本字当作孤立答案。
六项尚有漏项却先做自选词：先完成六项最低修复；自选两词是加深，不能替代六章底线。
【听者任务】
把六项答案逐一送回原句。
【证据位置】
S05B六项通关与两词加深
【切页触发】
字词已经回到六章，最后看这些句子怎样共同写成一首诗。
【V6.6逻辑页】S05B｜逻辑页44｜12分钟
【前页输入】
六章各词已在句中学过（愆、筮、说、爽、咥、泮）；通关卡为空；教材可翻回对应句。
【唯一困难】
逐句学过的字词离开原句就不认识；抽样词表会让多数人漏掉自己那一章的盲点，“全诗读通”被冒充。
【唯一功能】
用六章各一项全员最低门槛发现个人基础盲点，再以自选两词作加深，不让抽样词表冒充全诗读通。
【文学对象】
匪我愆期，子无良媒,尔卜尔筮，体无咎言,士之耽兮，犹可说也,女之耽兮，不可说也,女也不爽，士贰其行,兄弟不知，咥其笑矣,淇则有岸，隰则有泮
【信息状态】
首答只给六个目标词和原句任务，不给读音与义；校准后再显示答案。
【学生主动作】
独立完成六章六项音义原句；持教材修复空项，再自选两词加深
【参与路径】
全员六项首答→开书本人修复→教师只讲真实共错→个人两词加深。
【可见产物】
六章字词通关卡和两词加深稿
【教师作用】
微讲只针对固定样本共错项（愆拖延、筮占问、说同脱、爽差错、咥笑貌、泮同畔）；不逐项重讲；终读提醒由学生在教材对应句旁圈出。
【真实等待】
时间盒明示：合书首答210秒（不能先挑会的）→开书修复245秒→共错微讲105秒→自选加深125秒→终读提醒35秒。
【反馈与本人修订】
开书后本人只修自己错空处并在教材句旁圈终读提醒；同桌不互批；加深稿由自选两词各自完成。
【首次后用】
S08终读提醒
【正常反例】
不会的项留空不猜；只修复错空处后直接进加深；六项全对者直接进自选两词。
【主视觉职责】
六章关键原句与六个最低通关空位
【插图资格】
无
【第一人称接收】
我知道自己在哪一章的哪个词断过，也已经把读音和句中义修回原句。
【故事回接】
六个字词带着读音和句中义回到原句：愆期、卜筮、脱身、差错、咥笑、水岸各归其位；终读提醒圈定，切页句转向“写法怎样改变故事”。
【删除损失】
个人未选词盲点无法发现，逐句讲解没有基础语义兜底。
【相邻反证】
逐句细读分散发生，S08只终读；本页独自承担全诗基础语义的个人兜底。
【失败信号】
仍只任选两词；公共答案后补抄被计为首答；词义不回原句；六项没有固定样本审计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【V6.6物理画面】S06-B0｜250秒
【本画面为何存在】
把十六张等颗粒原诗证据做成等大同色、经反聚簇校验的混排卡，让学生真正自拟分组。
【学生此刻看见】
这些已经读过的句子，哪些可以放在一起？｜抱布贸丝｜桑之未落｜不思其反｜泣涕涟涟｜反是不思｜氓之蚩蚩｜送子涉淇｜桑之落矣｜信誓旦旦｜以我贿迁｜于嗟鸠兮｜不见复关｜于嗟女兮｜既见复关｜言笑晏晏｜夙兴夜寐｜先自己分；不要猜老师准备了几类。
【教师逐字稿】
屏幕上的材料全部是等大、同色、等颗粒的卡；排列已经检查过，不把明显成对的句子放在同行、同列或紧邻位置。请先自己分，不要猜老师准备了几类。每成一组，写两件事：它们哪里相像；这样的写法怎样改变故事或声音。至少留两种可能分法，分得和别人不同也可以。（教师不指向任何卡群。）
【舞台动作】
（承接前一画面）
（说出本页唯一邀请）
（真实等待或处理现场作品）
（在答案越界前切页）
【本画面时间盒】
说明随机散卡规则：30秒；个人自主分组：155秒；写共同点与作用：50秒；封存：15秒
【现场分支】
暂时没有答案：允许留下真实空白，或先回到最确定的一处原词。
判断越过原诗：请指出依据；没有原词支撑时降低判断强度。
【听者任务】
本页独立分组，不从版式猜答案。
【证据位置】
S06个人随机散卡分组
【切页触发】
分法已经各不相同，下一页只比较真实出现的分组。
【V6.6逻辑页】S06｜逻辑页45｜15分钟
【前页输入】
四类材料都已读过（六章事件、桑叶与鸠女句、两个老与两个反及淇水复现、涟涟汤汤晏晏旦旦）；随机散卡未分组；术语未命名。
【唯一困难】
学生会报比兴、对照、反复、回环等术语，却不能说明原词关系怎样改变声音、时间与人物处境；“生动形象、表达感情”成为终点。
【唯一功能】
把逐句体验收成叙事推进、桑叶比兴与对照、词句复现反折、四言叠词与声音四类知识，并说明写法怎样改变人物故事。
【文学对象】
[object Object]
【信息状态】
只给知识检索类别，不给代表原句和作用答案；教师术语提升在小组补例以后。
【学生主动作】
面对随机散卡自行分组；比较黑板分法后由教师命名；每人完成四类识别并自选两类深做
【参与路径】
无术语例句观察与个人分组238秒→四组各写一种分法上黑板187秒→全班比较学生分法125秒→教师后置命名与准确提升144秒→个人两类说明与返诗修订206秒。
【可见产物】
个人随机分组、教师后置知识图、四类最低识别和个人两类深做
【教师作用】
后置命名四类（叙事推进／桑叶比兴与对照／复现回环反折／四言叠词与声音）；不接受空泛作用；提升只加准确不加术语堆叠。
【真实等待】
时间盒明示：个人分组238秒（零术语）→黑板分法187秒→全班比较125秒→后置命名144秒→个人说明返诗206秒。
【反馈与本人修订】
同桌只指出哪两个原词没有形成所说关系、作用是否回到人物；作者把空泛作用改为桑叶荣枯把关系盛衰置于时间、两声于嗟让劝告由物抵达人、反与不思回环让旧誓在结尾受核验。
【首次后用】
S08带走一处语言发现
【正常反例】
术语一时想不起者先准确写原词关系与人物变化；短卡已经准确者写“迁移成立，保留”不强制修改。
【主视觉职责】
关系线与原词
【插图资格】
无
【第一人称接收】
我在无术语状态下把两组材料放在一起并写出它们怎样改变声音或处境；教师命名后我能用其中一类解释一处原词关系。
【故事回接】
写法回到她的故事：六章推进她的时间，桑叶照见盛衰，复现让旧誓受核验，叠词让她的声音可闻；四类知识各归一处原句，切页句指向个人收束。
【删除损失】
删除会使知识只散落在活动里
【相邻反证】
不并入S07：本页仍在生成与互证形式解释，S07撤去原句群后只做个人收束与自我检索；合并会让命名失去比较底子。
【失败信号】
分组直接抄术语标签；作用只写生动形象；命名先于学生分法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【V6.6物理画面】S06-B1｜250秒
【本画面为何存在】
比较黑板上的学生分法、差异和混杂。
【学生此刻看见】
看看黑板上你们自己的分法｜哪些其实在看同一种写法？｜哪些材料还混在一起？｜只用原诗说明。
【教师逐字稿】
看看黑板上四份真实分法。不要问哪一份最像标准答案，只问：哪些其实在看同一种写法，哪些材料仍混在一起？发言必须引用原诗，不能只说‘都是写感情’。每个人在自己的分组旁补一处同学带来的新关系。
【舞台动作】
（承接前一画面）
（说出本页唯一邀请）
（真实等待或处理现场作品）
（在答案越界前切页）
【本画面时间盒】
观看真实学生分法：55秒；比较相同与混杂：105秒；原诗追问：55秒；个人补一处关系：35秒
【现场分支】
暂时没有答案：允许留下真实空白，或先回到最确定的一处原词。
判断越过原诗：请指出依据；没有原词支撑时降低判断强度。
【听者任务】
辨认分组依据，并补一处此前没看到的原词关系。
【证据位置】
黑板真实分法与个人补关系
【切页触发】
你们已经从原句中看见关系，下一页再用准确术语命名。
【V6.6逻辑页】S06｜逻辑页45｜15分钟
【前页输入】
四类材料都已读过（六章事件、桑叶与鸠女句、两个老与两个反及淇水复现、涟涟汤汤晏晏旦旦）；随机散卡未分组；术语未命名。
【唯一困难】
学生会报比兴、对照、反复、回环等术语，却不能说明原词关系怎样改变声音、时间与人物处境；“生动形象、表达感情”成为终点。
【唯一功能】
把逐句体验收成叙事推进、桑叶比兴与对照、词句复现反折、四言叠词与声音四类知识，并说明写法怎样改变人物故事。
【文学对象】
[object Object]
【信息状态】
只给知识检索类别，不给代表原句和作用答案；教师术语提升在小组补例以后。
【学生主动作】
面对随机散卡自行分组；比较黑板分法后由教师命名；每人完成四类识别并自选两类深做
【参与路径】
无术语例句观察与个人分组238秒→四组各写一种分法上黑板187秒→全班比较学生分法125秒→教师后置命名与准确提升144秒→个人两类说明与返诗修订206秒。
【可见产物】
个人随机分组、教师后置知识图、四类最低识别和个人两类深做
【教师作用】
后置命名四类（叙事推进／桑叶比兴与对照／复现回环反折／四言叠词与声音）；不接受空泛作用；提升只加准确不加术语堆叠。
【真实等待】
时间盒明示：个人分组238秒（零术语）→黑板分法187秒→全班比较125秒→后置命名144秒→个人说明返诗206秒。
【反馈与本人修订】
同桌只指出哪两个原词没有形成所说关系、作用是否回到人物；作者把空泛作用改为桑叶荣枯把关系盛衰置于时间、两声于嗟让劝告由物抵达人、反与不思回环让旧誓在结尾受核验。
【首次后用】
S08带走一处语言发现
【正常反例】
术语一时想不起者先准确写原词关系与人物变化；短卡已经准确者写“迁移成立，保留”不强制修改。
【主视觉职责】
关系线与原词
【插图资格】
无
【第一人称接收】
我在无术语状态下把两组材料放在一起并写出它们怎样改变声音或处境；教师命名后我能用其中一类解释一处原词关系。
【故事回接】
写法回到她的故事：六章推进她的时间，桑叶照见盛衰，复现让旧誓受核验，叠词让她的声音可闻；四类知识各归一处原句，切页句指向个人收束。
【删除损失】
删除会使知识只散落在活动里
【相邻反证】
不并入S07：本页仍在生成与互证形式解释，S07撤去原句群后只做个人收束与自我检索；合并会让命名失去比较底子。
【失败信号】
分组直接抄术语标签；作用只写生动形象；命名先于学生分法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【V6.6物理画面】S06-B2｜220秒
【本画面为何存在】
后置命名四类写法，回收赋比兴，并为每类补一处原诗和具体作用。
【学生此刻看见】
四种写法，从原诗里生长出来｜赋：铺陈直叙，六章叙事推进｜比、兴：桑叶起兴与前后对照｜词句复现、回环与反折｜四言节奏、叠词与声音｜每一类都要带一处原诗，也要说它怎样改变故事或声音。
【教师逐字稿】
教师只在学生分法之后命名四类：铺陈直叙、沿六章展开她的一生，是本诗‘赋’的骨架；桑叶由物及人，兼有比、兴，并与后文形成对照；词句复现、回环与反折；四言节奏、叠词与声音。这样，开篇只记过名字的赋、比、兴都回到了原诗。每一类必须补一处原诗，并说它具体改变了人物故事、时间或声音；‘生动形象、表达感情’不能停在这里。
【舞台动作】
（承接前一画面）
（说出本页唯一邀请）
（真实等待或处理现场作品）
（在答案越界前切页）
【本画面时间盒】
后置命名四类：55秒；沿学生材料补原诗与作用：95秒；个人四类各留一例：50秒；切页：20秒
【现场分支】
暂时没有答案：允许留下真实空白，或先回到最确定的一处原词。
判断越过原诗：请指出依据；没有原词支撑时降低判断强度。
【听者任务】
把术语落回原诗和具体作用。
【证据位置】
S06四类知识图与个人四例草稿
【切页触发】
术语已经看过，下一页撤去教师例子，检验每个人是否真正拥有。
【V6.6逻辑页】S06｜逻辑页45｜15分钟
【前页输入】
四类材料都已读过（六章事件、桑叶与鸠女句、两个老与两个反及淇水复现、涟涟汤汤晏晏旦旦）；随机散卡未分组；术语未命名。
【唯一困难】
学生会报比兴、对照、反复、回环等术语，却不能说明原词关系怎样改变声音、时间与人物处境；“生动形象、表达感情”成为终点。
【唯一功能】
把逐句体验收成叙事推进、桑叶比兴与对照、词句复现反折、四言叠词与声音四类知识，并说明写法怎样改变人物故事。
【文学对象】
[object Object]
【信息状态】
只给知识检索类别，不给代表原句和作用答案；教师术语提升在小组补例以后。
【学生主动作】
面对随机散卡自行分组；比较黑板分法后由教师命名；每人完成四类识别并自选两类深做
【参与路径】
无术语例句观察与个人分组238秒→四组各写一种分法上黑板187秒→全班比较学生分法125秒→教师后置命名与准确提升144秒→个人两类说明与返诗修订206秒。
【可见产物】
个人随机分组、教师后置知识图、四类最低识别和个人两类深做
【教师作用】
后置命名四类（叙事推进／桑叶比兴与对照／复现回环反折／四言叠词与声音）；不接受空泛作用；提升只加准确不加术语堆叠。
【真实等待】
时间盒明示：个人分组238秒（零术语）→黑板分法187秒→全班比较125秒→后置命名144秒→个人说明返诗206秒。
【反馈与本人修订】
同桌只指出哪两个原词没有形成所说关系、作用是否回到人物；作者把空泛作用改为桑叶荣枯把关系盛衰置于时间、两声于嗟让劝告由物抵达人、反与不思回环让旧誓在结尾受核验。
【首次后用】
S08带走一处语言发现
【正常反例】
术语一时想不起者先准确写原词关系与人物变化；短卡已经准确者写“迁移成立，保留”不强制修改。
【主视觉职责】
关系线与原词
【插图资格】
无
【第一人称接收】
我在无术语状态下把两组材料放在一起并写出它们怎样改变声音或处境；教师命名后我能用其中一类解释一处原词关系。
【故事回接】
写法回到她的故事：六章推进她的时间，桑叶照见盛衰，复现让旧誓受核验，叠词让她的声音可闻；四类知识各归一处原句，切页句指向个人收束。
【删除损失】
删除会使知识只散落在活动里
【相邻反证】
不并入S07：本页仍在生成与互证形式解释，S07撤去原句群后只做个人收束与自我检索；合并会让命名失去比较底子。
【失败信号】
分组直接抄术语标签；作用只写生动形象；命名先于学生分法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【V6.6物理画面】S06-B3｜180秒
【本画面为何存在】
撤去教师例子，完成四类最低识别，再自选两类深入说明。
【学生此刻看见】
四类都先留下一个原诗例子｜赋与叙事｜比兴与对照｜复现与反折｜节奏与声音｜然后自选两类写深：｜原诗｜写法｜它怎样改变人物故事或声音
【教师逐字稿】
现在不看教师例子。四类都先独立写一处原诗：赋与叙事，比兴与对照，复现与反折，节奏与声音；不会的类留空后再返诗找。四类补齐以后，自选两类写深：原诗是什么，写法怎样发生，它怎样改变人物故事或声音。最后只修自己真实不稳的地方。
【舞台动作】
（承接前一画面）
（说出本页唯一邀请）
（真实等待或处理现场作品）
（在答案越界前切页）
【本画面时间盒】
四类最低识别：70秒；返诗补齐空项：35秒；自选两类深入：60秒；本人修订与封存：15秒
【现场分支】
暂时没有答案：允许留下真实空白，或先回到最确定的一处原词。
判断越过原诗：请指出依据；没有原词支撑时降低判断强度。
【听者任务】
完成四类最低门槛，再深做两类。
【证据位置】
S06个人四类识别与两类深做
【切页触发】
文化、字词和诗法都已收回原诗。最后让《氓》完整响起。
【V6.6逻辑页】S06｜逻辑页45｜15分钟
【前页输入】
四类材料都已读过（六章事件、桑叶与鸠女句、两个老与两个反及淇水复现、涟涟汤汤晏晏旦旦）；随机散卡未分组；术语未命名。
【唯一困难】
学生会报比兴、对照、反复、回环等术语，却不能说明原词关系怎样改变声音、时间与人物处境；“生动形象、表达感情”成为终点。
【唯一功能】
把逐句体验收成叙事推进、桑叶比兴与对照、词句复现反折、四言叠词与声音四类知识，并说明写法怎样改变人物故事。
【文学对象】
[object Object]
【信息状态】
只给知识检索类别，不给代表原句和作用答案；教师术语提升在小组补例以后。
【学生主动作】
面对随机散卡自行分组；比较黑板分法后由教师命名；每人完成四类识别并自选两类深做
【参与路径】
无术语例句观察与个人分组238秒→四组各写一种分法上黑板187秒→全班比较学生分法125秒→教师后置命名与准确提升144秒→个人两类说明与返诗修订206秒。
【可见产物】
个人随机分组、教师后置知识图、四类最低识别和个人两类深做
【教师作用】
后置命名四类（叙事推进／桑叶比兴与对照／复现回环反折／四言叠词与声音）；不接受空泛作用；提升只加准确不加术语堆叠。
【真实等待】
时间盒明示：个人分组238秒（零术语）→黑板分法187秒→全班比较125秒→后置命名144秒→个人说明返诗206秒。
【反馈与本人修订】
同桌只指出哪两个原词没有形成所说关系、作用是否回到人物；作者把空泛作用改为桑叶荣枯把关系盛衰置于时间、两声于嗟让劝告由物抵达人、反与不思回环让旧誓在结尾受核验。
【首次后用】
S08带走一处语言发现
【正常反例】
术语一时想不起者先准确写原词关系与人物变化；短卡已经准确者写“迁移成立，保留”不强制修改。
【主视觉职责】
关系线与原词
【插图资格】
无
【第一人称接收】
我在无术语状态下把两组材料放在一起并写出它们怎样改变声音或处境；教师命名后我能用其中一类解释一处原词关系。
【故事回接】
写法回到她的故事：六章推进她的时间，桑叶照见盛衰，复现让旧誓受核验，叠词让她的声音可闻；四类知识各归一处原句，切页句指向个人收束。
【删除损失】
删除会使知识只散落在活动里
【相邻反证】
不并入S07：本页仍在生成与互证形式解释，S07撤去原句群后只做个人收束与自我检索；合并会让命名失去比较底子。
【失败信号】
分组直接抄术语标签；作用只写生动形象；命名先于学生分法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【V6.6物理画面】S08-A｜420秒
【本画面为何存在】
每人只留下一个改变或问题，再让全诗完整响起并安静结束。
【学生此刻看见】
读完《氓》｜一处改变最大的理解｜一处最想带走的语言发现｜一个仍愿意追问的问题｜从“氓之蚩蚩”读到“亦已焉哉”
【教师逐字稿】
请先看自己一路留下的批注、长卷和最后的关系卡，只选一个出口：一处改变最大的理解；一处最想带走的语言发现；或者一个仍愿意追问的问题。三选一，写一句真实的话，不必把三项填满。（等待并收取少量自愿分享。）现在把屏幕降暗，翻回全文，也看一眼你在六个关键字词旁圈出的终读提醒。我们不再停下来分析，从‘氓之蚩蚩’完整读到‘亦已焉哉’。读到自己的提醒处，只把音义读稳；读到最想带走的一处，让声音自然慢一点。末句以后不加总结，安静停十五秒。
【舞台动作】
（教师承接前页）
（学生先独立形成）
（同伴限定倾听）
（教师据真实材料校准）
（学生亲自修订）
（自然切页）
【本画面时间盒】
三选一个人终课句：105秒；少量真实分享：75秒；完整终读：210秒；末句静默：15秒；自然收束：15秒
【现场分支】
暂时没有答案：允许先圈出最确定的一处原词，用不完整但真实的话开口；没有新增也可如实保留。
判断越过原诗：请指出依据；找不到相应原词时，把断言降低为问题、可能或文本未写。
【听者任务】
分享阶段只听取他人带走的原诗或问题；终读阶段共同维护节奏，不评价情绪是否相同。
【证据位置】
个人三选一终课句；完整终读与末句静默计时
【切页触发】
（末句后保持安静，不再切入新的结论页。）
【V6.6逻辑页】S08｜逻辑页46｜7分钟
【前页输入】
批注、六章长卷、关系卡与字词终读提醒都在手边；个人终课句为空；全诗自O06后未再完整朗读。
【唯一困难】
全课产物丰富但须由每名学生亲自浓缩；终页若塞进知识测验或教师口号，人物、关系理解与完整声音都会被压扁。
【唯一功能】
每人只留下一个改变或问题，再让全诗完整响起并安静结束。
【文学对象】
[object Object]
【信息状态】
三选一出口（改变最大的理解／最想带走的语言发现／仍愿追问的问题）只写一句真话；屏幕降暗后只剩全文与六个提醒；末句后真实静默。
【学生主动作】
三选一留下真实终课句；至少180秒完整朗读
【参与路径】
三选一个人终课句105秒→少量真实分享75秒→从“氓之蚩蚩”到“亦已焉哉”完整终读210秒→末句静默15秒→自然收束15秒。
【可见产物】
个人终课句和完整终读
【教师作用】
只引用三种不同收束并确认事实边界（伤害责任与停止困难分开、实际离开降回停止判断）；不再增加新结论，解释权交回朗读。
【真实等待】
时间盒明示：终课句105秒（三选一不必填满）→分享75秒→完整终读210秒（不停顿分析）→静默15秒→收束15秒。
【反馈与本人修订】
同桌只核一个事实边界，不统一婚姻观与最爱诗句；作者补原句、分开责任与困难、把“她已离开”降回“停止判断”；真实问题允许保留。
【首次后用】
真实试教评估
【正常反例】
没有发生明显改变者可选语言发现或真实问题，不伪造改变。
【主视觉职责】
原诗与留白
【插图资格】
无
【第一人称接收】
我从三选一写下一句真实的终课句；终读经过我圈的提醒处时我把音义读稳，最想带走的那处我的声音自然慢了一点。
【故事回接】
全诗完整响起并安静结束：她从抱布贸丝走到亦已焉哉；三问、支点与带走的那句话一起留在学生手里，课堂账待真实试教填写。
【删除损失】
删除会失去个人出口和整体声音
【相邻反证】
不并入S07：S07收束字词、写法与边界，S08回到人物三问与关系理解并完成整诗朗读；合并将终页再次过载。
【失败信号】
终页变成知识测验；教师以口号收尾；末句后立即布置作业无静默
【声明边界】V5无插图桌面候选；不声称真实课堂或学生掌握已经通过。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A67F4A"/>
          </a:solidFill>
          <a:ln w="12700">
            <a:solidFill>
              <a:srgbClr val="A67F4A"/>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A67F4A"/>
                </a:solidFill>
                <a:latin typeface="Noto Sans CJK SC" pitchFamily="34" charset="0"/>
                <a:ea typeface="Noto Sans CJK SC" pitchFamily="34" charset="-122"/>
                <a:cs typeface="Noto Sans CJK SC" pitchFamily="34" charset="-120"/>
              </a:rPr>
              <a:t>初见</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01</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800" b="1" dirty="0">
                <a:solidFill>
                  <a:srgbClr val="29241F"/>
                </a:solidFill>
                <a:latin typeface="Noto Serif CJK SC" pitchFamily="34" charset="0"/>
                <a:ea typeface="Noto Serif CJK SC" pitchFamily="34" charset="-122"/>
                <a:cs typeface="Noto Serif CJK SC" pitchFamily="34" charset="-120"/>
              </a:rPr>
              <a:t>我们还记得哪些爱情与婚姻故事？</a:t>
            </a:r>
            <a:endParaRPr lang="en-US" sz="3800" dirty="0"/>
          </a:p>
        </p:txBody>
      </p:sp>
      <p:sp>
        <p:nvSpPr>
          <p:cNvPr id="6" name="Text 4"/>
          <p:cNvSpPr/>
          <p:nvPr/>
        </p:nvSpPr>
        <p:spPr>
          <a:xfrm>
            <a:off x="914400" y="1417320"/>
            <a:ext cx="10360152" cy="658368"/>
          </a:xfrm>
          <a:prstGeom prst="rect">
            <a:avLst/>
          </a:prstGeom>
          <a:noFill/>
          <a:ln/>
        </p:spPr>
        <p:txBody>
          <a:bodyPr wrap="square" lIns="0" tIns="0" rIns="0" bIns="0" rtlCol="0" anchor="ctr"/>
          <a:lstStyle/>
          <a:p>
            <a:pPr algn="ctr" indent="0" marL="0">
              <a:buNone/>
            </a:pPr>
            <a:r>
              <a:rPr lang="en-US" sz="2400" b="1" dirty="0">
                <a:solidFill>
                  <a:srgbClr val="A67F4A"/>
                </a:solidFill>
                <a:latin typeface="Noto Serif CJK SC" pitchFamily="34" charset="0"/>
                <a:ea typeface="Noto Serif CJK SC" pitchFamily="34" charset="-122"/>
                <a:cs typeface="Noto Serif CJK SC" pitchFamily="34" charset="-120"/>
              </a:rPr>
              <a:t>从小学想到高中：课文、小说、整本书……</a:t>
            </a:r>
            <a:endParaRPr lang="en-US" sz="2400" dirty="0"/>
          </a:p>
        </p:txBody>
      </p:sp>
      <p:sp>
        <p:nvSpPr>
          <p:cNvPr id="7" name="Text 5"/>
          <p:cNvSpPr/>
          <p:nvPr/>
        </p:nvSpPr>
        <p:spPr>
          <a:xfrm>
            <a:off x="960120" y="2148840"/>
            <a:ext cx="3108960" cy="411480"/>
          </a:xfrm>
          <a:prstGeom prst="rect">
            <a:avLst/>
          </a:prstGeom>
          <a:noFill/>
          <a:ln/>
        </p:spPr>
        <p:txBody>
          <a:bodyPr wrap="square" lIns="0" tIns="0" rIns="0" bIns="0" rtlCol="0" anchor="ctr"/>
          <a:lstStyle/>
          <a:p>
            <a:pPr indent="0" marL="0">
              <a:buNone/>
            </a:pPr>
            <a:r>
              <a:rPr lang="en-US" sz="2400" b="1" dirty="0">
                <a:solidFill>
                  <a:srgbClr val="51483F"/>
                </a:solidFill>
                <a:latin typeface="Noto Serif CJK SC" pitchFamily="34" charset="0"/>
                <a:ea typeface="Noto Serif CJK SC" pitchFamily="34" charset="-122"/>
                <a:cs typeface="Noto Serif CJK SC" pitchFamily="34" charset="-120"/>
              </a:rPr>
              <a:t>篇名</a:t>
            </a:r>
            <a:endParaRPr lang="en-US" sz="2400" dirty="0"/>
          </a:p>
        </p:txBody>
      </p:sp>
      <p:sp>
        <p:nvSpPr>
          <p:cNvPr id="8" name="Shape 6"/>
          <p:cNvSpPr/>
          <p:nvPr/>
        </p:nvSpPr>
        <p:spPr>
          <a:xfrm>
            <a:off x="3977640" y="2514600"/>
            <a:ext cx="6903720" cy="0"/>
          </a:xfrm>
          <a:prstGeom prst="line">
            <a:avLst/>
          </a:prstGeom>
          <a:noFill/>
          <a:ln w="17780">
            <a:solidFill>
              <a:srgbClr val="DED0BC"/>
            </a:solidFill>
            <a:prstDash val="solid"/>
          </a:ln>
        </p:spPr>
      </p:sp>
      <p:sp>
        <p:nvSpPr>
          <p:cNvPr id="9" name="Text 7"/>
          <p:cNvSpPr/>
          <p:nvPr/>
        </p:nvSpPr>
        <p:spPr>
          <a:xfrm>
            <a:off x="960120" y="3182112"/>
            <a:ext cx="3108960" cy="411480"/>
          </a:xfrm>
          <a:prstGeom prst="rect">
            <a:avLst/>
          </a:prstGeom>
          <a:noFill/>
          <a:ln/>
        </p:spPr>
        <p:txBody>
          <a:bodyPr wrap="square" lIns="0" tIns="0" rIns="0" bIns="0" rtlCol="0" anchor="ctr"/>
          <a:lstStyle/>
          <a:p>
            <a:pPr indent="0" marL="0">
              <a:buNone/>
            </a:pPr>
            <a:r>
              <a:rPr lang="en-US" sz="2400" b="1" dirty="0">
                <a:solidFill>
                  <a:srgbClr val="51483F"/>
                </a:solidFill>
                <a:latin typeface="Noto Serif CJK SC" pitchFamily="34" charset="0"/>
                <a:ea typeface="Noto Serif CJK SC" pitchFamily="34" charset="-122"/>
                <a:cs typeface="Noto Serif CJK SC" pitchFamily="34" charset="-120"/>
              </a:rPr>
              <a:t>用一句话唤回故事</a:t>
            </a:r>
            <a:endParaRPr lang="en-US" sz="2400" dirty="0"/>
          </a:p>
        </p:txBody>
      </p:sp>
      <p:sp>
        <p:nvSpPr>
          <p:cNvPr id="10" name="Shape 8"/>
          <p:cNvSpPr/>
          <p:nvPr/>
        </p:nvSpPr>
        <p:spPr>
          <a:xfrm>
            <a:off x="3977640" y="3547872"/>
            <a:ext cx="6903720" cy="0"/>
          </a:xfrm>
          <a:prstGeom prst="line">
            <a:avLst/>
          </a:prstGeom>
          <a:noFill/>
          <a:ln w="17780">
            <a:solidFill>
              <a:srgbClr val="DED0BC"/>
            </a:solidFill>
            <a:prstDash val="solid"/>
          </a:ln>
        </p:spPr>
      </p:sp>
      <p:sp>
        <p:nvSpPr>
          <p:cNvPr id="11" name="Text 9"/>
          <p:cNvSpPr/>
          <p:nvPr/>
        </p:nvSpPr>
        <p:spPr>
          <a:xfrm>
            <a:off x="960120" y="4215384"/>
            <a:ext cx="3108960" cy="411480"/>
          </a:xfrm>
          <a:prstGeom prst="rect">
            <a:avLst/>
          </a:prstGeom>
          <a:noFill/>
          <a:ln/>
        </p:spPr>
        <p:txBody>
          <a:bodyPr wrap="square" lIns="0" tIns="0" rIns="0" bIns="0" rtlCol="0" anchor="ctr"/>
          <a:lstStyle/>
          <a:p>
            <a:pPr indent="0" marL="0">
              <a:buNone/>
            </a:pPr>
            <a:r>
              <a:rPr lang="en-US" sz="2400" b="1" dirty="0">
                <a:solidFill>
                  <a:srgbClr val="725260"/>
                </a:solidFill>
                <a:latin typeface="Noto Serif CJK SC" pitchFamily="34" charset="0"/>
                <a:ea typeface="Noto Serif CJK SC" pitchFamily="34" charset="-122"/>
                <a:cs typeface="Noto Serif CJK SC" pitchFamily="34" charset="-120"/>
              </a:rPr>
              <a:t>它写到爱情或婚姻中的什么？</a:t>
            </a:r>
            <a:endParaRPr lang="en-US" sz="2400" dirty="0"/>
          </a:p>
        </p:txBody>
      </p:sp>
      <p:sp>
        <p:nvSpPr>
          <p:cNvPr id="12" name="Shape 10"/>
          <p:cNvSpPr/>
          <p:nvPr/>
        </p:nvSpPr>
        <p:spPr>
          <a:xfrm>
            <a:off x="3977640" y="4581144"/>
            <a:ext cx="6903720" cy="0"/>
          </a:xfrm>
          <a:prstGeom prst="line">
            <a:avLst/>
          </a:prstGeom>
          <a:noFill/>
          <a:ln w="17780">
            <a:solidFill>
              <a:srgbClr val="E9DDE2"/>
            </a:solidFill>
            <a:prstDash val="solid"/>
          </a:ln>
        </p:spPr>
      </p:sp>
      <p:sp>
        <p:nvSpPr>
          <p:cNvPr id="13" name="Text 11"/>
          <p:cNvSpPr/>
          <p:nvPr/>
        </p:nvSpPr>
        <p:spPr>
          <a:xfrm>
            <a:off x="914400" y="5715000"/>
            <a:ext cx="10360152" cy="658368"/>
          </a:xfrm>
          <a:prstGeom prst="rect">
            <a:avLst/>
          </a:prstGeom>
          <a:noFill/>
          <a:ln/>
        </p:spPr>
        <p:txBody>
          <a:bodyPr wrap="square" lIns="0" tIns="0" rIns="0" bIns="0" rtlCol="0" anchor="ctr"/>
          <a:lstStyle/>
          <a:p>
            <a:pPr algn="ctr" indent="0" marL="0">
              <a:buNone/>
            </a:pPr>
            <a:r>
              <a:rPr lang="en-US" sz="2400" b="1" dirty="0">
                <a:solidFill>
                  <a:srgbClr val="29241F"/>
                </a:solidFill>
                <a:latin typeface="Noto Serif CJK SC" pitchFamily="34" charset="0"/>
                <a:ea typeface="Noto Serif CJK SC" pitchFamily="34" charset="-122"/>
                <a:cs typeface="Noto Serif CJK SC" pitchFamily="34" charset="-120"/>
              </a:rPr>
              <a:t>先写你真正记得的一篇；想起新的，再添下去。</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8231F"/>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A67F4A"/>
          </a:solidFill>
          <a:ln w="12700">
            <a:solidFill>
              <a:srgbClr val="A67F4A"/>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DED0BC"/>
                </a:solidFill>
                <a:latin typeface="Noto Sans CJK SC" pitchFamily="34" charset="0"/>
                <a:ea typeface="Noto Sans CJK SC" pitchFamily="34" charset="-122"/>
                <a:cs typeface="Noto Sans CJK SC" pitchFamily="34" charset="-120"/>
              </a:rPr>
              <a:t>初见</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C5B39B"/>
                </a:solidFill>
                <a:latin typeface="Noto Sans CJK SC" pitchFamily="34" charset="0"/>
                <a:ea typeface="Noto Sans CJK SC" pitchFamily="34" charset="-122"/>
                <a:cs typeface="Noto Sans CJK SC" pitchFamily="34" charset="-120"/>
              </a:rPr>
              <a:t>02</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800" b="1" dirty="0">
                <a:solidFill>
                  <a:srgbClr val="FFFDFC"/>
                </a:solidFill>
                <a:latin typeface="Noto Serif CJK SC" pitchFamily="34" charset="0"/>
                <a:ea typeface="Noto Serif CJK SC" pitchFamily="34" charset="-122"/>
                <a:cs typeface="Noto Serif CJK SC" pitchFamily="34" charset="-120"/>
              </a:rPr>
              <a:t>一间教室，能想起多少种爱情与婚姻？</a:t>
            </a:r>
            <a:endParaRPr lang="en-US" sz="3800" dirty="0"/>
          </a:p>
        </p:txBody>
      </p:sp>
      <p:sp>
        <p:nvSpPr>
          <p:cNvPr id="6" name="Text 4"/>
          <p:cNvSpPr/>
          <p:nvPr/>
        </p:nvSpPr>
        <p:spPr>
          <a:xfrm>
            <a:off x="914400" y="1965960"/>
            <a:ext cx="10332720" cy="777240"/>
          </a:xfrm>
          <a:prstGeom prst="rect">
            <a:avLst/>
          </a:prstGeom>
          <a:noFill/>
          <a:ln/>
        </p:spPr>
        <p:txBody>
          <a:bodyPr wrap="square" lIns="0" tIns="0" rIns="0" bIns="0" rtlCol="0" anchor="ctr"/>
          <a:lstStyle/>
          <a:p>
            <a:pPr algn="ctr" indent="0" marL="0">
              <a:buNone/>
            </a:pPr>
            <a:r>
              <a:rPr lang="en-US" sz="3400" b="1" dirty="0">
                <a:solidFill>
                  <a:srgbClr val="EFE3CF"/>
                </a:solidFill>
                <a:latin typeface="Noto Serif CJK SC" pitchFamily="34" charset="0"/>
                <a:ea typeface="Noto Serif CJK SC" pitchFamily="34" charset="-122"/>
                <a:cs typeface="Noto Serif CJK SC" pitchFamily="34" charset="-120"/>
              </a:rPr>
              <a:t>我想起《　　　　　》：它写了　　　　　　　　　</a:t>
            </a:r>
            <a:endParaRPr lang="en-US" sz="3400" dirty="0"/>
          </a:p>
        </p:txBody>
      </p:sp>
      <p:sp>
        <p:nvSpPr>
          <p:cNvPr id="7" name="Shape 5"/>
          <p:cNvSpPr/>
          <p:nvPr/>
        </p:nvSpPr>
        <p:spPr>
          <a:xfrm>
            <a:off x="1097280" y="3154680"/>
            <a:ext cx="9966960" cy="0"/>
          </a:xfrm>
          <a:prstGeom prst="line">
            <a:avLst/>
          </a:prstGeom>
          <a:noFill/>
          <a:ln w="13970">
            <a:solidFill>
              <a:srgbClr val="C5B39B"/>
            </a:solidFill>
            <a:prstDash val="solid"/>
          </a:ln>
        </p:spPr>
      </p:sp>
      <p:sp>
        <p:nvSpPr>
          <p:cNvPr id="8" name="Text 6"/>
          <p:cNvSpPr/>
          <p:nvPr/>
        </p:nvSpPr>
        <p:spPr>
          <a:xfrm>
            <a:off x="914400" y="4069080"/>
            <a:ext cx="10360152" cy="658368"/>
          </a:xfrm>
          <a:prstGeom prst="rect">
            <a:avLst/>
          </a:prstGeom>
          <a:noFill/>
          <a:ln/>
        </p:spPr>
        <p:txBody>
          <a:bodyPr wrap="square" lIns="0" tIns="0" rIns="0" bIns="0" rtlCol="0" anchor="ctr"/>
          <a:lstStyle/>
          <a:p>
            <a:pPr algn="ctr" indent="0" marL="0">
              <a:buNone/>
            </a:pPr>
            <a:r>
              <a:rPr lang="en-US" sz="2800" b="1" dirty="0">
                <a:solidFill>
                  <a:srgbClr val="DCE9E8"/>
                </a:solidFill>
                <a:latin typeface="Noto Serif CJK SC" pitchFamily="34" charset="0"/>
                <a:ea typeface="Noto Serif CJK SC" pitchFamily="34" charset="-122"/>
                <a:cs typeface="Noto Serif CJK SC" pitchFamily="34" charset="-120"/>
              </a:rPr>
              <a:t>听见一篇自己没有想到的，就把它添进自己的清单。</a:t>
            </a:r>
            <a:endParaRPr lang="en-US"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8231F"/>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A67F4A"/>
          </a:solidFill>
          <a:ln w="12700">
            <a:solidFill>
              <a:srgbClr val="A67F4A"/>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DED0BC"/>
                </a:solidFill>
                <a:latin typeface="Noto Sans CJK SC" pitchFamily="34" charset="0"/>
                <a:ea typeface="Noto Sans CJK SC" pitchFamily="34" charset="-122"/>
                <a:cs typeface="Noto Sans CJK SC" pitchFamily="34" charset="-120"/>
              </a:rPr>
              <a:t>初见</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C5B39B"/>
                </a:solidFill>
                <a:latin typeface="Noto Sans CJK SC" pitchFamily="34" charset="0"/>
                <a:ea typeface="Noto Sans CJK SC" pitchFamily="34" charset="-122"/>
                <a:cs typeface="Noto Sans CJK SC" pitchFamily="34" charset="-120"/>
              </a:rPr>
              <a:t>03</a:t>
            </a:r>
            <a:endParaRPr lang="en-US" sz="1450" dirty="0"/>
          </a:p>
        </p:txBody>
      </p:sp>
      <p:sp>
        <p:nvSpPr>
          <p:cNvPr id="5" name="Text 3"/>
          <p:cNvSpPr/>
          <p:nvPr/>
        </p:nvSpPr>
        <p:spPr>
          <a:xfrm>
            <a:off x="1371600" y="1737360"/>
            <a:ext cx="9445752" cy="1371600"/>
          </a:xfrm>
          <a:prstGeom prst="rect">
            <a:avLst/>
          </a:prstGeom>
          <a:noFill/>
          <a:ln/>
        </p:spPr>
        <p:txBody>
          <a:bodyPr wrap="square" lIns="0" tIns="0" rIns="0" bIns="0" rtlCol="0" anchor="ctr"/>
          <a:lstStyle/>
          <a:p>
            <a:pPr algn="ctr" indent="0" marL="0">
              <a:buNone/>
            </a:pPr>
            <a:r>
              <a:rPr lang="en-US" sz="8000" b="1" dirty="0">
                <a:solidFill>
                  <a:srgbClr val="FFFDFC"/>
                </a:solidFill>
                <a:latin typeface="Noto Serif CJK SC" pitchFamily="34" charset="0"/>
                <a:ea typeface="Noto Serif CJK SC" pitchFamily="34" charset="-122"/>
                <a:cs typeface="Noto Serif CJK SC" pitchFamily="34" charset="-120"/>
              </a:rPr>
              <a:t>氓</a:t>
            </a:r>
            <a:endParaRPr lang="en-US" sz="8000" dirty="0"/>
          </a:p>
        </p:txBody>
      </p:sp>
      <p:sp>
        <p:nvSpPr>
          <p:cNvPr id="6" name="Text 4"/>
          <p:cNvSpPr/>
          <p:nvPr/>
        </p:nvSpPr>
        <p:spPr>
          <a:xfrm>
            <a:off x="4114800" y="3246120"/>
            <a:ext cx="3959352" cy="411480"/>
          </a:xfrm>
          <a:prstGeom prst="rect">
            <a:avLst/>
          </a:prstGeom>
          <a:noFill/>
          <a:ln/>
        </p:spPr>
        <p:txBody>
          <a:bodyPr wrap="square" lIns="0" tIns="0" rIns="0" bIns="0" rtlCol="0" anchor="ctr"/>
          <a:lstStyle/>
          <a:p>
            <a:pPr algn="ctr" indent="0" marL="0">
              <a:buNone/>
            </a:pPr>
            <a:r>
              <a:rPr lang="en-US" sz="2200" spc="300" kern="0" dirty="0">
                <a:solidFill>
                  <a:srgbClr val="EFE3CF"/>
                </a:solidFill>
                <a:latin typeface="Noto Sans CJK SC" pitchFamily="34" charset="0"/>
                <a:ea typeface="Noto Sans CJK SC" pitchFamily="34" charset="-122"/>
                <a:cs typeface="Noto Sans CJK SC" pitchFamily="34" charset="-120"/>
              </a:rPr>
              <a:t>méng</a:t>
            </a:r>
            <a:endParaRPr lang="en-US" sz="2200" dirty="0"/>
          </a:p>
        </p:txBody>
      </p:sp>
      <p:sp>
        <p:nvSpPr>
          <p:cNvPr id="7" name="Text 5"/>
          <p:cNvSpPr/>
          <p:nvPr/>
        </p:nvSpPr>
        <p:spPr>
          <a:xfrm>
            <a:off x="2926080" y="4206240"/>
            <a:ext cx="6336792" cy="502920"/>
          </a:xfrm>
          <a:prstGeom prst="rect">
            <a:avLst/>
          </a:prstGeom>
          <a:noFill/>
          <a:ln/>
        </p:spPr>
        <p:txBody>
          <a:bodyPr wrap="square" lIns="0" tIns="0" rIns="0" bIns="0" rtlCol="0" anchor="ctr"/>
          <a:lstStyle/>
          <a:p>
            <a:pPr algn="ctr" indent="0" marL="0">
              <a:buNone/>
            </a:pPr>
            <a:r>
              <a:rPr lang="en-US" sz="2800" dirty="0">
                <a:solidFill>
                  <a:srgbClr val="DED0BC"/>
                </a:solidFill>
                <a:latin typeface="Noto Serif CJK SC" pitchFamily="34" charset="0"/>
                <a:ea typeface="Noto Serif CJK SC" pitchFamily="34" charset="-122"/>
                <a:cs typeface="Noto Serif CJK SC" pitchFamily="34" charset="-120"/>
              </a:rPr>
              <a:t>《诗经·卫风》</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A67F4A"/>
          </a:solidFill>
          <a:ln w="12700">
            <a:solidFill>
              <a:srgbClr val="A67F4A"/>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A67F4A"/>
                </a:solidFill>
                <a:latin typeface="Noto Sans CJK SC" pitchFamily="34" charset="0"/>
                <a:ea typeface="Noto Sans CJK SC" pitchFamily="34" charset="-122"/>
                <a:cs typeface="Noto Sans CJK SC" pitchFamily="34" charset="-120"/>
              </a:rPr>
              <a:t>初见</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04</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400" b="1" dirty="0">
                <a:solidFill>
                  <a:srgbClr val="29241F"/>
                </a:solidFill>
                <a:latin typeface="Noto Serif CJK SC" pitchFamily="34" charset="0"/>
                <a:ea typeface="Noto Serif CJK SC" pitchFamily="34" charset="-122"/>
                <a:cs typeface="Noto Serif CJK SC" pitchFamily="34" charset="-120"/>
              </a:rPr>
              <a:t>《诗经》</a:t>
            </a:r>
            <a:endParaRPr lang="en-US" sz="3400" dirty="0"/>
          </a:p>
        </p:txBody>
      </p:sp>
      <p:sp>
        <p:nvSpPr>
          <p:cNvPr id="6" name="Shape 4"/>
          <p:cNvSpPr/>
          <p:nvPr/>
        </p:nvSpPr>
        <p:spPr>
          <a:xfrm>
            <a:off x="749808" y="1600200"/>
            <a:ext cx="2487168" cy="1234440"/>
          </a:xfrm>
          <a:prstGeom prst="roundRect">
            <a:avLst>
              <a:gd name="adj" fmla="val 2963"/>
            </a:avLst>
          </a:prstGeom>
          <a:solidFill>
            <a:srgbClr val="EFE3CF"/>
          </a:solidFill>
          <a:ln w="13335">
            <a:solidFill>
              <a:srgbClr val="A67F4A"/>
            </a:solidFill>
            <a:prstDash val="solid"/>
          </a:ln>
        </p:spPr>
      </p:sp>
      <p:sp>
        <p:nvSpPr>
          <p:cNvPr id="7" name="Text 5"/>
          <p:cNvSpPr/>
          <p:nvPr/>
        </p:nvSpPr>
        <p:spPr>
          <a:xfrm>
            <a:off x="896112" y="1929384"/>
            <a:ext cx="2194560" cy="585216"/>
          </a:xfrm>
          <a:prstGeom prst="rect">
            <a:avLst/>
          </a:prstGeom>
          <a:noFill/>
          <a:ln/>
        </p:spPr>
        <p:txBody>
          <a:bodyPr wrap="square" lIns="0" tIns="0" rIns="0" bIns="0" rtlCol="0" anchor="ctr">
            <a:normAutofit/>
          </a:bodyPr>
          <a:lstStyle/>
          <a:p>
            <a:pPr algn="ctr" indent="0" marL="0">
              <a:buNone/>
            </a:pPr>
            <a:r>
              <a:rPr lang="en-US" sz="2400" b="1" dirty="0">
                <a:solidFill>
                  <a:srgbClr val="29241F"/>
                </a:solidFill>
                <a:latin typeface="Noto Serif CJK SC" pitchFamily="34" charset="0"/>
                <a:ea typeface="Noto Serif CJK SC" pitchFamily="34" charset="-122"/>
                <a:cs typeface="Noto Serif CJK SC" pitchFamily="34" charset="-120"/>
              </a:rPr>
              <a:t>我国第一部诗歌总集｜305篇</a:t>
            </a:r>
            <a:endParaRPr lang="en-US" sz="2400" dirty="0"/>
          </a:p>
        </p:txBody>
      </p:sp>
      <p:sp>
        <p:nvSpPr>
          <p:cNvPr id="8" name="Shape 6"/>
          <p:cNvSpPr/>
          <p:nvPr/>
        </p:nvSpPr>
        <p:spPr>
          <a:xfrm>
            <a:off x="3584448" y="1600200"/>
            <a:ext cx="2487168" cy="1234440"/>
          </a:xfrm>
          <a:prstGeom prst="roundRect">
            <a:avLst>
              <a:gd name="adj" fmla="val 2963"/>
            </a:avLst>
          </a:prstGeom>
          <a:solidFill>
            <a:srgbClr val="DCE9E8"/>
          </a:solidFill>
          <a:ln w="13335">
            <a:solidFill>
              <a:srgbClr val="446E78"/>
            </a:solidFill>
            <a:prstDash val="solid"/>
          </a:ln>
        </p:spPr>
      </p:sp>
      <p:sp>
        <p:nvSpPr>
          <p:cNvPr id="9" name="Text 7"/>
          <p:cNvSpPr/>
          <p:nvPr/>
        </p:nvSpPr>
        <p:spPr>
          <a:xfrm>
            <a:off x="3730752" y="1929384"/>
            <a:ext cx="2194560" cy="585216"/>
          </a:xfrm>
          <a:prstGeom prst="rect">
            <a:avLst/>
          </a:prstGeom>
          <a:noFill/>
          <a:ln/>
        </p:spPr>
        <p:txBody>
          <a:bodyPr wrap="square" lIns="0" tIns="0" rIns="0" bIns="0" rtlCol="0" anchor="ctr">
            <a:normAutofit/>
          </a:bodyPr>
          <a:lstStyle/>
          <a:p>
            <a:pPr algn="ctr" indent="0" marL="0">
              <a:buNone/>
            </a:pPr>
            <a:r>
              <a:rPr lang="en-US" sz="2400" b="1" dirty="0">
                <a:solidFill>
                  <a:srgbClr val="29241F"/>
                </a:solidFill>
                <a:latin typeface="Noto Serif CJK SC" pitchFamily="34" charset="0"/>
                <a:ea typeface="Noto Serif CJK SC" pitchFamily="34" charset="-122"/>
                <a:cs typeface="Noto Serif CJK SC" pitchFamily="34" charset="-120"/>
              </a:rPr>
              <a:t>西周初年至春秋中叶</a:t>
            </a:r>
            <a:endParaRPr lang="en-US" sz="2400" dirty="0"/>
          </a:p>
        </p:txBody>
      </p:sp>
      <p:sp>
        <p:nvSpPr>
          <p:cNvPr id="10" name="Shape 8"/>
          <p:cNvSpPr/>
          <p:nvPr/>
        </p:nvSpPr>
        <p:spPr>
          <a:xfrm>
            <a:off x="6419088" y="1600200"/>
            <a:ext cx="2487168" cy="1234440"/>
          </a:xfrm>
          <a:prstGeom prst="roundRect">
            <a:avLst>
              <a:gd name="adj" fmla="val 2963"/>
            </a:avLst>
          </a:prstGeom>
          <a:solidFill>
            <a:srgbClr val="E1E7D9"/>
          </a:solidFill>
          <a:ln w="13335">
            <a:solidFill>
              <a:srgbClr val="657653"/>
            </a:solidFill>
            <a:prstDash val="solid"/>
          </a:ln>
        </p:spPr>
      </p:sp>
      <p:sp>
        <p:nvSpPr>
          <p:cNvPr id="11" name="Text 9"/>
          <p:cNvSpPr/>
          <p:nvPr/>
        </p:nvSpPr>
        <p:spPr>
          <a:xfrm>
            <a:off x="6565392" y="1929384"/>
            <a:ext cx="2194560" cy="585216"/>
          </a:xfrm>
          <a:prstGeom prst="rect">
            <a:avLst/>
          </a:prstGeom>
          <a:noFill/>
          <a:ln/>
        </p:spPr>
        <p:txBody>
          <a:bodyPr wrap="square" lIns="0" tIns="0" rIns="0" bIns="0" rtlCol="0" anchor="ctr">
            <a:normAutofit/>
          </a:bodyPr>
          <a:lstStyle/>
          <a:p>
            <a:pPr algn="ctr" indent="0" marL="0">
              <a:buNone/>
            </a:pPr>
            <a:r>
              <a:rPr lang="en-US" sz="2400" b="1" dirty="0">
                <a:solidFill>
                  <a:srgbClr val="29241F"/>
                </a:solidFill>
                <a:latin typeface="Noto Serif CJK SC" pitchFamily="34" charset="0"/>
                <a:ea typeface="Noto Serif CJK SC" pitchFamily="34" charset="-122"/>
                <a:cs typeface="Noto Serif CJK SC" pitchFamily="34" charset="-120"/>
              </a:rPr>
              <a:t>风　雅　颂</a:t>
            </a:r>
            <a:endParaRPr lang="en-US" sz="2400" dirty="0"/>
          </a:p>
        </p:txBody>
      </p:sp>
      <p:sp>
        <p:nvSpPr>
          <p:cNvPr id="12" name="Shape 10"/>
          <p:cNvSpPr/>
          <p:nvPr/>
        </p:nvSpPr>
        <p:spPr>
          <a:xfrm>
            <a:off x="9253728" y="1600200"/>
            <a:ext cx="2487168" cy="1234440"/>
          </a:xfrm>
          <a:prstGeom prst="roundRect">
            <a:avLst>
              <a:gd name="adj" fmla="val 2963"/>
            </a:avLst>
          </a:prstGeom>
          <a:solidFill>
            <a:srgbClr val="E9DDE2"/>
          </a:solidFill>
          <a:ln w="13335">
            <a:solidFill>
              <a:srgbClr val="725260"/>
            </a:solidFill>
            <a:prstDash val="solid"/>
          </a:ln>
        </p:spPr>
      </p:sp>
      <p:sp>
        <p:nvSpPr>
          <p:cNvPr id="13" name="Text 11"/>
          <p:cNvSpPr/>
          <p:nvPr/>
        </p:nvSpPr>
        <p:spPr>
          <a:xfrm>
            <a:off x="9400032" y="1929384"/>
            <a:ext cx="2194560" cy="585216"/>
          </a:xfrm>
          <a:prstGeom prst="rect">
            <a:avLst/>
          </a:prstGeom>
          <a:noFill/>
          <a:ln/>
        </p:spPr>
        <p:txBody>
          <a:bodyPr wrap="square" lIns="0" tIns="0" rIns="0" bIns="0" rtlCol="0" anchor="ctr">
            <a:normAutofit/>
          </a:bodyPr>
          <a:lstStyle/>
          <a:p>
            <a:pPr algn="ctr" indent="0" marL="0">
              <a:buNone/>
            </a:pPr>
            <a:r>
              <a:rPr lang="en-US" sz="2400" b="1" dirty="0">
                <a:solidFill>
                  <a:srgbClr val="29241F"/>
                </a:solidFill>
                <a:latin typeface="Noto Serif CJK SC" pitchFamily="34" charset="0"/>
                <a:ea typeface="Noto Serif CJK SC" pitchFamily="34" charset="-122"/>
                <a:cs typeface="Noto Serif CJK SC" pitchFamily="34" charset="-120"/>
              </a:rPr>
              <a:t>《氓》在《卫风》里</a:t>
            </a:r>
            <a:endParaRPr lang="en-US" sz="2400" dirty="0"/>
          </a:p>
        </p:txBody>
      </p:sp>
      <p:sp>
        <p:nvSpPr>
          <p:cNvPr id="14" name="Text 12"/>
          <p:cNvSpPr/>
          <p:nvPr/>
        </p:nvSpPr>
        <p:spPr>
          <a:xfrm>
            <a:off x="1005840" y="3520440"/>
            <a:ext cx="10149840" cy="594360"/>
          </a:xfrm>
          <a:prstGeom prst="rect">
            <a:avLst/>
          </a:prstGeom>
          <a:noFill/>
          <a:ln/>
        </p:spPr>
        <p:txBody>
          <a:bodyPr wrap="square" lIns="0" tIns="0" rIns="0" bIns="0" rtlCol="0" anchor="ctr"/>
          <a:lstStyle/>
          <a:p>
            <a:pPr algn="ctr" indent="0" marL="0">
              <a:buNone/>
            </a:pPr>
            <a:r>
              <a:rPr lang="en-US" sz="3200" b="1" dirty="0">
                <a:solidFill>
                  <a:srgbClr val="725260"/>
                </a:solidFill>
                <a:latin typeface="Noto Serif CJK SC" pitchFamily="34" charset="0"/>
                <a:ea typeface="Noto Serif CJK SC" pitchFamily="34" charset="-122"/>
                <a:cs typeface="Noto Serif CJK SC" pitchFamily="34" charset="-120"/>
              </a:rPr>
              <a:t>赋、比、兴——先记住名字，后面会真正遇见。</a:t>
            </a:r>
            <a:endParaRPr lang="en-US" sz="3200" dirty="0"/>
          </a:p>
        </p:txBody>
      </p:sp>
      <p:sp>
        <p:nvSpPr>
          <p:cNvPr id="15" name="Text 13"/>
          <p:cNvSpPr/>
          <p:nvPr/>
        </p:nvSpPr>
        <p:spPr>
          <a:xfrm>
            <a:off x="914400" y="4754880"/>
            <a:ext cx="10360152" cy="658368"/>
          </a:xfrm>
          <a:prstGeom prst="rect">
            <a:avLst/>
          </a:prstGeom>
          <a:noFill/>
          <a:ln/>
        </p:spPr>
        <p:txBody>
          <a:bodyPr wrap="square" lIns="0" tIns="0" rIns="0" bIns="0" rtlCol="0" anchor="ctr"/>
          <a:lstStyle/>
          <a:p>
            <a:pPr algn="ctr" indent="0" marL="0">
              <a:buNone/>
            </a:pPr>
            <a:endParaRPr lang="en-US" sz="2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8231F"/>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A67F4A"/>
          </a:solidFill>
          <a:ln w="12700">
            <a:solidFill>
              <a:srgbClr val="A67F4A"/>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DED0BC"/>
                </a:solidFill>
                <a:latin typeface="Noto Sans CJK SC" pitchFamily="34" charset="0"/>
                <a:ea typeface="Noto Sans CJK SC" pitchFamily="34" charset="-122"/>
                <a:cs typeface="Noto Sans CJK SC" pitchFamily="34" charset="-120"/>
              </a:rPr>
              <a:t>初见</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C5B39B"/>
                </a:solidFill>
                <a:latin typeface="Noto Sans CJK SC" pitchFamily="34" charset="0"/>
                <a:ea typeface="Noto Sans CJK SC" pitchFamily="34" charset="-122"/>
                <a:cs typeface="Noto Sans CJK SC" pitchFamily="34" charset="-120"/>
              </a:rPr>
              <a:t>05</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100" b="1" dirty="0">
                <a:solidFill>
                  <a:srgbClr val="FFFDFC"/>
                </a:solidFill>
                <a:latin typeface="Noto Serif CJK SC" pitchFamily="34" charset="0"/>
                <a:ea typeface="Noto Serif CJK SC" pitchFamily="34" charset="-122"/>
                <a:cs typeface="Noto Serif CJK SC" pitchFamily="34" charset="-120"/>
              </a:rPr>
              <a:t>她自己说｜第一章</a:t>
            </a:r>
            <a:endParaRPr lang="en-US" sz="3100" dirty="0"/>
          </a:p>
        </p:txBody>
      </p:sp>
      <p:sp>
        <p:nvSpPr>
          <p:cNvPr id="6" name="Shape 4"/>
          <p:cNvSpPr/>
          <p:nvPr/>
        </p:nvSpPr>
        <p:spPr>
          <a:xfrm>
            <a:off x="822960" y="1417320"/>
            <a:ext cx="10561320" cy="4526280"/>
          </a:xfrm>
          <a:prstGeom prst="roundRect">
            <a:avLst>
              <a:gd name="adj" fmla="val 808"/>
            </a:avLst>
          </a:prstGeom>
          <a:solidFill>
            <a:srgbClr val="383129"/>
          </a:solidFill>
          <a:ln w="13970">
            <a:solidFill>
              <a:srgbClr val="A67F4A"/>
            </a:solidFill>
            <a:prstDash val="solid"/>
          </a:ln>
        </p:spPr>
      </p:sp>
      <p:sp>
        <p:nvSpPr>
          <p:cNvPr id="7" name="Text 5"/>
          <p:cNvSpPr/>
          <p:nvPr/>
        </p:nvSpPr>
        <p:spPr>
          <a:xfrm>
            <a:off x="1051560" y="2692908"/>
            <a:ext cx="10104120" cy="539862"/>
          </a:xfrm>
          <a:prstGeom prst="rect">
            <a:avLst/>
          </a:prstGeom>
          <a:noFill/>
          <a:ln/>
        </p:spPr>
        <p:txBody>
          <a:bodyPr wrap="square" lIns="0" tIns="0" rIns="0" bIns="0" rtlCol="0" anchor="ctr"/>
          <a:lstStyle/>
          <a:p>
            <a:pPr algn="ctr" indent="0" marL="0">
              <a:buNone/>
            </a:pPr>
            <a:r>
              <a:rPr lang="en-US" sz="3100" dirty="0">
                <a:solidFill>
                  <a:srgbClr val="FFFDFC"/>
                </a:solidFill>
                <a:latin typeface="Noto Serif CJK SC" pitchFamily="34" charset="0"/>
                <a:ea typeface="Noto Serif CJK SC" pitchFamily="34" charset="-122"/>
                <a:cs typeface="Noto Serif CJK SC" pitchFamily="34" charset="-120"/>
              </a:rPr>
              <a:t>氓之蚩蚩，抱布贸丝。匪来贸丝，来即我谋。</a:t>
            </a:r>
            <a:endParaRPr lang="en-US" sz="3100" dirty="0"/>
          </a:p>
        </p:txBody>
      </p:sp>
      <p:sp>
        <p:nvSpPr>
          <p:cNvPr id="8" name="Text 6"/>
          <p:cNvSpPr/>
          <p:nvPr/>
        </p:nvSpPr>
        <p:spPr>
          <a:xfrm>
            <a:off x="1051560" y="3351276"/>
            <a:ext cx="10104120" cy="539862"/>
          </a:xfrm>
          <a:prstGeom prst="rect">
            <a:avLst/>
          </a:prstGeom>
          <a:noFill/>
          <a:ln/>
        </p:spPr>
        <p:txBody>
          <a:bodyPr wrap="square" lIns="0" tIns="0" rIns="0" bIns="0" rtlCol="0" anchor="ctr"/>
          <a:lstStyle/>
          <a:p>
            <a:pPr algn="ctr" indent="0" marL="0">
              <a:buNone/>
            </a:pPr>
            <a:r>
              <a:rPr lang="en-US" sz="3100" dirty="0">
                <a:solidFill>
                  <a:srgbClr val="FFFDFC"/>
                </a:solidFill>
                <a:latin typeface="Noto Serif CJK SC" pitchFamily="34" charset="0"/>
                <a:ea typeface="Noto Serif CJK SC" pitchFamily="34" charset="-122"/>
                <a:cs typeface="Noto Serif CJK SC" pitchFamily="34" charset="-120"/>
              </a:rPr>
              <a:t>送子涉淇，至于顿丘。匪我愆期，子无良媒。</a:t>
            </a:r>
            <a:endParaRPr lang="en-US" sz="3100" dirty="0"/>
          </a:p>
        </p:txBody>
      </p:sp>
      <p:sp>
        <p:nvSpPr>
          <p:cNvPr id="9" name="Text 7"/>
          <p:cNvSpPr/>
          <p:nvPr/>
        </p:nvSpPr>
        <p:spPr>
          <a:xfrm>
            <a:off x="1051560" y="4009644"/>
            <a:ext cx="10104120" cy="539862"/>
          </a:xfrm>
          <a:prstGeom prst="rect">
            <a:avLst/>
          </a:prstGeom>
          <a:noFill/>
          <a:ln/>
        </p:spPr>
        <p:txBody>
          <a:bodyPr wrap="square" lIns="0" tIns="0" rIns="0" bIns="0" rtlCol="0" anchor="ctr"/>
          <a:lstStyle/>
          <a:p>
            <a:pPr algn="ctr" indent="0" marL="0">
              <a:buNone/>
            </a:pPr>
            <a:r>
              <a:rPr lang="en-US" sz="3100" dirty="0">
                <a:solidFill>
                  <a:srgbClr val="FFFDFC"/>
                </a:solidFill>
                <a:latin typeface="Noto Serif CJK SC" pitchFamily="34" charset="0"/>
                <a:ea typeface="Noto Serif CJK SC" pitchFamily="34" charset="-122"/>
                <a:cs typeface="Noto Serif CJK SC" pitchFamily="34" charset="-120"/>
              </a:rPr>
              <a:t>将子无怒，秋以为期。</a:t>
            </a:r>
            <a:endParaRPr lang="en-US" sz="3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8231F"/>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A67F4A"/>
          </a:solidFill>
          <a:ln w="12700">
            <a:solidFill>
              <a:srgbClr val="A67F4A"/>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DED0BC"/>
                </a:solidFill>
                <a:latin typeface="Noto Sans CJK SC" pitchFamily="34" charset="0"/>
                <a:ea typeface="Noto Sans CJK SC" pitchFamily="34" charset="-122"/>
                <a:cs typeface="Noto Sans CJK SC" pitchFamily="34" charset="-120"/>
              </a:rPr>
              <a:t>初见</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C5B39B"/>
                </a:solidFill>
                <a:latin typeface="Noto Sans CJK SC" pitchFamily="34" charset="0"/>
                <a:ea typeface="Noto Sans CJK SC" pitchFamily="34" charset="-122"/>
                <a:cs typeface="Noto Sans CJK SC" pitchFamily="34" charset="-120"/>
              </a:rPr>
              <a:t>06</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100" b="1" dirty="0">
                <a:solidFill>
                  <a:srgbClr val="FFFDFC"/>
                </a:solidFill>
                <a:latin typeface="Noto Serif CJK SC" pitchFamily="34" charset="0"/>
                <a:ea typeface="Noto Serif CJK SC" pitchFamily="34" charset="-122"/>
                <a:cs typeface="Noto Serif CJK SC" pitchFamily="34" charset="-120"/>
              </a:rPr>
              <a:t>她自己说｜第二章</a:t>
            </a:r>
            <a:endParaRPr lang="en-US" sz="3100" dirty="0"/>
          </a:p>
        </p:txBody>
      </p:sp>
      <p:sp>
        <p:nvSpPr>
          <p:cNvPr id="6" name="Shape 4"/>
          <p:cNvSpPr/>
          <p:nvPr/>
        </p:nvSpPr>
        <p:spPr>
          <a:xfrm>
            <a:off x="822960" y="1417320"/>
            <a:ext cx="10561320" cy="4526280"/>
          </a:xfrm>
          <a:prstGeom prst="roundRect">
            <a:avLst>
              <a:gd name="adj" fmla="val 808"/>
            </a:avLst>
          </a:prstGeom>
          <a:solidFill>
            <a:srgbClr val="383129"/>
          </a:solidFill>
          <a:ln w="13970">
            <a:solidFill>
              <a:srgbClr val="A67F4A"/>
            </a:solidFill>
            <a:prstDash val="solid"/>
          </a:ln>
        </p:spPr>
      </p:sp>
      <p:sp>
        <p:nvSpPr>
          <p:cNvPr id="7" name="Text 5"/>
          <p:cNvSpPr/>
          <p:nvPr/>
        </p:nvSpPr>
        <p:spPr>
          <a:xfrm>
            <a:off x="1051560" y="2692908"/>
            <a:ext cx="10104120" cy="539862"/>
          </a:xfrm>
          <a:prstGeom prst="rect">
            <a:avLst/>
          </a:prstGeom>
          <a:noFill/>
          <a:ln/>
        </p:spPr>
        <p:txBody>
          <a:bodyPr wrap="square" lIns="0" tIns="0" rIns="0" bIns="0" rtlCol="0" anchor="ctr"/>
          <a:lstStyle/>
          <a:p>
            <a:pPr algn="ctr" indent="0" marL="0">
              <a:buNone/>
            </a:pPr>
            <a:r>
              <a:rPr lang="en-US" sz="3100" dirty="0">
                <a:solidFill>
                  <a:srgbClr val="FFFDFC"/>
                </a:solidFill>
                <a:latin typeface="Noto Serif CJK SC" pitchFamily="34" charset="0"/>
                <a:ea typeface="Noto Serif CJK SC" pitchFamily="34" charset="-122"/>
                <a:cs typeface="Noto Serif CJK SC" pitchFamily="34" charset="-120"/>
              </a:rPr>
              <a:t>乘彼垝垣，以望复关。不见复关，泣涕涟涟。</a:t>
            </a:r>
            <a:endParaRPr lang="en-US" sz="3100" dirty="0"/>
          </a:p>
        </p:txBody>
      </p:sp>
      <p:sp>
        <p:nvSpPr>
          <p:cNvPr id="8" name="Text 6"/>
          <p:cNvSpPr/>
          <p:nvPr/>
        </p:nvSpPr>
        <p:spPr>
          <a:xfrm>
            <a:off x="1051560" y="3351276"/>
            <a:ext cx="10104120" cy="539862"/>
          </a:xfrm>
          <a:prstGeom prst="rect">
            <a:avLst/>
          </a:prstGeom>
          <a:noFill/>
          <a:ln/>
        </p:spPr>
        <p:txBody>
          <a:bodyPr wrap="square" lIns="0" tIns="0" rIns="0" bIns="0" rtlCol="0" anchor="ctr"/>
          <a:lstStyle/>
          <a:p>
            <a:pPr algn="ctr" indent="0" marL="0">
              <a:buNone/>
            </a:pPr>
            <a:r>
              <a:rPr lang="en-US" sz="3100" dirty="0">
                <a:solidFill>
                  <a:srgbClr val="FFFDFC"/>
                </a:solidFill>
                <a:latin typeface="Noto Serif CJK SC" pitchFamily="34" charset="0"/>
                <a:ea typeface="Noto Serif CJK SC" pitchFamily="34" charset="-122"/>
                <a:cs typeface="Noto Serif CJK SC" pitchFamily="34" charset="-120"/>
              </a:rPr>
              <a:t>既见复关，载笑载言。尔卜尔筮，体无咎言。</a:t>
            </a:r>
            <a:endParaRPr lang="en-US" sz="3100" dirty="0"/>
          </a:p>
        </p:txBody>
      </p:sp>
      <p:sp>
        <p:nvSpPr>
          <p:cNvPr id="9" name="Text 7"/>
          <p:cNvSpPr/>
          <p:nvPr/>
        </p:nvSpPr>
        <p:spPr>
          <a:xfrm>
            <a:off x="1051560" y="4009644"/>
            <a:ext cx="10104120" cy="539862"/>
          </a:xfrm>
          <a:prstGeom prst="rect">
            <a:avLst/>
          </a:prstGeom>
          <a:noFill/>
          <a:ln/>
        </p:spPr>
        <p:txBody>
          <a:bodyPr wrap="square" lIns="0" tIns="0" rIns="0" bIns="0" rtlCol="0" anchor="ctr"/>
          <a:lstStyle/>
          <a:p>
            <a:pPr algn="ctr" indent="0" marL="0">
              <a:buNone/>
            </a:pPr>
            <a:r>
              <a:rPr lang="en-US" sz="3100" dirty="0">
                <a:solidFill>
                  <a:srgbClr val="FFFDFC"/>
                </a:solidFill>
                <a:latin typeface="Noto Serif CJK SC" pitchFamily="34" charset="0"/>
                <a:ea typeface="Noto Serif CJK SC" pitchFamily="34" charset="-122"/>
                <a:cs typeface="Noto Serif CJK SC" pitchFamily="34" charset="-120"/>
              </a:rPr>
              <a:t>以尔车来，以我贿迁。</a:t>
            </a:r>
            <a:endParaRPr lang="en-US" sz="3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8231F"/>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A67F4A"/>
          </a:solidFill>
          <a:ln w="12700">
            <a:solidFill>
              <a:srgbClr val="A67F4A"/>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DED0BC"/>
                </a:solidFill>
                <a:latin typeface="Noto Sans CJK SC" pitchFamily="34" charset="0"/>
                <a:ea typeface="Noto Sans CJK SC" pitchFamily="34" charset="-122"/>
                <a:cs typeface="Noto Sans CJK SC" pitchFamily="34" charset="-120"/>
              </a:rPr>
              <a:t>初见</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C5B39B"/>
                </a:solidFill>
                <a:latin typeface="Noto Sans CJK SC" pitchFamily="34" charset="0"/>
                <a:ea typeface="Noto Sans CJK SC" pitchFamily="34" charset="-122"/>
                <a:cs typeface="Noto Sans CJK SC" pitchFamily="34" charset="-120"/>
              </a:rPr>
              <a:t>07</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100" b="1" dirty="0">
                <a:solidFill>
                  <a:srgbClr val="FFFDFC"/>
                </a:solidFill>
                <a:latin typeface="Noto Serif CJK SC" pitchFamily="34" charset="0"/>
                <a:ea typeface="Noto Serif CJK SC" pitchFamily="34" charset="-122"/>
                <a:cs typeface="Noto Serif CJK SC" pitchFamily="34" charset="-120"/>
              </a:rPr>
              <a:t>她自己说｜第三章</a:t>
            </a:r>
            <a:endParaRPr lang="en-US" sz="3100" dirty="0"/>
          </a:p>
        </p:txBody>
      </p:sp>
      <p:sp>
        <p:nvSpPr>
          <p:cNvPr id="6" name="Shape 4"/>
          <p:cNvSpPr/>
          <p:nvPr/>
        </p:nvSpPr>
        <p:spPr>
          <a:xfrm>
            <a:off x="822960" y="1417320"/>
            <a:ext cx="10561320" cy="4526280"/>
          </a:xfrm>
          <a:prstGeom prst="roundRect">
            <a:avLst>
              <a:gd name="adj" fmla="val 808"/>
            </a:avLst>
          </a:prstGeom>
          <a:solidFill>
            <a:srgbClr val="383129"/>
          </a:solidFill>
          <a:ln w="13970">
            <a:solidFill>
              <a:srgbClr val="A67F4A"/>
            </a:solidFill>
            <a:prstDash val="solid"/>
          </a:ln>
        </p:spPr>
      </p:sp>
      <p:sp>
        <p:nvSpPr>
          <p:cNvPr id="7" name="Text 5"/>
          <p:cNvSpPr/>
          <p:nvPr/>
        </p:nvSpPr>
        <p:spPr>
          <a:xfrm>
            <a:off x="1051560" y="2692908"/>
            <a:ext cx="10104120" cy="539862"/>
          </a:xfrm>
          <a:prstGeom prst="rect">
            <a:avLst/>
          </a:prstGeom>
          <a:noFill/>
          <a:ln/>
        </p:spPr>
        <p:txBody>
          <a:bodyPr wrap="square" lIns="0" tIns="0" rIns="0" bIns="0" rtlCol="0" anchor="ctr"/>
          <a:lstStyle/>
          <a:p>
            <a:pPr algn="ctr" indent="0" marL="0">
              <a:buNone/>
            </a:pPr>
            <a:r>
              <a:rPr lang="en-US" sz="3100" dirty="0">
                <a:solidFill>
                  <a:srgbClr val="FFFDFC"/>
                </a:solidFill>
                <a:latin typeface="Noto Serif CJK SC" pitchFamily="34" charset="0"/>
                <a:ea typeface="Noto Serif CJK SC" pitchFamily="34" charset="-122"/>
                <a:cs typeface="Noto Serif CJK SC" pitchFamily="34" charset="-120"/>
              </a:rPr>
              <a:t>桑之未落，其叶沃若。于嗟鸠兮，无食桑葚！</a:t>
            </a:r>
            <a:endParaRPr lang="en-US" sz="3100" dirty="0"/>
          </a:p>
        </p:txBody>
      </p:sp>
      <p:sp>
        <p:nvSpPr>
          <p:cNvPr id="8" name="Text 6"/>
          <p:cNvSpPr/>
          <p:nvPr/>
        </p:nvSpPr>
        <p:spPr>
          <a:xfrm>
            <a:off x="1051560" y="3351276"/>
            <a:ext cx="10104120" cy="539862"/>
          </a:xfrm>
          <a:prstGeom prst="rect">
            <a:avLst/>
          </a:prstGeom>
          <a:noFill/>
          <a:ln/>
        </p:spPr>
        <p:txBody>
          <a:bodyPr wrap="square" lIns="0" tIns="0" rIns="0" bIns="0" rtlCol="0" anchor="ctr"/>
          <a:lstStyle/>
          <a:p>
            <a:pPr algn="ctr" indent="0" marL="0">
              <a:buNone/>
            </a:pPr>
            <a:r>
              <a:rPr lang="en-US" sz="3100" dirty="0">
                <a:solidFill>
                  <a:srgbClr val="FFFDFC"/>
                </a:solidFill>
                <a:latin typeface="Noto Serif CJK SC" pitchFamily="34" charset="0"/>
                <a:ea typeface="Noto Serif CJK SC" pitchFamily="34" charset="-122"/>
                <a:cs typeface="Noto Serif CJK SC" pitchFamily="34" charset="-120"/>
              </a:rPr>
              <a:t>于嗟女兮，无与士耽！士之耽兮，犹可说也。</a:t>
            </a:r>
            <a:endParaRPr lang="en-US" sz="3100" dirty="0"/>
          </a:p>
        </p:txBody>
      </p:sp>
      <p:sp>
        <p:nvSpPr>
          <p:cNvPr id="9" name="Text 7"/>
          <p:cNvSpPr/>
          <p:nvPr/>
        </p:nvSpPr>
        <p:spPr>
          <a:xfrm>
            <a:off x="1051560" y="4009644"/>
            <a:ext cx="10104120" cy="539862"/>
          </a:xfrm>
          <a:prstGeom prst="rect">
            <a:avLst/>
          </a:prstGeom>
          <a:noFill/>
          <a:ln/>
        </p:spPr>
        <p:txBody>
          <a:bodyPr wrap="square" lIns="0" tIns="0" rIns="0" bIns="0" rtlCol="0" anchor="ctr"/>
          <a:lstStyle/>
          <a:p>
            <a:pPr algn="ctr" indent="0" marL="0">
              <a:buNone/>
            </a:pPr>
            <a:r>
              <a:rPr lang="en-US" sz="3100" dirty="0">
                <a:solidFill>
                  <a:srgbClr val="FFFDFC"/>
                </a:solidFill>
                <a:latin typeface="Noto Serif CJK SC" pitchFamily="34" charset="0"/>
                <a:ea typeface="Noto Serif CJK SC" pitchFamily="34" charset="-122"/>
                <a:cs typeface="Noto Serif CJK SC" pitchFamily="34" charset="-120"/>
              </a:rPr>
              <a:t>女之耽兮，不可说也！</a:t>
            </a:r>
            <a:endParaRPr lang="en-US" sz="3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8231F"/>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A67F4A"/>
          </a:solidFill>
          <a:ln w="12700">
            <a:solidFill>
              <a:srgbClr val="A67F4A"/>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DED0BC"/>
                </a:solidFill>
                <a:latin typeface="Noto Sans CJK SC" pitchFamily="34" charset="0"/>
                <a:ea typeface="Noto Sans CJK SC" pitchFamily="34" charset="-122"/>
                <a:cs typeface="Noto Sans CJK SC" pitchFamily="34" charset="-120"/>
              </a:rPr>
              <a:t>初见</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C5B39B"/>
                </a:solidFill>
                <a:latin typeface="Noto Sans CJK SC" pitchFamily="34" charset="0"/>
                <a:ea typeface="Noto Sans CJK SC" pitchFamily="34" charset="-122"/>
                <a:cs typeface="Noto Sans CJK SC" pitchFamily="34" charset="-120"/>
              </a:rPr>
              <a:t>08</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100" b="1" dirty="0">
                <a:solidFill>
                  <a:srgbClr val="FFFDFC"/>
                </a:solidFill>
                <a:latin typeface="Noto Serif CJK SC" pitchFamily="34" charset="0"/>
                <a:ea typeface="Noto Serif CJK SC" pitchFamily="34" charset="-122"/>
                <a:cs typeface="Noto Serif CJK SC" pitchFamily="34" charset="-120"/>
              </a:rPr>
              <a:t>她自己说｜第四章</a:t>
            </a:r>
            <a:endParaRPr lang="en-US" sz="3100" dirty="0"/>
          </a:p>
        </p:txBody>
      </p:sp>
      <p:sp>
        <p:nvSpPr>
          <p:cNvPr id="6" name="Shape 4"/>
          <p:cNvSpPr/>
          <p:nvPr/>
        </p:nvSpPr>
        <p:spPr>
          <a:xfrm>
            <a:off x="822960" y="1417320"/>
            <a:ext cx="10561320" cy="4526280"/>
          </a:xfrm>
          <a:prstGeom prst="roundRect">
            <a:avLst>
              <a:gd name="adj" fmla="val 808"/>
            </a:avLst>
          </a:prstGeom>
          <a:solidFill>
            <a:srgbClr val="383129"/>
          </a:solidFill>
          <a:ln w="13970">
            <a:solidFill>
              <a:srgbClr val="725260"/>
            </a:solidFill>
            <a:prstDash val="solid"/>
          </a:ln>
        </p:spPr>
      </p:sp>
      <p:sp>
        <p:nvSpPr>
          <p:cNvPr id="7" name="Text 5"/>
          <p:cNvSpPr/>
          <p:nvPr/>
        </p:nvSpPr>
        <p:spPr>
          <a:xfrm>
            <a:off x="1051560" y="2692908"/>
            <a:ext cx="10104120" cy="539862"/>
          </a:xfrm>
          <a:prstGeom prst="rect">
            <a:avLst/>
          </a:prstGeom>
          <a:noFill/>
          <a:ln/>
        </p:spPr>
        <p:txBody>
          <a:bodyPr wrap="square" lIns="0" tIns="0" rIns="0" bIns="0" rtlCol="0" anchor="ctr"/>
          <a:lstStyle/>
          <a:p>
            <a:pPr algn="ctr" indent="0" marL="0">
              <a:buNone/>
            </a:pPr>
            <a:r>
              <a:rPr lang="en-US" sz="3100" dirty="0">
                <a:solidFill>
                  <a:srgbClr val="FFFDFC"/>
                </a:solidFill>
                <a:latin typeface="Noto Serif CJK SC" pitchFamily="34" charset="0"/>
                <a:ea typeface="Noto Serif CJK SC" pitchFamily="34" charset="-122"/>
                <a:cs typeface="Noto Serif CJK SC" pitchFamily="34" charset="-120"/>
              </a:rPr>
              <a:t>桑之落矣，其黄而陨。自我徂尔，三岁食贫。</a:t>
            </a:r>
            <a:endParaRPr lang="en-US" sz="3100" dirty="0"/>
          </a:p>
        </p:txBody>
      </p:sp>
      <p:sp>
        <p:nvSpPr>
          <p:cNvPr id="8" name="Text 6"/>
          <p:cNvSpPr/>
          <p:nvPr/>
        </p:nvSpPr>
        <p:spPr>
          <a:xfrm>
            <a:off x="1051560" y="3351276"/>
            <a:ext cx="10104120" cy="539862"/>
          </a:xfrm>
          <a:prstGeom prst="rect">
            <a:avLst/>
          </a:prstGeom>
          <a:noFill/>
          <a:ln/>
        </p:spPr>
        <p:txBody>
          <a:bodyPr wrap="square" lIns="0" tIns="0" rIns="0" bIns="0" rtlCol="0" anchor="ctr"/>
          <a:lstStyle/>
          <a:p>
            <a:pPr algn="ctr" indent="0" marL="0">
              <a:buNone/>
            </a:pPr>
            <a:r>
              <a:rPr lang="en-US" sz="3100" dirty="0">
                <a:solidFill>
                  <a:srgbClr val="FFFDFC"/>
                </a:solidFill>
                <a:latin typeface="Noto Serif CJK SC" pitchFamily="34" charset="0"/>
                <a:ea typeface="Noto Serif CJK SC" pitchFamily="34" charset="-122"/>
                <a:cs typeface="Noto Serif CJK SC" pitchFamily="34" charset="-120"/>
              </a:rPr>
              <a:t>淇水汤汤，渐车帷裳。女也不爽，士贰其行。</a:t>
            </a:r>
            <a:endParaRPr lang="en-US" sz="3100" dirty="0"/>
          </a:p>
        </p:txBody>
      </p:sp>
      <p:sp>
        <p:nvSpPr>
          <p:cNvPr id="9" name="Text 7"/>
          <p:cNvSpPr/>
          <p:nvPr/>
        </p:nvSpPr>
        <p:spPr>
          <a:xfrm>
            <a:off x="1051560" y="4009644"/>
            <a:ext cx="10104120" cy="539862"/>
          </a:xfrm>
          <a:prstGeom prst="rect">
            <a:avLst/>
          </a:prstGeom>
          <a:noFill/>
          <a:ln/>
        </p:spPr>
        <p:txBody>
          <a:bodyPr wrap="square" lIns="0" tIns="0" rIns="0" bIns="0" rtlCol="0" anchor="ctr"/>
          <a:lstStyle/>
          <a:p>
            <a:pPr algn="ctr" indent="0" marL="0">
              <a:buNone/>
            </a:pPr>
            <a:r>
              <a:rPr lang="en-US" sz="3100" dirty="0">
                <a:solidFill>
                  <a:srgbClr val="FFFDFC"/>
                </a:solidFill>
                <a:latin typeface="Noto Serif CJK SC" pitchFamily="34" charset="0"/>
                <a:ea typeface="Noto Serif CJK SC" pitchFamily="34" charset="-122"/>
                <a:cs typeface="Noto Serif CJK SC" pitchFamily="34" charset="-120"/>
              </a:rPr>
              <a:t>士也罔极，二三其德。</a:t>
            </a:r>
            <a:endParaRPr lang="en-US" sz="3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8231F"/>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A67F4A"/>
          </a:solidFill>
          <a:ln w="12700">
            <a:solidFill>
              <a:srgbClr val="A67F4A"/>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DED0BC"/>
                </a:solidFill>
                <a:latin typeface="Noto Sans CJK SC" pitchFamily="34" charset="0"/>
                <a:ea typeface="Noto Sans CJK SC" pitchFamily="34" charset="-122"/>
                <a:cs typeface="Noto Sans CJK SC" pitchFamily="34" charset="-120"/>
              </a:rPr>
              <a:t>初见</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C5B39B"/>
                </a:solidFill>
                <a:latin typeface="Noto Sans CJK SC" pitchFamily="34" charset="0"/>
                <a:ea typeface="Noto Sans CJK SC" pitchFamily="34" charset="-122"/>
                <a:cs typeface="Noto Sans CJK SC" pitchFamily="34" charset="-120"/>
              </a:rPr>
              <a:t>09</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100" b="1" dirty="0">
                <a:solidFill>
                  <a:srgbClr val="FFFDFC"/>
                </a:solidFill>
                <a:latin typeface="Noto Serif CJK SC" pitchFamily="34" charset="0"/>
                <a:ea typeface="Noto Serif CJK SC" pitchFamily="34" charset="-122"/>
                <a:cs typeface="Noto Serif CJK SC" pitchFamily="34" charset="-120"/>
              </a:rPr>
              <a:t>她自己说｜第五章</a:t>
            </a:r>
            <a:endParaRPr lang="en-US" sz="3100" dirty="0"/>
          </a:p>
        </p:txBody>
      </p:sp>
      <p:sp>
        <p:nvSpPr>
          <p:cNvPr id="6" name="Shape 4"/>
          <p:cNvSpPr/>
          <p:nvPr/>
        </p:nvSpPr>
        <p:spPr>
          <a:xfrm>
            <a:off x="822960" y="1417320"/>
            <a:ext cx="10561320" cy="4526280"/>
          </a:xfrm>
          <a:prstGeom prst="roundRect">
            <a:avLst>
              <a:gd name="adj" fmla="val 808"/>
            </a:avLst>
          </a:prstGeom>
          <a:solidFill>
            <a:srgbClr val="383129"/>
          </a:solidFill>
          <a:ln w="13970">
            <a:solidFill>
              <a:srgbClr val="725260"/>
            </a:solidFill>
            <a:prstDash val="solid"/>
          </a:ln>
        </p:spPr>
      </p:sp>
      <p:sp>
        <p:nvSpPr>
          <p:cNvPr id="7" name="Text 5"/>
          <p:cNvSpPr/>
          <p:nvPr/>
        </p:nvSpPr>
        <p:spPr>
          <a:xfrm>
            <a:off x="1051560" y="2692908"/>
            <a:ext cx="10104120" cy="539862"/>
          </a:xfrm>
          <a:prstGeom prst="rect">
            <a:avLst/>
          </a:prstGeom>
          <a:noFill/>
          <a:ln/>
        </p:spPr>
        <p:txBody>
          <a:bodyPr wrap="square" lIns="0" tIns="0" rIns="0" bIns="0" rtlCol="0" anchor="ctr"/>
          <a:lstStyle/>
          <a:p>
            <a:pPr algn="ctr" indent="0" marL="0">
              <a:buNone/>
            </a:pPr>
            <a:r>
              <a:rPr lang="en-US" sz="3100" dirty="0">
                <a:solidFill>
                  <a:srgbClr val="FFFDFC"/>
                </a:solidFill>
                <a:latin typeface="Noto Serif CJK SC" pitchFamily="34" charset="0"/>
                <a:ea typeface="Noto Serif CJK SC" pitchFamily="34" charset="-122"/>
                <a:cs typeface="Noto Serif CJK SC" pitchFamily="34" charset="-120"/>
              </a:rPr>
              <a:t>三岁为妇，靡室劳矣。夙兴夜寐，靡有朝矣。</a:t>
            </a:r>
            <a:endParaRPr lang="en-US" sz="3100" dirty="0"/>
          </a:p>
        </p:txBody>
      </p:sp>
      <p:sp>
        <p:nvSpPr>
          <p:cNvPr id="8" name="Text 6"/>
          <p:cNvSpPr/>
          <p:nvPr/>
        </p:nvSpPr>
        <p:spPr>
          <a:xfrm>
            <a:off x="1051560" y="3351276"/>
            <a:ext cx="10104120" cy="539862"/>
          </a:xfrm>
          <a:prstGeom prst="rect">
            <a:avLst/>
          </a:prstGeom>
          <a:noFill/>
          <a:ln/>
        </p:spPr>
        <p:txBody>
          <a:bodyPr wrap="square" lIns="0" tIns="0" rIns="0" bIns="0" rtlCol="0" anchor="ctr"/>
          <a:lstStyle/>
          <a:p>
            <a:pPr algn="ctr" indent="0" marL="0">
              <a:buNone/>
            </a:pPr>
            <a:r>
              <a:rPr lang="en-US" sz="3100" dirty="0">
                <a:solidFill>
                  <a:srgbClr val="FFFDFC"/>
                </a:solidFill>
                <a:latin typeface="Noto Serif CJK SC" pitchFamily="34" charset="0"/>
                <a:ea typeface="Noto Serif CJK SC" pitchFamily="34" charset="-122"/>
                <a:cs typeface="Noto Serif CJK SC" pitchFamily="34" charset="-120"/>
              </a:rPr>
              <a:t>言既遂矣，至于暴矣。兄弟不知，咥其笑矣。</a:t>
            </a:r>
            <a:endParaRPr lang="en-US" sz="3100" dirty="0"/>
          </a:p>
        </p:txBody>
      </p:sp>
      <p:sp>
        <p:nvSpPr>
          <p:cNvPr id="9" name="Text 7"/>
          <p:cNvSpPr/>
          <p:nvPr/>
        </p:nvSpPr>
        <p:spPr>
          <a:xfrm>
            <a:off x="1051560" y="4009644"/>
            <a:ext cx="10104120" cy="539862"/>
          </a:xfrm>
          <a:prstGeom prst="rect">
            <a:avLst/>
          </a:prstGeom>
          <a:noFill/>
          <a:ln/>
        </p:spPr>
        <p:txBody>
          <a:bodyPr wrap="square" lIns="0" tIns="0" rIns="0" bIns="0" rtlCol="0" anchor="ctr"/>
          <a:lstStyle/>
          <a:p>
            <a:pPr algn="ctr" indent="0" marL="0">
              <a:buNone/>
            </a:pPr>
            <a:r>
              <a:rPr lang="en-US" sz="3100" dirty="0">
                <a:solidFill>
                  <a:srgbClr val="FFFDFC"/>
                </a:solidFill>
                <a:latin typeface="Noto Serif CJK SC" pitchFamily="34" charset="0"/>
                <a:ea typeface="Noto Serif CJK SC" pitchFamily="34" charset="-122"/>
                <a:cs typeface="Noto Serif CJK SC" pitchFamily="34" charset="-120"/>
              </a:rPr>
              <a:t>静言思之，躬自悼矣。</a:t>
            </a:r>
            <a:endParaRPr lang="en-US" sz="3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28231F"/>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A67F4A"/>
          </a:solidFill>
          <a:ln w="12700">
            <a:solidFill>
              <a:srgbClr val="A67F4A"/>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DED0BC"/>
                </a:solidFill>
                <a:latin typeface="Noto Sans CJK SC" pitchFamily="34" charset="0"/>
                <a:ea typeface="Noto Sans CJK SC" pitchFamily="34" charset="-122"/>
                <a:cs typeface="Noto Sans CJK SC" pitchFamily="34" charset="-120"/>
              </a:rPr>
              <a:t>初见</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C5B39B"/>
                </a:solidFill>
                <a:latin typeface="Noto Sans CJK SC" pitchFamily="34" charset="0"/>
                <a:ea typeface="Noto Sans CJK SC" pitchFamily="34" charset="-122"/>
                <a:cs typeface="Noto Sans CJK SC" pitchFamily="34" charset="-120"/>
              </a:rPr>
              <a:t>10</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100" b="1" dirty="0">
                <a:solidFill>
                  <a:srgbClr val="FFFDFC"/>
                </a:solidFill>
                <a:latin typeface="Noto Serif CJK SC" pitchFamily="34" charset="0"/>
                <a:ea typeface="Noto Serif CJK SC" pitchFamily="34" charset="-122"/>
                <a:cs typeface="Noto Serif CJK SC" pitchFamily="34" charset="-120"/>
              </a:rPr>
              <a:t>她自己说｜第六章</a:t>
            </a:r>
            <a:endParaRPr lang="en-US" sz="3100" dirty="0"/>
          </a:p>
        </p:txBody>
      </p:sp>
      <p:sp>
        <p:nvSpPr>
          <p:cNvPr id="6" name="Shape 4"/>
          <p:cNvSpPr/>
          <p:nvPr/>
        </p:nvSpPr>
        <p:spPr>
          <a:xfrm>
            <a:off x="822960" y="1417320"/>
            <a:ext cx="10561320" cy="4526280"/>
          </a:xfrm>
          <a:prstGeom prst="roundRect">
            <a:avLst>
              <a:gd name="adj" fmla="val 808"/>
            </a:avLst>
          </a:prstGeom>
          <a:solidFill>
            <a:srgbClr val="383129"/>
          </a:solidFill>
          <a:ln w="13970">
            <a:solidFill>
              <a:srgbClr val="725260"/>
            </a:solidFill>
            <a:prstDash val="solid"/>
          </a:ln>
        </p:spPr>
      </p:sp>
      <p:sp>
        <p:nvSpPr>
          <p:cNvPr id="7" name="Text 5"/>
          <p:cNvSpPr/>
          <p:nvPr/>
        </p:nvSpPr>
        <p:spPr>
          <a:xfrm>
            <a:off x="1051560" y="2692908"/>
            <a:ext cx="10104120" cy="539862"/>
          </a:xfrm>
          <a:prstGeom prst="rect">
            <a:avLst/>
          </a:prstGeom>
          <a:noFill/>
          <a:ln/>
        </p:spPr>
        <p:txBody>
          <a:bodyPr wrap="square" lIns="0" tIns="0" rIns="0" bIns="0" rtlCol="0" anchor="ctr"/>
          <a:lstStyle/>
          <a:p>
            <a:pPr algn="ctr" indent="0" marL="0">
              <a:buNone/>
            </a:pPr>
            <a:r>
              <a:rPr lang="en-US" sz="3100" dirty="0">
                <a:solidFill>
                  <a:srgbClr val="FFFDFC"/>
                </a:solidFill>
                <a:latin typeface="Noto Serif CJK SC" pitchFamily="34" charset="0"/>
                <a:ea typeface="Noto Serif CJK SC" pitchFamily="34" charset="-122"/>
                <a:cs typeface="Noto Serif CJK SC" pitchFamily="34" charset="-120"/>
              </a:rPr>
              <a:t>及尔偕老，老使我怨。淇则有岸，隰则有泮。</a:t>
            </a:r>
            <a:endParaRPr lang="en-US" sz="3100" dirty="0"/>
          </a:p>
        </p:txBody>
      </p:sp>
      <p:sp>
        <p:nvSpPr>
          <p:cNvPr id="8" name="Text 6"/>
          <p:cNvSpPr/>
          <p:nvPr/>
        </p:nvSpPr>
        <p:spPr>
          <a:xfrm>
            <a:off x="1051560" y="3351276"/>
            <a:ext cx="10104120" cy="539862"/>
          </a:xfrm>
          <a:prstGeom prst="rect">
            <a:avLst/>
          </a:prstGeom>
          <a:noFill/>
          <a:ln/>
        </p:spPr>
        <p:txBody>
          <a:bodyPr wrap="square" lIns="0" tIns="0" rIns="0" bIns="0" rtlCol="0" anchor="ctr"/>
          <a:lstStyle/>
          <a:p>
            <a:pPr algn="ctr" indent="0" marL="0">
              <a:buNone/>
            </a:pPr>
            <a:r>
              <a:rPr lang="en-US" sz="3100" dirty="0">
                <a:solidFill>
                  <a:srgbClr val="FFFDFC"/>
                </a:solidFill>
                <a:latin typeface="Noto Serif CJK SC" pitchFamily="34" charset="0"/>
                <a:ea typeface="Noto Serif CJK SC" pitchFamily="34" charset="-122"/>
                <a:cs typeface="Noto Serif CJK SC" pitchFamily="34" charset="-120"/>
              </a:rPr>
              <a:t>总角之宴，言笑晏晏。信誓旦旦，不思其反。</a:t>
            </a:r>
            <a:endParaRPr lang="en-US" sz="3100" dirty="0"/>
          </a:p>
        </p:txBody>
      </p:sp>
      <p:sp>
        <p:nvSpPr>
          <p:cNvPr id="9" name="Text 7"/>
          <p:cNvSpPr/>
          <p:nvPr/>
        </p:nvSpPr>
        <p:spPr>
          <a:xfrm>
            <a:off x="1051560" y="4009644"/>
            <a:ext cx="10104120" cy="539862"/>
          </a:xfrm>
          <a:prstGeom prst="rect">
            <a:avLst/>
          </a:prstGeom>
          <a:noFill/>
          <a:ln/>
        </p:spPr>
        <p:txBody>
          <a:bodyPr wrap="square" lIns="0" tIns="0" rIns="0" bIns="0" rtlCol="0" anchor="ctr"/>
          <a:lstStyle/>
          <a:p>
            <a:pPr algn="ctr" indent="0" marL="0">
              <a:buNone/>
            </a:pPr>
            <a:r>
              <a:rPr lang="en-US" sz="3100" dirty="0">
                <a:solidFill>
                  <a:srgbClr val="FFFDFC"/>
                </a:solidFill>
                <a:latin typeface="Noto Serif CJK SC" pitchFamily="34" charset="0"/>
                <a:ea typeface="Noto Serif CJK SC" pitchFamily="34" charset="-122"/>
                <a:cs typeface="Noto Serif CJK SC" pitchFamily="34" charset="-120"/>
              </a:rPr>
              <a:t>反是不思，亦已焉哉！</a:t>
            </a:r>
            <a:endParaRPr lang="en-US" sz="3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A67F4A"/>
          </a:solidFill>
          <a:ln w="12700">
            <a:solidFill>
              <a:srgbClr val="A67F4A"/>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A67F4A"/>
                </a:solidFill>
                <a:latin typeface="Noto Sans CJK SC" pitchFamily="34" charset="0"/>
                <a:ea typeface="Noto Sans CJK SC" pitchFamily="34" charset="-122"/>
                <a:cs typeface="Noto Sans CJK SC" pitchFamily="34" charset="-120"/>
              </a:rPr>
              <a:t>初见</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11</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700" b="1" dirty="0">
                <a:solidFill>
                  <a:srgbClr val="29241F"/>
                </a:solidFill>
                <a:latin typeface="Noto Serif CJK SC" pitchFamily="34" charset="0"/>
                <a:ea typeface="Noto Serif CJK SC" pitchFamily="34" charset="-122"/>
                <a:cs typeface="Noto Serif CJK SC" pitchFamily="34" charset="-120"/>
              </a:rPr>
              <a:t>把第一次听见的《氓》留在纸上</a:t>
            </a:r>
            <a:endParaRPr lang="en-US" sz="3700" dirty="0"/>
          </a:p>
        </p:txBody>
      </p:sp>
      <p:sp>
        <p:nvSpPr>
          <p:cNvPr id="6" name="Text 4"/>
          <p:cNvSpPr/>
          <p:nvPr/>
        </p:nvSpPr>
        <p:spPr>
          <a:xfrm>
            <a:off x="960120" y="1554480"/>
            <a:ext cx="10195560" cy="656173"/>
          </a:xfrm>
          <a:prstGeom prst="rect">
            <a:avLst/>
          </a:prstGeom>
          <a:noFill/>
          <a:ln/>
        </p:spPr>
        <p:txBody>
          <a:bodyPr wrap="square" lIns="0" tIns="0" rIns="0" bIns="0" rtlCol="0" anchor="ctr">
            <a:normAutofit/>
          </a:bodyPr>
          <a:lstStyle/>
          <a:p>
            <a:pPr algn="ctr" indent="0" marL="0">
              <a:buNone/>
            </a:pPr>
            <a:r>
              <a:rPr lang="en-US" sz="3000" dirty="0">
                <a:solidFill>
                  <a:srgbClr val="29241F"/>
                </a:solidFill>
                <a:latin typeface="Noto Serif CJK SC" pitchFamily="34" charset="0"/>
                <a:ea typeface="Noto Serif CJK SC" pitchFamily="34" charset="-122"/>
                <a:cs typeface="Noto Serif CJK SC" pitchFamily="34" charset="-120"/>
              </a:rPr>
              <a:t>“　　　　　　　　　　　　　　　　　　　　　　　”</a:t>
            </a:r>
            <a:endParaRPr lang="en-US" sz="3000" dirty="0"/>
          </a:p>
        </p:txBody>
      </p:sp>
      <p:sp>
        <p:nvSpPr>
          <p:cNvPr id="7" name="Text 5"/>
          <p:cNvSpPr/>
          <p:nvPr/>
        </p:nvSpPr>
        <p:spPr>
          <a:xfrm>
            <a:off x="960120" y="2395728"/>
            <a:ext cx="10195560" cy="656173"/>
          </a:xfrm>
          <a:prstGeom prst="rect">
            <a:avLst/>
          </a:prstGeom>
          <a:noFill/>
          <a:ln/>
        </p:spPr>
        <p:txBody>
          <a:bodyPr wrap="square" lIns="0" tIns="0" rIns="0" bIns="0" rtlCol="0" anchor="ctr">
            <a:normAutofit/>
          </a:bodyPr>
          <a:lstStyle/>
          <a:p>
            <a:pPr algn="ctr" indent="0" marL="0">
              <a:buNone/>
            </a:pPr>
            <a:r>
              <a:rPr lang="en-US" sz="3000" dirty="0">
                <a:solidFill>
                  <a:srgbClr val="29241F"/>
                </a:solidFill>
                <a:latin typeface="Noto Serif CJK SC" pitchFamily="34" charset="0"/>
                <a:ea typeface="Noto Serif CJK SC" pitchFamily="34" charset="-122"/>
                <a:cs typeface="Noto Serif CJK SC" pitchFamily="34" charset="-120"/>
              </a:rPr>
              <a:t>我看见……</a:t>
            </a:r>
            <a:endParaRPr lang="en-US" sz="3000" dirty="0"/>
          </a:p>
        </p:txBody>
      </p:sp>
      <p:sp>
        <p:nvSpPr>
          <p:cNvPr id="8" name="Text 6"/>
          <p:cNvSpPr/>
          <p:nvPr/>
        </p:nvSpPr>
        <p:spPr>
          <a:xfrm>
            <a:off x="960120" y="3236976"/>
            <a:ext cx="10195560" cy="656173"/>
          </a:xfrm>
          <a:prstGeom prst="rect">
            <a:avLst/>
          </a:prstGeom>
          <a:noFill/>
          <a:ln/>
        </p:spPr>
        <p:txBody>
          <a:bodyPr wrap="square" lIns="0" tIns="0" rIns="0" bIns="0" rtlCol="0" anchor="ctr">
            <a:normAutofit/>
          </a:bodyPr>
          <a:lstStyle/>
          <a:p>
            <a:pPr algn="ctr" indent="0" marL="0">
              <a:buNone/>
            </a:pPr>
            <a:r>
              <a:rPr lang="en-US" sz="3000" dirty="0">
                <a:solidFill>
                  <a:srgbClr val="29241F"/>
                </a:solidFill>
                <a:latin typeface="Noto Serif CJK SC" pitchFamily="34" charset="0"/>
                <a:ea typeface="Noto Serif CJK SC" pitchFamily="34" charset="-122"/>
                <a:cs typeface="Noto Serif CJK SC" pitchFamily="34" charset="-120"/>
              </a:rPr>
              <a:t>我听见……</a:t>
            </a:r>
            <a:endParaRPr lang="en-US" sz="3000" dirty="0"/>
          </a:p>
        </p:txBody>
      </p:sp>
      <p:sp>
        <p:nvSpPr>
          <p:cNvPr id="9" name="Text 7"/>
          <p:cNvSpPr/>
          <p:nvPr/>
        </p:nvSpPr>
        <p:spPr>
          <a:xfrm>
            <a:off x="960120" y="4078224"/>
            <a:ext cx="10195560" cy="656173"/>
          </a:xfrm>
          <a:prstGeom prst="rect">
            <a:avLst/>
          </a:prstGeom>
          <a:noFill/>
          <a:ln/>
        </p:spPr>
        <p:txBody>
          <a:bodyPr wrap="square" lIns="0" tIns="0" rIns="0" bIns="0" rtlCol="0" anchor="ctr">
            <a:normAutofit/>
          </a:bodyPr>
          <a:lstStyle/>
          <a:p>
            <a:pPr algn="ctr" indent="0" marL="0">
              <a:buNone/>
            </a:pPr>
            <a:r>
              <a:rPr lang="en-US" sz="2800" b="1" dirty="0">
                <a:solidFill>
                  <a:srgbClr val="725260"/>
                </a:solidFill>
                <a:latin typeface="Noto Serif CJK SC" pitchFamily="34" charset="0"/>
                <a:ea typeface="Noto Serif CJK SC" pitchFamily="34" charset="-122"/>
                <a:cs typeface="Noto Serif CJK SC" pitchFamily="34" charset="-120"/>
              </a:rPr>
              <a:t>我想问……</a:t>
            </a:r>
            <a:endParaRPr lang="en-US" sz="2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A67F4A"/>
          </a:solidFill>
          <a:ln w="12700">
            <a:solidFill>
              <a:srgbClr val="A67F4A"/>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A67F4A"/>
                </a:solidFill>
                <a:latin typeface="Noto Sans CJK SC" pitchFamily="34" charset="0"/>
                <a:ea typeface="Noto Sans CJK SC" pitchFamily="34" charset="-122"/>
                <a:cs typeface="Noto Sans CJK SC" pitchFamily="34" charset="-120"/>
              </a:rPr>
              <a:t>初见</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12</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700" b="1" dirty="0">
                <a:solidFill>
                  <a:srgbClr val="29241F"/>
                </a:solidFill>
                <a:latin typeface="Noto Serif CJK SC" pitchFamily="34" charset="0"/>
                <a:ea typeface="Noto Serif CJK SC" pitchFamily="34" charset="-122"/>
                <a:cs typeface="Noto Serif CJK SC" pitchFamily="34" charset="-120"/>
              </a:rPr>
              <a:t>读懂六章，我们要回答什么？</a:t>
            </a:r>
            <a:endParaRPr lang="en-US" sz="3700" dirty="0"/>
          </a:p>
        </p:txBody>
      </p:sp>
      <p:sp>
        <p:nvSpPr>
          <p:cNvPr id="6" name="Text 4"/>
          <p:cNvSpPr/>
          <p:nvPr/>
        </p:nvSpPr>
        <p:spPr>
          <a:xfrm>
            <a:off x="960120" y="1554480"/>
            <a:ext cx="10195560" cy="656173"/>
          </a:xfrm>
          <a:prstGeom prst="rect">
            <a:avLst/>
          </a:prstGeom>
          <a:noFill/>
          <a:ln/>
        </p:spPr>
        <p:txBody>
          <a:bodyPr wrap="square" lIns="0" tIns="0" rIns="0" bIns="0" rtlCol="0" anchor="ctr">
            <a:normAutofit/>
          </a:bodyPr>
          <a:lstStyle/>
          <a:p>
            <a:pPr algn="ctr" indent="0" marL="0">
              <a:buNone/>
            </a:pPr>
            <a:r>
              <a:rPr lang="en-US" sz="3000" b="1" dirty="0">
                <a:solidFill>
                  <a:srgbClr val="29241F"/>
                </a:solidFill>
                <a:latin typeface="Noto Serif CJK SC" pitchFamily="34" charset="0"/>
                <a:ea typeface="Noto Serif CJK SC" pitchFamily="34" charset="-122"/>
                <a:cs typeface="Noto Serif CJK SC" pitchFamily="34" charset="-120"/>
              </a:rPr>
              <a:t>她经历了什么？</a:t>
            </a:r>
            <a:endParaRPr lang="en-US" sz="3000" dirty="0"/>
          </a:p>
        </p:txBody>
      </p:sp>
      <p:sp>
        <p:nvSpPr>
          <p:cNvPr id="7" name="Text 5"/>
          <p:cNvSpPr/>
          <p:nvPr/>
        </p:nvSpPr>
        <p:spPr>
          <a:xfrm>
            <a:off x="960120" y="2395728"/>
            <a:ext cx="10195560" cy="656173"/>
          </a:xfrm>
          <a:prstGeom prst="rect">
            <a:avLst/>
          </a:prstGeom>
          <a:noFill/>
          <a:ln/>
        </p:spPr>
        <p:txBody>
          <a:bodyPr wrap="square" lIns="0" tIns="0" rIns="0" bIns="0" rtlCol="0" anchor="ctr">
            <a:normAutofit/>
          </a:bodyPr>
          <a:lstStyle/>
          <a:p>
            <a:pPr algn="ctr" indent="0" marL="0">
              <a:buNone/>
            </a:pPr>
            <a:r>
              <a:rPr lang="en-US" sz="3000" b="1" dirty="0">
                <a:solidFill>
                  <a:srgbClr val="29241F"/>
                </a:solidFill>
                <a:latin typeface="Noto Serif CJK SC" pitchFamily="34" charset="0"/>
                <a:ea typeface="Noto Serif CJK SC" pitchFamily="34" charset="-122"/>
                <a:cs typeface="Noto Serif CJK SC" pitchFamily="34" charset="-120"/>
              </a:rPr>
              <a:t>她婚后的不幸，在生活中是什么样子？</a:t>
            </a:r>
            <a:endParaRPr lang="en-US" sz="3000" dirty="0"/>
          </a:p>
        </p:txBody>
      </p:sp>
      <p:sp>
        <p:nvSpPr>
          <p:cNvPr id="8" name="Text 6"/>
          <p:cNvSpPr/>
          <p:nvPr/>
        </p:nvSpPr>
        <p:spPr>
          <a:xfrm>
            <a:off x="960120" y="3236976"/>
            <a:ext cx="10195560" cy="656173"/>
          </a:xfrm>
          <a:prstGeom prst="rect">
            <a:avLst/>
          </a:prstGeom>
          <a:noFill/>
          <a:ln/>
        </p:spPr>
        <p:txBody>
          <a:bodyPr wrap="square" lIns="0" tIns="0" rIns="0" bIns="0" rtlCol="0" anchor="ctr">
            <a:normAutofit/>
          </a:bodyPr>
          <a:lstStyle/>
          <a:p>
            <a:pPr algn="ctr" indent="0" marL="0">
              <a:buNone/>
            </a:pPr>
            <a:r>
              <a:rPr lang="en-US" sz="2800" b="1" dirty="0">
                <a:solidFill>
                  <a:srgbClr val="725260"/>
                </a:solidFill>
                <a:latin typeface="Noto Serif CJK SC" pitchFamily="34" charset="0"/>
                <a:ea typeface="Noto Serif CJK SC" pitchFamily="34" charset="-122"/>
                <a:cs typeface="Noto Serif CJK SC" pitchFamily="34" charset="-120"/>
              </a:rPr>
              <a:t>这场婚姻为什么走到这一步？</a:t>
            </a:r>
            <a:endParaRPr lang="en-US" sz="2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A67F4A"/>
          </a:solidFill>
          <a:ln w="12700">
            <a:solidFill>
              <a:srgbClr val="A67F4A"/>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A67F4A"/>
                </a:solidFill>
                <a:latin typeface="Noto Sans CJK SC" pitchFamily="34" charset="0"/>
                <a:ea typeface="Noto Sans CJK SC" pitchFamily="34" charset="-122"/>
                <a:cs typeface="Noto Sans CJK SC" pitchFamily="34" charset="-120"/>
              </a:rPr>
              <a:t>第一章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13</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400" b="1" dirty="0">
                <a:solidFill>
                  <a:srgbClr val="29241F"/>
                </a:solidFill>
                <a:latin typeface="Noto Serif CJK SC" pitchFamily="34" charset="0"/>
                <a:ea typeface="Noto Serif CJK SC" pitchFamily="34" charset="-122"/>
                <a:cs typeface="Noto Serif CJK SC" pitchFamily="34" charset="-120"/>
              </a:rPr>
              <a:t>第一章｜他做了什么？她又做了什么？</a:t>
            </a:r>
            <a:endParaRPr lang="en-US" sz="3400" dirty="0"/>
          </a:p>
        </p:txBody>
      </p:sp>
      <p:sp>
        <p:nvSpPr>
          <p:cNvPr id="6" name="Shape 4"/>
          <p:cNvSpPr/>
          <p:nvPr/>
        </p:nvSpPr>
        <p:spPr>
          <a:xfrm>
            <a:off x="822960" y="1325880"/>
            <a:ext cx="10561320" cy="4526280"/>
          </a:xfrm>
          <a:prstGeom prst="roundRect">
            <a:avLst>
              <a:gd name="adj" fmla="val 808"/>
            </a:avLst>
          </a:prstGeom>
          <a:solidFill>
            <a:srgbClr val="FFFCF7"/>
          </a:solidFill>
          <a:ln w="13970">
            <a:solidFill>
              <a:srgbClr val="A67F4A"/>
            </a:solidFill>
            <a:prstDash val="solid"/>
          </a:ln>
        </p:spPr>
      </p:sp>
      <p:sp>
        <p:nvSpPr>
          <p:cNvPr id="7" name="Text 5"/>
          <p:cNvSpPr/>
          <p:nvPr/>
        </p:nvSpPr>
        <p:spPr>
          <a:xfrm>
            <a:off x="1051560" y="1943100"/>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氓之蚩蚩，抱布贸丝。</a:t>
            </a:r>
            <a:endParaRPr lang="en-US" sz="3100" dirty="0"/>
          </a:p>
        </p:txBody>
      </p:sp>
      <p:sp>
        <p:nvSpPr>
          <p:cNvPr id="8" name="Text 6"/>
          <p:cNvSpPr/>
          <p:nvPr/>
        </p:nvSpPr>
        <p:spPr>
          <a:xfrm>
            <a:off x="1051560" y="2601468"/>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匪来贸丝，来即我谋。</a:t>
            </a:r>
            <a:endParaRPr lang="en-US" sz="3100" dirty="0"/>
          </a:p>
        </p:txBody>
      </p:sp>
      <p:sp>
        <p:nvSpPr>
          <p:cNvPr id="9" name="Text 7"/>
          <p:cNvSpPr/>
          <p:nvPr/>
        </p:nvSpPr>
        <p:spPr>
          <a:xfrm>
            <a:off x="1051560" y="3259836"/>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送子涉淇，至于顿丘。</a:t>
            </a:r>
            <a:endParaRPr lang="en-US" sz="3100" dirty="0"/>
          </a:p>
        </p:txBody>
      </p:sp>
      <p:sp>
        <p:nvSpPr>
          <p:cNvPr id="10" name="Text 8"/>
          <p:cNvSpPr/>
          <p:nvPr/>
        </p:nvSpPr>
        <p:spPr>
          <a:xfrm>
            <a:off x="1051560" y="3918204"/>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匪我愆期，子无良媒。</a:t>
            </a:r>
            <a:endParaRPr lang="en-US" sz="3100" dirty="0"/>
          </a:p>
        </p:txBody>
      </p:sp>
      <p:sp>
        <p:nvSpPr>
          <p:cNvPr id="11" name="Text 9"/>
          <p:cNvSpPr/>
          <p:nvPr/>
        </p:nvSpPr>
        <p:spPr>
          <a:xfrm>
            <a:off x="1051560" y="4576572"/>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将子无怒，秋以为期。</a:t>
            </a:r>
            <a:endParaRPr lang="en-US" sz="3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A67F4A"/>
          </a:solidFill>
          <a:ln w="12700">
            <a:solidFill>
              <a:srgbClr val="A67F4A"/>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A67F4A"/>
                </a:solidFill>
                <a:latin typeface="Noto Sans CJK SC" pitchFamily="34" charset="0"/>
                <a:ea typeface="Noto Sans CJK SC" pitchFamily="34" charset="-122"/>
                <a:cs typeface="Noto Sans CJK SC" pitchFamily="34" charset="-120"/>
              </a:rPr>
              <a:t>第一章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14</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700" b="1" dirty="0">
                <a:solidFill>
                  <a:srgbClr val="29241F"/>
                </a:solidFill>
                <a:latin typeface="Noto Serif CJK SC" pitchFamily="34" charset="0"/>
                <a:ea typeface="Noto Serif CJK SC" pitchFamily="34" charset="-122"/>
                <a:cs typeface="Noto Serif CJK SC" pitchFamily="34" charset="-120"/>
              </a:rPr>
              <a:t>贸丝，还是来谋？</a:t>
            </a:r>
            <a:endParaRPr lang="en-US" sz="3700" dirty="0"/>
          </a:p>
        </p:txBody>
      </p:sp>
      <p:sp>
        <p:nvSpPr>
          <p:cNvPr id="6" name="Text 4"/>
          <p:cNvSpPr/>
          <p:nvPr/>
        </p:nvSpPr>
        <p:spPr>
          <a:xfrm>
            <a:off x="960120" y="1554480"/>
            <a:ext cx="10195560" cy="656173"/>
          </a:xfrm>
          <a:prstGeom prst="rect">
            <a:avLst/>
          </a:prstGeom>
          <a:noFill/>
          <a:ln/>
        </p:spPr>
        <p:txBody>
          <a:bodyPr wrap="square" lIns="0" tIns="0" rIns="0" bIns="0" rtlCol="0" anchor="ctr">
            <a:normAutofit/>
          </a:bodyPr>
          <a:lstStyle/>
          <a:p>
            <a:pPr algn="ctr" indent="0" marL="0">
              <a:buNone/>
            </a:pPr>
            <a:r>
              <a:rPr lang="en-US" sz="3000" dirty="0">
                <a:solidFill>
                  <a:srgbClr val="29241F"/>
                </a:solidFill>
                <a:latin typeface="Noto Serif CJK SC" pitchFamily="34" charset="0"/>
                <a:ea typeface="Noto Serif CJK SC" pitchFamily="34" charset="-122"/>
                <a:cs typeface="Noto Serif CJK SC" pitchFamily="34" charset="-120"/>
              </a:rPr>
              <a:t>氓之蚩蚩，抱布贸丝。</a:t>
            </a:r>
            <a:endParaRPr lang="en-US" sz="3000" dirty="0"/>
          </a:p>
        </p:txBody>
      </p:sp>
      <p:sp>
        <p:nvSpPr>
          <p:cNvPr id="7" name="Text 5"/>
          <p:cNvSpPr/>
          <p:nvPr/>
        </p:nvSpPr>
        <p:spPr>
          <a:xfrm>
            <a:off x="960120" y="2395728"/>
            <a:ext cx="10195560" cy="656173"/>
          </a:xfrm>
          <a:prstGeom prst="rect">
            <a:avLst/>
          </a:prstGeom>
          <a:noFill/>
          <a:ln/>
        </p:spPr>
        <p:txBody>
          <a:bodyPr wrap="square" lIns="0" tIns="0" rIns="0" bIns="0" rtlCol="0" anchor="ctr">
            <a:normAutofit/>
          </a:bodyPr>
          <a:lstStyle/>
          <a:p>
            <a:pPr algn="ctr" indent="0" marL="0">
              <a:buNone/>
            </a:pPr>
            <a:r>
              <a:rPr lang="en-US" sz="3000" dirty="0">
                <a:solidFill>
                  <a:srgbClr val="29241F"/>
                </a:solidFill>
                <a:latin typeface="Noto Serif CJK SC" pitchFamily="34" charset="0"/>
                <a:ea typeface="Noto Serif CJK SC" pitchFamily="34" charset="-122"/>
                <a:cs typeface="Noto Serif CJK SC" pitchFamily="34" charset="-120"/>
              </a:rPr>
              <a:t>匪来贸丝，来即我谋。</a:t>
            </a:r>
            <a:endParaRPr lang="en-US" sz="3000" dirty="0"/>
          </a:p>
        </p:txBody>
      </p:sp>
      <p:sp>
        <p:nvSpPr>
          <p:cNvPr id="8" name="Text 6"/>
          <p:cNvSpPr/>
          <p:nvPr/>
        </p:nvSpPr>
        <p:spPr>
          <a:xfrm>
            <a:off x="960120" y="3236976"/>
            <a:ext cx="10195560" cy="656173"/>
          </a:xfrm>
          <a:prstGeom prst="rect">
            <a:avLst/>
          </a:prstGeom>
          <a:noFill/>
          <a:ln/>
        </p:spPr>
        <p:txBody>
          <a:bodyPr wrap="square" lIns="0" tIns="0" rIns="0" bIns="0" rtlCol="0" anchor="ctr">
            <a:normAutofit/>
          </a:bodyPr>
          <a:lstStyle/>
          <a:p>
            <a:pPr algn="ctr" indent="0" marL="0">
              <a:buNone/>
            </a:pPr>
            <a:r>
              <a:rPr lang="en-US" sz="3000" dirty="0">
                <a:solidFill>
                  <a:srgbClr val="29241F"/>
                </a:solidFill>
                <a:latin typeface="Noto Serif CJK SC" pitchFamily="34" charset="0"/>
                <a:ea typeface="Noto Serif CJK SC" pitchFamily="34" charset="-122"/>
                <a:cs typeface="Noto Serif CJK SC" pitchFamily="34" charset="-120"/>
              </a:rPr>
              <a:t>第一句让我们看见什么？</a:t>
            </a:r>
            <a:endParaRPr lang="en-US" sz="3000" dirty="0"/>
          </a:p>
        </p:txBody>
      </p:sp>
      <p:sp>
        <p:nvSpPr>
          <p:cNvPr id="9" name="Text 7"/>
          <p:cNvSpPr/>
          <p:nvPr/>
        </p:nvSpPr>
        <p:spPr>
          <a:xfrm>
            <a:off x="960120" y="4078224"/>
            <a:ext cx="10195560" cy="656173"/>
          </a:xfrm>
          <a:prstGeom prst="rect">
            <a:avLst/>
          </a:prstGeom>
          <a:noFill/>
          <a:ln/>
        </p:spPr>
        <p:txBody>
          <a:bodyPr wrap="square" lIns="0" tIns="0" rIns="0" bIns="0" rtlCol="0" anchor="ctr">
            <a:normAutofit/>
          </a:bodyPr>
          <a:lstStyle/>
          <a:p>
            <a:pPr algn="ctr" indent="0" marL="0">
              <a:buNone/>
            </a:pPr>
            <a:r>
              <a:rPr lang="en-US" sz="2800" b="1" dirty="0">
                <a:solidFill>
                  <a:srgbClr val="725260"/>
                </a:solidFill>
                <a:latin typeface="Noto Serif CJK SC" pitchFamily="34" charset="0"/>
                <a:ea typeface="Noto Serif CJK SC" pitchFamily="34" charset="-122"/>
                <a:cs typeface="Noto Serif CJK SC" pitchFamily="34" charset="-120"/>
              </a:rPr>
              <a:t>第二句又告诉了我们什么？</a:t>
            </a:r>
            <a:endParaRPr lang="en-US" sz="2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A67F4A"/>
          </a:solidFill>
          <a:ln w="12700">
            <a:solidFill>
              <a:srgbClr val="A67F4A"/>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A67F4A"/>
                </a:solidFill>
                <a:latin typeface="Noto Sans CJK SC" pitchFamily="34" charset="0"/>
                <a:ea typeface="Noto Sans CJK SC" pitchFamily="34" charset="-122"/>
                <a:cs typeface="Noto Sans CJK SC" pitchFamily="34" charset="-120"/>
              </a:rPr>
              <a:t>第一章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15</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700" b="1" dirty="0">
                <a:solidFill>
                  <a:srgbClr val="29241F"/>
                </a:solidFill>
                <a:latin typeface="Noto Serif CJK SC" pitchFamily="34" charset="0"/>
                <a:ea typeface="Noto Serif CJK SC" pitchFamily="34" charset="-122"/>
                <a:cs typeface="Noto Serif CJK SC" pitchFamily="34" charset="-120"/>
              </a:rPr>
              <a:t>哪一个字，让话转了方向？</a:t>
            </a:r>
            <a:endParaRPr lang="en-US" sz="3700" dirty="0"/>
          </a:p>
        </p:txBody>
      </p:sp>
      <p:sp>
        <p:nvSpPr>
          <p:cNvPr id="6" name="Text 4"/>
          <p:cNvSpPr/>
          <p:nvPr/>
        </p:nvSpPr>
        <p:spPr>
          <a:xfrm>
            <a:off x="960120" y="1554480"/>
            <a:ext cx="10195560" cy="656173"/>
          </a:xfrm>
          <a:prstGeom prst="rect">
            <a:avLst/>
          </a:prstGeom>
          <a:noFill/>
          <a:ln/>
        </p:spPr>
        <p:txBody>
          <a:bodyPr wrap="square" lIns="0" tIns="0" rIns="0" bIns="0" rtlCol="0" anchor="ctr">
            <a:normAutofit/>
          </a:bodyPr>
          <a:lstStyle/>
          <a:p>
            <a:pPr algn="ctr" indent="0" marL="0">
              <a:buNone/>
            </a:pPr>
            <a:r>
              <a:rPr lang="en-US" sz="3000" b="1" dirty="0">
                <a:solidFill>
                  <a:srgbClr val="29241F"/>
                </a:solidFill>
                <a:latin typeface="Noto Serif CJK SC" pitchFamily="34" charset="0"/>
                <a:ea typeface="Noto Serif CJK SC" pitchFamily="34" charset="-122"/>
                <a:cs typeface="Noto Serif CJK SC" pitchFamily="34" charset="-120"/>
              </a:rPr>
              <a:t>氓之蚩蚩，抱布贸丝。</a:t>
            </a:r>
            <a:endParaRPr lang="en-US" sz="3000" dirty="0"/>
          </a:p>
        </p:txBody>
      </p:sp>
      <p:sp>
        <p:nvSpPr>
          <p:cNvPr id="7" name="Text 5"/>
          <p:cNvSpPr/>
          <p:nvPr/>
        </p:nvSpPr>
        <p:spPr>
          <a:xfrm>
            <a:off x="960120" y="2395728"/>
            <a:ext cx="10195560" cy="656173"/>
          </a:xfrm>
          <a:prstGeom prst="rect">
            <a:avLst/>
          </a:prstGeom>
          <a:noFill/>
          <a:ln/>
        </p:spPr>
        <p:txBody>
          <a:bodyPr wrap="square" lIns="0" tIns="0" rIns="0" bIns="0" rtlCol="0" anchor="ctr">
            <a:normAutofit/>
          </a:bodyPr>
          <a:lstStyle/>
          <a:p>
            <a:pPr algn="ctr" indent="0" marL="0">
              <a:buNone/>
            </a:pPr>
            <a:r>
              <a:rPr lang="en-US" sz="3000" b="1" dirty="0">
                <a:solidFill>
                  <a:srgbClr val="29241F"/>
                </a:solidFill>
                <a:latin typeface="Noto Serif CJK SC" pitchFamily="34" charset="0"/>
                <a:ea typeface="Noto Serif CJK SC" pitchFamily="34" charset="-122"/>
                <a:cs typeface="Noto Serif CJK SC" pitchFamily="34" charset="-120"/>
              </a:rPr>
              <a:t>匪来贸丝，来即我谋。</a:t>
            </a:r>
            <a:endParaRPr lang="en-US" sz="3000" dirty="0"/>
          </a:p>
        </p:txBody>
      </p:sp>
      <p:sp>
        <p:nvSpPr>
          <p:cNvPr id="8" name="Text 6"/>
          <p:cNvSpPr/>
          <p:nvPr/>
        </p:nvSpPr>
        <p:spPr>
          <a:xfrm>
            <a:off x="960120" y="3236976"/>
            <a:ext cx="10195560" cy="656173"/>
          </a:xfrm>
          <a:prstGeom prst="rect">
            <a:avLst/>
          </a:prstGeom>
          <a:noFill/>
          <a:ln/>
        </p:spPr>
        <p:txBody>
          <a:bodyPr wrap="square" lIns="0" tIns="0" rIns="0" bIns="0" rtlCol="0" anchor="ctr">
            <a:normAutofit/>
          </a:bodyPr>
          <a:lstStyle/>
          <a:p>
            <a:pPr algn="ctr" indent="0" marL="0">
              <a:buNone/>
            </a:pPr>
            <a:r>
              <a:rPr lang="en-US" sz="2800" b="1" dirty="0">
                <a:solidFill>
                  <a:srgbClr val="725260"/>
                </a:solidFill>
                <a:latin typeface="Noto Serif CJK SC" pitchFamily="34" charset="0"/>
                <a:ea typeface="Noto Serif CJK SC" pitchFamily="34" charset="-122"/>
                <a:cs typeface="Noto Serif CJK SC" pitchFamily="34" charset="-120"/>
              </a:rPr>
              <a:t>看一眼黑板上大家圈出的地方。</a:t>
            </a:r>
            <a:endParaRPr lang="en-US" sz="2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A67F4A"/>
          </a:solidFill>
          <a:ln w="12700">
            <a:solidFill>
              <a:srgbClr val="A67F4A"/>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A67F4A"/>
                </a:solidFill>
                <a:latin typeface="Noto Sans CJK SC" pitchFamily="34" charset="0"/>
                <a:ea typeface="Noto Sans CJK SC" pitchFamily="34" charset="-122"/>
                <a:cs typeface="Noto Sans CJK SC" pitchFamily="34" charset="-120"/>
              </a:rPr>
              <a:t>第一章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16</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700" b="1" dirty="0">
                <a:solidFill>
                  <a:srgbClr val="29241F"/>
                </a:solidFill>
                <a:latin typeface="Noto Serif CJK SC" pitchFamily="34" charset="0"/>
                <a:ea typeface="Noto Serif CJK SC" pitchFamily="34" charset="-122"/>
                <a:cs typeface="Noto Serif CJK SC" pitchFamily="34" charset="-120"/>
              </a:rPr>
              <a:t>先看见：抱布贸丝</a:t>
            </a:r>
            <a:endParaRPr lang="en-US" sz="3700" dirty="0"/>
          </a:p>
        </p:txBody>
      </p:sp>
      <p:sp>
        <p:nvSpPr>
          <p:cNvPr id="6" name="Text 4"/>
          <p:cNvSpPr/>
          <p:nvPr/>
        </p:nvSpPr>
        <p:spPr>
          <a:xfrm>
            <a:off x="960120" y="1554480"/>
            <a:ext cx="10195560" cy="656173"/>
          </a:xfrm>
          <a:prstGeom prst="rect">
            <a:avLst/>
          </a:prstGeom>
          <a:noFill/>
          <a:ln/>
        </p:spPr>
        <p:txBody>
          <a:bodyPr wrap="square" lIns="0" tIns="0" rIns="0" bIns="0" rtlCol="0" anchor="ctr">
            <a:normAutofit/>
          </a:bodyPr>
          <a:lstStyle/>
          <a:p>
            <a:pPr algn="ctr" indent="0" marL="0">
              <a:buNone/>
            </a:pPr>
            <a:r>
              <a:rPr lang="en-US" sz="3000" b="1" dirty="0">
                <a:solidFill>
                  <a:srgbClr val="29241F"/>
                </a:solidFill>
                <a:latin typeface="Noto Serif CJK SC" pitchFamily="34" charset="0"/>
                <a:ea typeface="Noto Serif CJK SC" pitchFamily="34" charset="-122"/>
                <a:cs typeface="Noto Serif CJK SC" pitchFamily="34" charset="-120"/>
              </a:rPr>
              <a:t>一个“匪”字，转过话头</a:t>
            </a:r>
            <a:endParaRPr lang="en-US" sz="3000" dirty="0"/>
          </a:p>
        </p:txBody>
      </p:sp>
      <p:sp>
        <p:nvSpPr>
          <p:cNvPr id="7" name="Text 5"/>
          <p:cNvSpPr/>
          <p:nvPr/>
        </p:nvSpPr>
        <p:spPr>
          <a:xfrm>
            <a:off x="960120" y="2395728"/>
            <a:ext cx="10195560" cy="656173"/>
          </a:xfrm>
          <a:prstGeom prst="rect">
            <a:avLst/>
          </a:prstGeom>
          <a:noFill/>
          <a:ln/>
        </p:spPr>
        <p:txBody>
          <a:bodyPr wrap="square" lIns="0" tIns="0" rIns="0" bIns="0" rtlCol="0" anchor="ctr">
            <a:normAutofit/>
          </a:bodyPr>
          <a:lstStyle/>
          <a:p>
            <a:pPr algn="ctr" indent="0" marL="0">
              <a:buNone/>
            </a:pPr>
            <a:r>
              <a:rPr lang="en-US" sz="3000" b="1" dirty="0">
                <a:solidFill>
                  <a:srgbClr val="29241F"/>
                </a:solidFill>
                <a:latin typeface="Noto Serif CJK SC" pitchFamily="34" charset="0"/>
                <a:ea typeface="Noto Serif CJK SC" pitchFamily="34" charset="-122"/>
                <a:cs typeface="Noto Serif CJK SC" pitchFamily="34" charset="-120"/>
              </a:rPr>
              <a:t>女子告诉我们：不是来换丝，是来谈婚事。</a:t>
            </a:r>
            <a:endParaRPr lang="en-US" sz="3000" dirty="0"/>
          </a:p>
        </p:txBody>
      </p:sp>
      <p:sp>
        <p:nvSpPr>
          <p:cNvPr id="8" name="Text 6"/>
          <p:cNvSpPr/>
          <p:nvPr/>
        </p:nvSpPr>
        <p:spPr>
          <a:xfrm>
            <a:off x="960120" y="3236976"/>
            <a:ext cx="10195560" cy="656173"/>
          </a:xfrm>
          <a:prstGeom prst="rect">
            <a:avLst/>
          </a:prstGeom>
          <a:noFill/>
          <a:ln/>
        </p:spPr>
        <p:txBody>
          <a:bodyPr wrap="square" lIns="0" tIns="0" rIns="0" bIns="0" rtlCol="0" anchor="ctr">
            <a:normAutofit/>
          </a:bodyPr>
          <a:lstStyle/>
          <a:p>
            <a:pPr algn="ctr" indent="0" marL="0">
              <a:buNone/>
            </a:pPr>
            <a:r>
              <a:rPr lang="en-US" sz="2800" b="1" dirty="0">
                <a:solidFill>
                  <a:srgbClr val="725260"/>
                </a:solidFill>
                <a:latin typeface="Noto Serif CJK SC" pitchFamily="34" charset="0"/>
                <a:ea typeface="Noto Serif CJK SC" pitchFamily="34" charset="-122"/>
                <a:cs typeface="Noto Serif CJK SC" pitchFamily="34" charset="-120"/>
              </a:rPr>
              <a:t>至于他的为人和后来，此刻还不能断定。</a:t>
            </a:r>
            <a:endParaRPr lang="en-US" sz="2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A67F4A"/>
          </a:solidFill>
          <a:ln w="12700">
            <a:solidFill>
              <a:srgbClr val="A67F4A"/>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A67F4A"/>
                </a:solidFill>
                <a:latin typeface="Noto Sans CJK SC" pitchFamily="34" charset="0"/>
                <a:ea typeface="Noto Sans CJK SC" pitchFamily="34" charset="-122"/>
                <a:cs typeface="Noto Sans CJK SC" pitchFamily="34" charset="-120"/>
              </a:rPr>
              <a:t>第一章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17</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400" b="1" dirty="0">
                <a:solidFill>
                  <a:srgbClr val="29241F"/>
                </a:solidFill>
                <a:latin typeface="Noto Serif CJK SC" pitchFamily="34" charset="0"/>
                <a:ea typeface="Noto Serif CJK SC" pitchFamily="34" charset="-122"/>
                <a:cs typeface="Noto Serif CJK SC" pitchFamily="34" charset="-120"/>
              </a:rPr>
              <a:t>把第一句说准</a:t>
            </a:r>
            <a:endParaRPr lang="en-US" sz="3400" dirty="0"/>
          </a:p>
        </p:txBody>
      </p:sp>
      <p:sp>
        <p:nvSpPr>
          <p:cNvPr id="6" name="Shape 4"/>
          <p:cNvSpPr/>
          <p:nvPr/>
        </p:nvSpPr>
        <p:spPr>
          <a:xfrm>
            <a:off x="786384" y="1536192"/>
            <a:ext cx="3401568" cy="1325880"/>
          </a:xfrm>
          <a:prstGeom prst="roundRect">
            <a:avLst>
              <a:gd name="adj" fmla="val 2759"/>
            </a:avLst>
          </a:prstGeom>
          <a:solidFill>
            <a:srgbClr val="FFFCF7"/>
          </a:solidFill>
          <a:ln w="13335">
            <a:solidFill>
              <a:srgbClr val="A67F4A"/>
            </a:solidFill>
            <a:prstDash val="solid"/>
          </a:ln>
        </p:spPr>
      </p:sp>
      <p:sp>
        <p:nvSpPr>
          <p:cNvPr id="7" name="Text 5"/>
          <p:cNvSpPr/>
          <p:nvPr/>
        </p:nvSpPr>
        <p:spPr>
          <a:xfrm>
            <a:off x="969264" y="1719072"/>
            <a:ext cx="3035808" cy="941832"/>
          </a:xfrm>
          <a:prstGeom prst="rect">
            <a:avLst/>
          </a:prstGeom>
          <a:noFill/>
          <a:ln/>
        </p:spPr>
        <p:txBody>
          <a:bodyPr wrap="square" lIns="0" tIns="0" rIns="0" bIns="0" rtlCol="0" anchor="ctr">
            <a:normAutofit/>
          </a:bodyPr>
          <a:lstStyle/>
          <a:p>
            <a:pPr algn="ctr" indent="0" marL="0">
              <a:buNone/>
            </a:pPr>
            <a:r>
              <a:rPr lang="en-US" sz="2100" b="1" dirty="0">
                <a:solidFill>
                  <a:srgbClr val="29241F"/>
                </a:solidFill>
                <a:latin typeface="Noto Serif CJK SC" pitchFamily="34" charset="0"/>
                <a:ea typeface="Noto Serif CJK SC" pitchFamily="34" charset="-122"/>
                <a:cs typeface="Noto Serif CJK SC" pitchFamily="34" charset="-120"/>
              </a:rPr>
              <a:t>氓｜这里指诗中的男子</a:t>
            </a:r>
            <a:endParaRPr lang="en-US" sz="2100" dirty="0"/>
          </a:p>
        </p:txBody>
      </p:sp>
      <p:sp>
        <p:nvSpPr>
          <p:cNvPr id="8" name="Shape 6"/>
          <p:cNvSpPr/>
          <p:nvPr/>
        </p:nvSpPr>
        <p:spPr>
          <a:xfrm>
            <a:off x="4572000" y="1536192"/>
            <a:ext cx="3401568" cy="1325880"/>
          </a:xfrm>
          <a:prstGeom prst="roundRect">
            <a:avLst>
              <a:gd name="adj" fmla="val 2759"/>
            </a:avLst>
          </a:prstGeom>
          <a:solidFill>
            <a:srgbClr val="FFFCF7"/>
          </a:solidFill>
          <a:ln w="13335">
            <a:solidFill>
              <a:srgbClr val="446E78"/>
            </a:solidFill>
            <a:prstDash val="solid"/>
          </a:ln>
        </p:spPr>
      </p:sp>
      <p:sp>
        <p:nvSpPr>
          <p:cNvPr id="9" name="Text 7"/>
          <p:cNvSpPr/>
          <p:nvPr/>
        </p:nvSpPr>
        <p:spPr>
          <a:xfrm>
            <a:off x="4754880" y="1719072"/>
            <a:ext cx="3035808" cy="941832"/>
          </a:xfrm>
          <a:prstGeom prst="rect">
            <a:avLst/>
          </a:prstGeom>
          <a:noFill/>
          <a:ln/>
        </p:spPr>
        <p:txBody>
          <a:bodyPr wrap="square" lIns="0" tIns="0" rIns="0" bIns="0" rtlCol="0" anchor="ctr">
            <a:normAutofit/>
          </a:bodyPr>
          <a:lstStyle/>
          <a:p>
            <a:pPr algn="ctr" indent="0" marL="0">
              <a:buNone/>
            </a:pPr>
            <a:r>
              <a:rPr lang="en-US" sz="2100" b="1" dirty="0">
                <a:solidFill>
                  <a:srgbClr val="29241F"/>
                </a:solidFill>
                <a:latin typeface="Noto Serif CJK SC" pitchFamily="34" charset="0"/>
                <a:ea typeface="Noto Serif CJK SC" pitchFamily="34" charset="-122"/>
                <a:cs typeface="Noto Serif CJK SC" pitchFamily="34" charset="-120"/>
              </a:rPr>
              <a:t>蚩蚩｜忠厚的样子；一说嬉笑的样子</a:t>
            </a:r>
            <a:endParaRPr lang="en-US" sz="2100" dirty="0"/>
          </a:p>
        </p:txBody>
      </p:sp>
      <p:sp>
        <p:nvSpPr>
          <p:cNvPr id="10" name="Shape 8"/>
          <p:cNvSpPr/>
          <p:nvPr/>
        </p:nvSpPr>
        <p:spPr>
          <a:xfrm>
            <a:off x="8357616" y="1536192"/>
            <a:ext cx="3401568" cy="1325880"/>
          </a:xfrm>
          <a:prstGeom prst="roundRect">
            <a:avLst>
              <a:gd name="adj" fmla="val 2759"/>
            </a:avLst>
          </a:prstGeom>
          <a:solidFill>
            <a:srgbClr val="FFFCF7"/>
          </a:solidFill>
          <a:ln w="13335">
            <a:solidFill>
              <a:srgbClr val="657653"/>
            </a:solidFill>
            <a:prstDash val="solid"/>
          </a:ln>
        </p:spPr>
      </p:sp>
      <p:sp>
        <p:nvSpPr>
          <p:cNvPr id="11" name="Text 9"/>
          <p:cNvSpPr/>
          <p:nvPr/>
        </p:nvSpPr>
        <p:spPr>
          <a:xfrm>
            <a:off x="8540496" y="1719072"/>
            <a:ext cx="3035808" cy="941832"/>
          </a:xfrm>
          <a:prstGeom prst="rect">
            <a:avLst/>
          </a:prstGeom>
          <a:noFill/>
          <a:ln/>
        </p:spPr>
        <p:txBody>
          <a:bodyPr wrap="square" lIns="0" tIns="0" rIns="0" bIns="0" rtlCol="0" anchor="ctr">
            <a:normAutofit/>
          </a:bodyPr>
          <a:lstStyle/>
          <a:p>
            <a:pPr algn="ctr" indent="0" marL="0">
              <a:buNone/>
            </a:pPr>
            <a:r>
              <a:rPr lang="en-US" sz="2100" b="1" dirty="0">
                <a:solidFill>
                  <a:srgbClr val="29241F"/>
                </a:solidFill>
                <a:latin typeface="Noto Serif CJK SC" pitchFamily="34" charset="0"/>
                <a:ea typeface="Noto Serif CJK SC" pitchFamily="34" charset="-122"/>
                <a:cs typeface="Noto Serif CJK SC" pitchFamily="34" charset="-120"/>
              </a:rPr>
              <a:t>布｜布匹；一说布币</a:t>
            </a:r>
            <a:endParaRPr lang="en-US" sz="2100" dirty="0"/>
          </a:p>
        </p:txBody>
      </p:sp>
      <p:sp>
        <p:nvSpPr>
          <p:cNvPr id="12" name="Shape 10"/>
          <p:cNvSpPr/>
          <p:nvPr/>
        </p:nvSpPr>
        <p:spPr>
          <a:xfrm>
            <a:off x="786384" y="3255264"/>
            <a:ext cx="3401568" cy="1325880"/>
          </a:xfrm>
          <a:prstGeom prst="roundRect">
            <a:avLst>
              <a:gd name="adj" fmla="val 2759"/>
            </a:avLst>
          </a:prstGeom>
          <a:solidFill>
            <a:srgbClr val="FFFCF7"/>
          </a:solidFill>
          <a:ln w="13335">
            <a:solidFill>
              <a:srgbClr val="B58B3E"/>
            </a:solidFill>
            <a:prstDash val="solid"/>
          </a:ln>
        </p:spPr>
      </p:sp>
      <p:sp>
        <p:nvSpPr>
          <p:cNvPr id="13" name="Text 11"/>
          <p:cNvSpPr/>
          <p:nvPr/>
        </p:nvSpPr>
        <p:spPr>
          <a:xfrm>
            <a:off x="969264" y="3438144"/>
            <a:ext cx="3035808" cy="941832"/>
          </a:xfrm>
          <a:prstGeom prst="rect">
            <a:avLst/>
          </a:prstGeom>
          <a:noFill/>
          <a:ln/>
        </p:spPr>
        <p:txBody>
          <a:bodyPr wrap="square" lIns="0" tIns="0" rIns="0" bIns="0" rtlCol="0" anchor="ctr">
            <a:normAutofit/>
          </a:bodyPr>
          <a:lstStyle/>
          <a:p>
            <a:pPr algn="ctr" indent="0" marL="0">
              <a:buNone/>
            </a:pPr>
            <a:r>
              <a:rPr lang="en-US" sz="2100" b="1" dirty="0">
                <a:solidFill>
                  <a:srgbClr val="29241F"/>
                </a:solidFill>
                <a:latin typeface="Noto Serif CJK SC" pitchFamily="34" charset="0"/>
                <a:ea typeface="Noto Serif CJK SC" pitchFamily="34" charset="-122"/>
                <a:cs typeface="Noto Serif CJK SC" pitchFamily="34" charset="-120"/>
              </a:rPr>
              <a:t>贸｜交易、交换</a:t>
            </a:r>
            <a:endParaRPr lang="en-US" sz="2100" dirty="0"/>
          </a:p>
        </p:txBody>
      </p:sp>
      <p:sp>
        <p:nvSpPr>
          <p:cNvPr id="14" name="Shape 12"/>
          <p:cNvSpPr/>
          <p:nvPr/>
        </p:nvSpPr>
        <p:spPr>
          <a:xfrm>
            <a:off x="4572000" y="3255264"/>
            <a:ext cx="3401568" cy="1325880"/>
          </a:xfrm>
          <a:prstGeom prst="roundRect">
            <a:avLst>
              <a:gd name="adj" fmla="val 2759"/>
            </a:avLst>
          </a:prstGeom>
          <a:solidFill>
            <a:srgbClr val="FFFCF7"/>
          </a:solidFill>
          <a:ln w="13335">
            <a:solidFill>
              <a:srgbClr val="725260"/>
            </a:solidFill>
            <a:prstDash val="solid"/>
          </a:ln>
        </p:spPr>
      </p:sp>
      <p:sp>
        <p:nvSpPr>
          <p:cNvPr id="15" name="Text 13"/>
          <p:cNvSpPr/>
          <p:nvPr/>
        </p:nvSpPr>
        <p:spPr>
          <a:xfrm>
            <a:off x="4754880" y="3438144"/>
            <a:ext cx="3035808" cy="941832"/>
          </a:xfrm>
          <a:prstGeom prst="rect">
            <a:avLst/>
          </a:prstGeom>
          <a:noFill/>
          <a:ln/>
        </p:spPr>
        <p:txBody>
          <a:bodyPr wrap="square" lIns="0" tIns="0" rIns="0" bIns="0" rtlCol="0" anchor="ctr">
            <a:normAutofit/>
          </a:bodyPr>
          <a:lstStyle/>
          <a:p>
            <a:pPr algn="ctr" indent="0" marL="0">
              <a:buNone/>
            </a:pPr>
            <a:r>
              <a:rPr lang="en-US" sz="2100" b="1" dirty="0">
                <a:solidFill>
                  <a:srgbClr val="29241F"/>
                </a:solidFill>
                <a:latin typeface="Noto Serif CJK SC" pitchFamily="34" charset="0"/>
                <a:ea typeface="Noto Serif CJK SC" pitchFamily="34" charset="-122"/>
                <a:cs typeface="Noto Serif CJK SC" pitchFamily="34" charset="-120"/>
              </a:rPr>
              <a:t>即｜靠近、到这里来</a:t>
            </a:r>
            <a:endParaRPr lang="en-US" sz="2100" dirty="0"/>
          </a:p>
        </p:txBody>
      </p:sp>
      <p:sp>
        <p:nvSpPr>
          <p:cNvPr id="16" name="Shape 14"/>
          <p:cNvSpPr/>
          <p:nvPr/>
        </p:nvSpPr>
        <p:spPr>
          <a:xfrm>
            <a:off x="8357616" y="3255264"/>
            <a:ext cx="3401568" cy="1325880"/>
          </a:xfrm>
          <a:prstGeom prst="roundRect">
            <a:avLst>
              <a:gd name="adj" fmla="val 2759"/>
            </a:avLst>
          </a:prstGeom>
          <a:solidFill>
            <a:srgbClr val="FFFCF7"/>
          </a:solidFill>
          <a:ln w="13335">
            <a:solidFill>
              <a:srgbClr val="94473B"/>
            </a:solidFill>
            <a:prstDash val="solid"/>
          </a:ln>
        </p:spPr>
      </p:sp>
      <p:sp>
        <p:nvSpPr>
          <p:cNvPr id="17" name="Text 15"/>
          <p:cNvSpPr/>
          <p:nvPr/>
        </p:nvSpPr>
        <p:spPr>
          <a:xfrm>
            <a:off x="8540496" y="3438144"/>
            <a:ext cx="3035808" cy="941832"/>
          </a:xfrm>
          <a:prstGeom prst="rect">
            <a:avLst/>
          </a:prstGeom>
          <a:noFill/>
          <a:ln/>
        </p:spPr>
        <p:txBody>
          <a:bodyPr wrap="square" lIns="0" tIns="0" rIns="0" bIns="0" rtlCol="0" anchor="ctr">
            <a:normAutofit/>
          </a:bodyPr>
          <a:lstStyle/>
          <a:p>
            <a:pPr algn="ctr" indent="0" marL="0">
              <a:buNone/>
            </a:pPr>
            <a:r>
              <a:rPr lang="en-US" sz="2100" b="1" dirty="0">
                <a:solidFill>
                  <a:srgbClr val="29241F"/>
                </a:solidFill>
                <a:latin typeface="Noto Serif CJK SC" pitchFamily="34" charset="0"/>
                <a:ea typeface="Noto Serif CJK SC" pitchFamily="34" charset="-122"/>
                <a:cs typeface="Noto Serif CJK SC" pitchFamily="34" charset="-120"/>
              </a:rPr>
              <a:t>谋｜商量婚事</a:t>
            </a:r>
            <a:endParaRPr lang="en-US" sz="2100" dirty="0"/>
          </a:p>
        </p:txBody>
      </p:sp>
      <p:sp>
        <p:nvSpPr>
          <p:cNvPr id="18" name="Text 16"/>
          <p:cNvSpPr/>
          <p:nvPr/>
        </p:nvSpPr>
        <p:spPr>
          <a:xfrm>
            <a:off x="914400" y="5230368"/>
            <a:ext cx="10360152" cy="658368"/>
          </a:xfrm>
          <a:prstGeom prst="rect">
            <a:avLst/>
          </a:prstGeom>
          <a:noFill/>
          <a:ln/>
        </p:spPr>
        <p:txBody>
          <a:bodyPr wrap="square" lIns="0" tIns="0" rIns="0" bIns="0" rtlCol="0" anchor="ctr"/>
          <a:lstStyle/>
          <a:p>
            <a:pPr algn="ctr" indent="0" marL="0">
              <a:buNone/>
            </a:pPr>
            <a:r>
              <a:rPr lang="en-US" sz="2400" b="1" dirty="0">
                <a:solidFill>
                  <a:srgbClr val="725260"/>
                </a:solidFill>
                <a:latin typeface="Noto Serif CJK SC" pitchFamily="34" charset="0"/>
                <a:ea typeface="Noto Serif CJK SC" pitchFamily="34" charset="-122"/>
                <a:cs typeface="Noto Serif CJK SC" pitchFamily="34" charset="-120"/>
              </a:rPr>
              <a:t>把六个词送回原句，再完整说一遍。</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A67F4A"/>
          </a:solidFill>
          <a:ln w="12700">
            <a:solidFill>
              <a:srgbClr val="A67F4A"/>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A67F4A"/>
                </a:solidFill>
                <a:latin typeface="Noto Sans CJK SC" pitchFamily="34" charset="0"/>
                <a:ea typeface="Noto Sans CJK SC" pitchFamily="34" charset="-122"/>
                <a:cs typeface="Noto Sans CJK SC" pitchFamily="34" charset="-120"/>
              </a:rPr>
              <a:t>第一章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18</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700" b="1" dirty="0">
                <a:solidFill>
                  <a:srgbClr val="29241F"/>
                </a:solidFill>
                <a:latin typeface="Noto Serif CJK SC" pitchFamily="34" charset="0"/>
                <a:ea typeface="Noto Serif CJK SC" pitchFamily="34" charset="-122"/>
                <a:cs typeface="Noto Serif CJK SC" pitchFamily="34" charset="-120"/>
              </a:rPr>
              <a:t>她把他送了多远？</a:t>
            </a:r>
            <a:endParaRPr lang="en-US" sz="3700" dirty="0"/>
          </a:p>
        </p:txBody>
      </p:sp>
      <p:sp>
        <p:nvSpPr>
          <p:cNvPr id="6" name="Text 4"/>
          <p:cNvSpPr/>
          <p:nvPr/>
        </p:nvSpPr>
        <p:spPr>
          <a:xfrm>
            <a:off x="960120" y="1554480"/>
            <a:ext cx="10195560" cy="656173"/>
          </a:xfrm>
          <a:prstGeom prst="rect">
            <a:avLst/>
          </a:prstGeom>
          <a:noFill/>
          <a:ln/>
        </p:spPr>
        <p:txBody>
          <a:bodyPr wrap="square" lIns="0" tIns="0" rIns="0" bIns="0" rtlCol="0" anchor="ctr">
            <a:normAutofit/>
          </a:bodyPr>
          <a:lstStyle/>
          <a:p>
            <a:pPr algn="ctr" indent="0" marL="0">
              <a:buNone/>
            </a:pPr>
            <a:r>
              <a:rPr lang="en-US" sz="3000" b="1" dirty="0">
                <a:solidFill>
                  <a:srgbClr val="29241F"/>
                </a:solidFill>
                <a:latin typeface="Noto Serif CJK SC" pitchFamily="34" charset="0"/>
                <a:ea typeface="Noto Serif CJK SC" pitchFamily="34" charset="-122"/>
                <a:cs typeface="Noto Serif CJK SC" pitchFamily="34" charset="-120"/>
              </a:rPr>
              <a:t>送子涉淇，至于顿丘。</a:t>
            </a:r>
            <a:endParaRPr lang="en-US" sz="3000" dirty="0"/>
          </a:p>
        </p:txBody>
      </p:sp>
      <p:sp>
        <p:nvSpPr>
          <p:cNvPr id="7" name="Text 5"/>
          <p:cNvSpPr/>
          <p:nvPr/>
        </p:nvSpPr>
        <p:spPr>
          <a:xfrm>
            <a:off x="960120" y="2395728"/>
            <a:ext cx="10195560" cy="656173"/>
          </a:xfrm>
          <a:prstGeom prst="rect">
            <a:avLst/>
          </a:prstGeom>
          <a:noFill/>
          <a:ln/>
        </p:spPr>
        <p:txBody>
          <a:bodyPr wrap="square" lIns="0" tIns="0" rIns="0" bIns="0" rtlCol="0" anchor="ctr">
            <a:normAutofit/>
          </a:bodyPr>
          <a:lstStyle/>
          <a:p>
            <a:pPr algn="ctr" indent="0" marL="0">
              <a:buNone/>
            </a:pPr>
            <a:r>
              <a:rPr lang="en-US" sz="3000" b="1" dirty="0">
                <a:solidFill>
                  <a:srgbClr val="29241F"/>
                </a:solidFill>
                <a:latin typeface="Noto Serif CJK SC" pitchFamily="34" charset="0"/>
                <a:ea typeface="Noto Serif CJK SC" pitchFamily="34" charset="-122"/>
                <a:cs typeface="Noto Serif CJK SC" pitchFamily="34" charset="-120"/>
              </a:rPr>
              <a:t>送　　涉　　至</a:t>
            </a:r>
            <a:endParaRPr lang="en-US" sz="3000" dirty="0"/>
          </a:p>
        </p:txBody>
      </p:sp>
      <p:sp>
        <p:nvSpPr>
          <p:cNvPr id="8" name="Text 6"/>
          <p:cNvSpPr/>
          <p:nvPr/>
        </p:nvSpPr>
        <p:spPr>
          <a:xfrm>
            <a:off x="960120" y="3236976"/>
            <a:ext cx="10195560" cy="656173"/>
          </a:xfrm>
          <a:prstGeom prst="rect">
            <a:avLst/>
          </a:prstGeom>
          <a:noFill/>
          <a:ln/>
        </p:spPr>
        <p:txBody>
          <a:bodyPr wrap="square" lIns="0" tIns="0" rIns="0" bIns="0" rtlCol="0" anchor="ctr">
            <a:normAutofit/>
          </a:bodyPr>
          <a:lstStyle/>
          <a:p>
            <a:pPr algn="ctr" indent="0" marL="0">
              <a:buNone/>
            </a:pPr>
            <a:r>
              <a:rPr lang="en-US" sz="2800" b="1" dirty="0">
                <a:solidFill>
                  <a:srgbClr val="725260"/>
                </a:solidFill>
                <a:latin typeface="Noto Serif CJK SC" pitchFamily="34" charset="0"/>
                <a:ea typeface="Noto Serif CJK SC" pitchFamily="34" charset="-122"/>
                <a:cs typeface="Noto Serif CJK SC" pitchFamily="34" charset="-120"/>
              </a:rPr>
              <a:t>沿着三个动词，自己画出这段路。</a:t>
            </a:r>
            <a:endParaRPr lang="en-US" sz="2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A67F4A"/>
          </a:solidFill>
          <a:ln w="12700">
            <a:solidFill>
              <a:srgbClr val="A67F4A"/>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A67F4A"/>
                </a:solidFill>
                <a:latin typeface="Noto Sans CJK SC" pitchFamily="34" charset="0"/>
                <a:ea typeface="Noto Sans CJK SC" pitchFamily="34" charset="-122"/>
                <a:cs typeface="Noto Sans CJK SC" pitchFamily="34" charset="-120"/>
              </a:rPr>
              <a:t>第一章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19</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700" b="1" dirty="0">
                <a:solidFill>
                  <a:srgbClr val="29241F"/>
                </a:solidFill>
                <a:latin typeface="Noto Serif CJK SC" pitchFamily="34" charset="0"/>
                <a:ea typeface="Noto Serif CJK SC" pitchFamily="34" charset="-122"/>
                <a:cs typeface="Noto Serif CJK SC" pitchFamily="34" charset="-120"/>
              </a:rPr>
              <a:t>把你画的这段路，指给同桌看。</a:t>
            </a:r>
            <a:endParaRPr lang="en-US" sz="3700" dirty="0"/>
          </a:p>
        </p:txBody>
      </p:sp>
      <p:sp>
        <p:nvSpPr>
          <p:cNvPr id="6" name="Text 4"/>
          <p:cNvSpPr/>
          <p:nvPr/>
        </p:nvSpPr>
        <p:spPr>
          <a:xfrm>
            <a:off x="960120" y="1554480"/>
            <a:ext cx="10195560" cy="656173"/>
          </a:xfrm>
          <a:prstGeom prst="rect">
            <a:avLst/>
          </a:prstGeom>
          <a:noFill/>
          <a:ln/>
        </p:spPr>
        <p:txBody>
          <a:bodyPr wrap="square" lIns="0" tIns="0" rIns="0" bIns="0" rtlCol="0" anchor="ctr">
            <a:normAutofit/>
          </a:bodyPr>
          <a:lstStyle/>
          <a:p>
            <a:pPr algn="ctr" indent="0" marL="0">
              <a:buNone/>
            </a:pPr>
            <a:r>
              <a:rPr lang="en-US" sz="3000" b="1" dirty="0">
                <a:solidFill>
                  <a:srgbClr val="29241F"/>
                </a:solidFill>
                <a:latin typeface="Noto Serif CJK SC" pitchFamily="34" charset="0"/>
                <a:ea typeface="Noto Serif CJK SC" pitchFamily="34" charset="-122"/>
                <a:cs typeface="Noto Serif CJK SC" pitchFamily="34" charset="-120"/>
              </a:rPr>
              <a:t>送子涉淇，至于顿丘。</a:t>
            </a:r>
            <a:endParaRPr lang="en-US" sz="3000" dirty="0"/>
          </a:p>
        </p:txBody>
      </p:sp>
      <p:sp>
        <p:nvSpPr>
          <p:cNvPr id="7" name="Text 5"/>
          <p:cNvSpPr/>
          <p:nvPr/>
        </p:nvSpPr>
        <p:spPr>
          <a:xfrm>
            <a:off x="960120" y="2395728"/>
            <a:ext cx="10195560" cy="656173"/>
          </a:xfrm>
          <a:prstGeom prst="rect">
            <a:avLst/>
          </a:prstGeom>
          <a:noFill/>
          <a:ln/>
        </p:spPr>
        <p:txBody>
          <a:bodyPr wrap="square" lIns="0" tIns="0" rIns="0" bIns="0" rtlCol="0" anchor="ctr">
            <a:normAutofit/>
          </a:bodyPr>
          <a:lstStyle/>
          <a:p>
            <a:pPr algn="ctr" indent="0" marL="0">
              <a:buNone/>
            </a:pPr>
            <a:r>
              <a:rPr lang="en-US" sz="2800" b="1" dirty="0">
                <a:solidFill>
                  <a:srgbClr val="725260"/>
                </a:solidFill>
                <a:latin typeface="Noto Serif CJK SC" pitchFamily="34" charset="0"/>
                <a:ea typeface="Noto Serif CJK SC" pitchFamily="34" charset="-122"/>
                <a:cs typeface="Noto Serif CJK SC" pitchFamily="34" charset="-120"/>
              </a:rPr>
              <a:t>谁在送？经过哪里？到达哪里？</a:t>
            </a:r>
            <a:endParaRPr lang="en-US" sz="2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A67F4A"/>
          </a:solidFill>
          <a:ln w="12700">
            <a:solidFill>
              <a:srgbClr val="A67F4A"/>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A67F4A"/>
                </a:solidFill>
                <a:latin typeface="Noto Sans CJK SC" pitchFamily="34" charset="0"/>
                <a:ea typeface="Noto Sans CJK SC" pitchFamily="34" charset="-122"/>
                <a:cs typeface="Noto Sans CJK SC" pitchFamily="34" charset="-120"/>
              </a:rPr>
              <a:t>第一章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20</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700" b="1" dirty="0">
                <a:solidFill>
                  <a:srgbClr val="29241F"/>
                </a:solidFill>
                <a:latin typeface="Noto Serif CJK SC" pitchFamily="34" charset="0"/>
                <a:ea typeface="Noto Serif CJK SC" pitchFamily="34" charset="-122"/>
                <a:cs typeface="Noto Serif CJK SC" pitchFamily="34" charset="-120"/>
              </a:rPr>
              <a:t>送　→　涉淇　→　至于顿丘</a:t>
            </a:r>
            <a:endParaRPr lang="en-US" sz="3700" dirty="0"/>
          </a:p>
        </p:txBody>
      </p:sp>
      <p:sp>
        <p:nvSpPr>
          <p:cNvPr id="6" name="Text 4"/>
          <p:cNvSpPr/>
          <p:nvPr/>
        </p:nvSpPr>
        <p:spPr>
          <a:xfrm>
            <a:off x="960120" y="1554480"/>
            <a:ext cx="10195560" cy="656173"/>
          </a:xfrm>
          <a:prstGeom prst="rect">
            <a:avLst/>
          </a:prstGeom>
          <a:noFill/>
          <a:ln/>
        </p:spPr>
        <p:txBody>
          <a:bodyPr wrap="square" lIns="0" tIns="0" rIns="0" bIns="0" rtlCol="0" anchor="ctr">
            <a:normAutofit/>
          </a:bodyPr>
          <a:lstStyle/>
          <a:p>
            <a:pPr algn="ctr" indent="0" marL="0">
              <a:buNone/>
            </a:pPr>
            <a:r>
              <a:rPr lang="en-US" sz="3000" b="1" dirty="0">
                <a:solidFill>
                  <a:srgbClr val="29241F"/>
                </a:solidFill>
                <a:latin typeface="Noto Serif CJK SC" pitchFamily="34" charset="0"/>
                <a:ea typeface="Noto Serif CJK SC" pitchFamily="34" charset="-122"/>
                <a:cs typeface="Noto Serif CJK SC" pitchFamily="34" charset="-120"/>
              </a:rPr>
              <a:t>她送他渡过淇水，一直送到顿丘。</a:t>
            </a:r>
            <a:endParaRPr lang="en-US" sz="3000" dirty="0"/>
          </a:p>
        </p:txBody>
      </p:sp>
      <p:sp>
        <p:nvSpPr>
          <p:cNvPr id="7" name="Text 5"/>
          <p:cNvSpPr/>
          <p:nvPr/>
        </p:nvSpPr>
        <p:spPr>
          <a:xfrm>
            <a:off x="960120" y="2395728"/>
            <a:ext cx="10195560" cy="656173"/>
          </a:xfrm>
          <a:prstGeom prst="rect">
            <a:avLst/>
          </a:prstGeom>
          <a:noFill/>
          <a:ln/>
        </p:spPr>
        <p:txBody>
          <a:bodyPr wrap="square" lIns="0" tIns="0" rIns="0" bIns="0" rtlCol="0" anchor="ctr">
            <a:normAutofit/>
          </a:bodyPr>
          <a:lstStyle/>
          <a:p>
            <a:pPr algn="ctr" indent="0" marL="0">
              <a:buNone/>
            </a:pPr>
            <a:r>
              <a:rPr lang="en-US" sz="2800" b="1" dirty="0">
                <a:solidFill>
                  <a:srgbClr val="725260"/>
                </a:solidFill>
                <a:latin typeface="Noto Serif CJK SC" pitchFamily="34" charset="0"/>
                <a:ea typeface="Noto Serif CJK SC" pitchFamily="34" charset="-122"/>
                <a:cs typeface="Noto Serif CJK SC" pitchFamily="34" charset="-120"/>
              </a:rPr>
              <a:t>这份投入，先由三个动作说出来。</a:t>
            </a:r>
            <a:endParaRPr lang="en-US" sz="2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A67F4A"/>
          </a:solidFill>
          <a:ln w="12700">
            <a:solidFill>
              <a:srgbClr val="A67F4A"/>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A67F4A"/>
                </a:solidFill>
                <a:latin typeface="Noto Sans CJK SC" pitchFamily="34" charset="0"/>
                <a:ea typeface="Noto Sans CJK SC" pitchFamily="34" charset="-122"/>
                <a:cs typeface="Noto Sans CJK SC" pitchFamily="34" charset="-120"/>
              </a:rPr>
              <a:t>第一章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21</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600" b="1" dirty="0">
                <a:solidFill>
                  <a:srgbClr val="29241F"/>
                </a:solidFill>
                <a:latin typeface="Noto Serif CJK SC" pitchFamily="34" charset="0"/>
                <a:ea typeface="Noto Serif CJK SC" pitchFamily="34" charset="-122"/>
                <a:cs typeface="Noto Serif CJK SC" pitchFamily="34" charset="-120"/>
              </a:rPr>
              <a:t>把这几句当作她说的一番话</a:t>
            </a:r>
            <a:endParaRPr lang="en-US" sz="3600" dirty="0"/>
          </a:p>
        </p:txBody>
      </p:sp>
      <p:sp>
        <p:nvSpPr>
          <p:cNvPr id="6" name="Shape 4"/>
          <p:cNvSpPr/>
          <p:nvPr/>
        </p:nvSpPr>
        <p:spPr>
          <a:xfrm>
            <a:off x="768096" y="1572768"/>
            <a:ext cx="3380232" cy="3858768"/>
          </a:xfrm>
          <a:prstGeom prst="roundRect">
            <a:avLst>
              <a:gd name="adj" fmla="val 1082"/>
            </a:avLst>
          </a:prstGeom>
          <a:solidFill>
            <a:srgbClr val="FFFCF7"/>
          </a:solidFill>
          <a:ln w="13970">
            <a:solidFill>
              <a:srgbClr val="446E78"/>
            </a:solidFill>
            <a:prstDash val="solid"/>
          </a:ln>
        </p:spPr>
      </p:sp>
      <p:sp>
        <p:nvSpPr>
          <p:cNvPr id="7" name="Text 5"/>
          <p:cNvSpPr/>
          <p:nvPr/>
        </p:nvSpPr>
        <p:spPr>
          <a:xfrm>
            <a:off x="1042416" y="2029968"/>
            <a:ext cx="2831592" cy="2834640"/>
          </a:xfrm>
          <a:prstGeom prst="rect">
            <a:avLst/>
          </a:prstGeom>
          <a:noFill/>
          <a:ln/>
        </p:spPr>
        <p:txBody>
          <a:bodyPr wrap="square" lIns="0" tIns="0" rIns="0" bIns="0" rtlCol="0" anchor="ctr">
            <a:normAutofit/>
          </a:bodyPr>
          <a:lstStyle/>
          <a:p>
            <a:pPr algn="ctr" indent="0" marL="0">
              <a:buNone/>
            </a:pPr>
            <a:r>
              <a:rPr lang="en-US" sz="2400" b="1" dirty="0">
                <a:solidFill>
                  <a:srgbClr val="29241F"/>
                </a:solidFill>
                <a:latin typeface="Noto Serif CJK SC" pitchFamily="34" charset="0"/>
                <a:ea typeface="Noto Serif CJK SC" pitchFamily="34" charset="-122"/>
                <a:cs typeface="Noto Serif CJK SC" pitchFamily="34" charset="-120"/>
              </a:rPr>
              <a:t>匪我愆期，子无良媒。</a:t>
            </a:r>
            <a:endParaRPr lang="en-US" sz="2400" dirty="0"/>
          </a:p>
        </p:txBody>
      </p:sp>
      <p:sp>
        <p:nvSpPr>
          <p:cNvPr id="8" name="Shape 6"/>
          <p:cNvSpPr/>
          <p:nvPr/>
        </p:nvSpPr>
        <p:spPr>
          <a:xfrm>
            <a:off x="4404360" y="1572768"/>
            <a:ext cx="3380232" cy="3858768"/>
          </a:xfrm>
          <a:prstGeom prst="roundRect">
            <a:avLst>
              <a:gd name="adj" fmla="val 1082"/>
            </a:avLst>
          </a:prstGeom>
          <a:solidFill>
            <a:srgbClr val="FFFCF7"/>
          </a:solidFill>
          <a:ln w="13970">
            <a:solidFill>
              <a:srgbClr val="725260"/>
            </a:solidFill>
            <a:prstDash val="solid"/>
          </a:ln>
        </p:spPr>
      </p:sp>
      <p:sp>
        <p:nvSpPr>
          <p:cNvPr id="9" name="Text 7"/>
          <p:cNvSpPr/>
          <p:nvPr/>
        </p:nvSpPr>
        <p:spPr>
          <a:xfrm>
            <a:off x="4678680" y="2029968"/>
            <a:ext cx="2831592" cy="2834640"/>
          </a:xfrm>
          <a:prstGeom prst="rect">
            <a:avLst/>
          </a:prstGeom>
          <a:noFill/>
          <a:ln/>
        </p:spPr>
        <p:txBody>
          <a:bodyPr wrap="square" lIns="0" tIns="0" rIns="0" bIns="0" rtlCol="0" anchor="ctr">
            <a:normAutofit/>
          </a:bodyPr>
          <a:lstStyle/>
          <a:p>
            <a:pPr algn="ctr" indent="0" marL="0">
              <a:buNone/>
            </a:pPr>
            <a:r>
              <a:rPr lang="en-US" sz="2400" b="1" dirty="0">
                <a:solidFill>
                  <a:srgbClr val="29241F"/>
                </a:solidFill>
                <a:latin typeface="Noto Serif CJK SC" pitchFamily="34" charset="0"/>
                <a:ea typeface="Noto Serif CJK SC" pitchFamily="34" charset="-122"/>
                <a:cs typeface="Noto Serif CJK SC" pitchFamily="34" charset="-120"/>
              </a:rPr>
              <a:t>将子无怒，秋以为期。</a:t>
            </a:r>
            <a:endParaRPr lang="en-US" sz="2400" dirty="0"/>
          </a:p>
        </p:txBody>
      </p:sp>
      <p:sp>
        <p:nvSpPr>
          <p:cNvPr id="10" name="Shape 8"/>
          <p:cNvSpPr/>
          <p:nvPr/>
        </p:nvSpPr>
        <p:spPr>
          <a:xfrm>
            <a:off x="8040624" y="1572768"/>
            <a:ext cx="3380232" cy="3858768"/>
          </a:xfrm>
          <a:prstGeom prst="roundRect">
            <a:avLst>
              <a:gd name="adj" fmla="val 1082"/>
            </a:avLst>
          </a:prstGeom>
          <a:solidFill>
            <a:srgbClr val="FFFCF7"/>
          </a:solidFill>
          <a:ln w="13970">
            <a:solidFill>
              <a:srgbClr val="A67F4A"/>
            </a:solidFill>
            <a:prstDash val="solid"/>
          </a:ln>
        </p:spPr>
      </p:sp>
      <p:sp>
        <p:nvSpPr>
          <p:cNvPr id="11" name="Text 9"/>
          <p:cNvSpPr/>
          <p:nvPr/>
        </p:nvSpPr>
        <p:spPr>
          <a:xfrm>
            <a:off x="8314944" y="2029968"/>
            <a:ext cx="2831592" cy="2834640"/>
          </a:xfrm>
          <a:prstGeom prst="rect">
            <a:avLst/>
          </a:prstGeom>
          <a:noFill/>
          <a:ln/>
        </p:spPr>
        <p:txBody>
          <a:bodyPr wrap="square" lIns="0" tIns="0" rIns="0" bIns="0" rtlCol="0" anchor="ctr">
            <a:normAutofit/>
          </a:bodyPr>
          <a:lstStyle/>
          <a:p>
            <a:pPr algn="ctr" indent="0" marL="0">
              <a:buNone/>
            </a:pPr>
            <a:r>
              <a:rPr lang="en-US" sz="2200" b="1" dirty="0">
                <a:solidFill>
                  <a:srgbClr val="29241F"/>
                </a:solidFill>
                <a:latin typeface="Noto Serif CJK SC" pitchFamily="34" charset="0"/>
                <a:ea typeface="Noto Serif CJK SC" pitchFamily="34" charset="-122"/>
                <a:cs typeface="Noto Serif CJK SC" pitchFamily="34" charset="-120"/>
              </a:rPr>
              <a:t>先把她的话完整说成今天的语言。</a:t>
            </a:r>
            <a:endParaRPr lang="en-US" sz="2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A67F4A"/>
          </a:solidFill>
          <a:ln w="12700">
            <a:solidFill>
              <a:srgbClr val="A67F4A"/>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A67F4A"/>
                </a:solidFill>
                <a:latin typeface="Noto Sans CJK SC" pitchFamily="34" charset="0"/>
                <a:ea typeface="Noto Sans CJK SC" pitchFamily="34" charset="-122"/>
                <a:cs typeface="Noto Sans CJK SC" pitchFamily="34" charset="-120"/>
              </a:rPr>
              <a:t>第一章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22</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600" b="1" dirty="0">
                <a:solidFill>
                  <a:srgbClr val="29241F"/>
                </a:solidFill>
                <a:latin typeface="Noto Serif CJK SC" pitchFamily="34" charset="0"/>
                <a:ea typeface="Noto Serif CJK SC" pitchFamily="34" charset="-122"/>
                <a:cs typeface="Noto Serif CJK SC" pitchFamily="34" charset="-120"/>
              </a:rPr>
              <a:t>再听一遍她的话</a:t>
            </a:r>
            <a:endParaRPr lang="en-US" sz="3600" dirty="0"/>
          </a:p>
        </p:txBody>
      </p:sp>
      <p:sp>
        <p:nvSpPr>
          <p:cNvPr id="6" name="Shape 4"/>
          <p:cNvSpPr/>
          <p:nvPr/>
        </p:nvSpPr>
        <p:spPr>
          <a:xfrm>
            <a:off x="768096" y="1572768"/>
            <a:ext cx="3380232" cy="3858768"/>
          </a:xfrm>
          <a:prstGeom prst="roundRect">
            <a:avLst>
              <a:gd name="adj" fmla="val 1082"/>
            </a:avLst>
          </a:prstGeom>
          <a:solidFill>
            <a:srgbClr val="FFFCF7"/>
          </a:solidFill>
          <a:ln w="13970">
            <a:solidFill>
              <a:srgbClr val="446E78"/>
            </a:solidFill>
            <a:prstDash val="solid"/>
          </a:ln>
        </p:spPr>
      </p:sp>
      <p:sp>
        <p:nvSpPr>
          <p:cNvPr id="7" name="Text 5"/>
          <p:cNvSpPr/>
          <p:nvPr/>
        </p:nvSpPr>
        <p:spPr>
          <a:xfrm>
            <a:off x="1042416" y="2029968"/>
            <a:ext cx="2831592" cy="2834640"/>
          </a:xfrm>
          <a:prstGeom prst="rect">
            <a:avLst/>
          </a:prstGeom>
          <a:noFill/>
          <a:ln/>
        </p:spPr>
        <p:txBody>
          <a:bodyPr wrap="square" lIns="0" tIns="0" rIns="0" bIns="0" rtlCol="0" anchor="ctr">
            <a:normAutofit/>
          </a:bodyPr>
          <a:lstStyle/>
          <a:p>
            <a:pPr algn="ctr" indent="0" marL="0">
              <a:buNone/>
            </a:pPr>
            <a:r>
              <a:rPr lang="en-US" sz="2700" b="1" dirty="0">
                <a:solidFill>
                  <a:srgbClr val="29241F"/>
                </a:solidFill>
                <a:latin typeface="Noto Serif CJK SC" pitchFamily="34" charset="0"/>
                <a:ea typeface="Noto Serif CJK SC" pitchFamily="34" charset="-122"/>
                <a:cs typeface="Noto Serif CJK SC" pitchFamily="34" charset="-120"/>
              </a:rPr>
              <a:t>哪里是在解释？</a:t>
            </a:r>
            <a:endParaRPr lang="en-US" sz="2700" dirty="0"/>
          </a:p>
        </p:txBody>
      </p:sp>
      <p:sp>
        <p:nvSpPr>
          <p:cNvPr id="8" name="Shape 6"/>
          <p:cNvSpPr/>
          <p:nvPr/>
        </p:nvSpPr>
        <p:spPr>
          <a:xfrm>
            <a:off x="4404360" y="1572768"/>
            <a:ext cx="3380232" cy="3858768"/>
          </a:xfrm>
          <a:prstGeom prst="roundRect">
            <a:avLst>
              <a:gd name="adj" fmla="val 1082"/>
            </a:avLst>
          </a:prstGeom>
          <a:solidFill>
            <a:srgbClr val="FFFCF7"/>
          </a:solidFill>
          <a:ln w="13970">
            <a:solidFill>
              <a:srgbClr val="725260"/>
            </a:solidFill>
            <a:prstDash val="solid"/>
          </a:ln>
        </p:spPr>
      </p:sp>
      <p:sp>
        <p:nvSpPr>
          <p:cNvPr id="9" name="Text 7"/>
          <p:cNvSpPr/>
          <p:nvPr/>
        </p:nvSpPr>
        <p:spPr>
          <a:xfrm>
            <a:off x="4678680" y="2029968"/>
            <a:ext cx="2831592" cy="2834640"/>
          </a:xfrm>
          <a:prstGeom prst="rect">
            <a:avLst/>
          </a:prstGeom>
          <a:noFill/>
          <a:ln/>
        </p:spPr>
        <p:txBody>
          <a:bodyPr wrap="square" lIns="0" tIns="0" rIns="0" bIns="0" rtlCol="0" anchor="ctr">
            <a:normAutofit/>
          </a:bodyPr>
          <a:lstStyle/>
          <a:p>
            <a:pPr algn="ctr" indent="0" marL="0">
              <a:buNone/>
            </a:pPr>
            <a:r>
              <a:rPr lang="en-US" sz="2700" b="1" dirty="0">
                <a:solidFill>
                  <a:srgbClr val="29241F"/>
                </a:solidFill>
                <a:latin typeface="Noto Serif CJK SC" pitchFamily="34" charset="0"/>
                <a:ea typeface="Noto Serif CJK SC" pitchFamily="34" charset="-122"/>
                <a:cs typeface="Noto Serif CJK SC" pitchFamily="34" charset="-120"/>
              </a:rPr>
              <a:t>哪里是在安抚？</a:t>
            </a:r>
            <a:endParaRPr lang="en-US" sz="2700" dirty="0"/>
          </a:p>
        </p:txBody>
      </p:sp>
      <p:sp>
        <p:nvSpPr>
          <p:cNvPr id="10" name="Shape 8"/>
          <p:cNvSpPr/>
          <p:nvPr/>
        </p:nvSpPr>
        <p:spPr>
          <a:xfrm>
            <a:off x="8040624" y="1572768"/>
            <a:ext cx="3380232" cy="3858768"/>
          </a:xfrm>
          <a:prstGeom prst="roundRect">
            <a:avLst>
              <a:gd name="adj" fmla="val 1082"/>
            </a:avLst>
          </a:prstGeom>
          <a:solidFill>
            <a:srgbClr val="FFFCF7"/>
          </a:solidFill>
          <a:ln w="13970">
            <a:solidFill>
              <a:srgbClr val="A67F4A"/>
            </a:solidFill>
            <a:prstDash val="solid"/>
          </a:ln>
        </p:spPr>
      </p:sp>
      <p:sp>
        <p:nvSpPr>
          <p:cNvPr id="11" name="Text 9"/>
          <p:cNvSpPr/>
          <p:nvPr/>
        </p:nvSpPr>
        <p:spPr>
          <a:xfrm>
            <a:off x="8314944" y="2029968"/>
            <a:ext cx="2831592" cy="2834640"/>
          </a:xfrm>
          <a:prstGeom prst="rect">
            <a:avLst/>
          </a:prstGeom>
          <a:noFill/>
          <a:ln/>
        </p:spPr>
        <p:txBody>
          <a:bodyPr wrap="square" lIns="0" tIns="0" rIns="0" bIns="0" rtlCol="0" anchor="ctr">
            <a:normAutofit/>
          </a:bodyPr>
          <a:lstStyle/>
          <a:p>
            <a:pPr algn="ctr" indent="0" marL="0">
              <a:buNone/>
            </a:pPr>
            <a:r>
              <a:rPr lang="en-US" sz="2700" b="1" dirty="0">
                <a:solidFill>
                  <a:srgbClr val="29241F"/>
                </a:solidFill>
                <a:latin typeface="Noto Serif CJK SC" pitchFamily="34" charset="0"/>
                <a:ea typeface="Noto Serif CJK SC" pitchFamily="34" charset="-122"/>
                <a:cs typeface="Noto Serif CJK SC" pitchFamily="34" charset="-120"/>
              </a:rPr>
              <a:t>哪里是在重新约定？</a:t>
            </a:r>
            <a:endParaRPr lang="en-US" sz="2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A67F4A"/>
          </a:solidFill>
          <a:ln w="12700">
            <a:solidFill>
              <a:srgbClr val="A67F4A"/>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A67F4A"/>
                </a:solidFill>
                <a:latin typeface="Noto Sans CJK SC" pitchFamily="34" charset="0"/>
                <a:ea typeface="Noto Sans CJK SC" pitchFamily="34" charset="-122"/>
                <a:cs typeface="Noto Sans CJK SC" pitchFamily="34" charset="-120"/>
              </a:rPr>
              <a:t>第一章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23</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100" b="1" dirty="0">
                <a:solidFill>
                  <a:srgbClr val="29241F"/>
                </a:solidFill>
                <a:latin typeface="Noto Serif CJK SC" pitchFamily="34" charset="0"/>
                <a:ea typeface="Noto Serif CJK SC" pitchFamily="34" charset="-122"/>
                <a:cs typeface="Noto Serif CJK SC" pitchFamily="34" charset="-120"/>
              </a:rPr>
              <a:t>不是我故意拖延婚期，是你没有请来合适的媒人。</a:t>
            </a:r>
            <a:endParaRPr lang="en-US" sz="3100" dirty="0"/>
          </a:p>
        </p:txBody>
      </p:sp>
      <p:sp>
        <p:nvSpPr>
          <p:cNvPr id="6" name="Shape 4"/>
          <p:cNvSpPr/>
          <p:nvPr/>
        </p:nvSpPr>
        <p:spPr>
          <a:xfrm>
            <a:off x="768096" y="1572768"/>
            <a:ext cx="3380232" cy="3858768"/>
          </a:xfrm>
          <a:prstGeom prst="roundRect">
            <a:avLst>
              <a:gd name="adj" fmla="val 1082"/>
            </a:avLst>
          </a:prstGeom>
          <a:solidFill>
            <a:srgbClr val="FFFCF7"/>
          </a:solidFill>
          <a:ln w="13970">
            <a:solidFill>
              <a:srgbClr val="446E78"/>
            </a:solidFill>
            <a:prstDash val="solid"/>
          </a:ln>
        </p:spPr>
      </p:sp>
      <p:sp>
        <p:nvSpPr>
          <p:cNvPr id="7" name="Text 5"/>
          <p:cNvSpPr/>
          <p:nvPr/>
        </p:nvSpPr>
        <p:spPr>
          <a:xfrm>
            <a:off x="1042416" y="2029968"/>
            <a:ext cx="2831592" cy="2834640"/>
          </a:xfrm>
          <a:prstGeom prst="rect">
            <a:avLst/>
          </a:prstGeom>
          <a:noFill/>
          <a:ln/>
        </p:spPr>
        <p:txBody>
          <a:bodyPr wrap="square" lIns="0" tIns="0" rIns="0" bIns="0" rtlCol="0" anchor="ctr">
            <a:normAutofit/>
          </a:bodyPr>
          <a:lstStyle/>
          <a:p>
            <a:pPr algn="ctr" indent="0" marL="0">
              <a:buNone/>
            </a:pPr>
            <a:r>
              <a:rPr lang="en-US" sz="2700" b="1" dirty="0">
                <a:solidFill>
                  <a:srgbClr val="29241F"/>
                </a:solidFill>
                <a:latin typeface="Noto Serif CJK SC" pitchFamily="34" charset="0"/>
                <a:ea typeface="Noto Serif CJK SC" pitchFamily="34" charset="-122"/>
                <a:cs typeface="Noto Serif CJK SC" pitchFamily="34" charset="-120"/>
              </a:rPr>
              <a:t>请你不要生气。</a:t>
            </a:r>
            <a:endParaRPr lang="en-US" sz="2700" dirty="0"/>
          </a:p>
        </p:txBody>
      </p:sp>
      <p:sp>
        <p:nvSpPr>
          <p:cNvPr id="8" name="Shape 6"/>
          <p:cNvSpPr/>
          <p:nvPr/>
        </p:nvSpPr>
        <p:spPr>
          <a:xfrm>
            <a:off x="4404360" y="1572768"/>
            <a:ext cx="3380232" cy="3858768"/>
          </a:xfrm>
          <a:prstGeom prst="roundRect">
            <a:avLst>
              <a:gd name="adj" fmla="val 1082"/>
            </a:avLst>
          </a:prstGeom>
          <a:solidFill>
            <a:srgbClr val="FFFCF7"/>
          </a:solidFill>
          <a:ln w="13970">
            <a:solidFill>
              <a:srgbClr val="725260"/>
            </a:solidFill>
            <a:prstDash val="solid"/>
          </a:ln>
        </p:spPr>
      </p:sp>
      <p:sp>
        <p:nvSpPr>
          <p:cNvPr id="9" name="Text 7"/>
          <p:cNvSpPr/>
          <p:nvPr/>
        </p:nvSpPr>
        <p:spPr>
          <a:xfrm>
            <a:off x="4678680" y="2029968"/>
            <a:ext cx="2831592" cy="2834640"/>
          </a:xfrm>
          <a:prstGeom prst="rect">
            <a:avLst/>
          </a:prstGeom>
          <a:noFill/>
          <a:ln/>
        </p:spPr>
        <p:txBody>
          <a:bodyPr wrap="square" lIns="0" tIns="0" rIns="0" bIns="0" rtlCol="0" anchor="ctr">
            <a:normAutofit/>
          </a:bodyPr>
          <a:lstStyle/>
          <a:p>
            <a:pPr algn="ctr" indent="0" marL="0">
              <a:buNone/>
            </a:pPr>
            <a:r>
              <a:rPr lang="en-US" sz="2400" b="1" dirty="0">
                <a:solidFill>
                  <a:srgbClr val="29241F"/>
                </a:solidFill>
                <a:latin typeface="Noto Serif CJK SC" pitchFamily="34" charset="0"/>
                <a:ea typeface="Noto Serif CJK SC" pitchFamily="34" charset="-122"/>
                <a:cs typeface="Noto Serif CJK SC" pitchFamily="34" charset="-120"/>
              </a:rPr>
              <a:t>就把婚期定在秋天吧。</a:t>
            </a:r>
            <a:endParaRPr lang="en-US" sz="2400" dirty="0"/>
          </a:p>
        </p:txBody>
      </p:sp>
      <p:sp>
        <p:nvSpPr>
          <p:cNvPr id="10" name="Shape 8"/>
          <p:cNvSpPr/>
          <p:nvPr/>
        </p:nvSpPr>
        <p:spPr>
          <a:xfrm>
            <a:off x="8040624" y="1572768"/>
            <a:ext cx="3380232" cy="3858768"/>
          </a:xfrm>
          <a:prstGeom prst="roundRect">
            <a:avLst>
              <a:gd name="adj" fmla="val 1082"/>
            </a:avLst>
          </a:prstGeom>
          <a:solidFill>
            <a:srgbClr val="FFFCF7"/>
          </a:solidFill>
          <a:ln w="13970">
            <a:solidFill>
              <a:srgbClr val="A67F4A"/>
            </a:solidFill>
            <a:prstDash val="solid"/>
          </a:ln>
        </p:spPr>
      </p:sp>
      <p:sp>
        <p:nvSpPr>
          <p:cNvPr id="11" name="Text 9"/>
          <p:cNvSpPr/>
          <p:nvPr/>
        </p:nvSpPr>
        <p:spPr>
          <a:xfrm>
            <a:off x="8314944" y="2029968"/>
            <a:ext cx="2831592" cy="2834640"/>
          </a:xfrm>
          <a:prstGeom prst="rect">
            <a:avLst/>
          </a:prstGeom>
          <a:noFill/>
          <a:ln/>
        </p:spPr>
        <p:txBody>
          <a:bodyPr wrap="square" lIns="0" tIns="0" rIns="0" bIns="0" rtlCol="0" anchor="ctr">
            <a:normAutofit/>
          </a:bodyPr>
          <a:lstStyle/>
          <a:p>
            <a:pPr algn="ctr" indent="0" marL="0">
              <a:buNone/>
            </a:pPr>
            <a:r>
              <a:rPr lang="en-US" sz="2200" b="1" dirty="0">
                <a:solidFill>
                  <a:srgbClr val="29241F"/>
                </a:solidFill>
                <a:latin typeface="Noto Serif CJK SC" pitchFamily="34" charset="0"/>
                <a:ea typeface="Noto Serif CJK SC" pitchFamily="34" charset="-122"/>
                <a:cs typeface="Noto Serif CJK SC" pitchFamily="34" charset="-120"/>
              </a:rPr>
              <a:t>她没有把婚事推开，而是在解释、安抚、重新约定。</a:t>
            </a:r>
            <a:endParaRPr lang="en-US" sz="2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A67F4A"/>
          </a:solidFill>
          <a:ln w="12700">
            <a:solidFill>
              <a:srgbClr val="A67F4A"/>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A67F4A"/>
                </a:solidFill>
                <a:latin typeface="Noto Sans CJK SC" pitchFamily="34" charset="0"/>
                <a:ea typeface="Noto Sans CJK SC" pitchFamily="34" charset="-122"/>
                <a:cs typeface="Noto Sans CJK SC" pitchFamily="34" charset="-120"/>
              </a:rPr>
              <a:t>第一章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24</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400" b="1" dirty="0">
                <a:solidFill>
                  <a:srgbClr val="29241F"/>
                </a:solidFill>
                <a:latin typeface="Noto Serif CJK SC" pitchFamily="34" charset="0"/>
                <a:ea typeface="Noto Serif CJK SC" pitchFamily="34" charset="-122"/>
                <a:cs typeface="Noto Serif CJK SC" pitchFamily="34" charset="-120"/>
              </a:rPr>
              <a:t>他怎样来，她怎样送，两个人怎样约？</a:t>
            </a:r>
            <a:endParaRPr lang="en-US" sz="3400" dirty="0"/>
          </a:p>
        </p:txBody>
      </p:sp>
      <p:sp>
        <p:nvSpPr>
          <p:cNvPr id="6" name="Shape 4"/>
          <p:cNvSpPr/>
          <p:nvPr/>
        </p:nvSpPr>
        <p:spPr>
          <a:xfrm>
            <a:off x="822960" y="1325880"/>
            <a:ext cx="10561320" cy="4526280"/>
          </a:xfrm>
          <a:prstGeom prst="roundRect">
            <a:avLst>
              <a:gd name="adj" fmla="val 808"/>
            </a:avLst>
          </a:prstGeom>
          <a:solidFill>
            <a:srgbClr val="FFFCF7"/>
          </a:solidFill>
          <a:ln w="13970">
            <a:solidFill>
              <a:srgbClr val="A67F4A"/>
            </a:solidFill>
            <a:prstDash val="solid"/>
          </a:ln>
        </p:spPr>
      </p:sp>
      <p:sp>
        <p:nvSpPr>
          <p:cNvPr id="7" name="Text 5"/>
          <p:cNvSpPr/>
          <p:nvPr/>
        </p:nvSpPr>
        <p:spPr>
          <a:xfrm>
            <a:off x="1051560" y="1943100"/>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氓之蚩蚩，抱布贸丝。</a:t>
            </a:r>
            <a:endParaRPr lang="en-US" sz="3100" dirty="0"/>
          </a:p>
        </p:txBody>
      </p:sp>
      <p:sp>
        <p:nvSpPr>
          <p:cNvPr id="8" name="Text 6"/>
          <p:cNvSpPr/>
          <p:nvPr/>
        </p:nvSpPr>
        <p:spPr>
          <a:xfrm>
            <a:off x="1051560" y="2601468"/>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匪来贸丝，来即我谋。</a:t>
            </a:r>
            <a:endParaRPr lang="en-US" sz="3100" dirty="0"/>
          </a:p>
        </p:txBody>
      </p:sp>
      <p:sp>
        <p:nvSpPr>
          <p:cNvPr id="9" name="Text 7"/>
          <p:cNvSpPr/>
          <p:nvPr/>
        </p:nvSpPr>
        <p:spPr>
          <a:xfrm>
            <a:off x="1051560" y="3259836"/>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送子涉淇，至于顿丘。</a:t>
            </a:r>
            <a:endParaRPr lang="en-US" sz="3100" dirty="0"/>
          </a:p>
        </p:txBody>
      </p:sp>
      <p:sp>
        <p:nvSpPr>
          <p:cNvPr id="10" name="Text 8"/>
          <p:cNvSpPr/>
          <p:nvPr/>
        </p:nvSpPr>
        <p:spPr>
          <a:xfrm>
            <a:off x="1051560" y="3918204"/>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匪我愆期，子无良媒。</a:t>
            </a:r>
            <a:endParaRPr lang="en-US" sz="3100" dirty="0"/>
          </a:p>
        </p:txBody>
      </p:sp>
      <p:sp>
        <p:nvSpPr>
          <p:cNvPr id="11" name="Text 9"/>
          <p:cNvSpPr/>
          <p:nvPr/>
        </p:nvSpPr>
        <p:spPr>
          <a:xfrm>
            <a:off x="1051560" y="4576572"/>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将子无怒，秋以为期。</a:t>
            </a:r>
            <a:endParaRPr lang="en-US" sz="3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446E78"/>
          </a:solidFill>
          <a:ln w="12700">
            <a:solidFill>
              <a:srgbClr val="446E78"/>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446E78"/>
                </a:solidFill>
                <a:latin typeface="Noto Sans CJK SC" pitchFamily="34" charset="0"/>
                <a:ea typeface="Noto Sans CJK SC" pitchFamily="34" charset="-122"/>
                <a:cs typeface="Noto Sans CJK SC" pitchFamily="34" charset="-120"/>
              </a:rPr>
              <a:t>第二章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25</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400" b="1" dirty="0">
                <a:solidFill>
                  <a:srgbClr val="29241F"/>
                </a:solidFill>
                <a:latin typeface="Noto Serif CJK SC" pitchFamily="34" charset="0"/>
                <a:ea typeface="Noto Serif CJK SC" pitchFamily="34" charset="-122"/>
                <a:cs typeface="Noto Serif CJK SC" pitchFamily="34" charset="-120"/>
              </a:rPr>
              <a:t>第二章｜她站到哪里？目光投向哪里？</a:t>
            </a:r>
            <a:endParaRPr lang="en-US" sz="3400" dirty="0"/>
          </a:p>
        </p:txBody>
      </p:sp>
      <p:sp>
        <p:nvSpPr>
          <p:cNvPr id="6" name="Shape 4"/>
          <p:cNvSpPr/>
          <p:nvPr/>
        </p:nvSpPr>
        <p:spPr>
          <a:xfrm>
            <a:off x="822960" y="1325880"/>
            <a:ext cx="10561320" cy="4526280"/>
          </a:xfrm>
          <a:prstGeom prst="roundRect">
            <a:avLst>
              <a:gd name="adj" fmla="val 808"/>
            </a:avLst>
          </a:prstGeom>
          <a:solidFill>
            <a:srgbClr val="FFFCF7"/>
          </a:solidFill>
          <a:ln w="13970">
            <a:solidFill>
              <a:srgbClr val="446E78"/>
            </a:solidFill>
            <a:prstDash val="solid"/>
          </a:ln>
        </p:spPr>
      </p:sp>
      <p:sp>
        <p:nvSpPr>
          <p:cNvPr id="7" name="Text 5"/>
          <p:cNvSpPr/>
          <p:nvPr/>
        </p:nvSpPr>
        <p:spPr>
          <a:xfrm>
            <a:off x="1051560" y="1943100"/>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乘彼垝垣，以望复关。</a:t>
            </a:r>
            <a:endParaRPr lang="en-US" sz="3100" dirty="0"/>
          </a:p>
        </p:txBody>
      </p:sp>
      <p:sp>
        <p:nvSpPr>
          <p:cNvPr id="8" name="Text 6"/>
          <p:cNvSpPr/>
          <p:nvPr/>
        </p:nvSpPr>
        <p:spPr>
          <a:xfrm>
            <a:off x="1051560" y="2601468"/>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不见复关，泣涕涟涟。</a:t>
            </a:r>
            <a:endParaRPr lang="en-US" sz="3100" dirty="0"/>
          </a:p>
        </p:txBody>
      </p:sp>
      <p:sp>
        <p:nvSpPr>
          <p:cNvPr id="9" name="Text 7"/>
          <p:cNvSpPr/>
          <p:nvPr/>
        </p:nvSpPr>
        <p:spPr>
          <a:xfrm>
            <a:off x="1051560" y="3259836"/>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既见复关，载笑载言。</a:t>
            </a:r>
            <a:endParaRPr lang="en-US" sz="3100" dirty="0"/>
          </a:p>
        </p:txBody>
      </p:sp>
      <p:sp>
        <p:nvSpPr>
          <p:cNvPr id="10" name="Text 8"/>
          <p:cNvSpPr/>
          <p:nvPr/>
        </p:nvSpPr>
        <p:spPr>
          <a:xfrm>
            <a:off x="1051560" y="3918204"/>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尔卜尔筮，体无咎言。</a:t>
            </a:r>
            <a:endParaRPr lang="en-US" sz="3100" dirty="0"/>
          </a:p>
        </p:txBody>
      </p:sp>
      <p:sp>
        <p:nvSpPr>
          <p:cNvPr id="11" name="Text 9"/>
          <p:cNvSpPr/>
          <p:nvPr/>
        </p:nvSpPr>
        <p:spPr>
          <a:xfrm>
            <a:off x="1051560" y="4576572"/>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以尔车来，以我贿迁。</a:t>
            </a:r>
            <a:endParaRPr lang="en-US" sz="3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446E78"/>
          </a:solidFill>
          <a:ln w="12700">
            <a:solidFill>
              <a:srgbClr val="446E78"/>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446E78"/>
                </a:solidFill>
                <a:latin typeface="Noto Sans CJK SC" pitchFamily="34" charset="0"/>
                <a:ea typeface="Noto Sans CJK SC" pitchFamily="34" charset="-122"/>
                <a:cs typeface="Noto Sans CJK SC" pitchFamily="34" charset="-120"/>
              </a:rPr>
              <a:t>第二章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26</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600" b="1" dirty="0">
                <a:solidFill>
                  <a:srgbClr val="29241F"/>
                </a:solidFill>
                <a:latin typeface="Noto Serif CJK SC" pitchFamily="34" charset="0"/>
                <a:ea typeface="Noto Serif CJK SC" pitchFamily="34" charset="-122"/>
                <a:cs typeface="Noto Serif CJK SC" pitchFamily="34" charset="-120"/>
              </a:rPr>
              <a:t>两个“见”字，怎样牵动她的哭与笑？</a:t>
            </a:r>
            <a:endParaRPr lang="en-US" sz="3600" dirty="0"/>
          </a:p>
        </p:txBody>
      </p:sp>
      <p:sp>
        <p:nvSpPr>
          <p:cNvPr id="6" name="Shape 4"/>
          <p:cNvSpPr/>
          <p:nvPr/>
        </p:nvSpPr>
        <p:spPr>
          <a:xfrm>
            <a:off x="768096" y="1572768"/>
            <a:ext cx="5198364" cy="3858768"/>
          </a:xfrm>
          <a:prstGeom prst="roundRect">
            <a:avLst>
              <a:gd name="adj" fmla="val 948"/>
            </a:avLst>
          </a:prstGeom>
          <a:solidFill>
            <a:srgbClr val="FFFCF7"/>
          </a:solidFill>
          <a:ln w="13970">
            <a:solidFill>
              <a:srgbClr val="446E78"/>
            </a:solidFill>
            <a:prstDash val="solid"/>
          </a:ln>
        </p:spPr>
      </p:sp>
      <p:sp>
        <p:nvSpPr>
          <p:cNvPr id="7" name="Text 5"/>
          <p:cNvSpPr/>
          <p:nvPr/>
        </p:nvSpPr>
        <p:spPr>
          <a:xfrm>
            <a:off x="1042416" y="2029968"/>
            <a:ext cx="4649724" cy="2834640"/>
          </a:xfrm>
          <a:prstGeom prst="rect">
            <a:avLst/>
          </a:prstGeom>
          <a:noFill/>
          <a:ln/>
        </p:spPr>
        <p:txBody>
          <a:bodyPr wrap="square" lIns="0" tIns="0" rIns="0" bIns="0" rtlCol="0" anchor="ctr">
            <a:normAutofit/>
          </a:bodyPr>
          <a:lstStyle/>
          <a:p>
            <a:pPr algn="ctr" indent="0" marL="0">
              <a:buNone/>
            </a:pPr>
            <a:r>
              <a:rPr lang="en-US" sz="3000" b="1" dirty="0">
                <a:solidFill>
                  <a:srgbClr val="29241F"/>
                </a:solidFill>
                <a:latin typeface="Noto Serif CJK SC" pitchFamily="34" charset="0"/>
                <a:ea typeface="Noto Serif CJK SC" pitchFamily="34" charset="-122"/>
                <a:cs typeface="Noto Serif CJK SC" pitchFamily="34" charset="-120"/>
              </a:rPr>
              <a:t>不见复关，泣涕涟涟。</a:t>
            </a:r>
            <a:endParaRPr lang="en-US" sz="3000" dirty="0"/>
          </a:p>
        </p:txBody>
      </p:sp>
      <p:sp>
        <p:nvSpPr>
          <p:cNvPr id="8" name="Shape 6"/>
          <p:cNvSpPr/>
          <p:nvPr/>
        </p:nvSpPr>
        <p:spPr>
          <a:xfrm>
            <a:off x="6222492" y="1572768"/>
            <a:ext cx="5198364" cy="3858768"/>
          </a:xfrm>
          <a:prstGeom prst="roundRect">
            <a:avLst>
              <a:gd name="adj" fmla="val 948"/>
            </a:avLst>
          </a:prstGeom>
          <a:solidFill>
            <a:srgbClr val="FFFCF7"/>
          </a:solidFill>
          <a:ln w="13970">
            <a:solidFill>
              <a:srgbClr val="725260"/>
            </a:solidFill>
            <a:prstDash val="solid"/>
          </a:ln>
        </p:spPr>
      </p:sp>
      <p:sp>
        <p:nvSpPr>
          <p:cNvPr id="9" name="Text 7"/>
          <p:cNvSpPr/>
          <p:nvPr/>
        </p:nvSpPr>
        <p:spPr>
          <a:xfrm>
            <a:off x="6496812" y="2029968"/>
            <a:ext cx="4649724" cy="2834640"/>
          </a:xfrm>
          <a:prstGeom prst="rect">
            <a:avLst/>
          </a:prstGeom>
          <a:noFill/>
          <a:ln/>
        </p:spPr>
        <p:txBody>
          <a:bodyPr wrap="square" lIns="0" tIns="0" rIns="0" bIns="0" rtlCol="0" anchor="ctr">
            <a:normAutofit/>
          </a:bodyPr>
          <a:lstStyle/>
          <a:p>
            <a:pPr algn="ctr" indent="0" marL="0">
              <a:buNone/>
            </a:pPr>
            <a:r>
              <a:rPr lang="en-US" sz="3000" b="1" dirty="0">
                <a:solidFill>
                  <a:srgbClr val="29241F"/>
                </a:solidFill>
                <a:latin typeface="Noto Serif CJK SC" pitchFamily="34" charset="0"/>
                <a:ea typeface="Noto Serif CJK SC" pitchFamily="34" charset="-122"/>
                <a:cs typeface="Noto Serif CJK SC" pitchFamily="34" charset="-120"/>
              </a:rPr>
              <a:t>既见复关，载笑载言。</a:t>
            </a:r>
            <a:endParaRPr lang="en-US" sz="3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446E78"/>
          </a:solidFill>
          <a:ln w="12700">
            <a:solidFill>
              <a:srgbClr val="446E78"/>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446E78"/>
                </a:solidFill>
                <a:latin typeface="Noto Sans CJK SC" pitchFamily="34" charset="0"/>
                <a:ea typeface="Noto Sans CJK SC" pitchFamily="34" charset="-122"/>
                <a:cs typeface="Noto Sans CJK SC" pitchFamily="34" charset="-120"/>
              </a:rPr>
              <a:t>第二章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27</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700" b="1" dirty="0">
                <a:solidFill>
                  <a:srgbClr val="29241F"/>
                </a:solidFill>
                <a:latin typeface="Noto Serif CJK SC" pitchFamily="34" charset="0"/>
                <a:ea typeface="Noto Serif CJK SC" pitchFamily="34" charset="-122"/>
                <a:cs typeface="Noto Serif CJK SC" pitchFamily="34" charset="-120"/>
              </a:rPr>
              <a:t>卜筮以后，婚事怎样走到迁移？</a:t>
            </a:r>
            <a:endParaRPr lang="en-US" sz="3700" dirty="0"/>
          </a:p>
        </p:txBody>
      </p:sp>
      <p:sp>
        <p:nvSpPr>
          <p:cNvPr id="6" name="Text 4"/>
          <p:cNvSpPr/>
          <p:nvPr/>
        </p:nvSpPr>
        <p:spPr>
          <a:xfrm>
            <a:off x="960120" y="1554480"/>
            <a:ext cx="10195560" cy="656173"/>
          </a:xfrm>
          <a:prstGeom prst="rect">
            <a:avLst/>
          </a:prstGeom>
          <a:noFill/>
          <a:ln/>
        </p:spPr>
        <p:txBody>
          <a:bodyPr wrap="square" lIns="0" tIns="0" rIns="0" bIns="0" rtlCol="0" anchor="ctr">
            <a:normAutofit/>
          </a:bodyPr>
          <a:lstStyle/>
          <a:p>
            <a:pPr algn="ctr" indent="0" marL="0">
              <a:buNone/>
            </a:pPr>
            <a:r>
              <a:rPr lang="en-US" sz="3000" b="1" dirty="0">
                <a:solidFill>
                  <a:srgbClr val="29241F"/>
                </a:solidFill>
                <a:latin typeface="Noto Serif CJK SC" pitchFamily="34" charset="0"/>
                <a:ea typeface="Noto Serif CJK SC" pitchFamily="34" charset="-122"/>
                <a:cs typeface="Noto Serif CJK SC" pitchFamily="34" charset="-120"/>
              </a:rPr>
              <a:t>尔卜尔筮，体无咎言。</a:t>
            </a:r>
            <a:endParaRPr lang="en-US" sz="3000" dirty="0"/>
          </a:p>
        </p:txBody>
      </p:sp>
      <p:sp>
        <p:nvSpPr>
          <p:cNvPr id="7" name="Text 5"/>
          <p:cNvSpPr/>
          <p:nvPr/>
        </p:nvSpPr>
        <p:spPr>
          <a:xfrm>
            <a:off x="960120" y="2395728"/>
            <a:ext cx="10195560" cy="656173"/>
          </a:xfrm>
          <a:prstGeom prst="rect">
            <a:avLst/>
          </a:prstGeom>
          <a:noFill/>
          <a:ln/>
        </p:spPr>
        <p:txBody>
          <a:bodyPr wrap="square" lIns="0" tIns="0" rIns="0" bIns="0" rtlCol="0" anchor="ctr">
            <a:normAutofit/>
          </a:bodyPr>
          <a:lstStyle/>
          <a:p>
            <a:pPr algn="ctr" indent="0" marL="0">
              <a:buNone/>
            </a:pPr>
            <a:r>
              <a:rPr lang="en-US" sz="3000" b="1" dirty="0">
                <a:solidFill>
                  <a:srgbClr val="29241F"/>
                </a:solidFill>
                <a:latin typeface="Noto Serif CJK SC" pitchFamily="34" charset="0"/>
                <a:ea typeface="Noto Serif CJK SC" pitchFamily="34" charset="-122"/>
                <a:cs typeface="Noto Serif CJK SC" pitchFamily="34" charset="-120"/>
              </a:rPr>
              <a:t>以尔车来，以我贿迁。</a:t>
            </a:r>
            <a:endParaRPr lang="en-US" sz="3000" dirty="0"/>
          </a:p>
        </p:txBody>
      </p:sp>
      <p:sp>
        <p:nvSpPr>
          <p:cNvPr id="8" name="Text 6"/>
          <p:cNvSpPr/>
          <p:nvPr/>
        </p:nvSpPr>
        <p:spPr>
          <a:xfrm>
            <a:off x="960120" y="3236976"/>
            <a:ext cx="10195560" cy="656173"/>
          </a:xfrm>
          <a:prstGeom prst="rect">
            <a:avLst/>
          </a:prstGeom>
          <a:noFill/>
          <a:ln/>
        </p:spPr>
        <p:txBody>
          <a:bodyPr wrap="square" lIns="0" tIns="0" rIns="0" bIns="0" rtlCol="0" anchor="ctr">
            <a:normAutofit/>
          </a:bodyPr>
          <a:lstStyle/>
          <a:p>
            <a:pPr algn="ctr" indent="0" marL="0">
              <a:buNone/>
            </a:pPr>
            <a:r>
              <a:rPr lang="en-US" sz="2800" b="1" dirty="0">
                <a:solidFill>
                  <a:srgbClr val="725260"/>
                </a:solidFill>
                <a:latin typeface="Noto Serif CJK SC" pitchFamily="34" charset="0"/>
                <a:ea typeface="Noto Serif CJK SC" pitchFamily="34" charset="-122"/>
                <a:cs typeface="Noto Serif CJK SC" pitchFamily="34" charset="-120"/>
              </a:rPr>
              <a:t>谁来？用什么来？谁迁？带着什么迁？</a:t>
            </a:r>
            <a:endParaRPr lang="en-US" sz="2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446E78"/>
          </a:solidFill>
          <a:ln w="12700">
            <a:solidFill>
              <a:srgbClr val="446E78"/>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446E78"/>
                </a:solidFill>
                <a:latin typeface="Noto Sans CJK SC" pitchFamily="34" charset="0"/>
                <a:ea typeface="Noto Sans CJK SC" pitchFamily="34" charset="-122"/>
                <a:cs typeface="Noto Sans CJK SC" pitchFamily="34" charset="-120"/>
              </a:rPr>
              <a:t>第二章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28</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700" b="1" dirty="0">
                <a:solidFill>
                  <a:srgbClr val="29241F"/>
                </a:solidFill>
                <a:latin typeface="Noto Serif CJK SC" pitchFamily="34" charset="0"/>
                <a:ea typeface="Noto Serif CJK SC" pitchFamily="34" charset="-122"/>
                <a:cs typeface="Noto Serif CJK SC" pitchFamily="34" charset="-120"/>
              </a:rPr>
              <a:t>从“秋以为期”到“以我贿迁”</a:t>
            </a:r>
            <a:endParaRPr lang="en-US" sz="3700" dirty="0"/>
          </a:p>
        </p:txBody>
      </p:sp>
      <p:sp>
        <p:nvSpPr>
          <p:cNvPr id="6" name="Text 4"/>
          <p:cNvSpPr/>
          <p:nvPr/>
        </p:nvSpPr>
        <p:spPr>
          <a:xfrm>
            <a:off x="960120" y="1554480"/>
            <a:ext cx="10195560" cy="656173"/>
          </a:xfrm>
          <a:prstGeom prst="rect">
            <a:avLst/>
          </a:prstGeom>
          <a:noFill/>
          <a:ln/>
        </p:spPr>
        <p:txBody>
          <a:bodyPr wrap="square" lIns="0" tIns="0" rIns="0" bIns="0" rtlCol="0" anchor="ctr">
            <a:normAutofit/>
          </a:bodyPr>
          <a:lstStyle/>
          <a:p>
            <a:pPr algn="ctr" indent="0" marL="0">
              <a:buNone/>
            </a:pPr>
            <a:r>
              <a:rPr lang="en-US" sz="3000" dirty="0">
                <a:solidFill>
                  <a:srgbClr val="29241F"/>
                </a:solidFill>
                <a:latin typeface="Noto Serif CJK SC" pitchFamily="34" charset="0"/>
                <a:ea typeface="Noto Serif CJK SC" pitchFamily="34" charset="-122"/>
                <a:cs typeface="Noto Serif CJK SC" pitchFamily="34" charset="-120"/>
              </a:rPr>
              <a:t>将子无怒，秋以为期。</a:t>
            </a:r>
            <a:endParaRPr lang="en-US" sz="3000" dirty="0"/>
          </a:p>
        </p:txBody>
      </p:sp>
      <p:sp>
        <p:nvSpPr>
          <p:cNvPr id="7" name="Text 5"/>
          <p:cNvSpPr/>
          <p:nvPr/>
        </p:nvSpPr>
        <p:spPr>
          <a:xfrm>
            <a:off x="960120" y="2395728"/>
            <a:ext cx="10195560" cy="656173"/>
          </a:xfrm>
          <a:prstGeom prst="rect">
            <a:avLst/>
          </a:prstGeom>
          <a:noFill/>
          <a:ln/>
        </p:spPr>
        <p:txBody>
          <a:bodyPr wrap="square" lIns="0" tIns="0" rIns="0" bIns="0" rtlCol="0" anchor="ctr">
            <a:normAutofit/>
          </a:bodyPr>
          <a:lstStyle/>
          <a:p>
            <a:pPr algn="ctr" indent="0" marL="0">
              <a:buNone/>
            </a:pPr>
            <a:r>
              <a:rPr lang="en-US" sz="3000" dirty="0">
                <a:solidFill>
                  <a:srgbClr val="29241F"/>
                </a:solidFill>
                <a:latin typeface="Noto Serif CJK SC" pitchFamily="34" charset="0"/>
                <a:ea typeface="Noto Serif CJK SC" pitchFamily="34" charset="-122"/>
                <a:cs typeface="Noto Serif CJK SC" pitchFamily="34" charset="-120"/>
              </a:rPr>
              <a:t>乘彼垝垣，以望复关。</a:t>
            </a:r>
            <a:endParaRPr lang="en-US" sz="3000" dirty="0"/>
          </a:p>
        </p:txBody>
      </p:sp>
      <p:sp>
        <p:nvSpPr>
          <p:cNvPr id="8" name="Text 6"/>
          <p:cNvSpPr/>
          <p:nvPr/>
        </p:nvSpPr>
        <p:spPr>
          <a:xfrm>
            <a:off x="960120" y="3236976"/>
            <a:ext cx="10195560" cy="656173"/>
          </a:xfrm>
          <a:prstGeom prst="rect">
            <a:avLst/>
          </a:prstGeom>
          <a:noFill/>
          <a:ln/>
        </p:spPr>
        <p:txBody>
          <a:bodyPr wrap="square" lIns="0" tIns="0" rIns="0" bIns="0" rtlCol="0" anchor="ctr">
            <a:normAutofit/>
          </a:bodyPr>
          <a:lstStyle/>
          <a:p>
            <a:pPr algn="ctr" indent="0" marL="0">
              <a:buNone/>
            </a:pPr>
            <a:r>
              <a:rPr lang="en-US" sz="3000" dirty="0">
                <a:solidFill>
                  <a:srgbClr val="29241F"/>
                </a:solidFill>
                <a:latin typeface="Noto Serif CJK SC" pitchFamily="34" charset="0"/>
                <a:ea typeface="Noto Serif CJK SC" pitchFamily="34" charset="-122"/>
                <a:cs typeface="Noto Serif CJK SC" pitchFamily="34" charset="-120"/>
              </a:rPr>
              <a:t>以尔车来，以我贿迁。</a:t>
            </a:r>
            <a:endParaRPr lang="en-US" sz="3000" dirty="0"/>
          </a:p>
        </p:txBody>
      </p:sp>
      <p:sp>
        <p:nvSpPr>
          <p:cNvPr id="9" name="Text 7"/>
          <p:cNvSpPr/>
          <p:nvPr/>
        </p:nvSpPr>
        <p:spPr>
          <a:xfrm>
            <a:off x="960120" y="4078224"/>
            <a:ext cx="10195560" cy="656173"/>
          </a:xfrm>
          <a:prstGeom prst="rect">
            <a:avLst/>
          </a:prstGeom>
          <a:noFill/>
          <a:ln/>
        </p:spPr>
        <p:txBody>
          <a:bodyPr wrap="square" lIns="0" tIns="0" rIns="0" bIns="0" rtlCol="0" anchor="ctr">
            <a:normAutofit/>
          </a:bodyPr>
          <a:lstStyle/>
          <a:p>
            <a:pPr algn="ctr" indent="0" marL="0">
              <a:buNone/>
            </a:pPr>
            <a:r>
              <a:rPr lang="en-US" sz="2800" b="1" dirty="0">
                <a:solidFill>
                  <a:srgbClr val="725260"/>
                </a:solidFill>
                <a:latin typeface="Noto Serif CJK SC" pitchFamily="34" charset="0"/>
                <a:ea typeface="Noto Serif CJK SC" pitchFamily="34" charset="-122"/>
                <a:cs typeface="Noto Serif CJK SC" pitchFamily="34" charset="-120"/>
              </a:rPr>
              <a:t>前一章的哪件事，使后一章的等待成为必然？</a:t>
            </a:r>
            <a:endParaRPr lang="en-US" sz="2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657653"/>
          </a:solidFill>
          <a:ln w="12700">
            <a:solidFill>
              <a:srgbClr val="657653"/>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657653"/>
                </a:solidFill>
                <a:latin typeface="Noto Sans CJK SC" pitchFamily="34" charset="0"/>
                <a:ea typeface="Noto Sans CJK SC" pitchFamily="34" charset="-122"/>
                <a:cs typeface="Noto Sans CJK SC" pitchFamily="34" charset="-120"/>
              </a:rPr>
              <a:t>第三章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29</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400" b="1" dirty="0">
                <a:solidFill>
                  <a:srgbClr val="29241F"/>
                </a:solidFill>
                <a:latin typeface="Noto Serif CJK SC" pitchFamily="34" charset="0"/>
                <a:ea typeface="Noto Serif CJK SC" pitchFamily="34" charset="-122"/>
                <a:cs typeface="Noto Serif CJK SC" pitchFamily="34" charset="-120"/>
              </a:rPr>
              <a:t>第三章｜迁嫁以后，诗里忽然出现了什么？</a:t>
            </a:r>
            <a:endParaRPr lang="en-US" sz="3400" dirty="0"/>
          </a:p>
        </p:txBody>
      </p:sp>
      <p:sp>
        <p:nvSpPr>
          <p:cNvPr id="6" name="Shape 4"/>
          <p:cNvSpPr/>
          <p:nvPr/>
        </p:nvSpPr>
        <p:spPr>
          <a:xfrm>
            <a:off x="822960" y="1325880"/>
            <a:ext cx="10561320" cy="4526280"/>
          </a:xfrm>
          <a:prstGeom prst="roundRect">
            <a:avLst>
              <a:gd name="adj" fmla="val 808"/>
            </a:avLst>
          </a:prstGeom>
          <a:solidFill>
            <a:srgbClr val="FFFCF7"/>
          </a:solidFill>
          <a:ln w="13970">
            <a:solidFill>
              <a:srgbClr val="657653"/>
            </a:solidFill>
            <a:prstDash val="solid"/>
          </a:ln>
        </p:spPr>
      </p:sp>
      <p:sp>
        <p:nvSpPr>
          <p:cNvPr id="7" name="Text 5"/>
          <p:cNvSpPr/>
          <p:nvPr/>
        </p:nvSpPr>
        <p:spPr>
          <a:xfrm>
            <a:off x="1051560" y="1943100"/>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桑之未落，其叶沃若。</a:t>
            </a:r>
            <a:endParaRPr lang="en-US" sz="3100" dirty="0"/>
          </a:p>
        </p:txBody>
      </p:sp>
      <p:sp>
        <p:nvSpPr>
          <p:cNvPr id="8" name="Text 6"/>
          <p:cNvSpPr/>
          <p:nvPr/>
        </p:nvSpPr>
        <p:spPr>
          <a:xfrm>
            <a:off x="1051560" y="2601468"/>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于嗟鸠兮，无食桑葚！</a:t>
            </a:r>
            <a:endParaRPr lang="en-US" sz="3100" dirty="0"/>
          </a:p>
        </p:txBody>
      </p:sp>
      <p:sp>
        <p:nvSpPr>
          <p:cNvPr id="9" name="Text 7"/>
          <p:cNvSpPr/>
          <p:nvPr/>
        </p:nvSpPr>
        <p:spPr>
          <a:xfrm>
            <a:off x="1051560" y="3259836"/>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于嗟女兮，无与士耽！</a:t>
            </a:r>
            <a:endParaRPr lang="en-US" sz="3100" dirty="0"/>
          </a:p>
        </p:txBody>
      </p:sp>
      <p:sp>
        <p:nvSpPr>
          <p:cNvPr id="10" name="Text 8"/>
          <p:cNvSpPr/>
          <p:nvPr/>
        </p:nvSpPr>
        <p:spPr>
          <a:xfrm>
            <a:off x="1051560" y="3918204"/>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士之耽兮，犹可说也。</a:t>
            </a:r>
            <a:endParaRPr lang="en-US" sz="3100" dirty="0"/>
          </a:p>
        </p:txBody>
      </p:sp>
      <p:sp>
        <p:nvSpPr>
          <p:cNvPr id="11" name="Text 9"/>
          <p:cNvSpPr/>
          <p:nvPr/>
        </p:nvSpPr>
        <p:spPr>
          <a:xfrm>
            <a:off x="1051560" y="4576572"/>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女之耽兮，不可说也！</a:t>
            </a:r>
            <a:endParaRPr lang="en-US" sz="3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657653"/>
          </a:solidFill>
          <a:ln w="12700">
            <a:solidFill>
              <a:srgbClr val="657653"/>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657653"/>
                </a:solidFill>
                <a:latin typeface="Noto Sans CJK SC" pitchFamily="34" charset="0"/>
                <a:ea typeface="Noto Sans CJK SC" pitchFamily="34" charset="-122"/>
                <a:cs typeface="Noto Sans CJK SC" pitchFamily="34" charset="-120"/>
              </a:rPr>
              <a:t>第三章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30</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700" b="1" dirty="0">
                <a:solidFill>
                  <a:srgbClr val="29241F"/>
                </a:solidFill>
                <a:latin typeface="Noto Serif CJK SC" pitchFamily="34" charset="0"/>
                <a:ea typeface="Noto Serif CJK SC" pitchFamily="34" charset="-122"/>
                <a:cs typeface="Noto Serif CJK SC" pitchFamily="34" charset="-120"/>
              </a:rPr>
              <a:t>桑之未落，其叶沃若。</a:t>
            </a:r>
            <a:endParaRPr lang="en-US" sz="3700" dirty="0"/>
          </a:p>
        </p:txBody>
      </p:sp>
      <p:sp>
        <p:nvSpPr>
          <p:cNvPr id="6" name="Text 4"/>
          <p:cNvSpPr/>
          <p:nvPr/>
        </p:nvSpPr>
        <p:spPr>
          <a:xfrm>
            <a:off x="960120" y="1554480"/>
            <a:ext cx="10195560" cy="656173"/>
          </a:xfrm>
          <a:prstGeom prst="rect">
            <a:avLst/>
          </a:prstGeom>
          <a:noFill/>
          <a:ln/>
        </p:spPr>
        <p:txBody>
          <a:bodyPr wrap="square" lIns="0" tIns="0" rIns="0" bIns="0" rtlCol="0" anchor="ctr">
            <a:normAutofit/>
          </a:bodyPr>
          <a:lstStyle/>
          <a:p>
            <a:pPr algn="ctr" indent="0" marL="0">
              <a:buNone/>
            </a:pPr>
            <a:r>
              <a:rPr lang="en-US" sz="2800" b="1" dirty="0">
                <a:solidFill>
                  <a:srgbClr val="725260"/>
                </a:solidFill>
                <a:latin typeface="Noto Serif CJK SC" pitchFamily="34" charset="0"/>
                <a:ea typeface="Noto Serif CJK SC" pitchFamily="34" charset="-122"/>
                <a:cs typeface="Noto Serif CJK SC" pitchFamily="34" charset="-120"/>
              </a:rPr>
              <a:t>这片桑叶，是什么颜色、光泽和状态？</a:t>
            </a:r>
            <a:endParaRPr lang="en-US" sz="2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28231F"/>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657653"/>
          </a:solidFill>
          <a:ln w="12700">
            <a:solidFill>
              <a:srgbClr val="657653"/>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DED0BC"/>
                </a:solidFill>
                <a:latin typeface="Noto Sans CJK SC" pitchFamily="34" charset="0"/>
                <a:ea typeface="Noto Sans CJK SC" pitchFamily="34" charset="-122"/>
                <a:cs typeface="Noto Sans CJK SC" pitchFamily="34" charset="-120"/>
              </a:rPr>
              <a:t>第三章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C5B39B"/>
                </a:solidFill>
                <a:latin typeface="Noto Sans CJK SC" pitchFamily="34" charset="0"/>
                <a:ea typeface="Noto Sans CJK SC" pitchFamily="34" charset="-122"/>
                <a:cs typeface="Noto Sans CJK SC" pitchFamily="34" charset="-120"/>
              </a:rPr>
              <a:t>31</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700" b="1" dirty="0">
                <a:solidFill>
                  <a:srgbClr val="FFFDFC"/>
                </a:solidFill>
                <a:latin typeface="Noto Serif CJK SC" pitchFamily="34" charset="0"/>
                <a:ea typeface="Noto Serif CJK SC" pitchFamily="34" charset="-122"/>
                <a:cs typeface="Noto Serif CJK SC" pitchFamily="34" charset="-120"/>
              </a:rPr>
              <a:t>于嗟女兮，无与士耽！</a:t>
            </a:r>
            <a:endParaRPr lang="en-US" sz="3700" dirty="0"/>
          </a:p>
        </p:txBody>
      </p:sp>
      <p:sp>
        <p:nvSpPr>
          <p:cNvPr id="6" name="Text 4"/>
          <p:cNvSpPr/>
          <p:nvPr/>
        </p:nvSpPr>
        <p:spPr>
          <a:xfrm>
            <a:off x="960120" y="1554480"/>
            <a:ext cx="10195560" cy="656173"/>
          </a:xfrm>
          <a:prstGeom prst="rect">
            <a:avLst/>
          </a:prstGeom>
          <a:noFill/>
          <a:ln/>
        </p:spPr>
        <p:txBody>
          <a:bodyPr wrap="square" lIns="0" tIns="0" rIns="0" bIns="0" rtlCol="0" anchor="ctr">
            <a:normAutofit/>
          </a:bodyPr>
          <a:lstStyle/>
          <a:p>
            <a:pPr algn="ctr" indent="0" marL="0">
              <a:buNone/>
            </a:pPr>
            <a:r>
              <a:rPr lang="en-US" sz="2800" b="1" dirty="0">
                <a:solidFill>
                  <a:srgbClr val="EFE3CF"/>
                </a:solidFill>
                <a:latin typeface="Noto Serif CJK SC" pitchFamily="34" charset="0"/>
                <a:ea typeface="Noto Serif CJK SC" pitchFamily="34" charset="-122"/>
                <a:cs typeface="Noto Serif CJK SC" pitchFamily="34" charset="-120"/>
              </a:rPr>
              <a:t>这一声劝告，怎样落下？</a:t>
            </a:r>
            <a:endParaRPr lang="en-US" sz="2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657653"/>
          </a:solidFill>
          <a:ln w="12700">
            <a:solidFill>
              <a:srgbClr val="657653"/>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657653"/>
                </a:solidFill>
                <a:latin typeface="Noto Sans CJK SC" pitchFamily="34" charset="0"/>
                <a:ea typeface="Noto Sans CJK SC" pitchFamily="34" charset="-122"/>
                <a:cs typeface="Noto Sans CJK SC" pitchFamily="34" charset="-120"/>
              </a:rPr>
              <a:t>第三章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32</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600" b="1" dirty="0">
                <a:solidFill>
                  <a:srgbClr val="29241F"/>
                </a:solidFill>
                <a:latin typeface="Noto Serif CJK SC" pitchFamily="34" charset="0"/>
                <a:ea typeface="Noto Serif CJK SC" pitchFamily="34" charset="-122"/>
                <a:cs typeface="Noto Serif CJK SC" pitchFamily="34" charset="-120"/>
              </a:rPr>
              <a:t>桑叶、斑鸠和女子重新连起来以后</a:t>
            </a:r>
            <a:endParaRPr lang="en-US" sz="3600" dirty="0"/>
          </a:p>
        </p:txBody>
      </p:sp>
      <p:sp>
        <p:nvSpPr>
          <p:cNvPr id="6" name="Shape 4"/>
          <p:cNvSpPr/>
          <p:nvPr/>
        </p:nvSpPr>
        <p:spPr>
          <a:xfrm>
            <a:off x="777240" y="1417320"/>
            <a:ext cx="5074920" cy="4206240"/>
          </a:xfrm>
          <a:prstGeom prst="roundRect">
            <a:avLst>
              <a:gd name="adj" fmla="val 870"/>
            </a:avLst>
          </a:prstGeom>
          <a:solidFill>
            <a:srgbClr val="FFFCF7"/>
          </a:solidFill>
          <a:ln w="13970">
            <a:solidFill>
              <a:srgbClr val="446E78"/>
            </a:solidFill>
            <a:prstDash val="solid"/>
          </a:ln>
        </p:spPr>
      </p:sp>
      <p:sp>
        <p:nvSpPr>
          <p:cNvPr id="7" name="Text 5"/>
          <p:cNvSpPr/>
          <p:nvPr/>
        </p:nvSpPr>
        <p:spPr>
          <a:xfrm>
            <a:off x="1051560" y="1783080"/>
            <a:ext cx="4526280" cy="658368"/>
          </a:xfrm>
          <a:prstGeom prst="rect">
            <a:avLst/>
          </a:prstGeom>
          <a:noFill/>
          <a:ln/>
        </p:spPr>
        <p:txBody>
          <a:bodyPr wrap="square" lIns="0" tIns="0" rIns="0" bIns="0" rtlCol="0" anchor="ctr">
            <a:normAutofit/>
          </a:bodyPr>
          <a:lstStyle/>
          <a:p>
            <a:pPr algn="ctr" indent="0" marL="0">
              <a:buNone/>
            </a:pPr>
            <a:r>
              <a:rPr lang="en-US" sz="2800" dirty="0">
                <a:solidFill>
                  <a:srgbClr val="29241F"/>
                </a:solidFill>
                <a:latin typeface="Noto Serif CJK SC" pitchFamily="34" charset="0"/>
                <a:ea typeface="Noto Serif CJK SC" pitchFamily="34" charset="-122"/>
                <a:cs typeface="Noto Serif CJK SC" pitchFamily="34" charset="-120"/>
              </a:rPr>
              <a:t>桑之未落，其叶沃若。</a:t>
            </a:r>
            <a:endParaRPr lang="en-US" sz="2800" dirty="0"/>
          </a:p>
        </p:txBody>
      </p:sp>
      <p:sp>
        <p:nvSpPr>
          <p:cNvPr id="8" name="Text 6"/>
          <p:cNvSpPr/>
          <p:nvPr/>
        </p:nvSpPr>
        <p:spPr>
          <a:xfrm>
            <a:off x="1051560" y="2697480"/>
            <a:ext cx="4526280" cy="658368"/>
          </a:xfrm>
          <a:prstGeom prst="rect">
            <a:avLst/>
          </a:prstGeom>
          <a:noFill/>
          <a:ln/>
        </p:spPr>
        <p:txBody>
          <a:bodyPr wrap="square" lIns="0" tIns="0" rIns="0" bIns="0" rtlCol="0" anchor="ctr">
            <a:normAutofit/>
          </a:bodyPr>
          <a:lstStyle/>
          <a:p>
            <a:pPr algn="ctr" indent="0" marL="0">
              <a:buNone/>
            </a:pPr>
            <a:r>
              <a:rPr lang="en-US" sz="2800" b="1" dirty="0">
                <a:solidFill>
                  <a:srgbClr val="29241F"/>
                </a:solidFill>
                <a:latin typeface="Noto Serif CJK SC" pitchFamily="34" charset="0"/>
                <a:ea typeface="Noto Serif CJK SC" pitchFamily="34" charset="-122"/>
                <a:cs typeface="Noto Serif CJK SC" pitchFamily="34" charset="-120"/>
              </a:rPr>
              <a:t>于嗟鸠兮，无食桑葚！</a:t>
            </a:r>
            <a:endParaRPr lang="en-US" sz="2800" dirty="0"/>
          </a:p>
        </p:txBody>
      </p:sp>
      <p:sp>
        <p:nvSpPr>
          <p:cNvPr id="9" name="Shape 7"/>
          <p:cNvSpPr/>
          <p:nvPr/>
        </p:nvSpPr>
        <p:spPr>
          <a:xfrm>
            <a:off x="6373368" y="1417320"/>
            <a:ext cx="5074920" cy="4206240"/>
          </a:xfrm>
          <a:prstGeom prst="roundRect">
            <a:avLst>
              <a:gd name="adj" fmla="val 870"/>
            </a:avLst>
          </a:prstGeom>
          <a:solidFill>
            <a:srgbClr val="FFFCF7"/>
          </a:solidFill>
          <a:ln w="13970">
            <a:solidFill>
              <a:srgbClr val="725260"/>
            </a:solidFill>
            <a:prstDash val="solid"/>
          </a:ln>
        </p:spPr>
      </p:sp>
      <p:sp>
        <p:nvSpPr>
          <p:cNvPr id="10" name="Text 8"/>
          <p:cNvSpPr/>
          <p:nvPr/>
        </p:nvSpPr>
        <p:spPr>
          <a:xfrm>
            <a:off x="6647688" y="1783080"/>
            <a:ext cx="4526280" cy="658368"/>
          </a:xfrm>
          <a:prstGeom prst="rect">
            <a:avLst/>
          </a:prstGeom>
          <a:noFill/>
          <a:ln/>
        </p:spPr>
        <p:txBody>
          <a:bodyPr wrap="square" lIns="0" tIns="0" rIns="0" bIns="0" rtlCol="0" anchor="ctr">
            <a:normAutofit/>
          </a:bodyPr>
          <a:lstStyle/>
          <a:p>
            <a:pPr algn="ctr" indent="0" marL="0">
              <a:buNone/>
            </a:pPr>
            <a:r>
              <a:rPr lang="en-US" sz="2800" dirty="0">
                <a:solidFill>
                  <a:srgbClr val="29241F"/>
                </a:solidFill>
                <a:latin typeface="Noto Serif CJK SC" pitchFamily="34" charset="0"/>
                <a:ea typeface="Noto Serif CJK SC" pitchFamily="34" charset="-122"/>
                <a:cs typeface="Noto Serif CJK SC" pitchFamily="34" charset="-120"/>
              </a:rPr>
              <a:t>于嗟女兮，无与士耽！</a:t>
            </a:r>
            <a:endParaRPr lang="en-US" sz="2800" dirty="0"/>
          </a:p>
        </p:txBody>
      </p:sp>
      <p:sp>
        <p:nvSpPr>
          <p:cNvPr id="11" name="Text 9"/>
          <p:cNvSpPr/>
          <p:nvPr/>
        </p:nvSpPr>
        <p:spPr>
          <a:xfrm>
            <a:off x="6647688" y="2697480"/>
            <a:ext cx="4526280" cy="658368"/>
          </a:xfrm>
          <a:prstGeom prst="rect">
            <a:avLst/>
          </a:prstGeom>
          <a:noFill/>
          <a:ln/>
        </p:spPr>
        <p:txBody>
          <a:bodyPr wrap="square" lIns="0" tIns="0" rIns="0" bIns="0" rtlCol="0" anchor="ctr">
            <a:normAutofit/>
          </a:bodyPr>
          <a:lstStyle/>
          <a:p>
            <a:pPr algn="ctr" indent="0" marL="0">
              <a:buNone/>
            </a:pPr>
            <a:r>
              <a:rPr lang="en-US" sz="2800" b="1" dirty="0">
                <a:solidFill>
                  <a:srgbClr val="29241F"/>
                </a:solidFill>
                <a:latin typeface="Noto Serif CJK SC" pitchFamily="34" charset="0"/>
                <a:ea typeface="Noto Serif CJK SC" pitchFamily="34" charset="-122"/>
                <a:cs typeface="Noto Serif CJK SC" pitchFamily="34" charset="-120"/>
              </a:rPr>
              <a:t>你又多听见了什么？</a:t>
            </a:r>
            <a:endParaRPr lang="en-US" sz="2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657653"/>
          </a:solidFill>
          <a:ln w="12700">
            <a:solidFill>
              <a:srgbClr val="657653"/>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657653"/>
                </a:solidFill>
                <a:latin typeface="Noto Sans CJK SC" pitchFamily="34" charset="0"/>
                <a:ea typeface="Noto Sans CJK SC" pitchFamily="34" charset="-122"/>
                <a:cs typeface="Noto Sans CJK SC" pitchFamily="34" charset="-120"/>
              </a:rPr>
              <a:t>第三章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33</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600" b="1" dirty="0">
                <a:solidFill>
                  <a:srgbClr val="29241F"/>
                </a:solidFill>
                <a:latin typeface="Noto Serif CJK SC" pitchFamily="34" charset="0"/>
                <a:ea typeface="Noto Serif CJK SC" pitchFamily="34" charset="-122"/>
                <a:cs typeface="Noto Serif CJK SC" pitchFamily="34" charset="-120"/>
              </a:rPr>
              <a:t>桑叶在眼前</a:t>
            </a:r>
            <a:endParaRPr lang="en-US" sz="3600" dirty="0"/>
          </a:p>
        </p:txBody>
      </p:sp>
      <p:sp>
        <p:nvSpPr>
          <p:cNvPr id="6" name="Shape 4"/>
          <p:cNvSpPr/>
          <p:nvPr/>
        </p:nvSpPr>
        <p:spPr>
          <a:xfrm>
            <a:off x="768096" y="1572768"/>
            <a:ext cx="3380232" cy="3858768"/>
          </a:xfrm>
          <a:prstGeom prst="roundRect">
            <a:avLst>
              <a:gd name="adj" fmla="val 1082"/>
            </a:avLst>
          </a:prstGeom>
          <a:solidFill>
            <a:srgbClr val="FFFCF7"/>
          </a:solidFill>
          <a:ln w="13970">
            <a:solidFill>
              <a:srgbClr val="446E78"/>
            </a:solidFill>
            <a:prstDash val="solid"/>
          </a:ln>
        </p:spPr>
      </p:sp>
      <p:sp>
        <p:nvSpPr>
          <p:cNvPr id="7" name="Text 5"/>
          <p:cNvSpPr/>
          <p:nvPr/>
        </p:nvSpPr>
        <p:spPr>
          <a:xfrm>
            <a:off x="1042416" y="2029968"/>
            <a:ext cx="2831592" cy="2834640"/>
          </a:xfrm>
          <a:prstGeom prst="rect">
            <a:avLst/>
          </a:prstGeom>
          <a:noFill/>
          <a:ln/>
        </p:spPr>
        <p:txBody>
          <a:bodyPr wrap="square" lIns="0" tIns="0" rIns="0" bIns="0" rtlCol="0" anchor="ctr">
            <a:normAutofit/>
          </a:bodyPr>
          <a:lstStyle/>
          <a:p>
            <a:pPr algn="ctr" indent="0" marL="0">
              <a:buNone/>
            </a:pPr>
            <a:r>
              <a:rPr lang="en-US" sz="2700" b="1" dirty="0">
                <a:solidFill>
                  <a:srgbClr val="29241F"/>
                </a:solidFill>
                <a:latin typeface="Noto Serif CJK SC" pitchFamily="34" charset="0"/>
                <a:ea typeface="Noto Serif CJK SC" pitchFamily="34" charset="-122"/>
                <a:cs typeface="Noto Serif CJK SC" pitchFamily="34" charset="-120"/>
              </a:rPr>
              <a:t>劝告先落到斑鸠</a:t>
            </a:r>
            <a:endParaRPr lang="en-US" sz="2700" dirty="0"/>
          </a:p>
        </p:txBody>
      </p:sp>
      <p:sp>
        <p:nvSpPr>
          <p:cNvPr id="8" name="Shape 6"/>
          <p:cNvSpPr/>
          <p:nvPr/>
        </p:nvSpPr>
        <p:spPr>
          <a:xfrm>
            <a:off x="4404360" y="1572768"/>
            <a:ext cx="3380232" cy="3858768"/>
          </a:xfrm>
          <a:prstGeom prst="roundRect">
            <a:avLst>
              <a:gd name="adj" fmla="val 1082"/>
            </a:avLst>
          </a:prstGeom>
          <a:solidFill>
            <a:srgbClr val="FFFCF7"/>
          </a:solidFill>
          <a:ln w="13970">
            <a:solidFill>
              <a:srgbClr val="725260"/>
            </a:solidFill>
            <a:prstDash val="solid"/>
          </a:ln>
        </p:spPr>
      </p:sp>
      <p:sp>
        <p:nvSpPr>
          <p:cNvPr id="9" name="Text 7"/>
          <p:cNvSpPr/>
          <p:nvPr/>
        </p:nvSpPr>
        <p:spPr>
          <a:xfrm>
            <a:off x="4678680" y="2029968"/>
            <a:ext cx="2831592" cy="2834640"/>
          </a:xfrm>
          <a:prstGeom prst="rect">
            <a:avLst/>
          </a:prstGeom>
          <a:noFill/>
          <a:ln/>
        </p:spPr>
        <p:txBody>
          <a:bodyPr wrap="square" lIns="0" tIns="0" rIns="0" bIns="0" rtlCol="0" anchor="ctr">
            <a:normAutofit/>
          </a:bodyPr>
          <a:lstStyle/>
          <a:p>
            <a:pPr algn="ctr" indent="0" marL="0">
              <a:buNone/>
            </a:pPr>
            <a:r>
              <a:rPr lang="en-US" sz="2700" b="1" dirty="0">
                <a:solidFill>
                  <a:srgbClr val="29241F"/>
                </a:solidFill>
                <a:latin typeface="Noto Serif CJK SC" pitchFamily="34" charset="0"/>
                <a:ea typeface="Noto Serif CJK SC" pitchFamily="34" charset="-122"/>
                <a:cs typeface="Noto Serif CJK SC" pitchFamily="34" charset="-120"/>
              </a:rPr>
              <a:t>声音又来到女子身边</a:t>
            </a:r>
            <a:endParaRPr lang="en-US" sz="2700" dirty="0"/>
          </a:p>
        </p:txBody>
      </p:sp>
      <p:sp>
        <p:nvSpPr>
          <p:cNvPr id="10" name="Shape 8"/>
          <p:cNvSpPr/>
          <p:nvPr/>
        </p:nvSpPr>
        <p:spPr>
          <a:xfrm>
            <a:off x="8040624" y="1572768"/>
            <a:ext cx="3380232" cy="3858768"/>
          </a:xfrm>
          <a:prstGeom prst="roundRect">
            <a:avLst>
              <a:gd name="adj" fmla="val 1082"/>
            </a:avLst>
          </a:prstGeom>
          <a:solidFill>
            <a:srgbClr val="FFFCF7"/>
          </a:solidFill>
          <a:ln w="13970">
            <a:solidFill>
              <a:srgbClr val="A67F4A"/>
            </a:solidFill>
            <a:prstDash val="solid"/>
          </a:ln>
        </p:spPr>
      </p:sp>
      <p:sp>
        <p:nvSpPr>
          <p:cNvPr id="11" name="Text 9"/>
          <p:cNvSpPr/>
          <p:nvPr/>
        </p:nvSpPr>
        <p:spPr>
          <a:xfrm>
            <a:off x="8314944" y="2029968"/>
            <a:ext cx="2831592" cy="2834640"/>
          </a:xfrm>
          <a:prstGeom prst="rect">
            <a:avLst/>
          </a:prstGeom>
          <a:noFill/>
          <a:ln/>
        </p:spPr>
        <p:txBody>
          <a:bodyPr wrap="square" lIns="0" tIns="0" rIns="0" bIns="0" rtlCol="0" anchor="ctr">
            <a:normAutofit/>
          </a:bodyPr>
          <a:lstStyle/>
          <a:p>
            <a:pPr algn="ctr" indent="0" marL="0">
              <a:buNone/>
            </a:pPr>
            <a:r>
              <a:rPr lang="en-US" sz="2200" b="1" dirty="0">
                <a:solidFill>
                  <a:srgbClr val="29241F"/>
                </a:solidFill>
                <a:latin typeface="Noto Serif CJK SC" pitchFamily="34" charset="0"/>
                <a:ea typeface="Noto Serif CJK SC" pitchFamily="34" charset="-122"/>
                <a:cs typeface="Noto Serif CJK SC" pitchFamily="34" charset="-120"/>
              </a:rPr>
              <a:t>由眼前物象起声、引出所咏，是“兴”；物与人的处境互相映照，又含着“比”。</a:t>
            </a:r>
            <a:endParaRPr lang="en-US" sz="2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657653"/>
          </a:solidFill>
          <a:ln w="12700">
            <a:solidFill>
              <a:srgbClr val="657653"/>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657653"/>
                </a:solidFill>
                <a:latin typeface="Noto Sans CJK SC" pitchFamily="34" charset="0"/>
                <a:ea typeface="Noto Sans CJK SC" pitchFamily="34" charset="-122"/>
                <a:cs typeface="Noto Sans CJK SC" pitchFamily="34" charset="-120"/>
              </a:rPr>
              <a:t>第三章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34</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600" b="1" dirty="0">
                <a:solidFill>
                  <a:srgbClr val="29241F"/>
                </a:solidFill>
                <a:latin typeface="Noto Serif CJK SC" pitchFamily="34" charset="0"/>
                <a:ea typeface="Noto Serif CJK SC" pitchFamily="34" charset="-122"/>
                <a:cs typeface="Noto Serif CJK SC" pitchFamily="34" charset="-120"/>
              </a:rPr>
              <a:t>同一个“耽”，哪些词改变了脱身处境？</a:t>
            </a:r>
            <a:endParaRPr lang="en-US" sz="3600" dirty="0"/>
          </a:p>
        </p:txBody>
      </p:sp>
      <p:sp>
        <p:nvSpPr>
          <p:cNvPr id="6" name="Shape 4"/>
          <p:cNvSpPr/>
          <p:nvPr/>
        </p:nvSpPr>
        <p:spPr>
          <a:xfrm>
            <a:off x="768096" y="1572768"/>
            <a:ext cx="5198364" cy="3858768"/>
          </a:xfrm>
          <a:prstGeom prst="roundRect">
            <a:avLst>
              <a:gd name="adj" fmla="val 948"/>
            </a:avLst>
          </a:prstGeom>
          <a:solidFill>
            <a:srgbClr val="FFFCF7"/>
          </a:solidFill>
          <a:ln w="13970">
            <a:solidFill>
              <a:srgbClr val="446E78"/>
            </a:solidFill>
            <a:prstDash val="solid"/>
          </a:ln>
        </p:spPr>
      </p:sp>
      <p:sp>
        <p:nvSpPr>
          <p:cNvPr id="7" name="Text 5"/>
          <p:cNvSpPr/>
          <p:nvPr/>
        </p:nvSpPr>
        <p:spPr>
          <a:xfrm>
            <a:off x="1042416" y="2029968"/>
            <a:ext cx="4649724" cy="2834640"/>
          </a:xfrm>
          <a:prstGeom prst="rect">
            <a:avLst/>
          </a:prstGeom>
          <a:noFill/>
          <a:ln/>
        </p:spPr>
        <p:txBody>
          <a:bodyPr wrap="square" lIns="0" tIns="0" rIns="0" bIns="0" rtlCol="0" anchor="ctr">
            <a:normAutofit/>
          </a:bodyPr>
          <a:lstStyle/>
          <a:p>
            <a:pPr algn="ctr" indent="0" marL="0">
              <a:buNone/>
            </a:pPr>
            <a:r>
              <a:rPr lang="en-US" sz="3000" b="1" dirty="0">
                <a:solidFill>
                  <a:srgbClr val="29241F"/>
                </a:solidFill>
                <a:latin typeface="Noto Serif CJK SC" pitchFamily="34" charset="0"/>
                <a:ea typeface="Noto Serif CJK SC" pitchFamily="34" charset="-122"/>
                <a:cs typeface="Noto Serif CJK SC" pitchFamily="34" charset="-120"/>
              </a:rPr>
              <a:t>士之耽兮，犹可说也。</a:t>
            </a:r>
            <a:endParaRPr lang="en-US" sz="3000" dirty="0"/>
          </a:p>
        </p:txBody>
      </p:sp>
      <p:sp>
        <p:nvSpPr>
          <p:cNvPr id="8" name="Shape 6"/>
          <p:cNvSpPr/>
          <p:nvPr/>
        </p:nvSpPr>
        <p:spPr>
          <a:xfrm>
            <a:off x="6222492" y="1572768"/>
            <a:ext cx="5198364" cy="3858768"/>
          </a:xfrm>
          <a:prstGeom prst="roundRect">
            <a:avLst>
              <a:gd name="adj" fmla="val 948"/>
            </a:avLst>
          </a:prstGeom>
          <a:solidFill>
            <a:srgbClr val="FFFCF7"/>
          </a:solidFill>
          <a:ln w="13970">
            <a:solidFill>
              <a:srgbClr val="725260"/>
            </a:solidFill>
            <a:prstDash val="solid"/>
          </a:ln>
        </p:spPr>
      </p:sp>
      <p:sp>
        <p:nvSpPr>
          <p:cNvPr id="9" name="Text 7"/>
          <p:cNvSpPr/>
          <p:nvPr/>
        </p:nvSpPr>
        <p:spPr>
          <a:xfrm>
            <a:off x="6496812" y="2029968"/>
            <a:ext cx="4649724" cy="2834640"/>
          </a:xfrm>
          <a:prstGeom prst="rect">
            <a:avLst/>
          </a:prstGeom>
          <a:noFill/>
          <a:ln/>
        </p:spPr>
        <p:txBody>
          <a:bodyPr wrap="square" lIns="0" tIns="0" rIns="0" bIns="0" rtlCol="0" anchor="ctr">
            <a:normAutofit/>
          </a:bodyPr>
          <a:lstStyle/>
          <a:p>
            <a:pPr algn="ctr" indent="0" marL="0">
              <a:buNone/>
            </a:pPr>
            <a:r>
              <a:rPr lang="en-US" sz="3000" b="1" dirty="0">
                <a:solidFill>
                  <a:srgbClr val="29241F"/>
                </a:solidFill>
                <a:latin typeface="Noto Serif CJK SC" pitchFamily="34" charset="0"/>
                <a:ea typeface="Noto Serif CJK SC" pitchFamily="34" charset="-122"/>
                <a:cs typeface="Noto Serif CJK SC" pitchFamily="34" charset="-120"/>
              </a:rPr>
              <a:t>女之耽兮，不可说也！</a:t>
            </a:r>
            <a:endParaRPr lang="en-US" sz="3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657653"/>
          </a:solidFill>
          <a:ln w="12700">
            <a:solidFill>
              <a:srgbClr val="657653"/>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657653"/>
                </a:solidFill>
                <a:latin typeface="Noto Sans CJK SC" pitchFamily="34" charset="0"/>
                <a:ea typeface="Noto Sans CJK SC" pitchFamily="34" charset="-122"/>
                <a:cs typeface="Noto Sans CJK SC" pitchFamily="34" charset="-120"/>
              </a:rPr>
              <a:t>第三章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35</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400" b="1" dirty="0">
                <a:solidFill>
                  <a:srgbClr val="29241F"/>
                </a:solidFill>
                <a:latin typeface="Noto Serif CJK SC" pitchFamily="34" charset="0"/>
                <a:ea typeface="Noto Serif CJK SC" pitchFamily="34" charset="-122"/>
                <a:cs typeface="Noto Serif CJK SC" pitchFamily="34" charset="-120"/>
              </a:rPr>
              <a:t>迁嫁以后，为什么先有这一树桑叶？</a:t>
            </a:r>
            <a:endParaRPr lang="en-US" sz="3400" dirty="0"/>
          </a:p>
        </p:txBody>
      </p:sp>
      <p:sp>
        <p:nvSpPr>
          <p:cNvPr id="6" name="Shape 4"/>
          <p:cNvSpPr/>
          <p:nvPr/>
        </p:nvSpPr>
        <p:spPr>
          <a:xfrm>
            <a:off x="822960" y="1325880"/>
            <a:ext cx="10561320" cy="4526280"/>
          </a:xfrm>
          <a:prstGeom prst="roundRect">
            <a:avLst>
              <a:gd name="adj" fmla="val 808"/>
            </a:avLst>
          </a:prstGeom>
          <a:solidFill>
            <a:srgbClr val="FFFCF7"/>
          </a:solidFill>
          <a:ln w="13970">
            <a:solidFill>
              <a:srgbClr val="657653"/>
            </a:solidFill>
            <a:prstDash val="solid"/>
          </a:ln>
        </p:spPr>
      </p:sp>
      <p:sp>
        <p:nvSpPr>
          <p:cNvPr id="7" name="Text 5"/>
          <p:cNvSpPr/>
          <p:nvPr/>
        </p:nvSpPr>
        <p:spPr>
          <a:xfrm>
            <a:off x="1051560" y="1943100"/>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桑之未落，其叶沃若。</a:t>
            </a:r>
            <a:endParaRPr lang="en-US" sz="3100" dirty="0"/>
          </a:p>
        </p:txBody>
      </p:sp>
      <p:sp>
        <p:nvSpPr>
          <p:cNvPr id="8" name="Text 6"/>
          <p:cNvSpPr/>
          <p:nvPr/>
        </p:nvSpPr>
        <p:spPr>
          <a:xfrm>
            <a:off x="1051560" y="2601468"/>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于嗟鸠兮，无食桑葚！</a:t>
            </a:r>
            <a:endParaRPr lang="en-US" sz="3100" dirty="0"/>
          </a:p>
        </p:txBody>
      </p:sp>
      <p:sp>
        <p:nvSpPr>
          <p:cNvPr id="9" name="Text 7"/>
          <p:cNvSpPr/>
          <p:nvPr/>
        </p:nvSpPr>
        <p:spPr>
          <a:xfrm>
            <a:off x="1051560" y="3259836"/>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于嗟女兮，无与士耽！</a:t>
            </a:r>
            <a:endParaRPr lang="en-US" sz="3100" dirty="0"/>
          </a:p>
        </p:txBody>
      </p:sp>
      <p:sp>
        <p:nvSpPr>
          <p:cNvPr id="10" name="Text 8"/>
          <p:cNvSpPr/>
          <p:nvPr/>
        </p:nvSpPr>
        <p:spPr>
          <a:xfrm>
            <a:off x="1051560" y="3918204"/>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士之耽兮，犹可说也。女之耽兮，不可说也！</a:t>
            </a:r>
            <a:endParaRPr lang="en-US" sz="3100" dirty="0"/>
          </a:p>
        </p:txBody>
      </p:sp>
      <p:sp>
        <p:nvSpPr>
          <p:cNvPr id="11" name="Text 9"/>
          <p:cNvSpPr/>
          <p:nvPr/>
        </p:nvSpPr>
        <p:spPr>
          <a:xfrm>
            <a:off x="1051560" y="4576572"/>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用三四句话，把桑叶、劝告和她的处境连起来。</a:t>
            </a:r>
            <a:endParaRPr lang="en-US" sz="3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B58B3E"/>
          </a:solidFill>
          <a:ln w="12700">
            <a:solidFill>
              <a:srgbClr val="B58B3E"/>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B58B3E"/>
                </a:solidFill>
                <a:latin typeface="Noto Sans CJK SC" pitchFamily="34" charset="0"/>
                <a:ea typeface="Noto Sans CJK SC" pitchFamily="34" charset="-122"/>
                <a:cs typeface="Noto Sans CJK SC" pitchFamily="34" charset="-120"/>
              </a:rPr>
              <a:t>第四章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36</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400" b="1" dirty="0">
                <a:solidFill>
                  <a:srgbClr val="29241F"/>
                </a:solidFill>
                <a:latin typeface="Noto Serif CJK SC" pitchFamily="34" charset="0"/>
                <a:ea typeface="Noto Serif CJK SC" pitchFamily="34" charset="-122"/>
                <a:cs typeface="Noto Serif CJK SC" pitchFamily="34" charset="-120"/>
              </a:rPr>
              <a:t>第四章｜桑叶落下以后，诗写了哪些生活？</a:t>
            </a:r>
            <a:endParaRPr lang="en-US" sz="3400" dirty="0"/>
          </a:p>
        </p:txBody>
      </p:sp>
      <p:sp>
        <p:nvSpPr>
          <p:cNvPr id="6" name="Shape 4"/>
          <p:cNvSpPr/>
          <p:nvPr/>
        </p:nvSpPr>
        <p:spPr>
          <a:xfrm>
            <a:off x="822960" y="1325880"/>
            <a:ext cx="10561320" cy="3977640"/>
          </a:xfrm>
          <a:prstGeom prst="roundRect">
            <a:avLst>
              <a:gd name="adj" fmla="val 920"/>
            </a:avLst>
          </a:prstGeom>
          <a:solidFill>
            <a:srgbClr val="FFFCF7"/>
          </a:solidFill>
          <a:ln w="13970">
            <a:solidFill>
              <a:srgbClr val="B58B3E"/>
            </a:solidFill>
            <a:prstDash val="solid"/>
          </a:ln>
        </p:spPr>
      </p:sp>
      <p:sp>
        <p:nvSpPr>
          <p:cNvPr id="7" name="Text 5"/>
          <p:cNvSpPr/>
          <p:nvPr/>
        </p:nvSpPr>
        <p:spPr>
          <a:xfrm>
            <a:off x="1051560" y="1668780"/>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桑之落矣，其黄而陨。</a:t>
            </a:r>
            <a:endParaRPr lang="en-US" sz="3100" dirty="0"/>
          </a:p>
        </p:txBody>
      </p:sp>
      <p:sp>
        <p:nvSpPr>
          <p:cNvPr id="8" name="Text 6"/>
          <p:cNvSpPr/>
          <p:nvPr/>
        </p:nvSpPr>
        <p:spPr>
          <a:xfrm>
            <a:off x="1051560" y="2327148"/>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自我徂尔，三岁食贫。</a:t>
            </a:r>
            <a:endParaRPr lang="en-US" sz="3100" dirty="0"/>
          </a:p>
        </p:txBody>
      </p:sp>
      <p:sp>
        <p:nvSpPr>
          <p:cNvPr id="9" name="Text 7"/>
          <p:cNvSpPr/>
          <p:nvPr/>
        </p:nvSpPr>
        <p:spPr>
          <a:xfrm>
            <a:off x="1051560" y="2985516"/>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淇水汤汤，渐车帷裳。</a:t>
            </a:r>
            <a:endParaRPr lang="en-US" sz="3100" dirty="0"/>
          </a:p>
        </p:txBody>
      </p:sp>
      <p:sp>
        <p:nvSpPr>
          <p:cNvPr id="10" name="Text 8"/>
          <p:cNvSpPr/>
          <p:nvPr/>
        </p:nvSpPr>
        <p:spPr>
          <a:xfrm>
            <a:off x="1051560" y="3643884"/>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女也不爽，士贰其行。</a:t>
            </a:r>
            <a:endParaRPr lang="en-US" sz="3100" dirty="0"/>
          </a:p>
        </p:txBody>
      </p:sp>
      <p:sp>
        <p:nvSpPr>
          <p:cNvPr id="11" name="Text 9"/>
          <p:cNvSpPr/>
          <p:nvPr/>
        </p:nvSpPr>
        <p:spPr>
          <a:xfrm>
            <a:off x="1051560" y="4302252"/>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士也罔极，二三其德。</a:t>
            </a:r>
            <a:endParaRPr lang="en-US" sz="3100" dirty="0"/>
          </a:p>
        </p:txBody>
      </p:sp>
      <p:sp>
        <p:nvSpPr>
          <p:cNvPr id="12" name="Text 10"/>
          <p:cNvSpPr/>
          <p:nvPr/>
        </p:nvSpPr>
        <p:spPr>
          <a:xfrm>
            <a:off x="914400" y="5532120"/>
            <a:ext cx="10332720" cy="685800"/>
          </a:xfrm>
          <a:prstGeom prst="rect">
            <a:avLst/>
          </a:prstGeom>
          <a:noFill/>
          <a:ln/>
        </p:spPr>
        <p:txBody>
          <a:bodyPr wrap="square" lIns="0" tIns="0" rIns="0" bIns="0" rtlCol="0" anchor="ctr">
            <a:normAutofit/>
          </a:bodyPr>
          <a:lstStyle/>
          <a:p>
            <a:pPr algn="ctr" indent="0" marL="0">
              <a:buNone/>
            </a:pPr>
            <a:r>
              <a:rPr lang="en-US" sz="2400" b="1" dirty="0">
                <a:solidFill>
                  <a:srgbClr val="725260"/>
                </a:solidFill>
                <a:latin typeface="Noto Serif CJK SC" pitchFamily="34" charset="0"/>
                <a:ea typeface="Noto Serif CJK SC" pitchFamily="34" charset="-122"/>
                <a:cs typeface="Noto Serif CJK SC" pitchFamily="34" charset="-120"/>
              </a:rPr>
              <a:t>完整读完，再留下：　桑叶的新样子｜一句你听来像在判断的话</a:t>
            </a:r>
            <a:endParaRPr lang="en-US" sz="2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B58B3E"/>
          </a:solidFill>
          <a:ln w="12700">
            <a:solidFill>
              <a:srgbClr val="B58B3E"/>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B58B3E"/>
                </a:solidFill>
                <a:latin typeface="Noto Sans CJK SC" pitchFamily="34" charset="0"/>
                <a:ea typeface="Noto Sans CJK SC" pitchFamily="34" charset="-122"/>
                <a:cs typeface="Noto Sans CJK SC" pitchFamily="34" charset="-120"/>
              </a:rPr>
              <a:t>第四章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37</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600" b="1" dirty="0">
                <a:solidFill>
                  <a:srgbClr val="29241F"/>
                </a:solidFill>
                <a:latin typeface="Noto Serif CJK SC" pitchFamily="34" charset="0"/>
                <a:ea typeface="Noto Serif CJK SC" pitchFamily="34" charset="-122"/>
                <a:cs typeface="Noto Serif CJK SC" pitchFamily="34" charset="-120"/>
              </a:rPr>
              <a:t>桑之未落，其叶沃若。</a:t>
            </a:r>
            <a:endParaRPr lang="en-US" sz="3600" dirty="0"/>
          </a:p>
        </p:txBody>
      </p:sp>
      <p:sp>
        <p:nvSpPr>
          <p:cNvPr id="6" name="Shape 4"/>
          <p:cNvSpPr/>
          <p:nvPr/>
        </p:nvSpPr>
        <p:spPr>
          <a:xfrm>
            <a:off x="777240" y="1417320"/>
            <a:ext cx="5074920" cy="4206240"/>
          </a:xfrm>
          <a:prstGeom prst="roundRect">
            <a:avLst>
              <a:gd name="adj" fmla="val 870"/>
            </a:avLst>
          </a:prstGeom>
          <a:solidFill>
            <a:srgbClr val="FFFCF7"/>
          </a:solidFill>
          <a:ln w="13970">
            <a:solidFill>
              <a:srgbClr val="446E78"/>
            </a:solidFill>
            <a:prstDash val="solid"/>
          </a:ln>
        </p:spPr>
      </p:sp>
      <p:sp>
        <p:nvSpPr>
          <p:cNvPr id="7" name="Text 5"/>
          <p:cNvSpPr/>
          <p:nvPr/>
        </p:nvSpPr>
        <p:spPr>
          <a:xfrm>
            <a:off x="1051560" y="1783080"/>
            <a:ext cx="4526280" cy="658368"/>
          </a:xfrm>
          <a:prstGeom prst="rect">
            <a:avLst/>
          </a:prstGeom>
          <a:noFill/>
          <a:ln/>
        </p:spPr>
        <p:txBody>
          <a:bodyPr wrap="square" lIns="0" tIns="0" rIns="0" bIns="0" rtlCol="0" anchor="ctr">
            <a:normAutofit/>
          </a:bodyPr>
          <a:lstStyle/>
          <a:p>
            <a:pPr algn="ctr" indent="0" marL="0">
              <a:buNone/>
            </a:pPr>
            <a:r>
              <a:rPr lang="en-US" sz="2800" dirty="0">
                <a:solidFill>
                  <a:srgbClr val="29241F"/>
                </a:solidFill>
                <a:latin typeface="Noto Serif CJK SC" pitchFamily="34" charset="0"/>
                <a:ea typeface="Noto Serif CJK SC" pitchFamily="34" charset="-122"/>
                <a:cs typeface="Noto Serif CJK SC" pitchFamily="34" charset="-120"/>
              </a:rPr>
              <a:t>桑之落矣，其黄而陨。</a:t>
            </a:r>
            <a:endParaRPr lang="en-US" sz="2800" dirty="0"/>
          </a:p>
        </p:txBody>
      </p:sp>
      <p:sp>
        <p:nvSpPr>
          <p:cNvPr id="8" name="Text 6"/>
          <p:cNvSpPr/>
          <p:nvPr/>
        </p:nvSpPr>
        <p:spPr>
          <a:xfrm>
            <a:off x="1051560" y="2697480"/>
            <a:ext cx="4526280" cy="658368"/>
          </a:xfrm>
          <a:prstGeom prst="rect">
            <a:avLst/>
          </a:prstGeom>
          <a:noFill/>
          <a:ln/>
        </p:spPr>
        <p:txBody>
          <a:bodyPr wrap="square" lIns="0" tIns="0" rIns="0" bIns="0" rtlCol="0" anchor="ctr">
            <a:normAutofit/>
          </a:bodyPr>
          <a:lstStyle/>
          <a:p>
            <a:pPr algn="ctr" indent="0" marL="0">
              <a:buNone/>
            </a:pPr>
            <a:r>
              <a:rPr lang="en-US" sz="2800" b="1" dirty="0">
                <a:solidFill>
                  <a:srgbClr val="29241F"/>
                </a:solidFill>
                <a:latin typeface="Noto Serif CJK SC" pitchFamily="34" charset="0"/>
                <a:ea typeface="Noto Serif CJK SC" pitchFamily="34" charset="-122"/>
                <a:cs typeface="Noto Serif CJK SC" pitchFamily="34" charset="-120"/>
              </a:rPr>
              <a:t>未落／落　沃若／黄而陨</a:t>
            </a:r>
            <a:endParaRPr lang="en-US" sz="2800" dirty="0"/>
          </a:p>
        </p:txBody>
      </p:sp>
      <p:sp>
        <p:nvSpPr>
          <p:cNvPr id="9" name="Shape 7"/>
          <p:cNvSpPr/>
          <p:nvPr/>
        </p:nvSpPr>
        <p:spPr>
          <a:xfrm>
            <a:off x="6373368" y="1417320"/>
            <a:ext cx="5074920" cy="4206240"/>
          </a:xfrm>
          <a:prstGeom prst="roundRect">
            <a:avLst>
              <a:gd name="adj" fmla="val 870"/>
            </a:avLst>
          </a:prstGeom>
          <a:solidFill>
            <a:srgbClr val="FFFCF7"/>
          </a:solidFill>
          <a:ln w="13970">
            <a:solidFill>
              <a:srgbClr val="725260"/>
            </a:solidFill>
            <a:prstDash val="solid"/>
          </a:ln>
        </p:spPr>
      </p:sp>
      <p:sp>
        <p:nvSpPr>
          <p:cNvPr id="10" name="Text 8"/>
          <p:cNvSpPr/>
          <p:nvPr/>
        </p:nvSpPr>
        <p:spPr>
          <a:xfrm>
            <a:off x="6647688" y="1783080"/>
            <a:ext cx="4526280" cy="658368"/>
          </a:xfrm>
          <a:prstGeom prst="rect">
            <a:avLst/>
          </a:prstGeom>
          <a:noFill/>
          <a:ln/>
        </p:spPr>
        <p:txBody>
          <a:bodyPr wrap="square" lIns="0" tIns="0" rIns="0" bIns="0" rtlCol="0" anchor="ctr">
            <a:normAutofit/>
          </a:bodyPr>
          <a:lstStyle/>
          <a:p>
            <a:pPr algn="ctr" indent="0" marL="0">
              <a:buNone/>
            </a:pPr>
            <a:r>
              <a:rPr lang="en-US" sz="2800" dirty="0">
                <a:solidFill>
                  <a:srgbClr val="29241F"/>
                </a:solidFill>
                <a:latin typeface="Noto Serif CJK SC" pitchFamily="34" charset="0"/>
                <a:ea typeface="Noto Serif CJK SC" pitchFamily="34" charset="-122"/>
                <a:cs typeface="Noto Serif CJK SC" pitchFamily="34" charset="-120"/>
              </a:rPr>
              <a:t>翻回你原来的两种想法：</a:t>
            </a:r>
            <a:endParaRPr lang="en-US" sz="2800" dirty="0"/>
          </a:p>
        </p:txBody>
      </p:sp>
      <p:sp>
        <p:nvSpPr>
          <p:cNvPr id="11" name="Text 9"/>
          <p:cNvSpPr/>
          <p:nvPr/>
        </p:nvSpPr>
        <p:spPr>
          <a:xfrm>
            <a:off x="6647688" y="2697480"/>
            <a:ext cx="4526280" cy="658368"/>
          </a:xfrm>
          <a:prstGeom prst="rect">
            <a:avLst/>
          </a:prstGeom>
          <a:noFill/>
          <a:ln/>
        </p:spPr>
        <p:txBody>
          <a:bodyPr wrap="square" lIns="0" tIns="0" rIns="0" bIns="0" rtlCol="0" anchor="ctr">
            <a:normAutofit/>
          </a:bodyPr>
          <a:lstStyle/>
          <a:p>
            <a:pPr algn="ctr" indent="0" marL="0">
              <a:buNone/>
            </a:pPr>
            <a:r>
              <a:rPr lang="en-US" sz="2800" b="1" dirty="0">
                <a:solidFill>
                  <a:srgbClr val="29241F"/>
                </a:solidFill>
                <a:latin typeface="Noto Serif CJK SC" pitchFamily="34" charset="0"/>
                <a:ea typeface="Noto Serif CJK SC" pitchFamily="34" charset="-122"/>
                <a:cs typeface="Noto Serif CJK SC" pitchFamily="34" charset="-120"/>
              </a:rPr>
              <a:t>保留、改写，还是撤回？为什么？</a:t>
            </a:r>
            <a:endParaRPr lang="en-US" sz="2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B58B3E"/>
          </a:solidFill>
          <a:ln w="12700">
            <a:solidFill>
              <a:srgbClr val="B58B3E"/>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B58B3E"/>
                </a:solidFill>
                <a:latin typeface="Noto Sans CJK SC" pitchFamily="34" charset="0"/>
                <a:ea typeface="Noto Sans CJK SC" pitchFamily="34" charset="-122"/>
                <a:cs typeface="Noto Sans CJK SC" pitchFamily="34" charset="-120"/>
              </a:rPr>
              <a:t>第四章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38</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600" b="1" dirty="0">
                <a:solidFill>
                  <a:srgbClr val="29241F"/>
                </a:solidFill>
                <a:latin typeface="Noto Serif CJK SC" pitchFamily="34" charset="0"/>
                <a:ea typeface="Noto Serif CJK SC" pitchFamily="34" charset="-122"/>
                <a:cs typeface="Noto Serif CJK SC" pitchFamily="34" charset="-120"/>
              </a:rPr>
              <a:t>三岁食贫｜淇水汤汤</a:t>
            </a:r>
            <a:endParaRPr lang="en-US" sz="3600" dirty="0"/>
          </a:p>
        </p:txBody>
      </p:sp>
      <p:sp>
        <p:nvSpPr>
          <p:cNvPr id="6" name="Shape 4"/>
          <p:cNvSpPr/>
          <p:nvPr/>
        </p:nvSpPr>
        <p:spPr>
          <a:xfrm>
            <a:off x="768096" y="1572768"/>
            <a:ext cx="3380232" cy="3858768"/>
          </a:xfrm>
          <a:prstGeom prst="roundRect">
            <a:avLst>
              <a:gd name="adj" fmla="val 1082"/>
            </a:avLst>
          </a:prstGeom>
          <a:solidFill>
            <a:srgbClr val="FFFCF7"/>
          </a:solidFill>
          <a:ln w="13970">
            <a:solidFill>
              <a:srgbClr val="446E78"/>
            </a:solidFill>
            <a:prstDash val="solid"/>
          </a:ln>
        </p:spPr>
      </p:sp>
      <p:sp>
        <p:nvSpPr>
          <p:cNvPr id="7" name="Text 5"/>
          <p:cNvSpPr/>
          <p:nvPr/>
        </p:nvSpPr>
        <p:spPr>
          <a:xfrm>
            <a:off x="1042416" y="2029968"/>
            <a:ext cx="2831592" cy="2834640"/>
          </a:xfrm>
          <a:prstGeom prst="rect">
            <a:avLst/>
          </a:prstGeom>
          <a:noFill/>
          <a:ln/>
        </p:spPr>
        <p:txBody>
          <a:bodyPr wrap="square" lIns="0" tIns="0" rIns="0" bIns="0" rtlCol="0" anchor="ctr">
            <a:normAutofit/>
          </a:bodyPr>
          <a:lstStyle/>
          <a:p>
            <a:pPr algn="ctr" indent="0" marL="0">
              <a:buNone/>
            </a:pPr>
            <a:r>
              <a:rPr lang="en-US" sz="2400" b="1" dirty="0">
                <a:solidFill>
                  <a:srgbClr val="29241F"/>
                </a:solidFill>
                <a:latin typeface="Noto Serif CJK SC" pitchFamily="34" charset="0"/>
                <a:ea typeface="Noto Serif CJK SC" pitchFamily="34" charset="-122"/>
                <a:cs typeface="Noto Serif CJK SC" pitchFamily="34" charset="-120"/>
              </a:rPr>
              <a:t>自我徂尔，三岁食贫。</a:t>
            </a:r>
            <a:endParaRPr lang="en-US" sz="2400" dirty="0"/>
          </a:p>
        </p:txBody>
      </p:sp>
      <p:sp>
        <p:nvSpPr>
          <p:cNvPr id="8" name="Shape 6"/>
          <p:cNvSpPr/>
          <p:nvPr/>
        </p:nvSpPr>
        <p:spPr>
          <a:xfrm>
            <a:off x="4404360" y="1572768"/>
            <a:ext cx="3380232" cy="3858768"/>
          </a:xfrm>
          <a:prstGeom prst="roundRect">
            <a:avLst>
              <a:gd name="adj" fmla="val 1082"/>
            </a:avLst>
          </a:prstGeom>
          <a:solidFill>
            <a:srgbClr val="FFFCF7"/>
          </a:solidFill>
          <a:ln w="13970">
            <a:solidFill>
              <a:srgbClr val="725260"/>
            </a:solidFill>
            <a:prstDash val="solid"/>
          </a:ln>
        </p:spPr>
      </p:sp>
      <p:sp>
        <p:nvSpPr>
          <p:cNvPr id="9" name="Text 7"/>
          <p:cNvSpPr/>
          <p:nvPr/>
        </p:nvSpPr>
        <p:spPr>
          <a:xfrm>
            <a:off x="4678680" y="2029968"/>
            <a:ext cx="2831592" cy="2834640"/>
          </a:xfrm>
          <a:prstGeom prst="rect">
            <a:avLst/>
          </a:prstGeom>
          <a:noFill/>
          <a:ln/>
        </p:spPr>
        <p:txBody>
          <a:bodyPr wrap="square" lIns="0" tIns="0" rIns="0" bIns="0" rtlCol="0" anchor="ctr">
            <a:normAutofit/>
          </a:bodyPr>
          <a:lstStyle/>
          <a:p>
            <a:pPr algn="ctr" indent="0" marL="0">
              <a:buNone/>
            </a:pPr>
            <a:r>
              <a:rPr lang="en-US" sz="2400" b="1" dirty="0">
                <a:solidFill>
                  <a:srgbClr val="29241F"/>
                </a:solidFill>
                <a:latin typeface="Noto Serif CJK SC" pitchFamily="34" charset="0"/>
                <a:ea typeface="Noto Serif CJK SC" pitchFamily="34" charset="-122"/>
                <a:cs typeface="Noto Serif CJK SC" pitchFamily="34" charset="-120"/>
              </a:rPr>
              <a:t>淇水汤汤，渐车帷裳。</a:t>
            </a:r>
            <a:endParaRPr lang="en-US" sz="2400" dirty="0"/>
          </a:p>
        </p:txBody>
      </p:sp>
      <p:sp>
        <p:nvSpPr>
          <p:cNvPr id="10" name="Shape 8"/>
          <p:cNvSpPr/>
          <p:nvPr/>
        </p:nvSpPr>
        <p:spPr>
          <a:xfrm>
            <a:off x="8040624" y="1572768"/>
            <a:ext cx="3380232" cy="3858768"/>
          </a:xfrm>
          <a:prstGeom prst="roundRect">
            <a:avLst>
              <a:gd name="adj" fmla="val 1082"/>
            </a:avLst>
          </a:prstGeom>
          <a:solidFill>
            <a:srgbClr val="FFFCF7"/>
          </a:solidFill>
          <a:ln w="13970">
            <a:solidFill>
              <a:srgbClr val="A67F4A"/>
            </a:solidFill>
            <a:prstDash val="solid"/>
          </a:ln>
        </p:spPr>
      </p:sp>
      <p:sp>
        <p:nvSpPr>
          <p:cNvPr id="11" name="Text 9"/>
          <p:cNvSpPr/>
          <p:nvPr/>
        </p:nvSpPr>
        <p:spPr>
          <a:xfrm>
            <a:off x="8314944" y="2029968"/>
            <a:ext cx="2831592" cy="2834640"/>
          </a:xfrm>
          <a:prstGeom prst="rect">
            <a:avLst/>
          </a:prstGeom>
          <a:noFill/>
          <a:ln/>
        </p:spPr>
        <p:txBody>
          <a:bodyPr wrap="square" lIns="0" tIns="0" rIns="0" bIns="0" rtlCol="0" anchor="ctr">
            <a:normAutofit/>
          </a:bodyPr>
          <a:lstStyle/>
          <a:p>
            <a:pPr algn="ctr" indent="0" marL="0">
              <a:buNone/>
            </a:pPr>
            <a:r>
              <a:rPr lang="en-US" sz="2400" b="1" dirty="0">
                <a:solidFill>
                  <a:srgbClr val="29241F"/>
                </a:solidFill>
                <a:latin typeface="Noto Serif CJK SC" pitchFamily="34" charset="0"/>
                <a:ea typeface="Noto Serif CJK SC" pitchFamily="34" charset="-122"/>
                <a:cs typeface="Noto Serif CJK SC" pitchFamily="34" charset="-120"/>
              </a:rPr>
              <a:t>这两句里的时间，一样长吗？</a:t>
            </a:r>
            <a:endParaRPr lang="en-US" sz="2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B58B3E"/>
          </a:solidFill>
          <a:ln w="12700">
            <a:solidFill>
              <a:srgbClr val="B58B3E"/>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B58B3E"/>
                </a:solidFill>
                <a:latin typeface="Noto Sans CJK SC" pitchFamily="34" charset="0"/>
                <a:ea typeface="Noto Sans CJK SC" pitchFamily="34" charset="-122"/>
                <a:cs typeface="Noto Sans CJK SC" pitchFamily="34" charset="-120"/>
              </a:rPr>
              <a:t>第四章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39</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600" b="1" dirty="0">
                <a:solidFill>
                  <a:srgbClr val="29241F"/>
                </a:solidFill>
                <a:latin typeface="Noto Serif CJK SC" pitchFamily="34" charset="0"/>
                <a:ea typeface="Noto Serif CJK SC" pitchFamily="34" charset="-122"/>
                <a:cs typeface="Noto Serif CJK SC" pitchFamily="34" charset="-120"/>
              </a:rPr>
              <a:t>女也不爽，士贰其行。</a:t>
            </a:r>
            <a:endParaRPr lang="en-US" sz="3600" dirty="0"/>
          </a:p>
        </p:txBody>
      </p:sp>
      <p:sp>
        <p:nvSpPr>
          <p:cNvPr id="6" name="Shape 4"/>
          <p:cNvSpPr/>
          <p:nvPr/>
        </p:nvSpPr>
        <p:spPr>
          <a:xfrm>
            <a:off x="768096" y="1572768"/>
            <a:ext cx="3380232" cy="3858768"/>
          </a:xfrm>
          <a:prstGeom prst="roundRect">
            <a:avLst>
              <a:gd name="adj" fmla="val 1082"/>
            </a:avLst>
          </a:prstGeom>
          <a:solidFill>
            <a:srgbClr val="FFFCF7"/>
          </a:solidFill>
          <a:ln w="13970">
            <a:solidFill>
              <a:srgbClr val="446E78"/>
            </a:solidFill>
            <a:prstDash val="solid"/>
          </a:ln>
        </p:spPr>
      </p:sp>
      <p:sp>
        <p:nvSpPr>
          <p:cNvPr id="7" name="Text 5"/>
          <p:cNvSpPr/>
          <p:nvPr/>
        </p:nvSpPr>
        <p:spPr>
          <a:xfrm>
            <a:off x="1042416" y="2029968"/>
            <a:ext cx="2831592" cy="2834640"/>
          </a:xfrm>
          <a:prstGeom prst="rect">
            <a:avLst/>
          </a:prstGeom>
          <a:noFill/>
          <a:ln/>
        </p:spPr>
        <p:txBody>
          <a:bodyPr wrap="square" lIns="0" tIns="0" rIns="0" bIns="0" rtlCol="0" anchor="ctr">
            <a:normAutofit/>
          </a:bodyPr>
          <a:lstStyle/>
          <a:p>
            <a:pPr algn="ctr" indent="0" marL="0">
              <a:buNone/>
            </a:pPr>
            <a:r>
              <a:rPr lang="en-US" sz="2400" b="1" dirty="0">
                <a:solidFill>
                  <a:srgbClr val="29241F"/>
                </a:solidFill>
                <a:latin typeface="Noto Serif CJK SC" pitchFamily="34" charset="0"/>
                <a:ea typeface="Noto Serif CJK SC" pitchFamily="34" charset="-122"/>
                <a:cs typeface="Noto Serif CJK SC" pitchFamily="34" charset="-120"/>
              </a:rPr>
              <a:t>士也罔极，二三其德。</a:t>
            </a:r>
            <a:endParaRPr lang="en-US" sz="2400" dirty="0"/>
          </a:p>
        </p:txBody>
      </p:sp>
      <p:sp>
        <p:nvSpPr>
          <p:cNvPr id="8" name="Shape 6"/>
          <p:cNvSpPr/>
          <p:nvPr/>
        </p:nvSpPr>
        <p:spPr>
          <a:xfrm>
            <a:off x="4404360" y="1572768"/>
            <a:ext cx="3380232" cy="3858768"/>
          </a:xfrm>
          <a:prstGeom prst="roundRect">
            <a:avLst>
              <a:gd name="adj" fmla="val 1082"/>
            </a:avLst>
          </a:prstGeom>
          <a:solidFill>
            <a:srgbClr val="FFFCF7"/>
          </a:solidFill>
          <a:ln w="13970">
            <a:solidFill>
              <a:srgbClr val="725260"/>
            </a:solidFill>
            <a:prstDash val="solid"/>
          </a:ln>
        </p:spPr>
      </p:sp>
      <p:sp>
        <p:nvSpPr>
          <p:cNvPr id="9" name="Text 7"/>
          <p:cNvSpPr/>
          <p:nvPr/>
        </p:nvSpPr>
        <p:spPr>
          <a:xfrm>
            <a:off x="4678680" y="2029968"/>
            <a:ext cx="2831592" cy="2834640"/>
          </a:xfrm>
          <a:prstGeom prst="rect">
            <a:avLst/>
          </a:prstGeom>
          <a:noFill/>
          <a:ln/>
        </p:spPr>
        <p:txBody>
          <a:bodyPr wrap="square" lIns="0" tIns="0" rIns="0" bIns="0" rtlCol="0" anchor="ctr">
            <a:normAutofit/>
          </a:bodyPr>
          <a:lstStyle/>
          <a:p>
            <a:pPr algn="ctr" indent="0" marL="0">
              <a:buNone/>
            </a:pPr>
            <a:r>
              <a:rPr lang="en-US" sz="2400" b="1" dirty="0">
                <a:solidFill>
                  <a:srgbClr val="29241F"/>
                </a:solidFill>
                <a:latin typeface="Noto Serif CJK SC" pitchFamily="34" charset="0"/>
                <a:ea typeface="Noto Serif CJK SC" pitchFamily="34" charset="-122"/>
                <a:cs typeface="Noto Serif CJK SC" pitchFamily="34" charset="-120"/>
              </a:rPr>
              <a:t>不爽　贰行　罔极　二三其德</a:t>
            </a:r>
            <a:endParaRPr lang="en-US" sz="2400" dirty="0"/>
          </a:p>
        </p:txBody>
      </p:sp>
      <p:sp>
        <p:nvSpPr>
          <p:cNvPr id="10" name="Shape 8"/>
          <p:cNvSpPr/>
          <p:nvPr/>
        </p:nvSpPr>
        <p:spPr>
          <a:xfrm>
            <a:off x="8040624" y="1572768"/>
            <a:ext cx="3380232" cy="3858768"/>
          </a:xfrm>
          <a:prstGeom prst="roundRect">
            <a:avLst>
              <a:gd name="adj" fmla="val 1082"/>
            </a:avLst>
          </a:prstGeom>
          <a:solidFill>
            <a:srgbClr val="FFFCF7"/>
          </a:solidFill>
          <a:ln w="13970">
            <a:solidFill>
              <a:srgbClr val="A67F4A"/>
            </a:solidFill>
            <a:prstDash val="solid"/>
          </a:ln>
        </p:spPr>
      </p:sp>
      <p:sp>
        <p:nvSpPr>
          <p:cNvPr id="11" name="Text 9"/>
          <p:cNvSpPr/>
          <p:nvPr/>
        </p:nvSpPr>
        <p:spPr>
          <a:xfrm>
            <a:off x="8314944" y="2029968"/>
            <a:ext cx="2831592" cy="2834640"/>
          </a:xfrm>
          <a:prstGeom prst="rect">
            <a:avLst/>
          </a:prstGeom>
          <a:noFill/>
          <a:ln/>
        </p:spPr>
        <p:txBody>
          <a:bodyPr wrap="square" lIns="0" tIns="0" rIns="0" bIns="0" rtlCol="0" anchor="ctr">
            <a:normAutofit/>
          </a:bodyPr>
          <a:lstStyle/>
          <a:p>
            <a:pPr algn="ctr" indent="0" marL="0">
              <a:buNone/>
            </a:pPr>
            <a:r>
              <a:rPr lang="en-US" sz="2200" b="1" dirty="0">
                <a:solidFill>
                  <a:srgbClr val="29241F"/>
                </a:solidFill>
                <a:latin typeface="Noto Serif CJK SC" pitchFamily="34" charset="0"/>
                <a:ea typeface="Noto Serif CJK SC" pitchFamily="34" charset="-122"/>
                <a:cs typeface="Noto Serif CJK SC" pitchFamily="34" charset="-120"/>
              </a:rPr>
              <a:t>先写准每个词，再标出它在说谁。</a:t>
            </a:r>
            <a:endParaRPr lang="en-US" sz="2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B58B3E"/>
          </a:solidFill>
          <a:ln w="12700">
            <a:solidFill>
              <a:srgbClr val="B58B3E"/>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B58B3E"/>
                </a:solidFill>
                <a:latin typeface="Noto Sans CJK SC" pitchFamily="34" charset="0"/>
                <a:ea typeface="Noto Sans CJK SC" pitchFamily="34" charset="-122"/>
                <a:cs typeface="Noto Sans CJK SC" pitchFamily="34" charset="-120"/>
              </a:rPr>
              <a:t>第四章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40</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600" b="1" dirty="0">
                <a:solidFill>
                  <a:srgbClr val="29241F"/>
                </a:solidFill>
                <a:latin typeface="Noto Serif CJK SC" pitchFamily="34" charset="0"/>
                <a:ea typeface="Noto Serif CJK SC" pitchFamily="34" charset="-122"/>
                <a:cs typeface="Noto Serif CJK SC" pitchFamily="34" charset="-120"/>
              </a:rPr>
              <a:t>哪些词在说女子？哪些词在说男子？</a:t>
            </a:r>
            <a:endParaRPr lang="en-US" sz="3600" dirty="0"/>
          </a:p>
        </p:txBody>
      </p:sp>
      <p:sp>
        <p:nvSpPr>
          <p:cNvPr id="6" name="Shape 4"/>
          <p:cNvSpPr/>
          <p:nvPr/>
        </p:nvSpPr>
        <p:spPr>
          <a:xfrm>
            <a:off x="768096" y="1572768"/>
            <a:ext cx="5198364" cy="3858768"/>
          </a:xfrm>
          <a:prstGeom prst="roundRect">
            <a:avLst>
              <a:gd name="adj" fmla="val 948"/>
            </a:avLst>
          </a:prstGeom>
          <a:solidFill>
            <a:srgbClr val="FFFCF7"/>
          </a:solidFill>
          <a:ln w="13970">
            <a:solidFill>
              <a:srgbClr val="446E78"/>
            </a:solidFill>
            <a:prstDash val="solid"/>
          </a:ln>
        </p:spPr>
      </p:sp>
      <p:sp>
        <p:nvSpPr>
          <p:cNvPr id="7" name="Text 5"/>
          <p:cNvSpPr/>
          <p:nvPr/>
        </p:nvSpPr>
        <p:spPr>
          <a:xfrm>
            <a:off x="1042416" y="2029968"/>
            <a:ext cx="4649724" cy="2834640"/>
          </a:xfrm>
          <a:prstGeom prst="rect">
            <a:avLst/>
          </a:prstGeom>
          <a:noFill/>
          <a:ln/>
        </p:spPr>
        <p:txBody>
          <a:bodyPr wrap="square" lIns="0" tIns="0" rIns="0" bIns="0" rtlCol="0" anchor="ctr">
            <a:normAutofit/>
          </a:bodyPr>
          <a:lstStyle/>
          <a:p>
            <a:pPr algn="ctr" indent="0" marL="0">
              <a:buNone/>
            </a:pPr>
            <a:r>
              <a:rPr lang="en-US" sz="3000" b="1" dirty="0">
                <a:solidFill>
                  <a:srgbClr val="29241F"/>
                </a:solidFill>
                <a:latin typeface="Noto Serif CJK SC" pitchFamily="34" charset="0"/>
                <a:ea typeface="Noto Serif CJK SC" pitchFamily="34" charset="-122"/>
                <a:cs typeface="Noto Serif CJK SC" pitchFamily="34" charset="-120"/>
              </a:rPr>
              <a:t>看看黑板上两份真实标法。</a:t>
            </a:r>
            <a:endParaRPr lang="en-US" sz="3000" dirty="0"/>
          </a:p>
        </p:txBody>
      </p:sp>
      <p:sp>
        <p:nvSpPr>
          <p:cNvPr id="8" name="Shape 6"/>
          <p:cNvSpPr/>
          <p:nvPr/>
        </p:nvSpPr>
        <p:spPr>
          <a:xfrm>
            <a:off x="6222492" y="1572768"/>
            <a:ext cx="5198364" cy="3858768"/>
          </a:xfrm>
          <a:prstGeom prst="roundRect">
            <a:avLst>
              <a:gd name="adj" fmla="val 948"/>
            </a:avLst>
          </a:prstGeom>
          <a:solidFill>
            <a:srgbClr val="FFFCF7"/>
          </a:solidFill>
          <a:ln w="13970">
            <a:solidFill>
              <a:srgbClr val="725260"/>
            </a:solidFill>
            <a:prstDash val="solid"/>
          </a:ln>
        </p:spPr>
      </p:sp>
      <p:sp>
        <p:nvSpPr>
          <p:cNvPr id="9" name="Text 7"/>
          <p:cNvSpPr/>
          <p:nvPr/>
        </p:nvSpPr>
        <p:spPr>
          <a:xfrm>
            <a:off x="6496812" y="2029968"/>
            <a:ext cx="4649724" cy="2834640"/>
          </a:xfrm>
          <a:prstGeom prst="rect">
            <a:avLst/>
          </a:prstGeom>
          <a:noFill/>
          <a:ln/>
        </p:spPr>
        <p:txBody>
          <a:bodyPr wrap="square" lIns="0" tIns="0" rIns="0" bIns="0" rtlCol="0" anchor="ctr">
            <a:normAutofit/>
          </a:bodyPr>
          <a:lstStyle/>
          <a:p>
            <a:pPr algn="ctr" indent="0" marL="0">
              <a:buNone/>
            </a:pPr>
            <a:r>
              <a:rPr lang="en-US" sz="3000" b="1" dirty="0">
                <a:solidFill>
                  <a:srgbClr val="29241F"/>
                </a:solidFill>
                <a:latin typeface="Noto Serif CJK SC" pitchFamily="34" charset="0"/>
                <a:ea typeface="Noto Serif CJK SC" pitchFamily="34" charset="-122"/>
                <a:cs typeface="Noto Serif CJK SC" pitchFamily="34" charset="-120"/>
              </a:rPr>
              <a:t>只用上下句提出修正。</a:t>
            </a:r>
            <a:endParaRPr lang="en-US" sz="3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B58B3E"/>
          </a:solidFill>
          <a:ln w="12700">
            <a:solidFill>
              <a:srgbClr val="B58B3E"/>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B58B3E"/>
                </a:solidFill>
                <a:latin typeface="Noto Sans CJK SC" pitchFamily="34" charset="0"/>
                <a:ea typeface="Noto Sans CJK SC" pitchFamily="34" charset="-122"/>
                <a:cs typeface="Noto Sans CJK SC" pitchFamily="34" charset="-120"/>
              </a:rPr>
              <a:t>第四章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41</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600" b="1" dirty="0">
                <a:solidFill>
                  <a:srgbClr val="29241F"/>
                </a:solidFill>
                <a:latin typeface="Noto Serif CJK SC" pitchFamily="34" charset="0"/>
                <a:ea typeface="Noto Serif CJK SC" pitchFamily="34" charset="-122"/>
                <a:cs typeface="Noto Serif CJK SC" pitchFamily="34" charset="-120"/>
              </a:rPr>
              <a:t>“女也不爽”，说的是哪一层？</a:t>
            </a:r>
            <a:endParaRPr lang="en-US" sz="3600" dirty="0"/>
          </a:p>
        </p:txBody>
      </p:sp>
      <p:sp>
        <p:nvSpPr>
          <p:cNvPr id="6" name="Shape 4"/>
          <p:cNvSpPr/>
          <p:nvPr/>
        </p:nvSpPr>
        <p:spPr>
          <a:xfrm>
            <a:off x="768096" y="1572768"/>
            <a:ext cx="3380232" cy="3858768"/>
          </a:xfrm>
          <a:prstGeom prst="roundRect">
            <a:avLst>
              <a:gd name="adj" fmla="val 1082"/>
            </a:avLst>
          </a:prstGeom>
          <a:solidFill>
            <a:srgbClr val="FFFCF7"/>
          </a:solidFill>
          <a:ln w="13970">
            <a:solidFill>
              <a:srgbClr val="446E78"/>
            </a:solidFill>
            <a:prstDash val="solid"/>
          </a:ln>
        </p:spPr>
      </p:sp>
      <p:sp>
        <p:nvSpPr>
          <p:cNvPr id="7" name="Text 5"/>
          <p:cNvSpPr/>
          <p:nvPr/>
        </p:nvSpPr>
        <p:spPr>
          <a:xfrm>
            <a:off x="1042416" y="2029968"/>
            <a:ext cx="2831592" cy="2834640"/>
          </a:xfrm>
          <a:prstGeom prst="rect">
            <a:avLst/>
          </a:prstGeom>
          <a:noFill/>
          <a:ln/>
        </p:spPr>
        <p:txBody>
          <a:bodyPr wrap="square" lIns="0" tIns="0" rIns="0" bIns="0" rtlCol="0" anchor="ctr">
            <a:normAutofit/>
          </a:bodyPr>
          <a:lstStyle/>
          <a:p>
            <a:pPr algn="ctr" indent="0" marL="0">
              <a:buNone/>
            </a:pPr>
            <a:r>
              <a:rPr lang="en-US" sz="2200" b="1" dirty="0">
                <a:solidFill>
                  <a:srgbClr val="29241F"/>
                </a:solidFill>
                <a:latin typeface="Noto Serif CJK SC" pitchFamily="34" charset="0"/>
                <a:ea typeface="Noto Serif CJK SC" pitchFamily="34" charset="-122"/>
                <a:cs typeface="Noto Serif CJK SC" pitchFamily="34" charset="-120"/>
              </a:rPr>
              <a:t>在这段婚姻的操持中，她并无差失。</a:t>
            </a:r>
            <a:endParaRPr lang="en-US" sz="2200" dirty="0"/>
          </a:p>
        </p:txBody>
      </p:sp>
      <p:sp>
        <p:nvSpPr>
          <p:cNvPr id="8" name="Shape 6"/>
          <p:cNvSpPr/>
          <p:nvPr/>
        </p:nvSpPr>
        <p:spPr>
          <a:xfrm>
            <a:off x="4404360" y="1572768"/>
            <a:ext cx="3380232" cy="3858768"/>
          </a:xfrm>
          <a:prstGeom prst="roundRect">
            <a:avLst>
              <a:gd name="adj" fmla="val 1082"/>
            </a:avLst>
          </a:prstGeom>
          <a:solidFill>
            <a:srgbClr val="FFFCF7"/>
          </a:solidFill>
          <a:ln w="13970">
            <a:solidFill>
              <a:srgbClr val="725260"/>
            </a:solidFill>
            <a:prstDash val="solid"/>
          </a:ln>
        </p:spPr>
      </p:sp>
      <p:sp>
        <p:nvSpPr>
          <p:cNvPr id="9" name="Text 7"/>
          <p:cNvSpPr/>
          <p:nvPr/>
        </p:nvSpPr>
        <p:spPr>
          <a:xfrm>
            <a:off x="4678680" y="2029968"/>
            <a:ext cx="2831592" cy="2834640"/>
          </a:xfrm>
          <a:prstGeom prst="rect">
            <a:avLst/>
          </a:prstGeom>
          <a:noFill/>
          <a:ln/>
        </p:spPr>
        <p:txBody>
          <a:bodyPr wrap="square" lIns="0" tIns="0" rIns="0" bIns="0" rtlCol="0" anchor="ctr">
            <a:normAutofit/>
          </a:bodyPr>
          <a:lstStyle/>
          <a:p>
            <a:pPr algn="ctr" indent="0" marL="0">
              <a:buNone/>
            </a:pPr>
            <a:r>
              <a:rPr lang="en-US" sz="2200" b="1" dirty="0">
                <a:solidFill>
                  <a:srgbClr val="29241F"/>
                </a:solidFill>
                <a:latin typeface="Noto Serif CJK SC" pitchFamily="34" charset="0"/>
                <a:ea typeface="Noto Serif CJK SC" pitchFamily="34" charset="-122"/>
                <a:cs typeface="Noto Serif CJK SC" pitchFamily="34" charset="-120"/>
              </a:rPr>
              <a:t>男子却行为前后不一，后来反复无常。</a:t>
            </a:r>
            <a:endParaRPr lang="en-US" sz="2200" dirty="0"/>
          </a:p>
        </p:txBody>
      </p:sp>
      <p:sp>
        <p:nvSpPr>
          <p:cNvPr id="10" name="Shape 8"/>
          <p:cNvSpPr/>
          <p:nvPr/>
        </p:nvSpPr>
        <p:spPr>
          <a:xfrm>
            <a:off x="8040624" y="1572768"/>
            <a:ext cx="3380232" cy="3858768"/>
          </a:xfrm>
          <a:prstGeom prst="roundRect">
            <a:avLst>
              <a:gd name="adj" fmla="val 1082"/>
            </a:avLst>
          </a:prstGeom>
          <a:solidFill>
            <a:srgbClr val="FFFCF7"/>
          </a:solidFill>
          <a:ln w="13970">
            <a:solidFill>
              <a:srgbClr val="A67F4A"/>
            </a:solidFill>
            <a:prstDash val="solid"/>
          </a:ln>
        </p:spPr>
      </p:sp>
      <p:sp>
        <p:nvSpPr>
          <p:cNvPr id="11" name="Text 9"/>
          <p:cNvSpPr/>
          <p:nvPr/>
        </p:nvSpPr>
        <p:spPr>
          <a:xfrm>
            <a:off x="8314944" y="2029968"/>
            <a:ext cx="2831592" cy="2834640"/>
          </a:xfrm>
          <a:prstGeom prst="rect">
            <a:avLst/>
          </a:prstGeom>
          <a:noFill/>
          <a:ln/>
        </p:spPr>
        <p:txBody>
          <a:bodyPr wrap="square" lIns="0" tIns="0" rIns="0" bIns="0" rtlCol="0" anchor="ctr">
            <a:normAutofit/>
          </a:bodyPr>
          <a:lstStyle/>
          <a:p>
            <a:pPr algn="ctr" indent="0" marL="0">
              <a:buNone/>
            </a:pPr>
            <a:r>
              <a:rPr lang="en-US" sz="2200" b="1" dirty="0">
                <a:solidFill>
                  <a:srgbClr val="29241F"/>
                </a:solidFill>
                <a:latin typeface="Noto Serif CJK SC" pitchFamily="34" charset="0"/>
                <a:ea typeface="Noto Serif CJK SC" pitchFamily="34" charset="-122"/>
                <a:cs typeface="Noto Serif CJK SC" pitchFamily="34" charset="-120"/>
              </a:rPr>
              <a:t>她过去的判断可以反思；男子的失信与伤害不能归责于她。</a:t>
            </a:r>
            <a:endParaRPr lang="en-US" sz="2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B58B3E"/>
          </a:solidFill>
          <a:ln w="12700">
            <a:solidFill>
              <a:srgbClr val="B58B3E"/>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B58B3E"/>
                </a:solidFill>
                <a:latin typeface="Noto Sans CJK SC" pitchFamily="34" charset="0"/>
                <a:ea typeface="Noto Sans CJK SC" pitchFamily="34" charset="-122"/>
                <a:cs typeface="Noto Sans CJK SC" pitchFamily="34" charset="-120"/>
              </a:rPr>
              <a:t>第四章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42</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400" b="1" dirty="0">
                <a:solidFill>
                  <a:srgbClr val="29241F"/>
                </a:solidFill>
                <a:latin typeface="Noto Serif CJK SC" pitchFamily="34" charset="0"/>
                <a:ea typeface="Noto Serif CJK SC" pitchFamily="34" charset="-122"/>
                <a:cs typeface="Noto Serif CJK SC" pitchFamily="34" charset="-120"/>
              </a:rPr>
              <a:t>桑叶落下以后，发生了什么？</a:t>
            </a:r>
            <a:endParaRPr lang="en-US" sz="3400" dirty="0"/>
          </a:p>
        </p:txBody>
      </p:sp>
      <p:sp>
        <p:nvSpPr>
          <p:cNvPr id="6" name="Shape 4"/>
          <p:cNvSpPr/>
          <p:nvPr/>
        </p:nvSpPr>
        <p:spPr>
          <a:xfrm>
            <a:off x="822960" y="1325880"/>
            <a:ext cx="10561320" cy="4526280"/>
          </a:xfrm>
          <a:prstGeom prst="roundRect">
            <a:avLst>
              <a:gd name="adj" fmla="val 808"/>
            </a:avLst>
          </a:prstGeom>
          <a:solidFill>
            <a:srgbClr val="FFFCF7"/>
          </a:solidFill>
          <a:ln w="13970">
            <a:solidFill>
              <a:srgbClr val="B58B3E"/>
            </a:solidFill>
            <a:prstDash val="solid"/>
          </a:ln>
        </p:spPr>
      </p:sp>
      <p:sp>
        <p:nvSpPr>
          <p:cNvPr id="7" name="Text 5"/>
          <p:cNvSpPr/>
          <p:nvPr/>
        </p:nvSpPr>
        <p:spPr>
          <a:xfrm>
            <a:off x="1051560" y="1943100"/>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桑之落矣，其黄而陨。</a:t>
            </a:r>
            <a:endParaRPr lang="en-US" sz="3100" dirty="0"/>
          </a:p>
        </p:txBody>
      </p:sp>
      <p:sp>
        <p:nvSpPr>
          <p:cNvPr id="8" name="Text 6"/>
          <p:cNvSpPr/>
          <p:nvPr/>
        </p:nvSpPr>
        <p:spPr>
          <a:xfrm>
            <a:off x="1051560" y="2601468"/>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自我徂尔，三岁食贫。</a:t>
            </a:r>
            <a:endParaRPr lang="en-US" sz="3100" dirty="0"/>
          </a:p>
        </p:txBody>
      </p:sp>
      <p:sp>
        <p:nvSpPr>
          <p:cNvPr id="9" name="Text 7"/>
          <p:cNvSpPr/>
          <p:nvPr/>
        </p:nvSpPr>
        <p:spPr>
          <a:xfrm>
            <a:off x="1051560" y="3259836"/>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淇水汤汤，渐车帷裳。</a:t>
            </a:r>
            <a:endParaRPr lang="en-US" sz="3100" dirty="0"/>
          </a:p>
        </p:txBody>
      </p:sp>
      <p:sp>
        <p:nvSpPr>
          <p:cNvPr id="10" name="Text 8"/>
          <p:cNvSpPr/>
          <p:nvPr/>
        </p:nvSpPr>
        <p:spPr>
          <a:xfrm>
            <a:off x="1051560" y="3918204"/>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女也不爽，士贰其行。</a:t>
            </a:r>
            <a:endParaRPr lang="en-US" sz="3100" dirty="0"/>
          </a:p>
        </p:txBody>
      </p:sp>
      <p:sp>
        <p:nvSpPr>
          <p:cNvPr id="11" name="Text 9"/>
          <p:cNvSpPr/>
          <p:nvPr/>
        </p:nvSpPr>
        <p:spPr>
          <a:xfrm>
            <a:off x="1051560" y="4576572"/>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士也罔极，二三其德。</a:t>
            </a:r>
            <a:endParaRPr lang="en-US" sz="31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725260"/>
          </a:solidFill>
          <a:ln w="12700">
            <a:solidFill>
              <a:srgbClr val="725260"/>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725260"/>
                </a:solidFill>
                <a:latin typeface="Noto Sans CJK SC" pitchFamily="34" charset="0"/>
                <a:ea typeface="Noto Sans CJK SC" pitchFamily="34" charset="-122"/>
                <a:cs typeface="Noto Sans CJK SC" pitchFamily="34" charset="-120"/>
              </a:rPr>
              <a:t>第五章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43</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400" b="1" dirty="0">
                <a:solidFill>
                  <a:srgbClr val="29241F"/>
                </a:solidFill>
                <a:latin typeface="Noto Serif CJK SC" pitchFamily="34" charset="0"/>
                <a:ea typeface="Noto Serif CJK SC" pitchFamily="34" charset="-122"/>
                <a:cs typeface="Noto Serif CJK SC" pitchFamily="34" charset="-120"/>
              </a:rPr>
              <a:t>第五章｜谁在忙碌，谁的声音从外面传来？</a:t>
            </a:r>
            <a:endParaRPr lang="en-US" sz="3400" dirty="0"/>
          </a:p>
        </p:txBody>
      </p:sp>
      <p:sp>
        <p:nvSpPr>
          <p:cNvPr id="6" name="Shape 4"/>
          <p:cNvSpPr/>
          <p:nvPr/>
        </p:nvSpPr>
        <p:spPr>
          <a:xfrm>
            <a:off x="822960" y="1325880"/>
            <a:ext cx="10561320" cy="3977640"/>
          </a:xfrm>
          <a:prstGeom prst="roundRect">
            <a:avLst>
              <a:gd name="adj" fmla="val 920"/>
            </a:avLst>
          </a:prstGeom>
          <a:solidFill>
            <a:srgbClr val="FFFCF7"/>
          </a:solidFill>
          <a:ln w="13970">
            <a:solidFill>
              <a:srgbClr val="725260"/>
            </a:solidFill>
            <a:prstDash val="solid"/>
          </a:ln>
        </p:spPr>
      </p:sp>
      <p:sp>
        <p:nvSpPr>
          <p:cNvPr id="7" name="Text 5"/>
          <p:cNvSpPr/>
          <p:nvPr/>
        </p:nvSpPr>
        <p:spPr>
          <a:xfrm>
            <a:off x="1051560" y="1668780"/>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三岁为妇，靡室劳矣。</a:t>
            </a:r>
            <a:endParaRPr lang="en-US" sz="3100" dirty="0"/>
          </a:p>
        </p:txBody>
      </p:sp>
      <p:sp>
        <p:nvSpPr>
          <p:cNvPr id="8" name="Text 6"/>
          <p:cNvSpPr/>
          <p:nvPr/>
        </p:nvSpPr>
        <p:spPr>
          <a:xfrm>
            <a:off x="1051560" y="2327148"/>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夙兴夜寐，靡有朝矣。</a:t>
            </a:r>
            <a:endParaRPr lang="en-US" sz="3100" dirty="0"/>
          </a:p>
        </p:txBody>
      </p:sp>
      <p:sp>
        <p:nvSpPr>
          <p:cNvPr id="9" name="Text 7"/>
          <p:cNvSpPr/>
          <p:nvPr/>
        </p:nvSpPr>
        <p:spPr>
          <a:xfrm>
            <a:off x="1051560" y="2985516"/>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言既遂矣，至于暴矣。</a:t>
            </a:r>
            <a:endParaRPr lang="en-US" sz="3100" dirty="0"/>
          </a:p>
        </p:txBody>
      </p:sp>
      <p:sp>
        <p:nvSpPr>
          <p:cNvPr id="10" name="Text 8"/>
          <p:cNvSpPr/>
          <p:nvPr/>
        </p:nvSpPr>
        <p:spPr>
          <a:xfrm>
            <a:off x="1051560" y="3643884"/>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兄弟不知，咥其笑矣。</a:t>
            </a:r>
            <a:endParaRPr lang="en-US" sz="3100" dirty="0"/>
          </a:p>
        </p:txBody>
      </p:sp>
      <p:sp>
        <p:nvSpPr>
          <p:cNvPr id="11" name="Text 9"/>
          <p:cNvSpPr/>
          <p:nvPr/>
        </p:nvSpPr>
        <p:spPr>
          <a:xfrm>
            <a:off x="1051560" y="4302252"/>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静言思之，躬自悼矣。</a:t>
            </a:r>
            <a:endParaRPr lang="en-US" sz="3100" dirty="0"/>
          </a:p>
        </p:txBody>
      </p:sp>
      <p:sp>
        <p:nvSpPr>
          <p:cNvPr id="12" name="Text 10"/>
          <p:cNvSpPr/>
          <p:nvPr/>
        </p:nvSpPr>
        <p:spPr>
          <a:xfrm>
            <a:off x="914400" y="5532120"/>
            <a:ext cx="10332720" cy="685800"/>
          </a:xfrm>
          <a:prstGeom prst="rect">
            <a:avLst/>
          </a:prstGeom>
          <a:noFill/>
          <a:ln/>
        </p:spPr>
        <p:txBody>
          <a:bodyPr wrap="square" lIns="0" tIns="0" rIns="0" bIns="0" rtlCol="0" anchor="ctr">
            <a:normAutofit/>
          </a:bodyPr>
          <a:lstStyle/>
          <a:p>
            <a:pPr algn="ctr" indent="0" marL="0">
              <a:buNone/>
            </a:pPr>
            <a:r>
              <a:rPr lang="en-US" sz="2400" b="1" dirty="0">
                <a:solidFill>
                  <a:srgbClr val="725260"/>
                </a:solidFill>
                <a:latin typeface="Noto Serif CJK SC" pitchFamily="34" charset="0"/>
                <a:ea typeface="Noto Serif CJK SC" pitchFamily="34" charset="-122"/>
                <a:cs typeface="Noto Serif CJK SC" pitchFamily="34" charset="-120"/>
              </a:rPr>
              <a:t>完整读完，再留下：　一个反复的生活动作｜声音转向内心的原句</a:t>
            </a:r>
            <a:endParaRPr lang="en-US" sz="2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725260"/>
          </a:solidFill>
          <a:ln w="12700">
            <a:solidFill>
              <a:srgbClr val="725260"/>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725260"/>
                </a:solidFill>
                <a:latin typeface="Noto Sans CJK SC" pitchFamily="34" charset="0"/>
                <a:ea typeface="Noto Sans CJK SC" pitchFamily="34" charset="-122"/>
                <a:cs typeface="Noto Sans CJK SC" pitchFamily="34" charset="-120"/>
              </a:rPr>
              <a:t>第五章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44</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700" b="1" dirty="0">
                <a:solidFill>
                  <a:srgbClr val="29241F"/>
                </a:solidFill>
                <a:latin typeface="Noto Serif CJK SC" pitchFamily="34" charset="0"/>
                <a:ea typeface="Noto Serif CJK SC" pitchFamily="34" charset="-122"/>
                <a:cs typeface="Noto Serif CJK SC" pitchFamily="34" charset="-120"/>
              </a:rPr>
              <a:t>三岁为妇，靡室劳矣。</a:t>
            </a:r>
            <a:endParaRPr lang="en-US" sz="3700" dirty="0"/>
          </a:p>
        </p:txBody>
      </p:sp>
      <p:sp>
        <p:nvSpPr>
          <p:cNvPr id="6" name="Text 4"/>
          <p:cNvSpPr/>
          <p:nvPr/>
        </p:nvSpPr>
        <p:spPr>
          <a:xfrm>
            <a:off x="960120" y="1554480"/>
            <a:ext cx="10195560" cy="656173"/>
          </a:xfrm>
          <a:prstGeom prst="rect">
            <a:avLst/>
          </a:prstGeom>
          <a:noFill/>
          <a:ln/>
        </p:spPr>
        <p:txBody>
          <a:bodyPr wrap="square" lIns="0" tIns="0" rIns="0" bIns="0" rtlCol="0" anchor="ctr">
            <a:normAutofit/>
          </a:bodyPr>
          <a:lstStyle/>
          <a:p>
            <a:pPr algn="ctr" indent="0" marL="0">
              <a:buNone/>
            </a:pPr>
            <a:r>
              <a:rPr lang="en-US" sz="3000" dirty="0">
                <a:solidFill>
                  <a:srgbClr val="29241F"/>
                </a:solidFill>
                <a:latin typeface="Noto Serif CJK SC" pitchFamily="34" charset="0"/>
                <a:ea typeface="Noto Serif CJK SC" pitchFamily="34" charset="-122"/>
                <a:cs typeface="Noto Serif CJK SC" pitchFamily="34" charset="-120"/>
              </a:rPr>
              <a:t>夙兴夜寐，靡有朝矣。</a:t>
            </a:r>
            <a:endParaRPr lang="en-US" sz="3000" dirty="0"/>
          </a:p>
        </p:txBody>
      </p:sp>
      <p:sp>
        <p:nvSpPr>
          <p:cNvPr id="7" name="Text 5"/>
          <p:cNvSpPr/>
          <p:nvPr/>
        </p:nvSpPr>
        <p:spPr>
          <a:xfrm>
            <a:off x="960120" y="2395728"/>
            <a:ext cx="10195560" cy="656173"/>
          </a:xfrm>
          <a:prstGeom prst="rect">
            <a:avLst/>
          </a:prstGeom>
          <a:noFill/>
          <a:ln/>
        </p:spPr>
        <p:txBody>
          <a:bodyPr wrap="square" lIns="0" tIns="0" rIns="0" bIns="0" rtlCol="0" anchor="ctr">
            <a:normAutofit/>
          </a:bodyPr>
          <a:lstStyle/>
          <a:p>
            <a:pPr algn="ctr" indent="0" marL="0">
              <a:buNone/>
            </a:pPr>
            <a:r>
              <a:rPr lang="en-US" sz="3000" dirty="0">
                <a:solidFill>
                  <a:srgbClr val="29241F"/>
                </a:solidFill>
                <a:latin typeface="Noto Serif CJK SC" pitchFamily="34" charset="0"/>
                <a:ea typeface="Noto Serif CJK SC" pitchFamily="34" charset="-122"/>
                <a:cs typeface="Noto Serif CJK SC" pitchFamily="34" charset="-120"/>
              </a:rPr>
              <a:t>靡室劳矣：家里的劳苦活儿，没有一样不做。</a:t>
            </a:r>
            <a:endParaRPr lang="en-US" sz="3000" dirty="0"/>
          </a:p>
        </p:txBody>
      </p:sp>
      <p:sp>
        <p:nvSpPr>
          <p:cNvPr id="8" name="Text 6"/>
          <p:cNvSpPr/>
          <p:nvPr/>
        </p:nvSpPr>
        <p:spPr>
          <a:xfrm>
            <a:off x="960120" y="3236976"/>
            <a:ext cx="10195560" cy="656173"/>
          </a:xfrm>
          <a:prstGeom prst="rect">
            <a:avLst/>
          </a:prstGeom>
          <a:noFill/>
          <a:ln/>
        </p:spPr>
        <p:txBody>
          <a:bodyPr wrap="square" lIns="0" tIns="0" rIns="0" bIns="0" rtlCol="0" anchor="ctr">
            <a:normAutofit/>
          </a:bodyPr>
          <a:lstStyle/>
          <a:p>
            <a:pPr algn="ctr" indent="0" marL="0">
              <a:buNone/>
            </a:pPr>
            <a:r>
              <a:rPr lang="en-US" sz="3000" dirty="0">
                <a:solidFill>
                  <a:srgbClr val="29241F"/>
                </a:solidFill>
                <a:latin typeface="Noto Serif CJK SC" pitchFamily="34" charset="0"/>
                <a:ea typeface="Noto Serif CJK SC" pitchFamily="34" charset="-122"/>
                <a:cs typeface="Noto Serif CJK SC" pitchFamily="34" charset="-120"/>
              </a:rPr>
              <a:t>夙：早　兴：起身　夜寐：晚睡　朝：一日</a:t>
            </a:r>
            <a:endParaRPr lang="en-US" sz="3000" dirty="0"/>
          </a:p>
        </p:txBody>
      </p:sp>
      <p:sp>
        <p:nvSpPr>
          <p:cNvPr id="9" name="Text 7"/>
          <p:cNvSpPr/>
          <p:nvPr/>
        </p:nvSpPr>
        <p:spPr>
          <a:xfrm>
            <a:off x="960120" y="4078224"/>
            <a:ext cx="10195560" cy="656173"/>
          </a:xfrm>
          <a:prstGeom prst="rect">
            <a:avLst/>
          </a:prstGeom>
          <a:noFill/>
          <a:ln/>
        </p:spPr>
        <p:txBody>
          <a:bodyPr wrap="square" lIns="0" tIns="0" rIns="0" bIns="0" rtlCol="0" anchor="ctr">
            <a:normAutofit/>
          </a:bodyPr>
          <a:lstStyle/>
          <a:p>
            <a:pPr algn="ctr" indent="0" marL="0">
              <a:buNone/>
            </a:pPr>
            <a:r>
              <a:rPr lang="en-US" sz="3000" dirty="0">
                <a:solidFill>
                  <a:srgbClr val="29241F"/>
                </a:solidFill>
                <a:latin typeface="Noto Serif CJK SC" pitchFamily="34" charset="0"/>
                <a:ea typeface="Noto Serif CJK SC" pitchFamily="34" charset="-122"/>
                <a:cs typeface="Noto Serif CJK SC" pitchFamily="34" charset="-120"/>
              </a:rPr>
              <a:t>一天从哪里开始，到哪里结束？</a:t>
            </a:r>
            <a:endParaRPr lang="en-US" sz="3000" dirty="0"/>
          </a:p>
        </p:txBody>
      </p:sp>
      <p:sp>
        <p:nvSpPr>
          <p:cNvPr id="10" name="Text 8"/>
          <p:cNvSpPr/>
          <p:nvPr/>
        </p:nvSpPr>
        <p:spPr>
          <a:xfrm>
            <a:off x="960120" y="4919472"/>
            <a:ext cx="10195560" cy="656173"/>
          </a:xfrm>
          <a:prstGeom prst="rect">
            <a:avLst/>
          </a:prstGeom>
          <a:noFill/>
          <a:ln/>
        </p:spPr>
        <p:txBody>
          <a:bodyPr wrap="square" lIns="0" tIns="0" rIns="0" bIns="0" rtlCol="0" anchor="ctr">
            <a:normAutofit/>
          </a:bodyPr>
          <a:lstStyle/>
          <a:p>
            <a:pPr algn="ctr" indent="0" marL="0">
              <a:buNone/>
            </a:pPr>
            <a:r>
              <a:rPr lang="en-US" sz="2800" b="1" dirty="0">
                <a:solidFill>
                  <a:srgbClr val="725260"/>
                </a:solidFill>
                <a:latin typeface="Noto Serif CJK SC" pitchFamily="34" charset="0"/>
                <a:ea typeface="Noto Serif CJK SC" pitchFamily="34" charset="-122"/>
                <a:cs typeface="Noto Serif CJK SC" pitchFamily="34" charset="-120"/>
              </a:rPr>
              <a:t>哪个字让它不只发生一天？</a:t>
            </a:r>
            <a:endParaRPr lang="en-US" sz="28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725260"/>
          </a:solidFill>
          <a:ln w="12700">
            <a:solidFill>
              <a:srgbClr val="725260"/>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725260"/>
                </a:solidFill>
                <a:latin typeface="Noto Sans CJK SC" pitchFamily="34" charset="0"/>
                <a:ea typeface="Noto Sans CJK SC" pitchFamily="34" charset="-122"/>
                <a:cs typeface="Noto Sans CJK SC" pitchFamily="34" charset="-120"/>
              </a:rPr>
              <a:t>第五章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45</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600" b="1" dirty="0">
                <a:solidFill>
                  <a:srgbClr val="29241F"/>
                </a:solidFill>
                <a:latin typeface="Noto Serif CJK SC" pitchFamily="34" charset="0"/>
                <a:ea typeface="Noto Serif CJK SC" pitchFamily="34" charset="-122"/>
                <a:cs typeface="Noto Serif CJK SC" pitchFamily="34" charset="-120"/>
              </a:rPr>
              <a:t>后来再看开头，哪些细节值得留意？</a:t>
            </a:r>
            <a:endParaRPr lang="en-US" sz="3600" dirty="0"/>
          </a:p>
        </p:txBody>
      </p:sp>
      <p:sp>
        <p:nvSpPr>
          <p:cNvPr id="6" name="Shape 4"/>
          <p:cNvSpPr/>
          <p:nvPr/>
        </p:nvSpPr>
        <p:spPr>
          <a:xfrm>
            <a:off x="768096" y="1572768"/>
            <a:ext cx="3380232" cy="3858768"/>
          </a:xfrm>
          <a:prstGeom prst="roundRect">
            <a:avLst>
              <a:gd name="adj" fmla="val 1082"/>
            </a:avLst>
          </a:prstGeom>
          <a:solidFill>
            <a:srgbClr val="FFFCF7"/>
          </a:solidFill>
          <a:ln w="13970">
            <a:solidFill>
              <a:srgbClr val="446E78"/>
            </a:solidFill>
            <a:prstDash val="solid"/>
          </a:ln>
        </p:spPr>
      </p:sp>
      <p:sp>
        <p:nvSpPr>
          <p:cNvPr id="7" name="Text 5"/>
          <p:cNvSpPr/>
          <p:nvPr/>
        </p:nvSpPr>
        <p:spPr>
          <a:xfrm>
            <a:off x="1042416" y="2029968"/>
            <a:ext cx="2831592" cy="2834640"/>
          </a:xfrm>
          <a:prstGeom prst="rect">
            <a:avLst/>
          </a:prstGeom>
          <a:noFill/>
          <a:ln/>
        </p:spPr>
        <p:txBody>
          <a:bodyPr wrap="square" lIns="0" tIns="0" rIns="0" bIns="0" rtlCol="0" anchor="ctr">
            <a:normAutofit/>
          </a:bodyPr>
          <a:lstStyle/>
          <a:p>
            <a:pPr algn="ctr" indent="0" marL="0">
              <a:buNone/>
            </a:pPr>
            <a:r>
              <a:rPr lang="en-US" sz="2400" b="1" dirty="0">
                <a:solidFill>
                  <a:srgbClr val="29241F"/>
                </a:solidFill>
                <a:latin typeface="Noto Serif CJK SC" pitchFamily="34" charset="0"/>
                <a:ea typeface="Noto Serif CJK SC" pitchFamily="34" charset="-122"/>
                <a:cs typeface="Noto Serif CJK SC" pitchFamily="34" charset="-120"/>
              </a:rPr>
              <a:t>抱布贸丝　来即我谋　将子无怒</a:t>
            </a:r>
            <a:endParaRPr lang="en-US" sz="2400" dirty="0"/>
          </a:p>
        </p:txBody>
      </p:sp>
      <p:sp>
        <p:nvSpPr>
          <p:cNvPr id="8" name="Shape 6"/>
          <p:cNvSpPr/>
          <p:nvPr/>
        </p:nvSpPr>
        <p:spPr>
          <a:xfrm>
            <a:off x="4404360" y="1572768"/>
            <a:ext cx="3380232" cy="3858768"/>
          </a:xfrm>
          <a:prstGeom prst="roundRect">
            <a:avLst>
              <a:gd name="adj" fmla="val 1082"/>
            </a:avLst>
          </a:prstGeom>
          <a:solidFill>
            <a:srgbClr val="FFFCF7"/>
          </a:solidFill>
          <a:ln w="13970">
            <a:solidFill>
              <a:srgbClr val="725260"/>
            </a:solidFill>
            <a:prstDash val="solid"/>
          </a:ln>
        </p:spPr>
      </p:sp>
      <p:sp>
        <p:nvSpPr>
          <p:cNvPr id="9" name="Text 7"/>
          <p:cNvSpPr/>
          <p:nvPr/>
        </p:nvSpPr>
        <p:spPr>
          <a:xfrm>
            <a:off x="4678680" y="2029968"/>
            <a:ext cx="2831592" cy="2834640"/>
          </a:xfrm>
          <a:prstGeom prst="rect">
            <a:avLst/>
          </a:prstGeom>
          <a:noFill/>
          <a:ln/>
        </p:spPr>
        <p:txBody>
          <a:bodyPr wrap="square" lIns="0" tIns="0" rIns="0" bIns="0" rtlCol="0" anchor="ctr">
            <a:normAutofit/>
          </a:bodyPr>
          <a:lstStyle/>
          <a:p>
            <a:pPr algn="ctr" indent="0" marL="0">
              <a:buNone/>
            </a:pPr>
            <a:r>
              <a:rPr lang="en-US" sz="2700" b="1" dirty="0">
                <a:solidFill>
                  <a:srgbClr val="29241F"/>
                </a:solidFill>
                <a:latin typeface="Noto Serif CJK SC" pitchFamily="34" charset="0"/>
                <a:ea typeface="Noto Serif CJK SC" pitchFamily="34" charset="-122"/>
                <a:cs typeface="Noto Serif CJK SC" pitchFamily="34" charset="-120"/>
              </a:rPr>
              <a:t>后来再看，值得留意</a:t>
            </a:r>
            <a:endParaRPr lang="en-US" sz="2700" dirty="0"/>
          </a:p>
        </p:txBody>
      </p:sp>
      <p:sp>
        <p:nvSpPr>
          <p:cNvPr id="10" name="Shape 8"/>
          <p:cNvSpPr/>
          <p:nvPr/>
        </p:nvSpPr>
        <p:spPr>
          <a:xfrm>
            <a:off x="8040624" y="1572768"/>
            <a:ext cx="3380232" cy="3858768"/>
          </a:xfrm>
          <a:prstGeom prst="roundRect">
            <a:avLst>
              <a:gd name="adj" fmla="val 1082"/>
            </a:avLst>
          </a:prstGeom>
          <a:solidFill>
            <a:srgbClr val="FFFCF7"/>
          </a:solidFill>
          <a:ln w="13970">
            <a:solidFill>
              <a:srgbClr val="A67F4A"/>
            </a:solidFill>
            <a:prstDash val="solid"/>
          </a:ln>
        </p:spPr>
      </p:sp>
      <p:sp>
        <p:nvSpPr>
          <p:cNvPr id="11" name="Text 9"/>
          <p:cNvSpPr/>
          <p:nvPr/>
        </p:nvSpPr>
        <p:spPr>
          <a:xfrm>
            <a:off x="8314944" y="2029968"/>
            <a:ext cx="2831592" cy="2834640"/>
          </a:xfrm>
          <a:prstGeom prst="rect">
            <a:avLst/>
          </a:prstGeom>
          <a:noFill/>
          <a:ln/>
        </p:spPr>
        <p:txBody>
          <a:bodyPr wrap="square" lIns="0" tIns="0" rIns="0" bIns="0" rtlCol="0" anchor="ctr">
            <a:normAutofit/>
          </a:bodyPr>
          <a:lstStyle/>
          <a:p>
            <a:pPr algn="ctr" indent="0" marL="0">
              <a:buNone/>
            </a:pPr>
            <a:r>
              <a:rPr lang="en-US" sz="2700" b="1" dirty="0">
                <a:solidFill>
                  <a:srgbClr val="29241F"/>
                </a:solidFill>
                <a:latin typeface="Noto Serif CJK SC" pitchFamily="34" charset="0"/>
                <a:ea typeface="Noto Serif CJK SC" pitchFamily="34" charset="-122"/>
                <a:cs typeface="Noto Serif CJK SC" pitchFamily="34" charset="-120"/>
              </a:rPr>
              <a:t>只凭当时，不能断定</a:t>
            </a:r>
            <a:endParaRPr lang="en-US" sz="27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28231F"/>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725260"/>
          </a:solidFill>
          <a:ln w="12700">
            <a:solidFill>
              <a:srgbClr val="725260"/>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DED0BC"/>
                </a:solidFill>
                <a:latin typeface="Noto Sans CJK SC" pitchFamily="34" charset="0"/>
                <a:ea typeface="Noto Sans CJK SC" pitchFamily="34" charset="-122"/>
                <a:cs typeface="Noto Sans CJK SC" pitchFamily="34" charset="-120"/>
              </a:rPr>
              <a:t>第五章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C5B39B"/>
                </a:solidFill>
                <a:latin typeface="Noto Sans CJK SC" pitchFamily="34" charset="0"/>
                <a:ea typeface="Noto Sans CJK SC" pitchFamily="34" charset="-122"/>
                <a:cs typeface="Noto Sans CJK SC" pitchFamily="34" charset="-120"/>
              </a:rPr>
              <a:t>46</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700" b="1" dirty="0">
                <a:solidFill>
                  <a:srgbClr val="FFFDFC"/>
                </a:solidFill>
                <a:latin typeface="Noto Serif CJK SC" pitchFamily="34" charset="0"/>
                <a:ea typeface="Noto Serif CJK SC" pitchFamily="34" charset="-122"/>
                <a:cs typeface="Noto Serif CJK SC" pitchFamily="34" charset="-120"/>
              </a:rPr>
              <a:t>笑声散去以后……</a:t>
            </a:r>
            <a:endParaRPr lang="en-US" sz="3700" dirty="0"/>
          </a:p>
        </p:txBody>
      </p:sp>
      <p:sp>
        <p:nvSpPr>
          <p:cNvPr id="6" name="Text 4"/>
          <p:cNvSpPr/>
          <p:nvPr/>
        </p:nvSpPr>
        <p:spPr>
          <a:xfrm>
            <a:off x="960120" y="1554480"/>
            <a:ext cx="10195560" cy="656173"/>
          </a:xfrm>
          <a:prstGeom prst="rect">
            <a:avLst/>
          </a:prstGeom>
          <a:noFill/>
          <a:ln/>
        </p:spPr>
        <p:txBody>
          <a:bodyPr wrap="square" lIns="0" tIns="0" rIns="0" bIns="0" rtlCol="0" anchor="ctr">
            <a:normAutofit/>
          </a:bodyPr>
          <a:lstStyle/>
          <a:p>
            <a:pPr algn="ctr" indent="0" marL="0">
              <a:buNone/>
            </a:pPr>
            <a:r>
              <a:rPr lang="en-US" sz="3000" b="1" dirty="0">
                <a:solidFill>
                  <a:srgbClr val="FFFDFC"/>
                </a:solidFill>
                <a:latin typeface="Noto Serif CJK SC" pitchFamily="34" charset="0"/>
                <a:ea typeface="Noto Serif CJK SC" pitchFamily="34" charset="-122"/>
                <a:cs typeface="Noto Serif CJK SC" pitchFamily="34" charset="-120"/>
              </a:rPr>
              <a:t>兄弟不知，咥其笑矣。</a:t>
            </a:r>
            <a:endParaRPr lang="en-US" sz="3000" dirty="0"/>
          </a:p>
        </p:txBody>
      </p:sp>
      <p:sp>
        <p:nvSpPr>
          <p:cNvPr id="7" name="Text 5"/>
          <p:cNvSpPr/>
          <p:nvPr/>
        </p:nvSpPr>
        <p:spPr>
          <a:xfrm>
            <a:off x="960120" y="2395728"/>
            <a:ext cx="10195560" cy="656173"/>
          </a:xfrm>
          <a:prstGeom prst="rect">
            <a:avLst/>
          </a:prstGeom>
          <a:noFill/>
          <a:ln/>
        </p:spPr>
        <p:txBody>
          <a:bodyPr wrap="square" lIns="0" tIns="0" rIns="0" bIns="0" rtlCol="0" anchor="ctr">
            <a:normAutofit/>
          </a:bodyPr>
          <a:lstStyle/>
          <a:p>
            <a:pPr algn="ctr" indent="0" marL="0">
              <a:buNone/>
            </a:pPr>
            <a:r>
              <a:rPr lang="en-US" sz="3000" b="1" dirty="0">
                <a:solidFill>
                  <a:srgbClr val="FFFDFC"/>
                </a:solidFill>
                <a:latin typeface="Noto Serif CJK SC" pitchFamily="34" charset="0"/>
                <a:ea typeface="Noto Serif CJK SC" pitchFamily="34" charset="-122"/>
                <a:cs typeface="Noto Serif CJK SC" pitchFamily="34" charset="-120"/>
              </a:rPr>
              <a:t>静言思之，躬自悼矣。</a:t>
            </a:r>
            <a:endParaRPr lang="en-US" sz="3000" dirty="0"/>
          </a:p>
        </p:txBody>
      </p:sp>
      <p:sp>
        <p:nvSpPr>
          <p:cNvPr id="8" name="Text 6"/>
          <p:cNvSpPr/>
          <p:nvPr/>
        </p:nvSpPr>
        <p:spPr>
          <a:xfrm>
            <a:off x="960120" y="3236976"/>
            <a:ext cx="10195560" cy="656173"/>
          </a:xfrm>
          <a:prstGeom prst="rect">
            <a:avLst/>
          </a:prstGeom>
          <a:noFill/>
          <a:ln/>
        </p:spPr>
        <p:txBody>
          <a:bodyPr wrap="square" lIns="0" tIns="0" rIns="0" bIns="0" rtlCol="0" anchor="ctr">
            <a:normAutofit/>
          </a:bodyPr>
          <a:lstStyle/>
          <a:p>
            <a:pPr algn="ctr" indent="0" marL="0">
              <a:buNone/>
            </a:pPr>
            <a:r>
              <a:rPr lang="en-US" sz="2800" b="1" dirty="0">
                <a:solidFill>
                  <a:srgbClr val="EFE3CF"/>
                </a:solidFill>
                <a:latin typeface="Noto Serif CJK SC" pitchFamily="34" charset="0"/>
                <a:ea typeface="Noto Serif CJK SC" pitchFamily="34" charset="-122"/>
                <a:cs typeface="Noto Serif CJK SC" pitchFamily="34" charset="-120"/>
              </a:rPr>
              <a:t>外面的声音退去以后，空间里只剩下谁？</a:t>
            </a:r>
            <a:endParaRPr lang="en-US" sz="28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725260"/>
          </a:solidFill>
          <a:ln w="12700">
            <a:solidFill>
              <a:srgbClr val="725260"/>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725260"/>
                </a:solidFill>
                <a:latin typeface="Noto Sans CJK SC" pitchFamily="34" charset="0"/>
                <a:ea typeface="Noto Sans CJK SC" pitchFamily="34" charset="-122"/>
                <a:cs typeface="Noto Sans CJK SC" pitchFamily="34" charset="-120"/>
              </a:rPr>
              <a:t>第五章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47</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700" b="1" dirty="0">
                <a:solidFill>
                  <a:srgbClr val="29241F"/>
                </a:solidFill>
                <a:latin typeface="Noto Serif CJK SC" pitchFamily="34" charset="0"/>
                <a:ea typeface="Noto Serif CJK SC" pitchFamily="34" charset="-122"/>
                <a:cs typeface="Noto Serif CJK SC" pitchFamily="34" charset="-120"/>
              </a:rPr>
              <a:t>一间屋子里的许多年</a:t>
            </a:r>
            <a:endParaRPr lang="en-US" sz="3700" dirty="0"/>
          </a:p>
        </p:txBody>
      </p:sp>
      <p:sp>
        <p:nvSpPr>
          <p:cNvPr id="6" name="Text 4"/>
          <p:cNvSpPr/>
          <p:nvPr/>
        </p:nvSpPr>
        <p:spPr>
          <a:xfrm>
            <a:off x="960120" y="1554480"/>
            <a:ext cx="10195560" cy="656173"/>
          </a:xfrm>
          <a:prstGeom prst="rect">
            <a:avLst/>
          </a:prstGeom>
          <a:noFill/>
          <a:ln/>
        </p:spPr>
        <p:txBody>
          <a:bodyPr wrap="square" lIns="0" tIns="0" rIns="0" bIns="0" rtlCol="0" anchor="ctr">
            <a:normAutofit/>
          </a:bodyPr>
          <a:lstStyle/>
          <a:p>
            <a:pPr algn="ctr" indent="0" marL="0">
              <a:buNone/>
            </a:pPr>
            <a:r>
              <a:rPr lang="en-US" sz="3000" b="1" dirty="0">
                <a:solidFill>
                  <a:srgbClr val="29241F"/>
                </a:solidFill>
                <a:latin typeface="Noto Serif CJK SC" pitchFamily="34" charset="0"/>
                <a:ea typeface="Noto Serif CJK SC" pitchFamily="34" charset="-122"/>
                <a:cs typeface="Noto Serif CJK SC" pitchFamily="34" charset="-120"/>
              </a:rPr>
              <a:t>夙兴夜寐｜既遂至暴｜兄弟不知｜躬自悼矣</a:t>
            </a:r>
            <a:endParaRPr lang="en-US" sz="3000" dirty="0"/>
          </a:p>
        </p:txBody>
      </p:sp>
      <p:sp>
        <p:nvSpPr>
          <p:cNvPr id="7" name="Text 5"/>
          <p:cNvSpPr/>
          <p:nvPr/>
        </p:nvSpPr>
        <p:spPr>
          <a:xfrm>
            <a:off x="960120" y="2395728"/>
            <a:ext cx="10195560" cy="656173"/>
          </a:xfrm>
          <a:prstGeom prst="rect">
            <a:avLst/>
          </a:prstGeom>
          <a:noFill/>
          <a:ln/>
        </p:spPr>
        <p:txBody>
          <a:bodyPr wrap="square" lIns="0" tIns="0" rIns="0" bIns="0" rtlCol="0" anchor="ctr">
            <a:normAutofit/>
          </a:bodyPr>
          <a:lstStyle/>
          <a:p>
            <a:pPr algn="ctr" indent="0" marL="0">
              <a:buNone/>
            </a:pPr>
            <a:r>
              <a:rPr lang="en-US" sz="2800" b="1" dirty="0">
                <a:solidFill>
                  <a:srgbClr val="725260"/>
                </a:solidFill>
                <a:latin typeface="Noto Serif CJK SC" pitchFamily="34" charset="0"/>
                <a:ea typeface="Noto Serif CJK SC" pitchFamily="34" charset="-122"/>
                <a:cs typeface="Noto Serif CJK SC" pitchFamily="34" charset="-120"/>
              </a:rPr>
              <a:t>只写诗里有的日子，不替她增添诗外的遭遇。</a:t>
            </a:r>
            <a:endParaRPr lang="en-US" sz="28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94473B"/>
          </a:solidFill>
          <a:ln w="12700">
            <a:solidFill>
              <a:srgbClr val="94473B"/>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94473B"/>
                </a:solidFill>
                <a:latin typeface="Noto Sans CJK SC" pitchFamily="34" charset="0"/>
                <a:ea typeface="Noto Sans CJK SC" pitchFamily="34" charset="-122"/>
                <a:cs typeface="Noto Sans CJK SC" pitchFamily="34" charset="-120"/>
              </a:rPr>
              <a:t>第六章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48</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400" b="1" dirty="0">
                <a:solidFill>
                  <a:srgbClr val="29241F"/>
                </a:solidFill>
                <a:latin typeface="Noto Serif CJK SC" pitchFamily="34" charset="0"/>
                <a:ea typeface="Noto Serif CJK SC" pitchFamily="34" charset="-122"/>
                <a:cs typeface="Noto Serif CJK SC" pitchFamily="34" charset="-120"/>
              </a:rPr>
              <a:t>第六章｜她把哪些旧事重新放回眼前？</a:t>
            </a:r>
            <a:endParaRPr lang="en-US" sz="3400" dirty="0"/>
          </a:p>
        </p:txBody>
      </p:sp>
      <p:sp>
        <p:nvSpPr>
          <p:cNvPr id="6" name="Shape 4"/>
          <p:cNvSpPr/>
          <p:nvPr/>
        </p:nvSpPr>
        <p:spPr>
          <a:xfrm>
            <a:off x="822960" y="1325880"/>
            <a:ext cx="10561320" cy="3977640"/>
          </a:xfrm>
          <a:prstGeom prst="roundRect">
            <a:avLst>
              <a:gd name="adj" fmla="val 920"/>
            </a:avLst>
          </a:prstGeom>
          <a:solidFill>
            <a:srgbClr val="FFFCF7"/>
          </a:solidFill>
          <a:ln w="13970">
            <a:solidFill>
              <a:srgbClr val="94473B"/>
            </a:solidFill>
            <a:prstDash val="solid"/>
          </a:ln>
        </p:spPr>
      </p:sp>
      <p:sp>
        <p:nvSpPr>
          <p:cNvPr id="7" name="Text 5"/>
          <p:cNvSpPr/>
          <p:nvPr/>
        </p:nvSpPr>
        <p:spPr>
          <a:xfrm>
            <a:off x="1051560" y="1668780"/>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及尔偕老，老使我怨。</a:t>
            </a:r>
            <a:endParaRPr lang="en-US" sz="3100" dirty="0"/>
          </a:p>
        </p:txBody>
      </p:sp>
      <p:sp>
        <p:nvSpPr>
          <p:cNvPr id="8" name="Text 6"/>
          <p:cNvSpPr/>
          <p:nvPr/>
        </p:nvSpPr>
        <p:spPr>
          <a:xfrm>
            <a:off x="1051560" y="2327148"/>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淇则有岸，隰则有泮。</a:t>
            </a:r>
            <a:endParaRPr lang="en-US" sz="3100" dirty="0"/>
          </a:p>
        </p:txBody>
      </p:sp>
      <p:sp>
        <p:nvSpPr>
          <p:cNvPr id="9" name="Text 7"/>
          <p:cNvSpPr/>
          <p:nvPr/>
        </p:nvSpPr>
        <p:spPr>
          <a:xfrm>
            <a:off x="1051560" y="2985516"/>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总角之宴，言笑晏晏。</a:t>
            </a:r>
            <a:endParaRPr lang="en-US" sz="3100" dirty="0"/>
          </a:p>
        </p:txBody>
      </p:sp>
      <p:sp>
        <p:nvSpPr>
          <p:cNvPr id="10" name="Text 8"/>
          <p:cNvSpPr/>
          <p:nvPr/>
        </p:nvSpPr>
        <p:spPr>
          <a:xfrm>
            <a:off x="1051560" y="3643884"/>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信誓旦旦，不思其反。</a:t>
            </a:r>
            <a:endParaRPr lang="en-US" sz="3100" dirty="0"/>
          </a:p>
        </p:txBody>
      </p:sp>
      <p:sp>
        <p:nvSpPr>
          <p:cNvPr id="11" name="Text 9"/>
          <p:cNvSpPr/>
          <p:nvPr/>
        </p:nvSpPr>
        <p:spPr>
          <a:xfrm>
            <a:off x="1051560" y="4302252"/>
            <a:ext cx="10104120" cy="539862"/>
          </a:xfrm>
          <a:prstGeom prst="rect">
            <a:avLst/>
          </a:prstGeom>
          <a:noFill/>
          <a:ln/>
        </p:spPr>
        <p:txBody>
          <a:bodyPr wrap="square" lIns="0" tIns="0" rIns="0" bIns="0" rtlCol="0" anchor="ctr"/>
          <a:lstStyle/>
          <a:p>
            <a:pPr algn="ctr" indent="0" marL="0">
              <a:buNone/>
            </a:pPr>
            <a:r>
              <a:rPr lang="en-US" sz="3100" dirty="0">
                <a:solidFill>
                  <a:srgbClr val="29241F"/>
                </a:solidFill>
                <a:latin typeface="Noto Serif CJK SC" pitchFamily="34" charset="0"/>
                <a:ea typeface="Noto Serif CJK SC" pitchFamily="34" charset="-122"/>
                <a:cs typeface="Noto Serif CJK SC" pitchFamily="34" charset="-120"/>
              </a:rPr>
              <a:t>反是不思，亦已焉哉。</a:t>
            </a:r>
            <a:endParaRPr lang="en-US" sz="3100" dirty="0"/>
          </a:p>
        </p:txBody>
      </p:sp>
      <p:sp>
        <p:nvSpPr>
          <p:cNvPr id="12" name="Text 10"/>
          <p:cNvSpPr/>
          <p:nvPr/>
        </p:nvSpPr>
        <p:spPr>
          <a:xfrm>
            <a:off x="914400" y="5532120"/>
            <a:ext cx="10332720" cy="685800"/>
          </a:xfrm>
          <a:prstGeom prst="rect">
            <a:avLst/>
          </a:prstGeom>
          <a:noFill/>
          <a:ln/>
        </p:spPr>
        <p:txBody>
          <a:bodyPr wrap="square" lIns="0" tIns="0" rIns="0" bIns="0" rtlCol="0" anchor="ctr">
            <a:normAutofit/>
          </a:bodyPr>
          <a:lstStyle/>
          <a:p>
            <a:pPr algn="ctr" indent="0" marL="0">
              <a:buNone/>
            </a:pPr>
            <a:r>
              <a:rPr lang="en-US" sz="2400" b="1" dirty="0">
                <a:solidFill>
                  <a:srgbClr val="725260"/>
                </a:solidFill>
                <a:latin typeface="Noto Serif CJK SC" pitchFamily="34" charset="0"/>
                <a:ea typeface="Noto Serif CJK SC" pitchFamily="34" charset="-122"/>
                <a:cs typeface="Noto Serif CJK SC" pitchFamily="34" charset="-120"/>
              </a:rPr>
              <a:t>完整读完，再留下：　一处回到过去的原句｜一处真正收束全诗的原句</a:t>
            </a:r>
            <a:endParaRPr lang="en-US" sz="2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94473B"/>
          </a:solidFill>
          <a:ln w="12700">
            <a:solidFill>
              <a:srgbClr val="94473B"/>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94473B"/>
                </a:solidFill>
                <a:latin typeface="Noto Sans CJK SC" pitchFamily="34" charset="0"/>
                <a:ea typeface="Noto Sans CJK SC" pitchFamily="34" charset="-122"/>
                <a:cs typeface="Noto Sans CJK SC" pitchFamily="34" charset="-120"/>
              </a:rPr>
              <a:t>第六章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49</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600" b="1" dirty="0">
                <a:solidFill>
                  <a:srgbClr val="29241F"/>
                </a:solidFill>
                <a:latin typeface="Noto Serif CJK SC" pitchFamily="34" charset="0"/>
                <a:ea typeface="Noto Serif CJK SC" pitchFamily="34" charset="-122"/>
                <a:cs typeface="Noto Serif CJK SC" pitchFamily="34" charset="-120"/>
              </a:rPr>
              <a:t>及尔偕老，老使我怨。</a:t>
            </a:r>
            <a:endParaRPr lang="en-US" sz="3600" dirty="0"/>
          </a:p>
        </p:txBody>
      </p:sp>
      <p:sp>
        <p:nvSpPr>
          <p:cNvPr id="6" name="Shape 4"/>
          <p:cNvSpPr/>
          <p:nvPr/>
        </p:nvSpPr>
        <p:spPr>
          <a:xfrm>
            <a:off x="768096" y="1572768"/>
            <a:ext cx="3380232" cy="3858768"/>
          </a:xfrm>
          <a:prstGeom prst="roundRect">
            <a:avLst>
              <a:gd name="adj" fmla="val 1082"/>
            </a:avLst>
          </a:prstGeom>
          <a:solidFill>
            <a:srgbClr val="FFFCF7"/>
          </a:solidFill>
          <a:ln w="13970">
            <a:solidFill>
              <a:srgbClr val="446E78"/>
            </a:solidFill>
            <a:prstDash val="solid"/>
          </a:ln>
        </p:spPr>
      </p:sp>
      <p:sp>
        <p:nvSpPr>
          <p:cNvPr id="7" name="Text 5"/>
          <p:cNvSpPr/>
          <p:nvPr/>
        </p:nvSpPr>
        <p:spPr>
          <a:xfrm>
            <a:off x="1042416" y="2029968"/>
            <a:ext cx="2831592" cy="2834640"/>
          </a:xfrm>
          <a:prstGeom prst="rect">
            <a:avLst/>
          </a:prstGeom>
          <a:noFill/>
          <a:ln/>
        </p:spPr>
        <p:txBody>
          <a:bodyPr wrap="square" lIns="0" tIns="0" rIns="0" bIns="0" rtlCol="0" anchor="ctr">
            <a:normAutofit/>
          </a:bodyPr>
          <a:lstStyle/>
          <a:p>
            <a:pPr algn="ctr" indent="0" marL="0">
              <a:buNone/>
            </a:pPr>
            <a:r>
              <a:rPr lang="en-US" sz="2700" b="1" dirty="0">
                <a:solidFill>
                  <a:srgbClr val="29241F"/>
                </a:solidFill>
                <a:latin typeface="Noto Serif CJK SC" pitchFamily="34" charset="0"/>
                <a:ea typeface="Noto Serif CJK SC" pitchFamily="34" charset="-122"/>
                <a:cs typeface="Noto Serif CJK SC" pitchFamily="34" charset="-120"/>
              </a:rPr>
              <a:t>第一个‘老’——</a:t>
            </a:r>
            <a:endParaRPr lang="en-US" sz="2700" dirty="0"/>
          </a:p>
        </p:txBody>
      </p:sp>
      <p:sp>
        <p:nvSpPr>
          <p:cNvPr id="8" name="Shape 6"/>
          <p:cNvSpPr/>
          <p:nvPr/>
        </p:nvSpPr>
        <p:spPr>
          <a:xfrm>
            <a:off x="4404360" y="1572768"/>
            <a:ext cx="3380232" cy="3858768"/>
          </a:xfrm>
          <a:prstGeom prst="roundRect">
            <a:avLst>
              <a:gd name="adj" fmla="val 1082"/>
            </a:avLst>
          </a:prstGeom>
          <a:solidFill>
            <a:srgbClr val="FFFCF7"/>
          </a:solidFill>
          <a:ln w="13970">
            <a:solidFill>
              <a:srgbClr val="725260"/>
            </a:solidFill>
            <a:prstDash val="solid"/>
          </a:ln>
        </p:spPr>
      </p:sp>
      <p:sp>
        <p:nvSpPr>
          <p:cNvPr id="9" name="Text 7"/>
          <p:cNvSpPr/>
          <p:nvPr/>
        </p:nvSpPr>
        <p:spPr>
          <a:xfrm>
            <a:off x="4678680" y="2029968"/>
            <a:ext cx="2831592" cy="2834640"/>
          </a:xfrm>
          <a:prstGeom prst="rect">
            <a:avLst/>
          </a:prstGeom>
          <a:noFill/>
          <a:ln/>
        </p:spPr>
        <p:txBody>
          <a:bodyPr wrap="square" lIns="0" tIns="0" rIns="0" bIns="0" rtlCol="0" anchor="ctr">
            <a:normAutofit/>
          </a:bodyPr>
          <a:lstStyle/>
          <a:p>
            <a:pPr algn="ctr" indent="0" marL="0">
              <a:buNone/>
            </a:pPr>
            <a:r>
              <a:rPr lang="en-US" sz="2700" b="1" dirty="0">
                <a:solidFill>
                  <a:srgbClr val="29241F"/>
                </a:solidFill>
                <a:latin typeface="Noto Serif CJK SC" pitchFamily="34" charset="0"/>
                <a:ea typeface="Noto Serif CJK SC" pitchFamily="34" charset="-122"/>
                <a:cs typeface="Noto Serif CJK SC" pitchFamily="34" charset="-120"/>
              </a:rPr>
              <a:t>第二个‘老’——</a:t>
            </a:r>
            <a:endParaRPr lang="en-US" sz="2700" dirty="0"/>
          </a:p>
        </p:txBody>
      </p:sp>
      <p:sp>
        <p:nvSpPr>
          <p:cNvPr id="10" name="Shape 8"/>
          <p:cNvSpPr/>
          <p:nvPr/>
        </p:nvSpPr>
        <p:spPr>
          <a:xfrm>
            <a:off x="8040624" y="1572768"/>
            <a:ext cx="3380232" cy="3858768"/>
          </a:xfrm>
          <a:prstGeom prst="roundRect">
            <a:avLst>
              <a:gd name="adj" fmla="val 1082"/>
            </a:avLst>
          </a:prstGeom>
          <a:solidFill>
            <a:srgbClr val="FFFCF7"/>
          </a:solidFill>
          <a:ln w="13970">
            <a:solidFill>
              <a:srgbClr val="A67F4A"/>
            </a:solidFill>
            <a:prstDash val="solid"/>
          </a:ln>
        </p:spPr>
      </p:sp>
      <p:sp>
        <p:nvSpPr>
          <p:cNvPr id="11" name="Text 9"/>
          <p:cNvSpPr/>
          <p:nvPr/>
        </p:nvSpPr>
        <p:spPr>
          <a:xfrm>
            <a:off x="8314944" y="2029968"/>
            <a:ext cx="2831592" cy="2834640"/>
          </a:xfrm>
          <a:prstGeom prst="rect">
            <a:avLst/>
          </a:prstGeom>
          <a:noFill/>
          <a:ln/>
        </p:spPr>
        <p:txBody>
          <a:bodyPr wrap="square" lIns="0" tIns="0" rIns="0" bIns="0" rtlCol="0" anchor="ctr">
            <a:normAutofit/>
          </a:bodyPr>
          <a:lstStyle/>
          <a:p>
            <a:pPr algn="ctr" indent="0" marL="0">
              <a:buNone/>
            </a:pPr>
            <a:r>
              <a:rPr lang="en-US" sz="2400" b="1" dirty="0">
                <a:solidFill>
                  <a:srgbClr val="29241F"/>
                </a:solidFill>
                <a:latin typeface="Noto Serif CJK SC" pitchFamily="34" charset="0"/>
                <a:ea typeface="Noto Serif CJK SC" pitchFamily="34" charset="-122"/>
                <a:cs typeface="Noto Serif CJK SC" pitchFamily="34" charset="-120"/>
              </a:rPr>
              <a:t>同一个字，为什么折了回来？</a:t>
            </a:r>
            <a:endParaRPr lang="en-US" sz="24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94473B"/>
          </a:solidFill>
          <a:ln w="12700">
            <a:solidFill>
              <a:srgbClr val="94473B"/>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94473B"/>
                </a:solidFill>
                <a:latin typeface="Noto Sans CJK SC" pitchFamily="34" charset="0"/>
                <a:ea typeface="Noto Sans CJK SC" pitchFamily="34" charset="-122"/>
                <a:cs typeface="Noto Sans CJK SC" pitchFamily="34" charset="-120"/>
              </a:rPr>
              <a:t>第六章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50</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700" b="1" dirty="0">
                <a:solidFill>
                  <a:srgbClr val="29241F"/>
                </a:solidFill>
                <a:latin typeface="Noto Serif CJK SC" pitchFamily="34" charset="0"/>
                <a:ea typeface="Noto Serif CJK SC" pitchFamily="34" charset="-122"/>
                <a:cs typeface="Noto Serif CJK SC" pitchFamily="34" charset="-120"/>
              </a:rPr>
              <a:t>淇则有岸，隰则有泮。</a:t>
            </a:r>
            <a:endParaRPr lang="en-US" sz="3700" dirty="0"/>
          </a:p>
        </p:txBody>
      </p:sp>
      <p:sp>
        <p:nvSpPr>
          <p:cNvPr id="6" name="Text 4"/>
          <p:cNvSpPr/>
          <p:nvPr/>
        </p:nvSpPr>
        <p:spPr>
          <a:xfrm>
            <a:off x="960120" y="1554480"/>
            <a:ext cx="10195560" cy="656173"/>
          </a:xfrm>
          <a:prstGeom prst="rect">
            <a:avLst/>
          </a:prstGeom>
          <a:noFill/>
          <a:ln/>
        </p:spPr>
        <p:txBody>
          <a:bodyPr wrap="square" lIns="0" tIns="0" rIns="0" bIns="0" rtlCol="0" anchor="ctr">
            <a:normAutofit/>
          </a:bodyPr>
          <a:lstStyle/>
          <a:p>
            <a:pPr algn="ctr" indent="0" marL="0">
              <a:buNone/>
            </a:pPr>
            <a:r>
              <a:rPr lang="en-US" sz="3000" b="1" dirty="0">
                <a:solidFill>
                  <a:srgbClr val="29241F"/>
                </a:solidFill>
                <a:latin typeface="Noto Serif CJK SC" pitchFamily="34" charset="0"/>
                <a:ea typeface="Noto Serif CJK SC" pitchFamily="34" charset="-122"/>
                <a:cs typeface="Noto Serif CJK SC" pitchFamily="34" charset="-120"/>
              </a:rPr>
              <a:t>这两处地貌有什么共同点？</a:t>
            </a:r>
            <a:endParaRPr lang="en-US" sz="3000" dirty="0"/>
          </a:p>
        </p:txBody>
      </p:sp>
      <p:sp>
        <p:nvSpPr>
          <p:cNvPr id="7" name="Text 5"/>
          <p:cNvSpPr/>
          <p:nvPr/>
        </p:nvSpPr>
        <p:spPr>
          <a:xfrm>
            <a:off x="960120" y="2395728"/>
            <a:ext cx="10195560" cy="656173"/>
          </a:xfrm>
          <a:prstGeom prst="rect">
            <a:avLst/>
          </a:prstGeom>
          <a:noFill/>
          <a:ln/>
        </p:spPr>
        <p:txBody>
          <a:bodyPr wrap="square" lIns="0" tIns="0" rIns="0" bIns="0" rtlCol="0" anchor="ctr">
            <a:normAutofit/>
          </a:bodyPr>
          <a:lstStyle/>
          <a:p>
            <a:pPr algn="ctr" indent="0" marL="0">
              <a:buNone/>
            </a:pPr>
            <a:r>
              <a:rPr lang="en-US" sz="2800" b="1" dirty="0">
                <a:solidFill>
                  <a:srgbClr val="725260"/>
                </a:solidFill>
                <a:latin typeface="Noto Serif CJK SC" pitchFamily="34" charset="0"/>
                <a:ea typeface="Noto Serif CJK SC" pitchFamily="34" charset="-122"/>
                <a:cs typeface="Noto Serif CJK SC" pitchFamily="34" charset="-120"/>
              </a:rPr>
              <a:t>放在前后句之间，它可能接住什么？</a:t>
            </a:r>
            <a:endParaRPr lang="en-US" sz="28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94473B"/>
          </a:solidFill>
          <a:ln w="12700">
            <a:solidFill>
              <a:srgbClr val="94473B"/>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94473B"/>
                </a:solidFill>
                <a:latin typeface="Noto Sans CJK SC" pitchFamily="34" charset="0"/>
                <a:ea typeface="Noto Sans CJK SC" pitchFamily="34" charset="-122"/>
                <a:cs typeface="Noto Sans CJK SC" pitchFamily="34" charset="-120"/>
              </a:rPr>
              <a:t>第六章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51</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400" b="1" dirty="0">
                <a:solidFill>
                  <a:srgbClr val="29241F"/>
                </a:solidFill>
                <a:latin typeface="Noto Serif CJK SC" pitchFamily="34" charset="0"/>
                <a:ea typeface="Noto Serif CJK SC" pitchFamily="34" charset="-122"/>
                <a:cs typeface="Noto Serif CJK SC" pitchFamily="34" charset="-120"/>
              </a:rPr>
              <a:t>这六处原词，怎样彼此照见？</a:t>
            </a:r>
            <a:endParaRPr lang="en-US" sz="3400" dirty="0"/>
          </a:p>
        </p:txBody>
      </p:sp>
      <p:sp>
        <p:nvSpPr>
          <p:cNvPr id="6" name="Shape 4"/>
          <p:cNvSpPr/>
          <p:nvPr/>
        </p:nvSpPr>
        <p:spPr>
          <a:xfrm>
            <a:off x="749808" y="1536192"/>
            <a:ext cx="3246120" cy="1051560"/>
          </a:xfrm>
          <a:prstGeom prst="roundRect">
            <a:avLst>
              <a:gd name="adj" fmla="val 3478"/>
            </a:avLst>
          </a:prstGeom>
          <a:solidFill>
            <a:srgbClr val="FFFCF7"/>
          </a:solidFill>
          <a:ln w="13335">
            <a:solidFill>
              <a:srgbClr val="C5B39B"/>
            </a:solidFill>
            <a:prstDash val="solid"/>
          </a:ln>
        </p:spPr>
      </p:sp>
      <p:sp>
        <p:nvSpPr>
          <p:cNvPr id="7" name="Text 5"/>
          <p:cNvSpPr/>
          <p:nvPr/>
        </p:nvSpPr>
        <p:spPr>
          <a:xfrm>
            <a:off x="877824" y="1627632"/>
            <a:ext cx="2990088" cy="868680"/>
          </a:xfrm>
          <a:prstGeom prst="rect">
            <a:avLst/>
          </a:prstGeom>
          <a:noFill/>
          <a:ln/>
        </p:spPr>
        <p:txBody>
          <a:bodyPr wrap="square" lIns="0" tIns="0" rIns="0" bIns="0" rtlCol="0" anchor="ctr">
            <a:normAutofit/>
          </a:bodyPr>
          <a:lstStyle/>
          <a:p>
            <a:pPr algn="ctr" indent="0" marL="0">
              <a:buNone/>
            </a:pPr>
            <a:r>
              <a:rPr lang="en-US" sz="2400" b="1" dirty="0">
                <a:solidFill>
                  <a:srgbClr val="29241F"/>
                </a:solidFill>
                <a:latin typeface="Noto Serif CJK SC" pitchFamily="34" charset="0"/>
                <a:ea typeface="Noto Serif CJK SC" pitchFamily="34" charset="-122"/>
                <a:cs typeface="Noto Serif CJK SC" pitchFamily="34" charset="-120"/>
              </a:rPr>
              <a:t>信誓旦旦</a:t>
            </a:r>
            <a:endParaRPr lang="en-US" sz="2400" dirty="0"/>
          </a:p>
        </p:txBody>
      </p:sp>
      <p:sp>
        <p:nvSpPr>
          <p:cNvPr id="8" name="Shape 6"/>
          <p:cNvSpPr/>
          <p:nvPr/>
        </p:nvSpPr>
        <p:spPr>
          <a:xfrm>
            <a:off x="4526280" y="1536192"/>
            <a:ext cx="3246120" cy="1051560"/>
          </a:xfrm>
          <a:prstGeom prst="roundRect">
            <a:avLst>
              <a:gd name="adj" fmla="val 3478"/>
            </a:avLst>
          </a:prstGeom>
          <a:solidFill>
            <a:srgbClr val="FFFCF7"/>
          </a:solidFill>
          <a:ln w="13335">
            <a:solidFill>
              <a:srgbClr val="C5B39B"/>
            </a:solidFill>
            <a:prstDash val="solid"/>
          </a:ln>
        </p:spPr>
      </p:sp>
      <p:sp>
        <p:nvSpPr>
          <p:cNvPr id="9" name="Text 7"/>
          <p:cNvSpPr/>
          <p:nvPr/>
        </p:nvSpPr>
        <p:spPr>
          <a:xfrm>
            <a:off x="4654296" y="1627632"/>
            <a:ext cx="2990088" cy="868680"/>
          </a:xfrm>
          <a:prstGeom prst="rect">
            <a:avLst/>
          </a:prstGeom>
          <a:noFill/>
          <a:ln/>
        </p:spPr>
        <p:txBody>
          <a:bodyPr wrap="square" lIns="0" tIns="0" rIns="0" bIns="0" rtlCol="0" anchor="ctr">
            <a:normAutofit/>
          </a:bodyPr>
          <a:lstStyle/>
          <a:p>
            <a:pPr algn="ctr" indent="0" marL="0">
              <a:buNone/>
            </a:pPr>
            <a:r>
              <a:rPr lang="en-US" sz="2400" b="1" dirty="0">
                <a:solidFill>
                  <a:srgbClr val="29241F"/>
                </a:solidFill>
                <a:latin typeface="Noto Serif CJK SC" pitchFamily="34" charset="0"/>
                <a:ea typeface="Noto Serif CJK SC" pitchFamily="34" charset="-122"/>
                <a:cs typeface="Noto Serif CJK SC" pitchFamily="34" charset="-120"/>
              </a:rPr>
              <a:t>至于暴矣</a:t>
            </a:r>
            <a:endParaRPr lang="en-US" sz="2400" dirty="0"/>
          </a:p>
        </p:txBody>
      </p:sp>
      <p:sp>
        <p:nvSpPr>
          <p:cNvPr id="10" name="Shape 8"/>
          <p:cNvSpPr/>
          <p:nvPr/>
        </p:nvSpPr>
        <p:spPr>
          <a:xfrm>
            <a:off x="8302752" y="1536192"/>
            <a:ext cx="3246120" cy="1051560"/>
          </a:xfrm>
          <a:prstGeom prst="roundRect">
            <a:avLst>
              <a:gd name="adj" fmla="val 3478"/>
            </a:avLst>
          </a:prstGeom>
          <a:solidFill>
            <a:srgbClr val="FFFCF7"/>
          </a:solidFill>
          <a:ln w="13335">
            <a:solidFill>
              <a:srgbClr val="C5B39B"/>
            </a:solidFill>
            <a:prstDash val="solid"/>
          </a:ln>
        </p:spPr>
      </p:sp>
      <p:sp>
        <p:nvSpPr>
          <p:cNvPr id="11" name="Text 9"/>
          <p:cNvSpPr/>
          <p:nvPr/>
        </p:nvSpPr>
        <p:spPr>
          <a:xfrm>
            <a:off x="8430768" y="1627632"/>
            <a:ext cx="2990088" cy="868680"/>
          </a:xfrm>
          <a:prstGeom prst="rect">
            <a:avLst/>
          </a:prstGeom>
          <a:noFill/>
          <a:ln/>
        </p:spPr>
        <p:txBody>
          <a:bodyPr wrap="square" lIns="0" tIns="0" rIns="0" bIns="0" rtlCol="0" anchor="ctr">
            <a:normAutofit/>
          </a:bodyPr>
          <a:lstStyle/>
          <a:p>
            <a:pPr algn="ctr" indent="0" marL="0">
              <a:buNone/>
            </a:pPr>
            <a:r>
              <a:rPr lang="en-US" sz="2400" b="1" dirty="0">
                <a:solidFill>
                  <a:srgbClr val="29241F"/>
                </a:solidFill>
                <a:latin typeface="Noto Serif CJK SC" pitchFamily="34" charset="0"/>
                <a:ea typeface="Noto Serif CJK SC" pitchFamily="34" charset="-122"/>
                <a:cs typeface="Noto Serif CJK SC" pitchFamily="34" charset="-120"/>
              </a:rPr>
              <a:t>言笑晏晏</a:t>
            </a:r>
            <a:endParaRPr lang="en-US" sz="2400" dirty="0"/>
          </a:p>
        </p:txBody>
      </p:sp>
      <p:sp>
        <p:nvSpPr>
          <p:cNvPr id="12" name="Shape 10"/>
          <p:cNvSpPr/>
          <p:nvPr/>
        </p:nvSpPr>
        <p:spPr>
          <a:xfrm>
            <a:off x="749808" y="2971800"/>
            <a:ext cx="3246120" cy="1051560"/>
          </a:xfrm>
          <a:prstGeom prst="roundRect">
            <a:avLst>
              <a:gd name="adj" fmla="val 3478"/>
            </a:avLst>
          </a:prstGeom>
          <a:solidFill>
            <a:srgbClr val="FFFCF7"/>
          </a:solidFill>
          <a:ln w="13335">
            <a:solidFill>
              <a:srgbClr val="C5B39B"/>
            </a:solidFill>
            <a:prstDash val="solid"/>
          </a:ln>
        </p:spPr>
      </p:sp>
      <p:sp>
        <p:nvSpPr>
          <p:cNvPr id="13" name="Text 11"/>
          <p:cNvSpPr/>
          <p:nvPr/>
        </p:nvSpPr>
        <p:spPr>
          <a:xfrm>
            <a:off x="877824" y="3063240"/>
            <a:ext cx="2990088" cy="868680"/>
          </a:xfrm>
          <a:prstGeom prst="rect">
            <a:avLst/>
          </a:prstGeom>
          <a:noFill/>
          <a:ln/>
        </p:spPr>
        <p:txBody>
          <a:bodyPr wrap="square" lIns="0" tIns="0" rIns="0" bIns="0" rtlCol="0" anchor="ctr">
            <a:normAutofit/>
          </a:bodyPr>
          <a:lstStyle/>
          <a:p>
            <a:pPr algn="ctr" indent="0" marL="0">
              <a:buNone/>
            </a:pPr>
            <a:r>
              <a:rPr lang="en-US" sz="2400" b="1" dirty="0">
                <a:solidFill>
                  <a:srgbClr val="29241F"/>
                </a:solidFill>
                <a:latin typeface="Noto Serif CJK SC" pitchFamily="34" charset="0"/>
                <a:ea typeface="Noto Serif CJK SC" pitchFamily="34" charset="-122"/>
                <a:cs typeface="Noto Serif CJK SC" pitchFamily="34" charset="-120"/>
              </a:rPr>
              <a:t>二三其德</a:t>
            </a:r>
            <a:endParaRPr lang="en-US" sz="2400" dirty="0"/>
          </a:p>
        </p:txBody>
      </p:sp>
      <p:sp>
        <p:nvSpPr>
          <p:cNvPr id="14" name="Shape 12"/>
          <p:cNvSpPr/>
          <p:nvPr/>
        </p:nvSpPr>
        <p:spPr>
          <a:xfrm>
            <a:off x="4526280" y="2971800"/>
            <a:ext cx="3246120" cy="1051560"/>
          </a:xfrm>
          <a:prstGeom prst="roundRect">
            <a:avLst>
              <a:gd name="adj" fmla="val 3478"/>
            </a:avLst>
          </a:prstGeom>
          <a:solidFill>
            <a:srgbClr val="FFFCF7"/>
          </a:solidFill>
          <a:ln w="13335">
            <a:solidFill>
              <a:srgbClr val="C5B39B"/>
            </a:solidFill>
            <a:prstDash val="solid"/>
          </a:ln>
        </p:spPr>
      </p:sp>
      <p:sp>
        <p:nvSpPr>
          <p:cNvPr id="15" name="Text 13"/>
          <p:cNvSpPr/>
          <p:nvPr/>
        </p:nvSpPr>
        <p:spPr>
          <a:xfrm>
            <a:off x="4654296" y="3063240"/>
            <a:ext cx="2990088" cy="868680"/>
          </a:xfrm>
          <a:prstGeom prst="rect">
            <a:avLst/>
          </a:prstGeom>
          <a:noFill/>
          <a:ln/>
        </p:spPr>
        <p:txBody>
          <a:bodyPr wrap="square" lIns="0" tIns="0" rIns="0" bIns="0" rtlCol="0" anchor="ctr">
            <a:normAutofit/>
          </a:bodyPr>
          <a:lstStyle/>
          <a:p>
            <a:pPr algn="ctr" indent="0" marL="0">
              <a:buNone/>
            </a:pPr>
            <a:r>
              <a:rPr lang="en-US" sz="2400" b="1" dirty="0">
                <a:solidFill>
                  <a:srgbClr val="29241F"/>
                </a:solidFill>
                <a:latin typeface="Noto Serif CJK SC" pitchFamily="34" charset="0"/>
                <a:ea typeface="Noto Serif CJK SC" pitchFamily="34" charset="-122"/>
                <a:cs typeface="Noto Serif CJK SC" pitchFamily="34" charset="-120"/>
              </a:rPr>
              <a:t>总角之宴</a:t>
            </a:r>
            <a:endParaRPr lang="en-US" sz="2400" dirty="0"/>
          </a:p>
        </p:txBody>
      </p:sp>
      <p:sp>
        <p:nvSpPr>
          <p:cNvPr id="16" name="Shape 14"/>
          <p:cNvSpPr/>
          <p:nvPr/>
        </p:nvSpPr>
        <p:spPr>
          <a:xfrm>
            <a:off x="8302752" y="2971800"/>
            <a:ext cx="3246120" cy="1051560"/>
          </a:xfrm>
          <a:prstGeom prst="roundRect">
            <a:avLst>
              <a:gd name="adj" fmla="val 3478"/>
            </a:avLst>
          </a:prstGeom>
          <a:solidFill>
            <a:srgbClr val="FFFCF7"/>
          </a:solidFill>
          <a:ln w="13335">
            <a:solidFill>
              <a:srgbClr val="C5B39B"/>
            </a:solidFill>
            <a:prstDash val="solid"/>
          </a:ln>
        </p:spPr>
      </p:sp>
      <p:sp>
        <p:nvSpPr>
          <p:cNvPr id="17" name="Text 15"/>
          <p:cNvSpPr/>
          <p:nvPr/>
        </p:nvSpPr>
        <p:spPr>
          <a:xfrm>
            <a:off x="8430768" y="3063240"/>
            <a:ext cx="2990088" cy="868680"/>
          </a:xfrm>
          <a:prstGeom prst="rect">
            <a:avLst/>
          </a:prstGeom>
          <a:noFill/>
          <a:ln/>
        </p:spPr>
        <p:txBody>
          <a:bodyPr wrap="square" lIns="0" tIns="0" rIns="0" bIns="0" rtlCol="0" anchor="ctr">
            <a:normAutofit/>
          </a:bodyPr>
          <a:lstStyle/>
          <a:p>
            <a:pPr algn="ctr" indent="0" marL="0">
              <a:buNone/>
            </a:pPr>
            <a:r>
              <a:rPr lang="en-US" sz="2400" b="1" dirty="0">
                <a:solidFill>
                  <a:srgbClr val="29241F"/>
                </a:solidFill>
                <a:latin typeface="Noto Serif CJK SC" pitchFamily="34" charset="0"/>
                <a:ea typeface="Noto Serif CJK SC" pitchFamily="34" charset="-122"/>
                <a:cs typeface="Noto Serif CJK SC" pitchFamily="34" charset="-120"/>
              </a:rPr>
              <a:t>不思其反</a:t>
            </a:r>
            <a:endParaRPr lang="en-US" sz="2400" dirty="0"/>
          </a:p>
        </p:txBody>
      </p:sp>
      <p:sp>
        <p:nvSpPr>
          <p:cNvPr id="18" name="Text 16"/>
          <p:cNvSpPr/>
          <p:nvPr/>
        </p:nvSpPr>
        <p:spPr>
          <a:xfrm>
            <a:off x="914400" y="5623560"/>
            <a:ext cx="10360152" cy="658368"/>
          </a:xfrm>
          <a:prstGeom prst="rect">
            <a:avLst/>
          </a:prstGeom>
          <a:noFill/>
          <a:ln/>
        </p:spPr>
        <p:txBody>
          <a:bodyPr wrap="square" lIns="0" tIns="0" rIns="0" bIns="0" rtlCol="0" anchor="ctr"/>
          <a:lstStyle/>
          <a:p>
            <a:pPr algn="ctr" indent="0" marL="0">
              <a:buNone/>
            </a:pPr>
            <a:r>
              <a:rPr lang="en-US" sz="2300" b="1" dirty="0">
                <a:solidFill>
                  <a:srgbClr val="725260"/>
                </a:solidFill>
                <a:latin typeface="Noto Serif CJK SC" pitchFamily="34" charset="0"/>
                <a:ea typeface="Noto Serif CJK SC" pitchFamily="34" charset="-122"/>
                <a:cs typeface="Noto Serif CJK SC" pitchFamily="34" charset="-120"/>
              </a:rPr>
              <a:t>先自己摆一摆：哪些词可以放在一起？依据是什么？</a:t>
            </a:r>
            <a:endParaRPr lang="en-US" sz="23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94473B"/>
          </a:solidFill>
          <a:ln w="12700">
            <a:solidFill>
              <a:srgbClr val="94473B"/>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94473B"/>
                </a:solidFill>
                <a:latin typeface="Noto Sans CJK SC" pitchFamily="34" charset="0"/>
                <a:ea typeface="Noto Sans CJK SC" pitchFamily="34" charset="-122"/>
                <a:cs typeface="Noto Sans CJK SC" pitchFamily="34" charset="-120"/>
              </a:rPr>
              <a:t>第六章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52</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400" b="1" dirty="0">
                <a:solidFill>
                  <a:srgbClr val="29241F"/>
                </a:solidFill>
                <a:latin typeface="Noto Serif CJK SC" pitchFamily="34" charset="0"/>
                <a:ea typeface="Noto Serif CJK SC" pitchFamily="34" charset="-122"/>
                <a:cs typeface="Noto Serif CJK SC" pitchFamily="34" charset="-120"/>
              </a:rPr>
              <a:t>旧日与后来，两面都不能抹去</a:t>
            </a:r>
            <a:endParaRPr lang="en-US" sz="3400" dirty="0"/>
          </a:p>
        </p:txBody>
      </p:sp>
      <p:sp>
        <p:nvSpPr>
          <p:cNvPr id="6" name="Shape 4"/>
          <p:cNvSpPr/>
          <p:nvPr/>
        </p:nvSpPr>
        <p:spPr>
          <a:xfrm>
            <a:off x="786384" y="1508760"/>
            <a:ext cx="5010912" cy="2423160"/>
          </a:xfrm>
          <a:prstGeom prst="roundRect">
            <a:avLst>
              <a:gd name="adj" fmla="val 1509"/>
            </a:avLst>
          </a:prstGeom>
          <a:solidFill>
            <a:srgbClr val="FFFCF7"/>
          </a:solidFill>
          <a:ln w="13970">
            <a:solidFill>
              <a:srgbClr val="A67F4A"/>
            </a:solidFill>
            <a:prstDash val="solid"/>
          </a:ln>
        </p:spPr>
      </p:sp>
      <p:sp>
        <p:nvSpPr>
          <p:cNvPr id="7" name="Text 5"/>
          <p:cNvSpPr/>
          <p:nvPr/>
        </p:nvSpPr>
        <p:spPr>
          <a:xfrm>
            <a:off x="1014984" y="1783080"/>
            <a:ext cx="4553712" cy="411480"/>
          </a:xfrm>
          <a:prstGeom prst="rect">
            <a:avLst/>
          </a:prstGeom>
          <a:noFill/>
          <a:ln/>
        </p:spPr>
        <p:txBody>
          <a:bodyPr wrap="square" lIns="0" tIns="0" rIns="0" bIns="0" rtlCol="0" anchor="ctr"/>
          <a:lstStyle/>
          <a:p>
            <a:pPr algn="ctr" indent="0" marL="0">
              <a:buNone/>
            </a:pPr>
            <a:r>
              <a:rPr lang="en-US" sz="2300" b="1" dirty="0">
                <a:solidFill>
                  <a:srgbClr val="A67F4A"/>
                </a:solidFill>
                <a:latin typeface="Noto Serif CJK SC" pitchFamily="34" charset="0"/>
                <a:ea typeface="Noto Serif CJK SC" pitchFamily="34" charset="-122"/>
                <a:cs typeface="Noto Serif CJK SC" pitchFamily="34" charset="-120"/>
              </a:rPr>
              <a:t>她记得的旧日</a:t>
            </a:r>
            <a:endParaRPr lang="en-US" sz="2300" dirty="0"/>
          </a:p>
        </p:txBody>
      </p:sp>
      <p:sp>
        <p:nvSpPr>
          <p:cNvPr id="8" name="Text 6"/>
          <p:cNvSpPr/>
          <p:nvPr/>
        </p:nvSpPr>
        <p:spPr>
          <a:xfrm>
            <a:off x="1106424" y="2423160"/>
            <a:ext cx="4370832" cy="960120"/>
          </a:xfrm>
          <a:prstGeom prst="rect">
            <a:avLst/>
          </a:prstGeom>
          <a:noFill/>
          <a:ln/>
        </p:spPr>
        <p:txBody>
          <a:bodyPr wrap="square" lIns="0" tIns="0" rIns="0" bIns="0" rtlCol="0" anchor="ctr">
            <a:normAutofit/>
          </a:bodyPr>
          <a:lstStyle/>
          <a:p>
            <a:pPr algn="ctr" indent="0" marL="0">
              <a:buNone/>
            </a:pPr>
            <a:r>
              <a:rPr lang="en-US" sz="2200" b="1" dirty="0">
                <a:solidFill>
                  <a:srgbClr val="29241F"/>
                </a:solidFill>
                <a:latin typeface="Noto Serif CJK SC" pitchFamily="34" charset="0"/>
                <a:ea typeface="Noto Serif CJK SC" pitchFamily="34" charset="-122"/>
                <a:cs typeface="Noto Serif CJK SC" pitchFamily="34" charset="-120"/>
              </a:rPr>
              <a:t>总角之宴｜言笑晏晏｜信誓旦旦</a:t>
            </a:r>
            <a:endParaRPr lang="en-US" sz="2200" dirty="0"/>
          </a:p>
        </p:txBody>
      </p:sp>
      <p:sp>
        <p:nvSpPr>
          <p:cNvPr id="9" name="Shape 7"/>
          <p:cNvSpPr/>
          <p:nvPr/>
        </p:nvSpPr>
        <p:spPr>
          <a:xfrm>
            <a:off x="6409944" y="1508760"/>
            <a:ext cx="5010912" cy="2423160"/>
          </a:xfrm>
          <a:prstGeom prst="roundRect">
            <a:avLst>
              <a:gd name="adj" fmla="val 1509"/>
            </a:avLst>
          </a:prstGeom>
          <a:solidFill>
            <a:srgbClr val="FFFCF7"/>
          </a:solidFill>
          <a:ln w="13970">
            <a:solidFill>
              <a:srgbClr val="725260"/>
            </a:solidFill>
            <a:prstDash val="solid"/>
          </a:ln>
        </p:spPr>
      </p:sp>
      <p:sp>
        <p:nvSpPr>
          <p:cNvPr id="10" name="Text 8"/>
          <p:cNvSpPr/>
          <p:nvPr/>
        </p:nvSpPr>
        <p:spPr>
          <a:xfrm>
            <a:off x="6638544" y="1783080"/>
            <a:ext cx="4553712" cy="411480"/>
          </a:xfrm>
          <a:prstGeom prst="rect">
            <a:avLst/>
          </a:prstGeom>
          <a:noFill/>
          <a:ln/>
        </p:spPr>
        <p:txBody>
          <a:bodyPr wrap="square" lIns="0" tIns="0" rIns="0" bIns="0" rtlCol="0" anchor="ctr"/>
          <a:lstStyle/>
          <a:p>
            <a:pPr algn="ctr" indent="0" marL="0">
              <a:buNone/>
            </a:pPr>
            <a:r>
              <a:rPr lang="en-US" sz="2300" b="1" dirty="0">
                <a:solidFill>
                  <a:srgbClr val="725260"/>
                </a:solidFill>
                <a:latin typeface="Noto Serif CJK SC" pitchFamily="34" charset="0"/>
                <a:ea typeface="Noto Serif CJK SC" pitchFamily="34" charset="-122"/>
                <a:cs typeface="Noto Serif CJK SC" pitchFamily="34" charset="-120"/>
              </a:rPr>
              <a:t>后来显出的事实</a:t>
            </a:r>
            <a:endParaRPr lang="en-US" sz="2300" dirty="0"/>
          </a:p>
        </p:txBody>
      </p:sp>
      <p:sp>
        <p:nvSpPr>
          <p:cNvPr id="11" name="Text 9"/>
          <p:cNvSpPr/>
          <p:nvPr/>
        </p:nvSpPr>
        <p:spPr>
          <a:xfrm>
            <a:off x="6729984" y="2423160"/>
            <a:ext cx="4370832" cy="960120"/>
          </a:xfrm>
          <a:prstGeom prst="rect">
            <a:avLst/>
          </a:prstGeom>
          <a:noFill/>
          <a:ln/>
        </p:spPr>
        <p:txBody>
          <a:bodyPr wrap="square" lIns="0" tIns="0" rIns="0" bIns="0" rtlCol="0" anchor="ctr">
            <a:normAutofit/>
          </a:bodyPr>
          <a:lstStyle/>
          <a:p>
            <a:pPr algn="ctr" indent="0" marL="0">
              <a:buNone/>
            </a:pPr>
            <a:r>
              <a:rPr lang="en-US" sz="2200" b="1" dirty="0">
                <a:solidFill>
                  <a:srgbClr val="29241F"/>
                </a:solidFill>
                <a:latin typeface="Noto Serif CJK SC" pitchFamily="34" charset="0"/>
                <a:ea typeface="Noto Serif CJK SC" pitchFamily="34" charset="-122"/>
                <a:cs typeface="Noto Serif CJK SC" pitchFamily="34" charset="-120"/>
              </a:rPr>
              <a:t>不思其反｜二三其德｜至于暴矣</a:t>
            </a:r>
            <a:endParaRPr lang="en-US" sz="2200" dirty="0"/>
          </a:p>
        </p:txBody>
      </p:sp>
      <p:sp>
        <p:nvSpPr>
          <p:cNvPr id="12" name="Text 10"/>
          <p:cNvSpPr/>
          <p:nvPr/>
        </p:nvSpPr>
        <p:spPr>
          <a:xfrm>
            <a:off x="1005840" y="4315968"/>
            <a:ext cx="10177272" cy="530352"/>
          </a:xfrm>
          <a:prstGeom prst="rect">
            <a:avLst/>
          </a:prstGeom>
          <a:noFill/>
          <a:ln/>
        </p:spPr>
        <p:txBody>
          <a:bodyPr wrap="square" lIns="0" tIns="0" rIns="0" bIns="0" rtlCol="0" anchor="ctr"/>
          <a:lstStyle/>
          <a:p>
            <a:pPr algn="ctr" indent="0" marL="0">
              <a:buNone/>
            </a:pPr>
            <a:r>
              <a:rPr lang="en-US" sz="2900" b="1" dirty="0">
                <a:solidFill>
                  <a:srgbClr val="29241F"/>
                </a:solidFill>
                <a:latin typeface="Noto Serif CJK SC" pitchFamily="34" charset="0"/>
                <a:ea typeface="Noto Serif CJK SC" pitchFamily="34" charset="-122"/>
                <a:cs typeface="Noto Serif CJK SC" pitchFamily="34" charset="-120"/>
              </a:rPr>
              <a:t>过去的欢乐是真；后来的失信也是真。</a:t>
            </a:r>
            <a:endParaRPr lang="en-US" sz="2900" dirty="0"/>
          </a:p>
        </p:txBody>
      </p:sp>
      <p:sp>
        <p:nvSpPr>
          <p:cNvPr id="13" name="Text 11"/>
          <p:cNvSpPr/>
          <p:nvPr/>
        </p:nvSpPr>
        <p:spPr>
          <a:xfrm>
            <a:off x="914400" y="5166360"/>
            <a:ext cx="10360152" cy="658368"/>
          </a:xfrm>
          <a:prstGeom prst="rect">
            <a:avLst/>
          </a:prstGeom>
          <a:noFill/>
          <a:ln/>
        </p:spPr>
        <p:txBody>
          <a:bodyPr wrap="square" lIns="0" tIns="0" rIns="0" bIns="0" rtlCol="0" anchor="ctr"/>
          <a:lstStyle/>
          <a:p>
            <a:pPr algn="ctr" indent="0" marL="0">
              <a:buNone/>
            </a:pPr>
            <a:r>
              <a:rPr lang="en-US" sz="2500" b="1" dirty="0">
                <a:solidFill>
                  <a:srgbClr val="725260"/>
                </a:solidFill>
                <a:latin typeface="Noto Serif CJK SC" pitchFamily="34" charset="0"/>
                <a:ea typeface="Noto Serif CJK SC" pitchFamily="34" charset="-122"/>
                <a:cs typeface="Noto Serif CJK SC" pitchFamily="34" charset="-120"/>
              </a:rPr>
              <a:t>请把两面都写进同一句话。</a:t>
            </a:r>
            <a:endParaRPr lang="en-US" sz="25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28231F"/>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94473B"/>
          </a:solidFill>
          <a:ln w="12700">
            <a:solidFill>
              <a:srgbClr val="94473B"/>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DED0BC"/>
                </a:solidFill>
                <a:latin typeface="Noto Sans CJK SC" pitchFamily="34" charset="0"/>
                <a:ea typeface="Noto Sans CJK SC" pitchFamily="34" charset="-122"/>
                <a:cs typeface="Noto Sans CJK SC" pitchFamily="34" charset="-120"/>
              </a:rPr>
              <a:t>第六章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C5B39B"/>
                </a:solidFill>
                <a:latin typeface="Noto Sans CJK SC" pitchFamily="34" charset="0"/>
                <a:ea typeface="Noto Sans CJK SC" pitchFamily="34" charset="-122"/>
                <a:cs typeface="Noto Sans CJK SC" pitchFamily="34" charset="-120"/>
              </a:rPr>
              <a:t>53</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600" b="1" dirty="0">
                <a:solidFill>
                  <a:srgbClr val="FFFDFC"/>
                </a:solidFill>
                <a:latin typeface="Noto Serif CJK SC" pitchFamily="34" charset="0"/>
                <a:ea typeface="Noto Serif CJK SC" pitchFamily="34" charset="-122"/>
                <a:cs typeface="Noto Serif CJK SC" pitchFamily="34" charset="-120"/>
              </a:rPr>
              <a:t>反是不思，亦已焉哉</a:t>
            </a:r>
            <a:endParaRPr lang="en-US" sz="3600" dirty="0"/>
          </a:p>
        </p:txBody>
      </p:sp>
      <p:sp>
        <p:nvSpPr>
          <p:cNvPr id="6" name="Shape 4"/>
          <p:cNvSpPr/>
          <p:nvPr/>
        </p:nvSpPr>
        <p:spPr>
          <a:xfrm>
            <a:off x="768096" y="1572768"/>
            <a:ext cx="3380232" cy="3858768"/>
          </a:xfrm>
          <a:prstGeom prst="roundRect">
            <a:avLst>
              <a:gd name="adj" fmla="val 1082"/>
            </a:avLst>
          </a:prstGeom>
          <a:solidFill>
            <a:srgbClr val="383129"/>
          </a:solidFill>
          <a:ln w="13970">
            <a:solidFill>
              <a:srgbClr val="446E78"/>
            </a:solidFill>
            <a:prstDash val="solid"/>
          </a:ln>
        </p:spPr>
      </p:sp>
      <p:sp>
        <p:nvSpPr>
          <p:cNvPr id="7" name="Text 5"/>
          <p:cNvSpPr/>
          <p:nvPr/>
        </p:nvSpPr>
        <p:spPr>
          <a:xfrm>
            <a:off x="1042416" y="2029968"/>
            <a:ext cx="2831592" cy="2834640"/>
          </a:xfrm>
          <a:prstGeom prst="rect">
            <a:avLst/>
          </a:prstGeom>
          <a:noFill/>
          <a:ln/>
        </p:spPr>
        <p:txBody>
          <a:bodyPr wrap="square" lIns="0" tIns="0" rIns="0" bIns="0" rtlCol="0" anchor="ctr">
            <a:normAutofit/>
          </a:bodyPr>
          <a:lstStyle/>
          <a:p>
            <a:pPr algn="ctr" indent="0" marL="0">
              <a:buNone/>
            </a:pPr>
            <a:r>
              <a:rPr lang="en-US" sz="2400" b="1" dirty="0">
                <a:solidFill>
                  <a:srgbClr val="FFFDFC"/>
                </a:solidFill>
                <a:latin typeface="Noto Serif CJK SC" pitchFamily="34" charset="0"/>
                <a:ea typeface="Noto Serif CJK SC" pitchFamily="34" charset="-122"/>
                <a:cs typeface="Noto Serif CJK SC" pitchFamily="34" charset="-120"/>
              </a:rPr>
              <a:t>信誓旦旦，不思其反。</a:t>
            </a:r>
            <a:endParaRPr lang="en-US" sz="2400" dirty="0"/>
          </a:p>
        </p:txBody>
      </p:sp>
      <p:sp>
        <p:nvSpPr>
          <p:cNvPr id="8" name="Shape 6"/>
          <p:cNvSpPr/>
          <p:nvPr/>
        </p:nvSpPr>
        <p:spPr>
          <a:xfrm>
            <a:off x="4404360" y="1572768"/>
            <a:ext cx="3380232" cy="3858768"/>
          </a:xfrm>
          <a:prstGeom prst="roundRect">
            <a:avLst>
              <a:gd name="adj" fmla="val 1082"/>
            </a:avLst>
          </a:prstGeom>
          <a:solidFill>
            <a:srgbClr val="383129"/>
          </a:solidFill>
          <a:ln w="13970">
            <a:solidFill>
              <a:srgbClr val="725260"/>
            </a:solidFill>
            <a:prstDash val="solid"/>
          </a:ln>
        </p:spPr>
      </p:sp>
      <p:sp>
        <p:nvSpPr>
          <p:cNvPr id="9" name="Text 7"/>
          <p:cNvSpPr/>
          <p:nvPr/>
        </p:nvSpPr>
        <p:spPr>
          <a:xfrm>
            <a:off x="4678680" y="2029968"/>
            <a:ext cx="2831592" cy="2834640"/>
          </a:xfrm>
          <a:prstGeom prst="rect">
            <a:avLst/>
          </a:prstGeom>
          <a:noFill/>
          <a:ln/>
        </p:spPr>
        <p:txBody>
          <a:bodyPr wrap="square" lIns="0" tIns="0" rIns="0" bIns="0" rtlCol="0" anchor="ctr">
            <a:normAutofit/>
          </a:bodyPr>
          <a:lstStyle/>
          <a:p>
            <a:pPr algn="ctr" indent="0" marL="0">
              <a:buNone/>
            </a:pPr>
            <a:r>
              <a:rPr lang="en-US" sz="2400" b="1" dirty="0">
                <a:solidFill>
                  <a:srgbClr val="FFFDFC"/>
                </a:solidFill>
                <a:latin typeface="Noto Serif CJK SC" pitchFamily="34" charset="0"/>
                <a:ea typeface="Noto Serif CJK SC" pitchFamily="34" charset="-122"/>
                <a:cs typeface="Noto Serif CJK SC" pitchFamily="34" charset="-120"/>
              </a:rPr>
              <a:t>反是不思，亦已焉哉！</a:t>
            </a:r>
            <a:endParaRPr lang="en-US" sz="2400" dirty="0"/>
          </a:p>
        </p:txBody>
      </p:sp>
      <p:sp>
        <p:nvSpPr>
          <p:cNvPr id="10" name="Shape 8"/>
          <p:cNvSpPr/>
          <p:nvPr/>
        </p:nvSpPr>
        <p:spPr>
          <a:xfrm>
            <a:off x="8040624" y="1572768"/>
            <a:ext cx="3380232" cy="3858768"/>
          </a:xfrm>
          <a:prstGeom prst="roundRect">
            <a:avLst>
              <a:gd name="adj" fmla="val 1082"/>
            </a:avLst>
          </a:prstGeom>
          <a:solidFill>
            <a:srgbClr val="383129"/>
          </a:solidFill>
          <a:ln w="13970">
            <a:solidFill>
              <a:srgbClr val="A67F4A"/>
            </a:solidFill>
            <a:prstDash val="solid"/>
          </a:ln>
        </p:spPr>
      </p:sp>
      <p:sp>
        <p:nvSpPr>
          <p:cNvPr id="11" name="Text 9"/>
          <p:cNvSpPr/>
          <p:nvPr/>
        </p:nvSpPr>
        <p:spPr>
          <a:xfrm>
            <a:off x="8314944" y="2029968"/>
            <a:ext cx="2831592" cy="2834640"/>
          </a:xfrm>
          <a:prstGeom prst="rect">
            <a:avLst/>
          </a:prstGeom>
          <a:noFill/>
          <a:ln/>
        </p:spPr>
        <p:txBody>
          <a:bodyPr wrap="square" lIns="0" tIns="0" rIns="0" bIns="0" rtlCol="0" anchor="ctr">
            <a:normAutofit/>
          </a:bodyPr>
          <a:lstStyle/>
          <a:p>
            <a:pPr algn="ctr" indent="0" marL="0">
              <a:buNone/>
            </a:pPr>
            <a:r>
              <a:rPr lang="en-US" sz="2400" b="1" dirty="0">
                <a:solidFill>
                  <a:srgbClr val="FFFDFC"/>
                </a:solidFill>
                <a:latin typeface="Noto Serif CJK SC" pitchFamily="34" charset="0"/>
                <a:ea typeface="Noto Serif CJK SC" pitchFamily="34" charset="-122"/>
                <a:cs typeface="Noto Serif CJK SC" pitchFamily="34" charset="-120"/>
              </a:rPr>
              <a:t>诗写到了哪里？又停在了哪里？</a:t>
            </a:r>
            <a:endParaRPr lang="en-US" sz="24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94473B"/>
          </a:solidFill>
          <a:ln w="12700">
            <a:solidFill>
              <a:srgbClr val="94473B"/>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94473B"/>
                </a:solidFill>
                <a:latin typeface="Noto Sans CJK SC" pitchFamily="34" charset="0"/>
                <a:ea typeface="Noto Sans CJK SC" pitchFamily="34" charset="-122"/>
                <a:cs typeface="Noto Sans CJK SC" pitchFamily="34" charset="-120"/>
              </a:rPr>
              <a:t>第六章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54</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500" b="1" dirty="0">
                <a:solidFill>
                  <a:srgbClr val="29241F"/>
                </a:solidFill>
                <a:latin typeface="Noto Serif CJK SC" pitchFamily="34" charset="0"/>
                <a:ea typeface="Noto Serif CJK SC" pitchFamily="34" charset="-122"/>
                <a:cs typeface="Noto Serif CJK SC" pitchFamily="34" charset="-120"/>
              </a:rPr>
              <a:t>她的一生，怎样走到“亦已焉哉”？</a:t>
            </a:r>
            <a:endParaRPr lang="en-US" sz="3500" dirty="0"/>
          </a:p>
        </p:txBody>
      </p:sp>
      <p:sp>
        <p:nvSpPr>
          <p:cNvPr id="6" name="Shape 4"/>
          <p:cNvSpPr/>
          <p:nvPr/>
        </p:nvSpPr>
        <p:spPr>
          <a:xfrm>
            <a:off x="914400" y="3246120"/>
            <a:ext cx="10195560" cy="0"/>
          </a:xfrm>
          <a:prstGeom prst="line">
            <a:avLst/>
          </a:prstGeom>
          <a:noFill/>
          <a:ln w="22860">
            <a:solidFill>
              <a:srgbClr val="DED0BC"/>
            </a:solidFill>
            <a:prstDash val="solid"/>
          </a:ln>
        </p:spPr>
      </p:sp>
      <p:sp>
        <p:nvSpPr>
          <p:cNvPr id="7" name="Shape 5"/>
          <p:cNvSpPr/>
          <p:nvPr/>
        </p:nvSpPr>
        <p:spPr>
          <a:xfrm>
            <a:off x="594360" y="2788920"/>
            <a:ext cx="1325880" cy="932688"/>
          </a:xfrm>
          <a:prstGeom prst="ellipse">
            <a:avLst/>
          </a:prstGeom>
          <a:solidFill>
            <a:srgbClr val="FFFCF7"/>
          </a:solidFill>
          <a:ln w="22860">
            <a:solidFill>
              <a:srgbClr val="A67F4A"/>
            </a:solidFill>
            <a:prstDash val="solid"/>
          </a:ln>
        </p:spPr>
      </p:sp>
      <p:sp>
        <p:nvSpPr>
          <p:cNvPr id="8" name="Text 6"/>
          <p:cNvSpPr/>
          <p:nvPr/>
        </p:nvSpPr>
        <p:spPr>
          <a:xfrm>
            <a:off x="667512" y="3063240"/>
            <a:ext cx="1179576" cy="347472"/>
          </a:xfrm>
          <a:prstGeom prst="rect">
            <a:avLst/>
          </a:prstGeom>
          <a:noFill/>
          <a:ln/>
        </p:spPr>
        <p:txBody>
          <a:bodyPr wrap="square" lIns="0" tIns="0" rIns="0" bIns="0" rtlCol="0" anchor="ctr">
            <a:normAutofit/>
          </a:bodyPr>
          <a:lstStyle/>
          <a:p>
            <a:pPr algn="ctr" indent="0" marL="0">
              <a:buNone/>
            </a:pPr>
            <a:r>
              <a:rPr lang="en-US" sz="1800" b="1" dirty="0">
                <a:solidFill>
                  <a:srgbClr val="29241F"/>
                </a:solidFill>
                <a:latin typeface="Noto Serif CJK SC" pitchFamily="34" charset="0"/>
                <a:ea typeface="Noto Serif CJK SC" pitchFamily="34" charset="-122"/>
                <a:cs typeface="Noto Serif CJK SC" pitchFamily="34" charset="-120"/>
              </a:rPr>
              <a:t>第一章</a:t>
            </a:r>
            <a:endParaRPr lang="en-US" sz="1800" dirty="0"/>
          </a:p>
        </p:txBody>
      </p:sp>
      <p:sp>
        <p:nvSpPr>
          <p:cNvPr id="9" name="Shape 7"/>
          <p:cNvSpPr/>
          <p:nvPr/>
        </p:nvSpPr>
        <p:spPr>
          <a:xfrm>
            <a:off x="2514600" y="2788920"/>
            <a:ext cx="1325880" cy="932688"/>
          </a:xfrm>
          <a:prstGeom prst="ellipse">
            <a:avLst/>
          </a:prstGeom>
          <a:solidFill>
            <a:srgbClr val="FFFCF7"/>
          </a:solidFill>
          <a:ln w="22860">
            <a:solidFill>
              <a:srgbClr val="446E78"/>
            </a:solidFill>
            <a:prstDash val="solid"/>
          </a:ln>
        </p:spPr>
      </p:sp>
      <p:sp>
        <p:nvSpPr>
          <p:cNvPr id="10" name="Text 8"/>
          <p:cNvSpPr/>
          <p:nvPr/>
        </p:nvSpPr>
        <p:spPr>
          <a:xfrm>
            <a:off x="2587752" y="3063240"/>
            <a:ext cx="1179576" cy="347472"/>
          </a:xfrm>
          <a:prstGeom prst="rect">
            <a:avLst/>
          </a:prstGeom>
          <a:noFill/>
          <a:ln/>
        </p:spPr>
        <p:txBody>
          <a:bodyPr wrap="square" lIns="0" tIns="0" rIns="0" bIns="0" rtlCol="0" anchor="ctr">
            <a:normAutofit/>
          </a:bodyPr>
          <a:lstStyle/>
          <a:p>
            <a:pPr algn="ctr" indent="0" marL="0">
              <a:buNone/>
            </a:pPr>
            <a:r>
              <a:rPr lang="en-US" sz="1800" b="1" dirty="0">
                <a:solidFill>
                  <a:srgbClr val="29241F"/>
                </a:solidFill>
                <a:latin typeface="Noto Serif CJK SC" pitchFamily="34" charset="0"/>
                <a:ea typeface="Noto Serif CJK SC" pitchFamily="34" charset="-122"/>
                <a:cs typeface="Noto Serif CJK SC" pitchFamily="34" charset="-120"/>
              </a:rPr>
              <a:t>第二章</a:t>
            </a:r>
            <a:endParaRPr lang="en-US" sz="1800" dirty="0"/>
          </a:p>
        </p:txBody>
      </p:sp>
      <p:sp>
        <p:nvSpPr>
          <p:cNvPr id="11" name="Shape 9"/>
          <p:cNvSpPr/>
          <p:nvPr/>
        </p:nvSpPr>
        <p:spPr>
          <a:xfrm>
            <a:off x="4434840" y="2788920"/>
            <a:ext cx="1325880" cy="932688"/>
          </a:xfrm>
          <a:prstGeom prst="ellipse">
            <a:avLst/>
          </a:prstGeom>
          <a:solidFill>
            <a:srgbClr val="FFFCF7"/>
          </a:solidFill>
          <a:ln w="22860">
            <a:solidFill>
              <a:srgbClr val="657653"/>
            </a:solidFill>
            <a:prstDash val="solid"/>
          </a:ln>
        </p:spPr>
      </p:sp>
      <p:sp>
        <p:nvSpPr>
          <p:cNvPr id="12" name="Text 10"/>
          <p:cNvSpPr/>
          <p:nvPr/>
        </p:nvSpPr>
        <p:spPr>
          <a:xfrm>
            <a:off x="4507992" y="3063240"/>
            <a:ext cx="1179576" cy="347472"/>
          </a:xfrm>
          <a:prstGeom prst="rect">
            <a:avLst/>
          </a:prstGeom>
          <a:noFill/>
          <a:ln/>
        </p:spPr>
        <p:txBody>
          <a:bodyPr wrap="square" lIns="0" tIns="0" rIns="0" bIns="0" rtlCol="0" anchor="ctr">
            <a:normAutofit/>
          </a:bodyPr>
          <a:lstStyle/>
          <a:p>
            <a:pPr algn="ctr" indent="0" marL="0">
              <a:buNone/>
            </a:pPr>
            <a:r>
              <a:rPr lang="en-US" sz="1800" b="1" dirty="0">
                <a:solidFill>
                  <a:srgbClr val="29241F"/>
                </a:solidFill>
                <a:latin typeface="Noto Serif CJK SC" pitchFamily="34" charset="0"/>
                <a:ea typeface="Noto Serif CJK SC" pitchFamily="34" charset="-122"/>
                <a:cs typeface="Noto Serif CJK SC" pitchFamily="34" charset="-120"/>
              </a:rPr>
              <a:t>第三章</a:t>
            </a:r>
            <a:endParaRPr lang="en-US" sz="1800" dirty="0"/>
          </a:p>
        </p:txBody>
      </p:sp>
      <p:sp>
        <p:nvSpPr>
          <p:cNvPr id="13" name="Shape 11"/>
          <p:cNvSpPr/>
          <p:nvPr/>
        </p:nvSpPr>
        <p:spPr>
          <a:xfrm>
            <a:off x="6355080" y="2788920"/>
            <a:ext cx="1325880" cy="932688"/>
          </a:xfrm>
          <a:prstGeom prst="ellipse">
            <a:avLst/>
          </a:prstGeom>
          <a:solidFill>
            <a:srgbClr val="FFFCF7"/>
          </a:solidFill>
          <a:ln w="22860">
            <a:solidFill>
              <a:srgbClr val="B58B3E"/>
            </a:solidFill>
            <a:prstDash val="solid"/>
          </a:ln>
        </p:spPr>
      </p:sp>
      <p:sp>
        <p:nvSpPr>
          <p:cNvPr id="14" name="Text 12"/>
          <p:cNvSpPr/>
          <p:nvPr/>
        </p:nvSpPr>
        <p:spPr>
          <a:xfrm>
            <a:off x="6428232" y="3063240"/>
            <a:ext cx="1179576" cy="347472"/>
          </a:xfrm>
          <a:prstGeom prst="rect">
            <a:avLst/>
          </a:prstGeom>
          <a:noFill/>
          <a:ln/>
        </p:spPr>
        <p:txBody>
          <a:bodyPr wrap="square" lIns="0" tIns="0" rIns="0" bIns="0" rtlCol="0" anchor="ctr">
            <a:normAutofit/>
          </a:bodyPr>
          <a:lstStyle/>
          <a:p>
            <a:pPr algn="ctr" indent="0" marL="0">
              <a:buNone/>
            </a:pPr>
            <a:r>
              <a:rPr lang="en-US" sz="1800" b="1" dirty="0">
                <a:solidFill>
                  <a:srgbClr val="29241F"/>
                </a:solidFill>
                <a:latin typeface="Noto Serif CJK SC" pitchFamily="34" charset="0"/>
                <a:ea typeface="Noto Serif CJK SC" pitchFamily="34" charset="-122"/>
                <a:cs typeface="Noto Serif CJK SC" pitchFamily="34" charset="-120"/>
              </a:rPr>
              <a:t>第四章</a:t>
            </a:r>
            <a:endParaRPr lang="en-US" sz="1800" dirty="0"/>
          </a:p>
        </p:txBody>
      </p:sp>
      <p:sp>
        <p:nvSpPr>
          <p:cNvPr id="15" name="Shape 13"/>
          <p:cNvSpPr/>
          <p:nvPr/>
        </p:nvSpPr>
        <p:spPr>
          <a:xfrm>
            <a:off x="8275320" y="2788920"/>
            <a:ext cx="1325880" cy="932688"/>
          </a:xfrm>
          <a:prstGeom prst="ellipse">
            <a:avLst/>
          </a:prstGeom>
          <a:solidFill>
            <a:srgbClr val="FFFCF7"/>
          </a:solidFill>
          <a:ln w="22860">
            <a:solidFill>
              <a:srgbClr val="725260"/>
            </a:solidFill>
            <a:prstDash val="solid"/>
          </a:ln>
        </p:spPr>
      </p:sp>
      <p:sp>
        <p:nvSpPr>
          <p:cNvPr id="16" name="Text 14"/>
          <p:cNvSpPr/>
          <p:nvPr/>
        </p:nvSpPr>
        <p:spPr>
          <a:xfrm>
            <a:off x="8348472" y="3063240"/>
            <a:ext cx="1179576" cy="347472"/>
          </a:xfrm>
          <a:prstGeom prst="rect">
            <a:avLst/>
          </a:prstGeom>
          <a:noFill/>
          <a:ln/>
        </p:spPr>
        <p:txBody>
          <a:bodyPr wrap="square" lIns="0" tIns="0" rIns="0" bIns="0" rtlCol="0" anchor="ctr">
            <a:normAutofit/>
          </a:bodyPr>
          <a:lstStyle/>
          <a:p>
            <a:pPr algn="ctr" indent="0" marL="0">
              <a:buNone/>
            </a:pPr>
            <a:r>
              <a:rPr lang="en-US" sz="1800" b="1" dirty="0">
                <a:solidFill>
                  <a:srgbClr val="29241F"/>
                </a:solidFill>
                <a:latin typeface="Noto Serif CJK SC" pitchFamily="34" charset="0"/>
                <a:ea typeface="Noto Serif CJK SC" pitchFamily="34" charset="-122"/>
                <a:cs typeface="Noto Serif CJK SC" pitchFamily="34" charset="-120"/>
              </a:rPr>
              <a:t>第五章</a:t>
            </a:r>
            <a:endParaRPr lang="en-US" sz="1800" dirty="0"/>
          </a:p>
        </p:txBody>
      </p:sp>
      <p:sp>
        <p:nvSpPr>
          <p:cNvPr id="17" name="Shape 15"/>
          <p:cNvSpPr/>
          <p:nvPr/>
        </p:nvSpPr>
        <p:spPr>
          <a:xfrm>
            <a:off x="10195560" y="2788920"/>
            <a:ext cx="1325880" cy="932688"/>
          </a:xfrm>
          <a:prstGeom prst="ellipse">
            <a:avLst/>
          </a:prstGeom>
          <a:solidFill>
            <a:srgbClr val="FFFCF7"/>
          </a:solidFill>
          <a:ln w="22860">
            <a:solidFill>
              <a:srgbClr val="94473B"/>
            </a:solidFill>
            <a:prstDash val="solid"/>
          </a:ln>
        </p:spPr>
      </p:sp>
      <p:sp>
        <p:nvSpPr>
          <p:cNvPr id="18" name="Text 16"/>
          <p:cNvSpPr/>
          <p:nvPr/>
        </p:nvSpPr>
        <p:spPr>
          <a:xfrm>
            <a:off x="10268712" y="3063240"/>
            <a:ext cx="1179576" cy="347472"/>
          </a:xfrm>
          <a:prstGeom prst="rect">
            <a:avLst/>
          </a:prstGeom>
          <a:noFill/>
          <a:ln/>
        </p:spPr>
        <p:txBody>
          <a:bodyPr wrap="square" lIns="0" tIns="0" rIns="0" bIns="0" rtlCol="0" anchor="ctr">
            <a:normAutofit/>
          </a:bodyPr>
          <a:lstStyle/>
          <a:p>
            <a:pPr algn="ctr" indent="0" marL="0">
              <a:buNone/>
            </a:pPr>
            <a:r>
              <a:rPr lang="en-US" sz="1800" b="1" dirty="0">
                <a:solidFill>
                  <a:srgbClr val="29241F"/>
                </a:solidFill>
                <a:latin typeface="Noto Serif CJK SC" pitchFamily="34" charset="0"/>
                <a:ea typeface="Noto Serif CJK SC" pitchFamily="34" charset="-122"/>
                <a:cs typeface="Noto Serif CJK SC" pitchFamily="34" charset="-120"/>
              </a:rPr>
              <a:t>第六章</a:t>
            </a:r>
            <a:endParaRPr lang="en-US" sz="1800" dirty="0"/>
          </a:p>
        </p:txBody>
      </p:sp>
      <p:sp>
        <p:nvSpPr>
          <p:cNvPr id="19" name="Text 17"/>
          <p:cNvSpPr/>
          <p:nvPr/>
        </p:nvSpPr>
        <p:spPr>
          <a:xfrm>
            <a:off x="914400" y="4617720"/>
            <a:ext cx="10360152" cy="658368"/>
          </a:xfrm>
          <a:prstGeom prst="rect">
            <a:avLst/>
          </a:prstGeom>
          <a:noFill/>
          <a:ln/>
        </p:spPr>
        <p:txBody>
          <a:bodyPr wrap="square" lIns="0" tIns="0" rIns="0" bIns="0" rtlCol="0" anchor="ctr"/>
          <a:lstStyle/>
          <a:p>
            <a:pPr algn="ctr" indent="0" marL="0">
              <a:buNone/>
            </a:pPr>
            <a:r>
              <a:rPr lang="en-US" sz="2400" b="1" dirty="0">
                <a:solidFill>
                  <a:srgbClr val="725260"/>
                </a:solidFill>
                <a:latin typeface="Noto Serif CJK SC" pitchFamily="34" charset="0"/>
                <a:ea typeface="Noto Serif CJK SC" pitchFamily="34" charset="-122"/>
                <a:cs typeface="Noto Serif CJK SC" pitchFamily="34" charset="-120"/>
              </a:rPr>
              <a:t>每章留下：一件事｜一句诗的自然意思｜与前一章相比发生了什么变化</a:t>
            </a:r>
            <a:endParaRPr lang="en-US" sz="24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94473B"/>
          </a:solidFill>
          <a:ln w="12700">
            <a:solidFill>
              <a:srgbClr val="94473B"/>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94473B"/>
                </a:solidFill>
                <a:latin typeface="Noto Sans CJK SC" pitchFamily="34" charset="0"/>
                <a:ea typeface="Noto Sans CJK SC" pitchFamily="34" charset="-122"/>
                <a:cs typeface="Noto Sans CJK SC" pitchFamily="34" charset="-120"/>
              </a:rPr>
              <a:t>第六章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55</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500" b="1" dirty="0">
                <a:solidFill>
                  <a:srgbClr val="29241F"/>
                </a:solidFill>
                <a:latin typeface="Noto Serif CJK SC" pitchFamily="34" charset="0"/>
                <a:ea typeface="Noto Serif CJK SC" pitchFamily="34" charset="-122"/>
                <a:cs typeface="Noto Serif CJK SC" pitchFamily="34" charset="-120"/>
              </a:rPr>
              <a:t>六张章卡，接成她的一生</a:t>
            </a:r>
            <a:endParaRPr lang="en-US" sz="3500" dirty="0"/>
          </a:p>
        </p:txBody>
      </p:sp>
      <p:sp>
        <p:nvSpPr>
          <p:cNvPr id="6" name="Shape 4"/>
          <p:cNvSpPr/>
          <p:nvPr/>
        </p:nvSpPr>
        <p:spPr>
          <a:xfrm>
            <a:off x="914400" y="3246120"/>
            <a:ext cx="10195560" cy="0"/>
          </a:xfrm>
          <a:prstGeom prst="line">
            <a:avLst/>
          </a:prstGeom>
          <a:noFill/>
          <a:ln w="22860">
            <a:solidFill>
              <a:srgbClr val="DED0BC"/>
            </a:solidFill>
            <a:prstDash val="solid"/>
          </a:ln>
        </p:spPr>
      </p:sp>
      <p:sp>
        <p:nvSpPr>
          <p:cNvPr id="7" name="Shape 5"/>
          <p:cNvSpPr/>
          <p:nvPr/>
        </p:nvSpPr>
        <p:spPr>
          <a:xfrm>
            <a:off x="594360" y="2788920"/>
            <a:ext cx="1325880" cy="932688"/>
          </a:xfrm>
          <a:prstGeom prst="ellipse">
            <a:avLst/>
          </a:prstGeom>
          <a:solidFill>
            <a:srgbClr val="FFFCF7"/>
          </a:solidFill>
          <a:ln w="22860">
            <a:solidFill>
              <a:srgbClr val="A67F4A"/>
            </a:solidFill>
            <a:prstDash val="solid"/>
          </a:ln>
        </p:spPr>
      </p:sp>
      <p:sp>
        <p:nvSpPr>
          <p:cNvPr id="8" name="Text 6"/>
          <p:cNvSpPr/>
          <p:nvPr/>
        </p:nvSpPr>
        <p:spPr>
          <a:xfrm>
            <a:off x="667512" y="3063240"/>
            <a:ext cx="1179576" cy="347472"/>
          </a:xfrm>
          <a:prstGeom prst="rect">
            <a:avLst/>
          </a:prstGeom>
          <a:noFill/>
          <a:ln/>
        </p:spPr>
        <p:txBody>
          <a:bodyPr wrap="square" lIns="0" tIns="0" rIns="0" bIns="0" rtlCol="0" anchor="ctr">
            <a:normAutofit/>
          </a:bodyPr>
          <a:lstStyle/>
          <a:p>
            <a:pPr algn="ctr" indent="0" marL="0">
              <a:buNone/>
            </a:pPr>
            <a:r>
              <a:rPr lang="en-US" sz="1800" b="1" dirty="0">
                <a:solidFill>
                  <a:srgbClr val="29241F"/>
                </a:solidFill>
                <a:latin typeface="Noto Serif CJK SC" pitchFamily="34" charset="0"/>
                <a:ea typeface="Noto Serif CJK SC" pitchFamily="34" charset="-122"/>
                <a:cs typeface="Noto Serif CJK SC" pitchFamily="34" charset="-120"/>
              </a:rPr>
              <a:t>第一章</a:t>
            </a:r>
            <a:endParaRPr lang="en-US" sz="1800" dirty="0"/>
          </a:p>
        </p:txBody>
      </p:sp>
      <p:sp>
        <p:nvSpPr>
          <p:cNvPr id="9" name="Shape 7"/>
          <p:cNvSpPr/>
          <p:nvPr/>
        </p:nvSpPr>
        <p:spPr>
          <a:xfrm>
            <a:off x="2514600" y="2788920"/>
            <a:ext cx="1325880" cy="932688"/>
          </a:xfrm>
          <a:prstGeom prst="ellipse">
            <a:avLst/>
          </a:prstGeom>
          <a:solidFill>
            <a:srgbClr val="FFFCF7"/>
          </a:solidFill>
          <a:ln w="22860">
            <a:solidFill>
              <a:srgbClr val="446E78"/>
            </a:solidFill>
            <a:prstDash val="solid"/>
          </a:ln>
        </p:spPr>
      </p:sp>
      <p:sp>
        <p:nvSpPr>
          <p:cNvPr id="10" name="Text 8"/>
          <p:cNvSpPr/>
          <p:nvPr/>
        </p:nvSpPr>
        <p:spPr>
          <a:xfrm>
            <a:off x="2587752" y="3063240"/>
            <a:ext cx="1179576" cy="347472"/>
          </a:xfrm>
          <a:prstGeom prst="rect">
            <a:avLst/>
          </a:prstGeom>
          <a:noFill/>
          <a:ln/>
        </p:spPr>
        <p:txBody>
          <a:bodyPr wrap="square" lIns="0" tIns="0" rIns="0" bIns="0" rtlCol="0" anchor="ctr">
            <a:normAutofit/>
          </a:bodyPr>
          <a:lstStyle/>
          <a:p>
            <a:pPr algn="ctr" indent="0" marL="0">
              <a:buNone/>
            </a:pPr>
            <a:r>
              <a:rPr lang="en-US" sz="1800" b="1" dirty="0">
                <a:solidFill>
                  <a:srgbClr val="29241F"/>
                </a:solidFill>
                <a:latin typeface="Noto Serif CJK SC" pitchFamily="34" charset="0"/>
                <a:ea typeface="Noto Serif CJK SC" pitchFamily="34" charset="-122"/>
                <a:cs typeface="Noto Serif CJK SC" pitchFamily="34" charset="-120"/>
              </a:rPr>
              <a:t>第二章</a:t>
            </a:r>
            <a:endParaRPr lang="en-US" sz="1800" dirty="0"/>
          </a:p>
        </p:txBody>
      </p:sp>
      <p:sp>
        <p:nvSpPr>
          <p:cNvPr id="11" name="Shape 9"/>
          <p:cNvSpPr/>
          <p:nvPr/>
        </p:nvSpPr>
        <p:spPr>
          <a:xfrm>
            <a:off x="4434840" y="2788920"/>
            <a:ext cx="1325880" cy="932688"/>
          </a:xfrm>
          <a:prstGeom prst="ellipse">
            <a:avLst/>
          </a:prstGeom>
          <a:solidFill>
            <a:srgbClr val="FFFCF7"/>
          </a:solidFill>
          <a:ln w="22860">
            <a:solidFill>
              <a:srgbClr val="657653"/>
            </a:solidFill>
            <a:prstDash val="solid"/>
          </a:ln>
        </p:spPr>
      </p:sp>
      <p:sp>
        <p:nvSpPr>
          <p:cNvPr id="12" name="Text 10"/>
          <p:cNvSpPr/>
          <p:nvPr/>
        </p:nvSpPr>
        <p:spPr>
          <a:xfrm>
            <a:off x="4507992" y="3063240"/>
            <a:ext cx="1179576" cy="347472"/>
          </a:xfrm>
          <a:prstGeom prst="rect">
            <a:avLst/>
          </a:prstGeom>
          <a:noFill/>
          <a:ln/>
        </p:spPr>
        <p:txBody>
          <a:bodyPr wrap="square" lIns="0" tIns="0" rIns="0" bIns="0" rtlCol="0" anchor="ctr">
            <a:normAutofit/>
          </a:bodyPr>
          <a:lstStyle/>
          <a:p>
            <a:pPr algn="ctr" indent="0" marL="0">
              <a:buNone/>
            </a:pPr>
            <a:r>
              <a:rPr lang="en-US" sz="1800" b="1" dirty="0">
                <a:solidFill>
                  <a:srgbClr val="29241F"/>
                </a:solidFill>
                <a:latin typeface="Noto Serif CJK SC" pitchFamily="34" charset="0"/>
                <a:ea typeface="Noto Serif CJK SC" pitchFamily="34" charset="-122"/>
                <a:cs typeface="Noto Serif CJK SC" pitchFamily="34" charset="-120"/>
              </a:rPr>
              <a:t>第三章</a:t>
            </a:r>
            <a:endParaRPr lang="en-US" sz="1800" dirty="0"/>
          </a:p>
        </p:txBody>
      </p:sp>
      <p:sp>
        <p:nvSpPr>
          <p:cNvPr id="13" name="Shape 11"/>
          <p:cNvSpPr/>
          <p:nvPr/>
        </p:nvSpPr>
        <p:spPr>
          <a:xfrm>
            <a:off x="6355080" y="2788920"/>
            <a:ext cx="1325880" cy="932688"/>
          </a:xfrm>
          <a:prstGeom prst="ellipse">
            <a:avLst/>
          </a:prstGeom>
          <a:solidFill>
            <a:srgbClr val="FFFCF7"/>
          </a:solidFill>
          <a:ln w="22860">
            <a:solidFill>
              <a:srgbClr val="B58B3E"/>
            </a:solidFill>
            <a:prstDash val="solid"/>
          </a:ln>
        </p:spPr>
      </p:sp>
      <p:sp>
        <p:nvSpPr>
          <p:cNvPr id="14" name="Text 12"/>
          <p:cNvSpPr/>
          <p:nvPr/>
        </p:nvSpPr>
        <p:spPr>
          <a:xfrm>
            <a:off x="6428232" y="3063240"/>
            <a:ext cx="1179576" cy="347472"/>
          </a:xfrm>
          <a:prstGeom prst="rect">
            <a:avLst/>
          </a:prstGeom>
          <a:noFill/>
          <a:ln/>
        </p:spPr>
        <p:txBody>
          <a:bodyPr wrap="square" lIns="0" tIns="0" rIns="0" bIns="0" rtlCol="0" anchor="ctr">
            <a:normAutofit/>
          </a:bodyPr>
          <a:lstStyle/>
          <a:p>
            <a:pPr algn="ctr" indent="0" marL="0">
              <a:buNone/>
            </a:pPr>
            <a:r>
              <a:rPr lang="en-US" sz="1800" b="1" dirty="0">
                <a:solidFill>
                  <a:srgbClr val="29241F"/>
                </a:solidFill>
                <a:latin typeface="Noto Serif CJK SC" pitchFamily="34" charset="0"/>
                <a:ea typeface="Noto Serif CJK SC" pitchFamily="34" charset="-122"/>
                <a:cs typeface="Noto Serif CJK SC" pitchFamily="34" charset="-120"/>
              </a:rPr>
              <a:t>第四章</a:t>
            </a:r>
            <a:endParaRPr lang="en-US" sz="1800" dirty="0"/>
          </a:p>
        </p:txBody>
      </p:sp>
      <p:sp>
        <p:nvSpPr>
          <p:cNvPr id="15" name="Shape 13"/>
          <p:cNvSpPr/>
          <p:nvPr/>
        </p:nvSpPr>
        <p:spPr>
          <a:xfrm>
            <a:off x="8275320" y="2788920"/>
            <a:ext cx="1325880" cy="932688"/>
          </a:xfrm>
          <a:prstGeom prst="ellipse">
            <a:avLst/>
          </a:prstGeom>
          <a:solidFill>
            <a:srgbClr val="FFFCF7"/>
          </a:solidFill>
          <a:ln w="22860">
            <a:solidFill>
              <a:srgbClr val="725260"/>
            </a:solidFill>
            <a:prstDash val="solid"/>
          </a:ln>
        </p:spPr>
      </p:sp>
      <p:sp>
        <p:nvSpPr>
          <p:cNvPr id="16" name="Text 14"/>
          <p:cNvSpPr/>
          <p:nvPr/>
        </p:nvSpPr>
        <p:spPr>
          <a:xfrm>
            <a:off x="8348472" y="3063240"/>
            <a:ext cx="1179576" cy="347472"/>
          </a:xfrm>
          <a:prstGeom prst="rect">
            <a:avLst/>
          </a:prstGeom>
          <a:noFill/>
          <a:ln/>
        </p:spPr>
        <p:txBody>
          <a:bodyPr wrap="square" lIns="0" tIns="0" rIns="0" bIns="0" rtlCol="0" anchor="ctr">
            <a:normAutofit/>
          </a:bodyPr>
          <a:lstStyle/>
          <a:p>
            <a:pPr algn="ctr" indent="0" marL="0">
              <a:buNone/>
            </a:pPr>
            <a:r>
              <a:rPr lang="en-US" sz="1800" b="1" dirty="0">
                <a:solidFill>
                  <a:srgbClr val="29241F"/>
                </a:solidFill>
                <a:latin typeface="Noto Serif CJK SC" pitchFamily="34" charset="0"/>
                <a:ea typeface="Noto Serif CJK SC" pitchFamily="34" charset="-122"/>
                <a:cs typeface="Noto Serif CJK SC" pitchFamily="34" charset="-120"/>
              </a:rPr>
              <a:t>第五章</a:t>
            </a:r>
            <a:endParaRPr lang="en-US" sz="1800" dirty="0"/>
          </a:p>
        </p:txBody>
      </p:sp>
      <p:sp>
        <p:nvSpPr>
          <p:cNvPr id="17" name="Shape 15"/>
          <p:cNvSpPr/>
          <p:nvPr/>
        </p:nvSpPr>
        <p:spPr>
          <a:xfrm>
            <a:off x="10195560" y="2788920"/>
            <a:ext cx="1325880" cy="932688"/>
          </a:xfrm>
          <a:prstGeom prst="ellipse">
            <a:avLst/>
          </a:prstGeom>
          <a:solidFill>
            <a:srgbClr val="FFFCF7"/>
          </a:solidFill>
          <a:ln w="22860">
            <a:solidFill>
              <a:srgbClr val="94473B"/>
            </a:solidFill>
            <a:prstDash val="solid"/>
          </a:ln>
        </p:spPr>
      </p:sp>
      <p:sp>
        <p:nvSpPr>
          <p:cNvPr id="18" name="Text 16"/>
          <p:cNvSpPr/>
          <p:nvPr/>
        </p:nvSpPr>
        <p:spPr>
          <a:xfrm>
            <a:off x="10268712" y="3063240"/>
            <a:ext cx="1179576" cy="347472"/>
          </a:xfrm>
          <a:prstGeom prst="rect">
            <a:avLst/>
          </a:prstGeom>
          <a:noFill/>
          <a:ln/>
        </p:spPr>
        <p:txBody>
          <a:bodyPr wrap="square" lIns="0" tIns="0" rIns="0" bIns="0" rtlCol="0" anchor="ctr">
            <a:normAutofit/>
          </a:bodyPr>
          <a:lstStyle/>
          <a:p>
            <a:pPr algn="ctr" indent="0" marL="0">
              <a:buNone/>
            </a:pPr>
            <a:r>
              <a:rPr lang="en-US" sz="1800" b="1" dirty="0">
                <a:solidFill>
                  <a:srgbClr val="29241F"/>
                </a:solidFill>
                <a:latin typeface="Noto Serif CJK SC" pitchFamily="34" charset="0"/>
                <a:ea typeface="Noto Serif CJK SC" pitchFamily="34" charset="-122"/>
                <a:cs typeface="Noto Serif CJK SC" pitchFamily="34" charset="-120"/>
              </a:rPr>
              <a:t>第六章</a:t>
            </a:r>
            <a:endParaRPr lang="en-US" sz="1800" dirty="0"/>
          </a:p>
        </p:txBody>
      </p:sp>
      <p:sp>
        <p:nvSpPr>
          <p:cNvPr id="19" name="Text 17"/>
          <p:cNvSpPr/>
          <p:nvPr/>
        </p:nvSpPr>
        <p:spPr>
          <a:xfrm>
            <a:off x="914400" y="4617720"/>
            <a:ext cx="10360152" cy="658368"/>
          </a:xfrm>
          <a:prstGeom prst="rect">
            <a:avLst/>
          </a:prstGeom>
          <a:noFill/>
          <a:ln/>
        </p:spPr>
        <p:txBody>
          <a:bodyPr wrap="square" lIns="0" tIns="0" rIns="0" bIns="0" rtlCol="0" anchor="ctr"/>
          <a:lstStyle/>
          <a:p>
            <a:pPr algn="ctr" indent="0" marL="0">
              <a:buNone/>
            </a:pPr>
            <a:r>
              <a:rPr lang="en-US" sz="2400" b="1" dirty="0">
                <a:solidFill>
                  <a:srgbClr val="725260"/>
                </a:solidFill>
                <a:latin typeface="Noto Serif CJK SC" pitchFamily="34" charset="0"/>
                <a:ea typeface="Noto Serif CJK SC" pitchFamily="34" charset="-122"/>
                <a:cs typeface="Noto Serif CJK SC" pitchFamily="34" charset="-120"/>
              </a:rPr>
              <a:t>只补自己原先缺少的一个转折。</a:t>
            </a:r>
            <a:endParaRPr lang="en-US" sz="24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28231F"/>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94473B"/>
          </a:solidFill>
          <a:ln w="12700">
            <a:solidFill>
              <a:srgbClr val="94473B"/>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DED0BC"/>
                </a:solidFill>
                <a:latin typeface="Noto Sans CJK SC" pitchFamily="34" charset="0"/>
                <a:ea typeface="Noto Sans CJK SC" pitchFamily="34" charset="-122"/>
                <a:cs typeface="Noto Sans CJK SC" pitchFamily="34" charset="-120"/>
              </a:rPr>
              <a:t>第六章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C5B39B"/>
                </a:solidFill>
                <a:latin typeface="Noto Sans CJK SC" pitchFamily="34" charset="0"/>
                <a:ea typeface="Noto Sans CJK SC" pitchFamily="34" charset="-122"/>
                <a:cs typeface="Noto Sans CJK SC" pitchFamily="34" charset="-120"/>
              </a:rPr>
              <a:t>56</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500" b="1" dirty="0">
                <a:solidFill>
                  <a:srgbClr val="FFFDFC"/>
                </a:solidFill>
                <a:latin typeface="Noto Serif CJK SC" pitchFamily="34" charset="0"/>
                <a:ea typeface="Noto Serif CJK SC" pitchFamily="34" charset="-122"/>
                <a:cs typeface="Noto Serif CJK SC" pitchFamily="34" charset="-120"/>
              </a:rPr>
              <a:t>相识议婚　→　等待迁嫁　→　桑叶劝告</a:t>
            </a:r>
            <a:endParaRPr lang="en-US" sz="3500" dirty="0"/>
          </a:p>
        </p:txBody>
      </p:sp>
      <p:sp>
        <p:nvSpPr>
          <p:cNvPr id="6" name="Shape 4"/>
          <p:cNvSpPr/>
          <p:nvPr/>
        </p:nvSpPr>
        <p:spPr>
          <a:xfrm>
            <a:off x="914400" y="3246120"/>
            <a:ext cx="10195560" cy="0"/>
          </a:xfrm>
          <a:prstGeom prst="line">
            <a:avLst/>
          </a:prstGeom>
          <a:noFill/>
          <a:ln w="22860">
            <a:solidFill>
              <a:srgbClr val="C5B39B"/>
            </a:solidFill>
            <a:prstDash val="solid"/>
          </a:ln>
        </p:spPr>
      </p:sp>
      <p:sp>
        <p:nvSpPr>
          <p:cNvPr id="7" name="Shape 5"/>
          <p:cNvSpPr/>
          <p:nvPr/>
        </p:nvSpPr>
        <p:spPr>
          <a:xfrm>
            <a:off x="594360" y="2788920"/>
            <a:ext cx="1325880" cy="932688"/>
          </a:xfrm>
          <a:prstGeom prst="ellipse">
            <a:avLst/>
          </a:prstGeom>
          <a:solidFill>
            <a:srgbClr val="383129"/>
          </a:solidFill>
          <a:ln w="22860">
            <a:solidFill>
              <a:srgbClr val="A67F4A"/>
            </a:solidFill>
            <a:prstDash val="solid"/>
          </a:ln>
        </p:spPr>
      </p:sp>
      <p:sp>
        <p:nvSpPr>
          <p:cNvPr id="8" name="Text 6"/>
          <p:cNvSpPr/>
          <p:nvPr/>
        </p:nvSpPr>
        <p:spPr>
          <a:xfrm>
            <a:off x="667512" y="3063240"/>
            <a:ext cx="1179576" cy="347472"/>
          </a:xfrm>
          <a:prstGeom prst="rect">
            <a:avLst/>
          </a:prstGeom>
          <a:noFill/>
          <a:ln/>
        </p:spPr>
        <p:txBody>
          <a:bodyPr wrap="square" lIns="0" tIns="0" rIns="0" bIns="0" rtlCol="0" anchor="ctr">
            <a:normAutofit/>
          </a:bodyPr>
          <a:lstStyle/>
          <a:p>
            <a:pPr algn="ctr" indent="0" marL="0">
              <a:buNone/>
            </a:pPr>
            <a:r>
              <a:rPr lang="en-US" sz="1600" b="1" dirty="0">
                <a:solidFill>
                  <a:srgbClr val="FFFDFC"/>
                </a:solidFill>
                <a:latin typeface="Noto Serif CJK SC" pitchFamily="34" charset="0"/>
                <a:ea typeface="Noto Serif CJK SC" pitchFamily="34" charset="-122"/>
                <a:cs typeface="Noto Serif CJK SC" pitchFamily="34" charset="-120"/>
              </a:rPr>
              <a:t>相识议婚</a:t>
            </a:r>
            <a:endParaRPr lang="en-US" sz="1600" dirty="0"/>
          </a:p>
        </p:txBody>
      </p:sp>
      <p:sp>
        <p:nvSpPr>
          <p:cNvPr id="9" name="Shape 7"/>
          <p:cNvSpPr/>
          <p:nvPr/>
        </p:nvSpPr>
        <p:spPr>
          <a:xfrm>
            <a:off x="2514600" y="2788920"/>
            <a:ext cx="1325880" cy="932688"/>
          </a:xfrm>
          <a:prstGeom prst="ellipse">
            <a:avLst/>
          </a:prstGeom>
          <a:solidFill>
            <a:srgbClr val="383129"/>
          </a:solidFill>
          <a:ln w="22860">
            <a:solidFill>
              <a:srgbClr val="446E78"/>
            </a:solidFill>
            <a:prstDash val="solid"/>
          </a:ln>
        </p:spPr>
      </p:sp>
      <p:sp>
        <p:nvSpPr>
          <p:cNvPr id="10" name="Text 8"/>
          <p:cNvSpPr/>
          <p:nvPr/>
        </p:nvSpPr>
        <p:spPr>
          <a:xfrm>
            <a:off x="2587752" y="3063240"/>
            <a:ext cx="1179576" cy="347472"/>
          </a:xfrm>
          <a:prstGeom prst="rect">
            <a:avLst/>
          </a:prstGeom>
          <a:noFill/>
          <a:ln/>
        </p:spPr>
        <p:txBody>
          <a:bodyPr wrap="square" lIns="0" tIns="0" rIns="0" bIns="0" rtlCol="0" anchor="ctr">
            <a:normAutofit/>
          </a:bodyPr>
          <a:lstStyle/>
          <a:p>
            <a:pPr algn="ctr" indent="0" marL="0">
              <a:buNone/>
            </a:pPr>
            <a:r>
              <a:rPr lang="en-US" sz="1600" b="1" dirty="0">
                <a:solidFill>
                  <a:srgbClr val="FFFDFC"/>
                </a:solidFill>
                <a:latin typeface="Noto Serif CJK SC" pitchFamily="34" charset="0"/>
                <a:ea typeface="Noto Serif CJK SC" pitchFamily="34" charset="-122"/>
                <a:cs typeface="Noto Serif CJK SC" pitchFamily="34" charset="-120"/>
              </a:rPr>
              <a:t>等待迁嫁</a:t>
            </a:r>
            <a:endParaRPr lang="en-US" sz="1600" dirty="0"/>
          </a:p>
        </p:txBody>
      </p:sp>
      <p:sp>
        <p:nvSpPr>
          <p:cNvPr id="11" name="Shape 9"/>
          <p:cNvSpPr/>
          <p:nvPr/>
        </p:nvSpPr>
        <p:spPr>
          <a:xfrm>
            <a:off x="4434840" y="2788920"/>
            <a:ext cx="1325880" cy="932688"/>
          </a:xfrm>
          <a:prstGeom prst="ellipse">
            <a:avLst/>
          </a:prstGeom>
          <a:solidFill>
            <a:srgbClr val="383129"/>
          </a:solidFill>
          <a:ln w="22860">
            <a:solidFill>
              <a:srgbClr val="657653"/>
            </a:solidFill>
            <a:prstDash val="solid"/>
          </a:ln>
        </p:spPr>
      </p:sp>
      <p:sp>
        <p:nvSpPr>
          <p:cNvPr id="12" name="Text 10"/>
          <p:cNvSpPr/>
          <p:nvPr/>
        </p:nvSpPr>
        <p:spPr>
          <a:xfrm>
            <a:off x="4507992" y="3063240"/>
            <a:ext cx="1179576" cy="347472"/>
          </a:xfrm>
          <a:prstGeom prst="rect">
            <a:avLst/>
          </a:prstGeom>
          <a:noFill/>
          <a:ln/>
        </p:spPr>
        <p:txBody>
          <a:bodyPr wrap="square" lIns="0" tIns="0" rIns="0" bIns="0" rtlCol="0" anchor="ctr">
            <a:normAutofit/>
          </a:bodyPr>
          <a:lstStyle/>
          <a:p>
            <a:pPr algn="ctr" indent="0" marL="0">
              <a:buNone/>
            </a:pPr>
            <a:r>
              <a:rPr lang="en-US" sz="1600" b="1" dirty="0">
                <a:solidFill>
                  <a:srgbClr val="FFFDFC"/>
                </a:solidFill>
                <a:latin typeface="Noto Serif CJK SC" pitchFamily="34" charset="0"/>
                <a:ea typeface="Noto Serif CJK SC" pitchFamily="34" charset="-122"/>
                <a:cs typeface="Noto Serif CJK SC" pitchFamily="34" charset="-120"/>
              </a:rPr>
              <a:t>桑叶劝告</a:t>
            </a:r>
            <a:endParaRPr lang="en-US" sz="1600" dirty="0"/>
          </a:p>
        </p:txBody>
      </p:sp>
      <p:sp>
        <p:nvSpPr>
          <p:cNvPr id="13" name="Shape 11"/>
          <p:cNvSpPr/>
          <p:nvPr/>
        </p:nvSpPr>
        <p:spPr>
          <a:xfrm>
            <a:off x="6355080" y="2788920"/>
            <a:ext cx="1325880" cy="932688"/>
          </a:xfrm>
          <a:prstGeom prst="ellipse">
            <a:avLst/>
          </a:prstGeom>
          <a:solidFill>
            <a:srgbClr val="383129"/>
          </a:solidFill>
          <a:ln w="22860">
            <a:solidFill>
              <a:srgbClr val="B58B3E"/>
            </a:solidFill>
            <a:prstDash val="solid"/>
          </a:ln>
        </p:spPr>
      </p:sp>
      <p:sp>
        <p:nvSpPr>
          <p:cNvPr id="14" name="Text 12"/>
          <p:cNvSpPr/>
          <p:nvPr/>
        </p:nvSpPr>
        <p:spPr>
          <a:xfrm>
            <a:off x="6428232" y="3063240"/>
            <a:ext cx="1179576" cy="347472"/>
          </a:xfrm>
          <a:prstGeom prst="rect">
            <a:avLst/>
          </a:prstGeom>
          <a:noFill/>
          <a:ln/>
        </p:spPr>
        <p:txBody>
          <a:bodyPr wrap="square" lIns="0" tIns="0" rIns="0" bIns="0" rtlCol="0" anchor="ctr">
            <a:normAutofit/>
          </a:bodyPr>
          <a:lstStyle/>
          <a:p>
            <a:pPr algn="ctr" indent="0" marL="0">
              <a:buNone/>
            </a:pPr>
            <a:r>
              <a:rPr lang="en-US" sz="1600" b="1" dirty="0">
                <a:solidFill>
                  <a:srgbClr val="FFFDFC"/>
                </a:solidFill>
                <a:latin typeface="Noto Serif CJK SC" pitchFamily="34" charset="0"/>
                <a:ea typeface="Noto Serif CJK SC" pitchFamily="34" charset="-122"/>
                <a:cs typeface="Noto Serif CJK SC" pitchFamily="34" charset="-120"/>
              </a:rPr>
              <a:t>婚后失衡</a:t>
            </a:r>
            <a:endParaRPr lang="en-US" sz="1600" dirty="0"/>
          </a:p>
        </p:txBody>
      </p:sp>
      <p:sp>
        <p:nvSpPr>
          <p:cNvPr id="15" name="Shape 13"/>
          <p:cNvSpPr/>
          <p:nvPr/>
        </p:nvSpPr>
        <p:spPr>
          <a:xfrm>
            <a:off x="8275320" y="2788920"/>
            <a:ext cx="1325880" cy="932688"/>
          </a:xfrm>
          <a:prstGeom prst="ellipse">
            <a:avLst/>
          </a:prstGeom>
          <a:solidFill>
            <a:srgbClr val="383129"/>
          </a:solidFill>
          <a:ln w="22860">
            <a:solidFill>
              <a:srgbClr val="725260"/>
            </a:solidFill>
            <a:prstDash val="solid"/>
          </a:ln>
        </p:spPr>
      </p:sp>
      <p:sp>
        <p:nvSpPr>
          <p:cNvPr id="16" name="Text 14"/>
          <p:cNvSpPr/>
          <p:nvPr/>
        </p:nvSpPr>
        <p:spPr>
          <a:xfrm>
            <a:off x="8348472" y="3063240"/>
            <a:ext cx="1179576" cy="347472"/>
          </a:xfrm>
          <a:prstGeom prst="rect">
            <a:avLst/>
          </a:prstGeom>
          <a:noFill/>
          <a:ln/>
        </p:spPr>
        <p:txBody>
          <a:bodyPr wrap="square" lIns="0" tIns="0" rIns="0" bIns="0" rtlCol="0" anchor="ctr">
            <a:normAutofit/>
          </a:bodyPr>
          <a:lstStyle/>
          <a:p>
            <a:pPr algn="ctr" indent="0" marL="0">
              <a:buNone/>
            </a:pPr>
            <a:r>
              <a:rPr lang="en-US" sz="1600" b="1" dirty="0">
                <a:solidFill>
                  <a:srgbClr val="FFFDFC"/>
                </a:solidFill>
                <a:latin typeface="Noto Serif CJK SC" pitchFamily="34" charset="0"/>
                <a:ea typeface="Noto Serif CJK SC" pitchFamily="34" charset="-122"/>
                <a:cs typeface="Noto Serif CJK SC" pitchFamily="34" charset="-120"/>
              </a:rPr>
              <a:t>劳作孤立</a:t>
            </a:r>
            <a:endParaRPr lang="en-US" sz="1600" dirty="0"/>
          </a:p>
        </p:txBody>
      </p:sp>
      <p:sp>
        <p:nvSpPr>
          <p:cNvPr id="17" name="Shape 15"/>
          <p:cNvSpPr/>
          <p:nvPr/>
        </p:nvSpPr>
        <p:spPr>
          <a:xfrm>
            <a:off x="10195560" y="2788920"/>
            <a:ext cx="1325880" cy="932688"/>
          </a:xfrm>
          <a:prstGeom prst="ellipse">
            <a:avLst/>
          </a:prstGeom>
          <a:solidFill>
            <a:srgbClr val="383129"/>
          </a:solidFill>
          <a:ln w="22860">
            <a:solidFill>
              <a:srgbClr val="94473B"/>
            </a:solidFill>
            <a:prstDash val="solid"/>
          </a:ln>
        </p:spPr>
      </p:sp>
      <p:sp>
        <p:nvSpPr>
          <p:cNvPr id="18" name="Text 16"/>
          <p:cNvSpPr/>
          <p:nvPr/>
        </p:nvSpPr>
        <p:spPr>
          <a:xfrm>
            <a:off x="10268712" y="3063240"/>
            <a:ext cx="1179576" cy="347472"/>
          </a:xfrm>
          <a:prstGeom prst="rect">
            <a:avLst/>
          </a:prstGeom>
          <a:noFill/>
          <a:ln/>
        </p:spPr>
        <p:txBody>
          <a:bodyPr wrap="square" lIns="0" tIns="0" rIns="0" bIns="0" rtlCol="0" anchor="ctr">
            <a:normAutofit/>
          </a:bodyPr>
          <a:lstStyle/>
          <a:p>
            <a:pPr algn="ctr" indent="0" marL="0">
              <a:buNone/>
            </a:pPr>
            <a:r>
              <a:rPr lang="en-US" sz="1600" b="1" dirty="0">
                <a:solidFill>
                  <a:srgbClr val="FFFDFC"/>
                </a:solidFill>
                <a:latin typeface="Noto Serif CJK SC" pitchFamily="34" charset="0"/>
                <a:ea typeface="Noto Serif CJK SC" pitchFamily="34" charset="-122"/>
                <a:cs typeface="Noto Serif CJK SC" pitchFamily="34" charset="-120"/>
              </a:rPr>
              <a:t>回望止息</a:t>
            </a:r>
            <a:endParaRPr lang="en-US" sz="1600" dirty="0"/>
          </a:p>
        </p:txBody>
      </p:sp>
      <p:sp>
        <p:nvSpPr>
          <p:cNvPr id="19" name="Text 17"/>
          <p:cNvSpPr/>
          <p:nvPr/>
        </p:nvSpPr>
        <p:spPr>
          <a:xfrm>
            <a:off x="914400" y="4617720"/>
            <a:ext cx="10360152" cy="658368"/>
          </a:xfrm>
          <a:prstGeom prst="rect">
            <a:avLst/>
          </a:prstGeom>
          <a:noFill/>
          <a:ln/>
        </p:spPr>
        <p:txBody>
          <a:bodyPr wrap="square" lIns="0" tIns="0" rIns="0" bIns="0" rtlCol="0" anchor="ctr"/>
          <a:lstStyle/>
          <a:p>
            <a:pPr algn="ctr" indent="0" marL="0">
              <a:buNone/>
            </a:pPr>
            <a:r>
              <a:rPr lang="en-US" sz="2400" b="1" dirty="0">
                <a:solidFill>
                  <a:srgbClr val="EFE3CF"/>
                </a:solidFill>
                <a:latin typeface="Noto Serif CJK SC" pitchFamily="34" charset="0"/>
                <a:ea typeface="Noto Serif CJK SC" pitchFamily="34" charset="-122"/>
                <a:cs typeface="Noto Serif CJK SC" pitchFamily="34" charset="-120"/>
              </a:rPr>
              <a:t>先看清这条路；下一页撤去答案。</a:t>
            </a:r>
            <a:endParaRPr lang="en-US" sz="24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28231F"/>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94473B"/>
          </a:solidFill>
          <a:ln w="12700">
            <a:solidFill>
              <a:srgbClr val="94473B"/>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DED0BC"/>
                </a:solidFill>
                <a:latin typeface="Noto Sans CJK SC" pitchFamily="34" charset="0"/>
                <a:ea typeface="Noto Sans CJK SC" pitchFamily="34" charset="-122"/>
                <a:cs typeface="Noto Sans CJK SC" pitchFamily="34" charset="-120"/>
              </a:rPr>
              <a:t>第六章</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C5B39B"/>
                </a:solidFill>
                <a:latin typeface="Noto Sans CJK SC" pitchFamily="34" charset="0"/>
                <a:ea typeface="Noto Sans CJK SC" pitchFamily="34" charset="-122"/>
                <a:cs typeface="Noto Sans CJK SC" pitchFamily="34" charset="-120"/>
              </a:rPr>
              <a:t>57</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ctr" indent="0" marL="0">
              <a:buNone/>
            </a:pPr>
            <a:r>
              <a:rPr lang="en-US" sz="3900" b="1" dirty="0">
                <a:solidFill>
                  <a:srgbClr val="FFFDFC"/>
                </a:solidFill>
                <a:latin typeface="Noto Serif CJK SC" pitchFamily="34" charset="0"/>
                <a:ea typeface="Noto Serif CJK SC" pitchFamily="34" charset="-122"/>
                <a:cs typeface="Noto Serif CJK SC" pitchFamily="34" charset="-120"/>
              </a:rPr>
              <a:t>答案已经撤下。</a:t>
            </a:r>
            <a:endParaRPr lang="en-US" sz="3900" dirty="0"/>
          </a:p>
        </p:txBody>
      </p:sp>
      <p:sp>
        <p:nvSpPr>
          <p:cNvPr id="6" name="Text 4"/>
          <p:cNvSpPr/>
          <p:nvPr/>
        </p:nvSpPr>
        <p:spPr>
          <a:xfrm>
            <a:off x="1188720" y="2057400"/>
            <a:ext cx="9811512" cy="566928"/>
          </a:xfrm>
          <a:prstGeom prst="rect">
            <a:avLst/>
          </a:prstGeom>
          <a:noFill/>
          <a:ln/>
        </p:spPr>
        <p:txBody>
          <a:bodyPr wrap="square" lIns="0" tIns="0" rIns="0" bIns="0" rtlCol="0" anchor="ctr">
            <a:normAutofit/>
          </a:bodyPr>
          <a:lstStyle/>
          <a:p>
            <a:pPr algn="ctr" indent="0" marL="0">
              <a:buNone/>
            </a:pPr>
            <a:r>
              <a:rPr lang="en-US" sz="2900" b="1" dirty="0">
                <a:solidFill>
                  <a:srgbClr val="FFFDFC"/>
                </a:solidFill>
                <a:latin typeface="Noto Serif CJK SC" pitchFamily="34" charset="0"/>
                <a:ea typeface="Noto Serif CJK SC" pitchFamily="34" charset="-122"/>
                <a:cs typeface="Noto Serif CJK SC" pitchFamily="34" charset="-120"/>
              </a:rPr>
              <a:t>合上书，从第一章讲到第六章。</a:t>
            </a:r>
            <a:endParaRPr lang="en-US" sz="2900" dirty="0"/>
          </a:p>
        </p:txBody>
      </p:sp>
      <p:sp>
        <p:nvSpPr>
          <p:cNvPr id="7" name="Text 5"/>
          <p:cNvSpPr/>
          <p:nvPr/>
        </p:nvSpPr>
        <p:spPr>
          <a:xfrm>
            <a:off x="1188720" y="2971800"/>
            <a:ext cx="9811512" cy="566928"/>
          </a:xfrm>
          <a:prstGeom prst="rect">
            <a:avLst/>
          </a:prstGeom>
          <a:noFill/>
          <a:ln/>
        </p:spPr>
        <p:txBody>
          <a:bodyPr wrap="square" lIns="0" tIns="0" rIns="0" bIns="0" rtlCol="0" anchor="ctr">
            <a:normAutofit/>
          </a:bodyPr>
          <a:lstStyle/>
          <a:p>
            <a:pPr algn="ctr" indent="0" marL="0">
              <a:buNone/>
            </a:pPr>
            <a:r>
              <a:rPr lang="en-US" sz="2500" dirty="0">
                <a:solidFill>
                  <a:srgbClr val="EFE3CF"/>
                </a:solidFill>
                <a:latin typeface="Noto Serif CJK SC" pitchFamily="34" charset="0"/>
                <a:ea typeface="Noto Serif CJK SC" pitchFamily="34" charset="-122"/>
                <a:cs typeface="Noto Serif CJK SC" pitchFamily="34" charset="-120"/>
              </a:rPr>
              <a:t>断在何处，就回哪一句；补好以后，再合书讲完。</a:t>
            </a:r>
            <a:endParaRPr lang="en-US" sz="25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51483F"/>
          </a:solidFill>
          <a:ln w="12700">
            <a:solidFill>
              <a:srgbClr val="51483F"/>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51483F"/>
                </a:solidFill>
                <a:latin typeface="Noto Sans CJK SC" pitchFamily="34" charset="0"/>
                <a:ea typeface="Noto Sans CJK SC" pitchFamily="34" charset="-122"/>
                <a:cs typeface="Noto Sans CJK SC" pitchFamily="34" charset="-120"/>
              </a:rPr>
              <a:t>全文</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58</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600" b="1" dirty="0">
                <a:solidFill>
                  <a:srgbClr val="29241F"/>
                </a:solidFill>
                <a:latin typeface="Noto Serif CJK SC" pitchFamily="34" charset="0"/>
                <a:ea typeface="Noto Serif CJK SC" pitchFamily="34" charset="-122"/>
                <a:cs typeface="Noto Serif CJK SC" pitchFamily="34" charset="-120"/>
              </a:rPr>
              <a:t>找回《一间屋子里的许多年》</a:t>
            </a:r>
            <a:endParaRPr lang="en-US" sz="3600" dirty="0"/>
          </a:p>
        </p:txBody>
      </p:sp>
      <p:sp>
        <p:nvSpPr>
          <p:cNvPr id="6" name="Shape 4"/>
          <p:cNvSpPr/>
          <p:nvPr/>
        </p:nvSpPr>
        <p:spPr>
          <a:xfrm>
            <a:off x="768096" y="1572768"/>
            <a:ext cx="3380232" cy="3858768"/>
          </a:xfrm>
          <a:prstGeom prst="roundRect">
            <a:avLst>
              <a:gd name="adj" fmla="val 1082"/>
            </a:avLst>
          </a:prstGeom>
          <a:solidFill>
            <a:srgbClr val="FFFCF7"/>
          </a:solidFill>
          <a:ln w="13970">
            <a:solidFill>
              <a:srgbClr val="446E78"/>
            </a:solidFill>
            <a:prstDash val="solid"/>
          </a:ln>
        </p:spPr>
      </p:sp>
      <p:sp>
        <p:nvSpPr>
          <p:cNvPr id="7" name="Text 5"/>
          <p:cNvSpPr/>
          <p:nvPr/>
        </p:nvSpPr>
        <p:spPr>
          <a:xfrm>
            <a:off x="1042416" y="2029968"/>
            <a:ext cx="2831592" cy="2834640"/>
          </a:xfrm>
          <a:prstGeom prst="rect">
            <a:avLst/>
          </a:prstGeom>
          <a:noFill/>
          <a:ln/>
        </p:spPr>
        <p:txBody>
          <a:bodyPr wrap="square" lIns="0" tIns="0" rIns="0" bIns="0" rtlCol="0" anchor="ctr">
            <a:normAutofit/>
          </a:bodyPr>
          <a:lstStyle/>
          <a:p>
            <a:pPr algn="ctr" indent="0" marL="0">
              <a:buNone/>
            </a:pPr>
            <a:r>
              <a:rPr lang="en-US" sz="2400" b="1" dirty="0">
                <a:solidFill>
                  <a:srgbClr val="29241F"/>
                </a:solidFill>
                <a:latin typeface="Noto Serif CJK SC" pitchFamily="34" charset="0"/>
                <a:ea typeface="Noto Serif CJK SC" pitchFamily="34" charset="-122"/>
                <a:cs typeface="Noto Serif CJK SC" pitchFamily="34" charset="-120"/>
              </a:rPr>
              <a:t>划出：她每天过着怎样的日子。</a:t>
            </a:r>
            <a:endParaRPr lang="en-US" sz="2400" dirty="0"/>
          </a:p>
        </p:txBody>
      </p:sp>
      <p:sp>
        <p:nvSpPr>
          <p:cNvPr id="8" name="Shape 6"/>
          <p:cNvSpPr/>
          <p:nvPr/>
        </p:nvSpPr>
        <p:spPr>
          <a:xfrm>
            <a:off x="4404360" y="1572768"/>
            <a:ext cx="3380232" cy="3858768"/>
          </a:xfrm>
          <a:prstGeom prst="roundRect">
            <a:avLst>
              <a:gd name="adj" fmla="val 1082"/>
            </a:avLst>
          </a:prstGeom>
          <a:solidFill>
            <a:srgbClr val="FFFCF7"/>
          </a:solidFill>
          <a:ln w="13970">
            <a:solidFill>
              <a:srgbClr val="725260"/>
            </a:solidFill>
            <a:prstDash val="solid"/>
          </a:ln>
        </p:spPr>
      </p:sp>
      <p:sp>
        <p:nvSpPr>
          <p:cNvPr id="9" name="Text 7"/>
          <p:cNvSpPr/>
          <p:nvPr/>
        </p:nvSpPr>
        <p:spPr>
          <a:xfrm>
            <a:off x="4678680" y="2029968"/>
            <a:ext cx="2831592" cy="2834640"/>
          </a:xfrm>
          <a:prstGeom prst="rect">
            <a:avLst/>
          </a:prstGeom>
          <a:noFill/>
          <a:ln/>
        </p:spPr>
        <p:txBody>
          <a:bodyPr wrap="square" lIns="0" tIns="0" rIns="0" bIns="0" rtlCol="0" anchor="ctr">
            <a:normAutofit/>
          </a:bodyPr>
          <a:lstStyle/>
          <a:p>
            <a:pPr algn="ctr" indent="0" marL="0">
              <a:buNone/>
            </a:pPr>
            <a:r>
              <a:rPr lang="en-US" sz="2200" b="1" dirty="0">
                <a:solidFill>
                  <a:srgbClr val="29241F"/>
                </a:solidFill>
                <a:latin typeface="Noto Serif CJK SC" pitchFamily="34" charset="0"/>
                <a:ea typeface="Noto Serif CJK SC" pitchFamily="34" charset="-122"/>
                <a:cs typeface="Noto Serif CJK SC" pitchFamily="34" charset="-120"/>
              </a:rPr>
              <a:t>划出：她在伴侣和兄弟那里遭遇了什么。</a:t>
            </a:r>
            <a:endParaRPr lang="en-US" sz="2200" dirty="0"/>
          </a:p>
        </p:txBody>
      </p:sp>
      <p:sp>
        <p:nvSpPr>
          <p:cNvPr id="10" name="Shape 8"/>
          <p:cNvSpPr/>
          <p:nvPr/>
        </p:nvSpPr>
        <p:spPr>
          <a:xfrm>
            <a:off x="8040624" y="1572768"/>
            <a:ext cx="3380232" cy="3858768"/>
          </a:xfrm>
          <a:prstGeom prst="roundRect">
            <a:avLst>
              <a:gd name="adj" fmla="val 1082"/>
            </a:avLst>
          </a:prstGeom>
          <a:solidFill>
            <a:srgbClr val="FFFCF7"/>
          </a:solidFill>
          <a:ln w="13970">
            <a:solidFill>
              <a:srgbClr val="A67F4A"/>
            </a:solidFill>
            <a:prstDash val="solid"/>
          </a:ln>
        </p:spPr>
      </p:sp>
      <p:sp>
        <p:nvSpPr>
          <p:cNvPr id="11" name="Text 9"/>
          <p:cNvSpPr/>
          <p:nvPr/>
        </p:nvSpPr>
        <p:spPr>
          <a:xfrm>
            <a:off x="8314944" y="2029968"/>
            <a:ext cx="2831592" cy="2834640"/>
          </a:xfrm>
          <a:prstGeom prst="rect">
            <a:avLst/>
          </a:prstGeom>
          <a:noFill/>
          <a:ln/>
        </p:spPr>
        <p:txBody>
          <a:bodyPr wrap="square" lIns="0" tIns="0" rIns="0" bIns="0" rtlCol="0" anchor="ctr">
            <a:normAutofit/>
          </a:bodyPr>
          <a:lstStyle/>
          <a:p>
            <a:pPr algn="ctr" indent="0" marL="0">
              <a:buNone/>
            </a:pPr>
            <a:r>
              <a:rPr lang="en-US" sz="2200" b="1" dirty="0">
                <a:solidFill>
                  <a:srgbClr val="29241F"/>
                </a:solidFill>
                <a:latin typeface="Noto Serif CJK SC" pitchFamily="34" charset="0"/>
                <a:ea typeface="Noto Serif CJK SC" pitchFamily="34" charset="-122"/>
                <a:cs typeface="Noto Serif CJK SC" pitchFamily="34" charset="-120"/>
              </a:rPr>
              <a:t>旧稿若漏了一项，只在旁边补一句并写原诗。</a:t>
            </a:r>
            <a:endParaRPr lang="en-US" sz="22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51483F"/>
          </a:solidFill>
          <a:ln w="12700">
            <a:solidFill>
              <a:srgbClr val="51483F"/>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51483F"/>
                </a:solidFill>
                <a:latin typeface="Noto Sans CJK SC" pitchFamily="34" charset="0"/>
                <a:ea typeface="Noto Sans CJK SC" pitchFamily="34" charset="-122"/>
                <a:cs typeface="Noto Sans CJK SC" pitchFamily="34" charset="-120"/>
              </a:rPr>
              <a:t>全文</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59</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600" b="1" dirty="0">
                <a:solidFill>
                  <a:srgbClr val="29241F"/>
                </a:solidFill>
                <a:latin typeface="Noto Serif CJK SC" pitchFamily="34" charset="0"/>
                <a:ea typeface="Noto Serif CJK SC" pitchFamily="34" charset="-122"/>
                <a:cs typeface="Noto Serif CJK SC" pitchFamily="34" charset="-120"/>
              </a:rPr>
              <a:t>只看卡片正面：你能猜回哪一句诗？</a:t>
            </a:r>
            <a:endParaRPr lang="en-US" sz="3600" dirty="0"/>
          </a:p>
        </p:txBody>
      </p:sp>
      <p:sp>
        <p:nvSpPr>
          <p:cNvPr id="6" name="Shape 4"/>
          <p:cNvSpPr/>
          <p:nvPr/>
        </p:nvSpPr>
        <p:spPr>
          <a:xfrm>
            <a:off x="768096" y="1572768"/>
            <a:ext cx="5198364" cy="3858768"/>
          </a:xfrm>
          <a:prstGeom prst="roundRect">
            <a:avLst>
              <a:gd name="adj" fmla="val 948"/>
            </a:avLst>
          </a:prstGeom>
          <a:solidFill>
            <a:srgbClr val="FFFCF7"/>
          </a:solidFill>
          <a:ln w="13970">
            <a:solidFill>
              <a:srgbClr val="446E78"/>
            </a:solidFill>
            <a:prstDash val="solid"/>
          </a:ln>
        </p:spPr>
      </p:sp>
      <p:sp>
        <p:nvSpPr>
          <p:cNvPr id="7" name="Text 5"/>
          <p:cNvSpPr/>
          <p:nvPr/>
        </p:nvSpPr>
        <p:spPr>
          <a:xfrm>
            <a:off x="1042416" y="2029968"/>
            <a:ext cx="4649724" cy="2834640"/>
          </a:xfrm>
          <a:prstGeom prst="rect">
            <a:avLst/>
          </a:prstGeom>
          <a:noFill/>
          <a:ln/>
        </p:spPr>
        <p:txBody>
          <a:bodyPr wrap="square" lIns="0" tIns="0" rIns="0" bIns="0" rtlCol="0" anchor="ctr">
            <a:normAutofit/>
          </a:bodyPr>
          <a:lstStyle/>
          <a:p>
            <a:pPr algn="ctr" indent="0" marL="0">
              <a:buNone/>
            </a:pPr>
            <a:r>
              <a:rPr lang="en-US" sz="3000" b="1" dirty="0">
                <a:solidFill>
                  <a:srgbClr val="29241F"/>
                </a:solidFill>
                <a:latin typeface="Noto Serif CJK SC" pitchFamily="34" charset="0"/>
                <a:ea typeface="Noto Serif CJK SC" pitchFamily="34" charset="-122"/>
                <a:cs typeface="Noto Serif CJK SC" pitchFamily="34" charset="-120"/>
              </a:rPr>
              <a:t>翻到背面核验。</a:t>
            </a:r>
            <a:endParaRPr lang="en-US" sz="3000" dirty="0"/>
          </a:p>
        </p:txBody>
      </p:sp>
      <p:sp>
        <p:nvSpPr>
          <p:cNvPr id="8" name="Shape 6"/>
          <p:cNvSpPr/>
          <p:nvPr/>
        </p:nvSpPr>
        <p:spPr>
          <a:xfrm>
            <a:off x="6222492" y="1572768"/>
            <a:ext cx="5198364" cy="3858768"/>
          </a:xfrm>
          <a:prstGeom prst="roundRect">
            <a:avLst>
              <a:gd name="adj" fmla="val 948"/>
            </a:avLst>
          </a:prstGeom>
          <a:solidFill>
            <a:srgbClr val="FFFCF7"/>
          </a:solidFill>
          <a:ln w="13970">
            <a:solidFill>
              <a:srgbClr val="725260"/>
            </a:solidFill>
            <a:prstDash val="solid"/>
          </a:ln>
        </p:spPr>
      </p:sp>
      <p:sp>
        <p:nvSpPr>
          <p:cNvPr id="9" name="Text 7"/>
          <p:cNvSpPr/>
          <p:nvPr/>
        </p:nvSpPr>
        <p:spPr>
          <a:xfrm>
            <a:off x="6496812" y="2029968"/>
            <a:ext cx="4649724" cy="2834640"/>
          </a:xfrm>
          <a:prstGeom prst="rect">
            <a:avLst/>
          </a:prstGeom>
          <a:noFill/>
          <a:ln/>
        </p:spPr>
        <p:txBody>
          <a:bodyPr wrap="square" lIns="0" tIns="0" rIns="0" bIns="0" rtlCol="0" anchor="ctr">
            <a:normAutofit/>
          </a:bodyPr>
          <a:lstStyle/>
          <a:p>
            <a:pPr algn="ctr" indent="0" marL="0">
              <a:buNone/>
            </a:pPr>
            <a:r>
              <a:rPr lang="en-US" sz="3000" b="1" dirty="0">
                <a:solidFill>
                  <a:srgbClr val="29241F"/>
                </a:solidFill>
                <a:latin typeface="Noto Serif CJK SC" pitchFamily="34" charset="0"/>
                <a:ea typeface="Noto Serif CJK SC" pitchFamily="34" charset="-122"/>
                <a:cs typeface="Noto Serif CJK SC" pitchFamily="34" charset="-120"/>
              </a:rPr>
              <a:t>若写出了诗中没有的遭遇，把它退回这张卡的作者修订。</a:t>
            </a:r>
            <a:endParaRPr lang="en-US" sz="30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51483F"/>
          </a:solidFill>
          <a:ln w="12700">
            <a:solidFill>
              <a:srgbClr val="51483F"/>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51483F"/>
                </a:solidFill>
                <a:latin typeface="Noto Sans CJK SC" pitchFamily="34" charset="0"/>
                <a:ea typeface="Noto Sans CJK SC" pitchFamily="34" charset="-122"/>
                <a:cs typeface="Noto Sans CJK SC" pitchFamily="34" charset="-120"/>
              </a:rPr>
              <a:t>全文</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60</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600" b="1" dirty="0">
                <a:solidFill>
                  <a:srgbClr val="29241F"/>
                </a:solidFill>
                <a:latin typeface="Noto Serif CJK SC" pitchFamily="34" charset="0"/>
                <a:ea typeface="Noto Serif CJK SC" pitchFamily="34" charset="-122"/>
                <a:cs typeface="Noto Serif CJK SC" pitchFamily="34" charset="-120"/>
              </a:rPr>
              <a:t>婚后的日子一直贫困，家里的劳苦没有停歇</a:t>
            </a:r>
            <a:endParaRPr lang="en-US" sz="3600" dirty="0"/>
          </a:p>
        </p:txBody>
      </p:sp>
      <p:sp>
        <p:nvSpPr>
          <p:cNvPr id="6" name="Shape 4"/>
          <p:cNvSpPr/>
          <p:nvPr/>
        </p:nvSpPr>
        <p:spPr>
          <a:xfrm>
            <a:off x="777240" y="1417320"/>
            <a:ext cx="5074920" cy="4206240"/>
          </a:xfrm>
          <a:prstGeom prst="roundRect">
            <a:avLst>
              <a:gd name="adj" fmla="val 870"/>
            </a:avLst>
          </a:prstGeom>
          <a:solidFill>
            <a:srgbClr val="FFFCF7"/>
          </a:solidFill>
          <a:ln w="13970">
            <a:solidFill>
              <a:srgbClr val="446E78"/>
            </a:solidFill>
            <a:prstDash val="solid"/>
          </a:ln>
        </p:spPr>
      </p:sp>
      <p:sp>
        <p:nvSpPr>
          <p:cNvPr id="7" name="Text 5"/>
          <p:cNvSpPr/>
          <p:nvPr/>
        </p:nvSpPr>
        <p:spPr>
          <a:xfrm>
            <a:off x="1051560" y="1783080"/>
            <a:ext cx="4526280" cy="658368"/>
          </a:xfrm>
          <a:prstGeom prst="rect">
            <a:avLst/>
          </a:prstGeom>
          <a:noFill/>
          <a:ln/>
        </p:spPr>
        <p:txBody>
          <a:bodyPr wrap="square" lIns="0" tIns="0" rIns="0" bIns="0" rtlCol="0" anchor="ctr">
            <a:normAutofit/>
          </a:bodyPr>
          <a:lstStyle/>
          <a:p>
            <a:pPr algn="ctr" indent="0" marL="0">
              <a:buNone/>
            </a:pPr>
            <a:r>
              <a:rPr lang="en-US" sz="2800" dirty="0">
                <a:solidFill>
                  <a:srgbClr val="29241F"/>
                </a:solidFill>
                <a:latin typeface="Noto Serif CJK SC" pitchFamily="34" charset="0"/>
                <a:ea typeface="Noto Serif CJK SC" pitchFamily="34" charset="-122"/>
                <a:cs typeface="Noto Serif CJK SC" pitchFamily="34" charset="-120"/>
              </a:rPr>
              <a:t>说过的话变了，行为反复，后来甚至粗暴</a:t>
            </a:r>
            <a:endParaRPr lang="en-US" sz="2800" dirty="0"/>
          </a:p>
        </p:txBody>
      </p:sp>
      <p:sp>
        <p:nvSpPr>
          <p:cNvPr id="8" name="Text 6"/>
          <p:cNvSpPr/>
          <p:nvPr/>
        </p:nvSpPr>
        <p:spPr>
          <a:xfrm>
            <a:off x="1051560" y="2697480"/>
            <a:ext cx="4526280" cy="658368"/>
          </a:xfrm>
          <a:prstGeom prst="rect">
            <a:avLst/>
          </a:prstGeom>
          <a:noFill/>
          <a:ln/>
        </p:spPr>
        <p:txBody>
          <a:bodyPr wrap="square" lIns="0" tIns="0" rIns="0" bIns="0" rtlCol="0" anchor="ctr">
            <a:normAutofit/>
          </a:bodyPr>
          <a:lstStyle/>
          <a:p>
            <a:pPr algn="ctr" indent="0" marL="0">
              <a:buNone/>
            </a:pPr>
            <a:r>
              <a:rPr lang="en-US" sz="2800" b="1" dirty="0">
                <a:solidFill>
                  <a:srgbClr val="29241F"/>
                </a:solidFill>
                <a:latin typeface="Noto Serif CJK SC" pitchFamily="34" charset="0"/>
                <a:ea typeface="Noto Serif CJK SC" pitchFamily="34" charset="-122"/>
                <a:cs typeface="Noto Serif CJK SC" pitchFamily="34" charset="-120"/>
              </a:rPr>
              <a:t>兄弟不了解她，反而笑她</a:t>
            </a:r>
            <a:endParaRPr lang="en-US" sz="2800" dirty="0"/>
          </a:p>
        </p:txBody>
      </p:sp>
      <p:sp>
        <p:nvSpPr>
          <p:cNvPr id="9" name="Shape 7"/>
          <p:cNvSpPr/>
          <p:nvPr/>
        </p:nvSpPr>
        <p:spPr>
          <a:xfrm>
            <a:off x="6373368" y="1417320"/>
            <a:ext cx="5074920" cy="4206240"/>
          </a:xfrm>
          <a:prstGeom prst="roundRect">
            <a:avLst>
              <a:gd name="adj" fmla="val 870"/>
            </a:avLst>
          </a:prstGeom>
          <a:solidFill>
            <a:srgbClr val="FFFCF7"/>
          </a:solidFill>
          <a:ln w="13970">
            <a:solidFill>
              <a:srgbClr val="725260"/>
            </a:solidFill>
            <a:prstDash val="solid"/>
          </a:ln>
        </p:spPr>
      </p:sp>
      <p:sp>
        <p:nvSpPr>
          <p:cNvPr id="10" name="Text 8"/>
          <p:cNvSpPr/>
          <p:nvPr/>
        </p:nvSpPr>
        <p:spPr>
          <a:xfrm>
            <a:off x="6647688" y="1783080"/>
            <a:ext cx="4526280" cy="658368"/>
          </a:xfrm>
          <a:prstGeom prst="rect">
            <a:avLst/>
          </a:prstGeom>
          <a:noFill/>
          <a:ln/>
        </p:spPr>
        <p:txBody>
          <a:bodyPr wrap="square" lIns="0" tIns="0" rIns="0" bIns="0" rtlCol="0" anchor="ctr">
            <a:normAutofit/>
          </a:bodyPr>
          <a:lstStyle/>
          <a:p>
            <a:pPr algn="ctr" indent="0" marL="0">
              <a:buNone/>
            </a:pPr>
            <a:r>
              <a:rPr lang="en-US" sz="2800" dirty="0">
                <a:solidFill>
                  <a:srgbClr val="29241F"/>
                </a:solidFill>
                <a:latin typeface="Noto Serif CJK SC" pitchFamily="34" charset="0"/>
                <a:ea typeface="Noto Serif CJK SC" pitchFamily="34" charset="-122"/>
                <a:cs typeface="Noto Serif CJK SC" pitchFamily="34" charset="-120"/>
              </a:rPr>
              <a:t>笑声退去以后，她只能独自悲伤</a:t>
            </a:r>
            <a:endParaRPr lang="en-US" sz="2800" dirty="0"/>
          </a:p>
        </p:txBody>
      </p:sp>
      <p:sp>
        <p:nvSpPr>
          <p:cNvPr id="11" name="Text 9"/>
          <p:cNvSpPr/>
          <p:nvPr/>
        </p:nvSpPr>
        <p:spPr>
          <a:xfrm>
            <a:off x="6647688" y="2697480"/>
            <a:ext cx="4526280" cy="658368"/>
          </a:xfrm>
          <a:prstGeom prst="rect">
            <a:avLst/>
          </a:prstGeom>
          <a:noFill/>
          <a:ln/>
        </p:spPr>
        <p:txBody>
          <a:bodyPr wrap="square" lIns="0" tIns="0" rIns="0" bIns="0" rtlCol="0" anchor="ctr">
            <a:normAutofit/>
          </a:bodyPr>
          <a:lstStyle/>
          <a:p>
            <a:pPr algn="ctr" indent="0" marL="0">
              <a:buNone/>
            </a:pPr>
            <a:r>
              <a:rPr lang="en-US" sz="2800" b="1" dirty="0">
                <a:solidFill>
                  <a:srgbClr val="29241F"/>
                </a:solidFill>
                <a:latin typeface="Noto Serif CJK SC" pitchFamily="34" charset="0"/>
                <a:ea typeface="Noto Serif CJK SC" pitchFamily="34" charset="-122"/>
                <a:cs typeface="Noto Serif CJK SC" pitchFamily="34" charset="-120"/>
              </a:rPr>
              <a:t>每一项，都要回到原诗。</a:t>
            </a:r>
            <a:endParaRPr lang="en-US" sz="28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51483F"/>
          </a:solidFill>
          <a:ln w="12700">
            <a:solidFill>
              <a:srgbClr val="51483F"/>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51483F"/>
                </a:solidFill>
                <a:latin typeface="Noto Sans CJK SC" pitchFamily="34" charset="0"/>
                <a:ea typeface="Noto Sans CJK SC" pitchFamily="34" charset="-122"/>
                <a:cs typeface="Noto Sans CJK SC" pitchFamily="34" charset="-120"/>
              </a:rPr>
              <a:t>全文</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61</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500" b="1" dirty="0">
                <a:solidFill>
                  <a:srgbClr val="29241F"/>
                </a:solidFill>
                <a:latin typeface="Noto Serif CJK SC" pitchFamily="34" charset="0"/>
                <a:ea typeface="Noto Serif CJK SC" pitchFamily="34" charset="-122"/>
                <a:cs typeface="Noto Serif CJK SC" pitchFamily="34" charset="-120"/>
              </a:rPr>
              <a:t>现在只写自己的答案</a:t>
            </a:r>
            <a:endParaRPr lang="en-US" sz="3500" dirty="0"/>
          </a:p>
        </p:txBody>
      </p:sp>
      <p:sp>
        <p:nvSpPr>
          <p:cNvPr id="6" name="Text 4"/>
          <p:cNvSpPr/>
          <p:nvPr/>
        </p:nvSpPr>
        <p:spPr>
          <a:xfrm>
            <a:off x="914400" y="1481328"/>
            <a:ext cx="10287000" cy="530352"/>
          </a:xfrm>
          <a:prstGeom prst="rect">
            <a:avLst/>
          </a:prstGeom>
          <a:noFill/>
          <a:ln/>
        </p:spPr>
        <p:txBody>
          <a:bodyPr wrap="square" lIns="0" tIns="0" rIns="0" bIns="0" rtlCol="0" anchor="ctr">
            <a:normAutofit/>
          </a:bodyPr>
          <a:lstStyle/>
          <a:p>
            <a:pPr algn="l" indent="0" marL="0">
              <a:buNone/>
            </a:pPr>
            <a:r>
              <a:rPr lang="en-US" sz="2700" b="1" dirty="0">
                <a:solidFill>
                  <a:srgbClr val="725260"/>
                </a:solidFill>
                <a:latin typeface="Noto Serif CJK SC" pitchFamily="34" charset="0"/>
                <a:ea typeface="Noto Serif CJK SC" pitchFamily="34" charset="-122"/>
                <a:cs typeface="Noto Serif CJK SC" pitchFamily="34" charset="-120"/>
              </a:rPr>
              <a:t>她婚后的不幸，具体落在怎样的日子里？</a:t>
            </a:r>
            <a:endParaRPr lang="en-US" sz="2700" dirty="0"/>
          </a:p>
        </p:txBody>
      </p:sp>
      <p:sp>
        <p:nvSpPr>
          <p:cNvPr id="7" name="Shape 5"/>
          <p:cNvSpPr/>
          <p:nvPr/>
        </p:nvSpPr>
        <p:spPr>
          <a:xfrm>
            <a:off x="914400" y="2084832"/>
            <a:ext cx="10195560" cy="0"/>
          </a:xfrm>
          <a:prstGeom prst="line">
            <a:avLst/>
          </a:prstGeom>
          <a:noFill/>
          <a:ln w="10160">
            <a:solidFill>
              <a:srgbClr val="DED0BC"/>
            </a:solidFill>
            <a:prstDash val="solid"/>
          </a:ln>
        </p:spPr>
      </p:sp>
      <p:sp>
        <p:nvSpPr>
          <p:cNvPr id="8" name="Text 6"/>
          <p:cNvSpPr/>
          <p:nvPr/>
        </p:nvSpPr>
        <p:spPr>
          <a:xfrm>
            <a:off x="914400" y="2414016"/>
            <a:ext cx="10287000" cy="530352"/>
          </a:xfrm>
          <a:prstGeom prst="rect">
            <a:avLst/>
          </a:prstGeom>
          <a:noFill/>
          <a:ln/>
        </p:spPr>
        <p:txBody>
          <a:bodyPr wrap="square" lIns="0" tIns="0" rIns="0" bIns="0" rtlCol="0" anchor="ctr">
            <a:normAutofit/>
          </a:bodyPr>
          <a:lstStyle/>
          <a:p>
            <a:pPr algn="l" indent="0" marL="0">
              <a:buNone/>
            </a:pPr>
            <a:r>
              <a:rPr lang="en-US" sz="2700" dirty="0">
                <a:solidFill>
                  <a:srgbClr val="29241F"/>
                </a:solidFill>
                <a:latin typeface="Noto Serif CJK SC" pitchFamily="34" charset="0"/>
                <a:ea typeface="Noto Serif CJK SC" pitchFamily="34" charset="-122"/>
                <a:cs typeface="Noto Serif CJK SC" pitchFamily="34" charset="-120"/>
              </a:rPr>
              <a:t>贫困与劳作｜失信与粗暴｜不被兄弟理解｜独自悲伤</a:t>
            </a:r>
            <a:endParaRPr lang="en-US" sz="2700" dirty="0"/>
          </a:p>
        </p:txBody>
      </p:sp>
      <p:sp>
        <p:nvSpPr>
          <p:cNvPr id="9" name="Shape 7"/>
          <p:cNvSpPr/>
          <p:nvPr/>
        </p:nvSpPr>
        <p:spPr>
          <a:xfrm>
            <a:off x="914400" y="3017520"/>
            <a:ext cx="10195560" cy="0"/>
          </a:xfrm>
          <a:prstGeom prst="line">
            <a:avLst/>
          </a:prstGeom>
          <a:noFill/>
          <a:ln w="10160">
            <a:solidFill>
              <a:srgbClr val="DED0BC"/>
            </a:solidFill>
            <a:prstDash val="solid"/>
          </a:ln>
        </p:spPr>
      </p:sp>
      <p:sp>
        <p:nvSpPr>
          <p:cNvPr id="10" name="Text 8"/>
          <p:cNvSpPr/>
          <p:nvPr/>
        </p:nvSpPr>
        <p:spPr>
          <a:xfrm>
            <a:off x="914400" y="3346704"/>
            <a:ext cx="10287000" cy="530352"/>
          </a:xfrm>
          <a:prstGeom prst="rect">
            <a:avLst/>
          </a:prstGeom>
          <a:noFill/>
          <a:ln/>
        </p:spPr>
        <p:txBody>
          <a:bodyPr wrap="square" lIns="0" tIns="0" rIns="0" bIns="0" rtlCol="0" anchor="ctr">
            <a:normAutofit/>
          </a:bodyPr>
          <a:lstStyle/>
          <a:p>
            <a:pPr algn="l" indent="0" marL="0">
              <a:buNone/>
            </a:pPr>
            <a:r>
              <a:rPr lang="en-US" sz="2700" dirty="0">
                <a:solidFill>
                  <a:srgbClr val="29241F"/>
                </a:solidFill>
                <a:latin typeface="Noto Serif CJK SC" pitchFamily="34" charset="0"/>
                <a:ea typeface="Noto Serif CJK SC" pitchFamily="34" charset="-122"/>
                <a:cs typeface="Noto Serif CJK SC" pitchFamily="34" charset="-120"/>
              </a:rPr>
              <a:t>四个方面都写到；每一项都带回一处原诗。</a:t>
            </a:r>
            <a:endParaRPr lang="en-US" sz="2700" dirty="0"/>
          </a:p>
        </p:txBody>
      </p:sp>
      <p:sp>
        <p:nvSpPr>
          <p:cNvPr id="11" name="Shape 9"/>
          <p:cNvSpPr/>
          <p:nvPr/>
        </p:nvSpPr>
        <p:spPr>
          <a:xfrm>
            <a:off x="914400" y="3950208"/>
            <a:ext cx="10195560" cy="0"/>
          </a:xfrm>
          <a:prstGeom prst="line">
            <a:avLst/>
          </a:prstGeom>
          <a:noFill/>
          <a:ln w="10160">
            <a:solidFill>
              <a:srgbClr val="DED0BC"/>
            </a:solidFill>
            <a:prstDash val="solid"/>
          </a:ln>
        </p:spPr>
      </p:sp>
      <p:sp>
        <p:nvSpPr>
          <p:cNvPr id="12" name="Text 10"/>
          <p:cNvSpPr/>
          <p:nvPr/>
        </p:nvSpPr>
        <p:spPr>
          <a:xfrm>
            <a:off x="914400" y="4279392"/>
            <a:ext cx="10287000" cy="530352"/>
          </a:xfrm>
          <a:prstGeom prst="rect">
            <a:avLst/>
          </a:prstGeom>
          <a:noFill/>
          <a:ln/>
        </p:spPr>
        <p:txBody>
          <a:bodyPr wrap="square" lIns="0" tIns="0" rIns="0" bIns="0" rtlCol="0" anchor="ctr">
            <a:normAutofit/>
          </a:bodyPr>
          <a:lstStyle/>
          <a:p>
            <a:pPr algn="l" indent="0" marL="0">
              <a:buNone/>
            </a:pPr>
            <a:r>
              <a:rPr lang="en-US" sz="2700" dirty="0">
                <a:solidFill>
                  <a:srgbClr val="29241F"/>
                </a:solidFill>
                <a:latin typeface="Noto Serif CJK SC" pitchFamily="34" charset="0"/>
                <a:ea typeface="Noto Serif CJK SC" pitchFamily="34" charset="-122"/>
                <a:cs typeface="Noto Serif CJK SC" pitchFamily="34" charset="-120"/>
              </a:rPr>
              <a:t>原稿有漏项，就补一项；原稿已齐全，就把一项说得更具体。</a:t>
            </a:r>
            <a:endParaRPr lang="en-US" sz="27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28231F"/>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51483F"/>
          </a:solidFill>
          <a:ln w="12700">
            <a:solidFill>
              <a:srgbClr val="51483F"/>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DED0BC"/>
                </a:solidFill>
                <a:latin typeface="Noto Sans CJK SC" pitchFamily="34" charset="0"/>
                <a:ea typeface="Noto Sans CJK SC" pitchFamily="34" charset="-122"/>
                <a:cs typeface="Noto Sans CJK SC" pitchFamily="34" charset="-120"/>
              </a:rPr>
              <a:t>全文</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C5B39B"/>
                </a:solidFill>
                <a:latin typeface="Noto Sans CJK SC" pitchFamily="34" charset="0"/>
                <a:ea typeface="Noto Sans CJK SC" pitchFamily="34" charset="-122"/>
                <a:cs typeface="Noto Sans CJK SC" pitchFamily="34" charset="-120"/>
              </a:rPr>
              <a:t>62</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600" b="1" dirty="0">
                <a:solidFill>
                  <a:srgbClr val="FFFDFC"/>
                </a:solidFill>
                <a:latin typeface="Noto Serif CJK SC" pitchFamily="34" charset="0"/>
                <a:ea typeface="Noto Serif CJK SC" pitchFamily="34" charset="-122"/>
                <a:cs typeface="Noto Serif CJK SC" pitchFamily="34" charset="-120"/>
              </a:rPr>
              <a:t>这场婚姻为什么走到这一步？</a:t>
            </a:r>
            <a:endParaRPr lang="en-US" sz="3600" dirty="0"/>
          </a:p>
        </p:txBody>
      </p:sp>
      <p:sp>
        <p:nvSpPr>
          <p:cNvPr id="6" name="Shape 4"/>
          <p:cNvSpPr/>
          <p:nvPr/>
        </p:nvSpPr>
        <p:spPr>
          <a:xfrm>
            <a:off x="768096" y="1572768"/>
            <a:ext cx="3380232" cy="3858768"/>
          </a:xfrm>
          <a:prstGeom prst="roundRect">
            <a:avLst>
              <a:gd name="adj" fmla="val 1082"/>
            </a:avLst>
          </a:prstGeom>
          <a:solidFill>
            <a:srgbClr val="383129"/>
          </a:solidFill>
          <a:ln w="13970">
            <a:solidFill>
              <a:srgbClr val="446E78"/>
            </a:solidFill>
            <a:prstDash val="solid"/>
          </a:ln>
        </p:spPr>
      </p:sp>
      <p:sp>
        <p:nvSpPr>
          <p:cNvPr id="7" name="Text 5"/>
          <p:cNvSpPr/>
          <p:nvPr/>
        </p:nvSpPr>
        <p:spPr>
          <a:xfrm>
            <a:off x="1042416" y="2029968"/>
            <a:ext cx="2831592" cy="2834640"/>
          </a:xfrm>
          <a:prstGeom prst="rect">
            <a:avLst/>
          </a:prstGeom>
          <a:noFill/>
          <a:ln/>
        </p:spPr>
        <p:txBody>
          <a:bodyPr wrap="square" lIns="0" tIns="0" rIns="0" bIns="0" rtlCol="0" anchor="ctr">
            <a:normAutofit/>
          </a:bodyPr>
          <a:lstStyle/>
          <a:p>
            <a:pPr algn="ctr" indent="0" marL="0">
              <a:buNone/>
            </a:pPr>
            <a:r>
              <a:rPr lang="en-US" sz="2400" b="1" dirty="0">
                <a:solidFill>
                  <a:srgbClr val="FFFDFC"/>
                </a:solidFill>
                <a:latin typeface="Noto Serif CJK SC" pitchFamily="34" charset="0"/>
                <a:ea typeface="Noto Serif CJK SC" pitchFamily="34" charset="-122"/>
                <a:cs typeface="Noto Serif CJK SC" pitchFamily="34" charset="-120"/>
              </a:rPr>
              <a:t>这组事实说明了什么？</a:t>
            </a:r>
            <a:endParaRPr lang="en-US" sz="2400" dirty="0"/>
          </a:p>
        </p:txBody>
      </p:sp>
      <p:sp>
        <p:nvSpPr>
          <p:cNvPr id="8" name="Shape 6"/>
          <p:cNvSpPr/>
          <p:nvPr/>
        </p:nvSpPr>
        <p:spPr>
          <a:xfrm>
            <a:off x="4404360" y="1572768"/>
            <a:ext cx="3380232" cy="3858768"/>
          </a:xfrm>
          <a:prstGeom prst="roundRect">
            <a:avLst>
              <a:gd name="adj" fmla="val 1082"/>
            </a:avLst>
          </a:prstGeom>
          <a:solidFill>
            <a:srgbClr val="383129"/>
          </a:solidFill>
          <a:ln w="13970">
            <a:solidFill>
              <a:srgbClr val="725260"/>
            </a:solidFill>
            <a:prstDash val="solid"/>
          </a:ln>
        </p:spPr>
      </p:sp>
      <p:sp>
        <p:nvSpPr>
          <p:cNvPr id="9" name="Text 7"/>
          <p:cNvSpPr/>
          <p:nvPr/>
        </p:nvSpPr>
        <p:spPr>
          <a:xfrm>
            <a:off x="4678680" y="2029968"/>
            <a:ext cx="2831592" cy="2834640"/>
          </a:xfrm>
          <a:prstGeom prst="rect">
            <a:avLst/>
          </a:prstGeom>
          <a:noFill/>
          <a:ln/>
        </p:spPr>
        <p:txBody>
          <a:bodyPr wrap="square" lIns="0" tIns="0" rIns="0" bIns="0" rtlCol="0" anchor="ctr">
            <a:normAutofit/>
          </a:bodyPr>
          <a:lstStyle/>
          <a:p>
            <a:pPr algn="ctr" indent="0" marL="0">
              <a:buNone/>
            </a:pPr>
            <a:r>
              <a:rPr lang="en-US" sz="2700" b="1" dirty="0">
                <a:solidFill>
                  <a:srgbClr val="FFFDFC"/>
                </a:solidFill>
                <a:latin typeface="Noto Serif CJK SC" pitchFamily="34" charset="0"/>
                <a:ea typeface="Noto Serif CJK SC" pitchFamily="34" charset="-122"/>
                <a:cs typeface="Noto Serif CJK SC" pitchFamily="34" charset="-120"/>
              </a:rPr>
              <a:t>它不能被说成什么？</a:t>
            </a:r>
            <a:endParaRPr lang="en-US" sz="2700" dirty="0"/>
          </a:p>
        </p:txBody>
      </p:sp>
      <p:sp>
        <p:nvSpPr>
          <p:cNvPr id="10" name="Shape 8"/>
          <p:cNvSpPr/>
          <p:nvPr/>
        </p:nvSpPr>
        <p:spPr>
          <a:xfrm>
            <a:off x="8040624" y="1572768"/>
            <a:ext cx="3380232" cy="3858768"/>
          </a:xfrm>
          <a:prstGeom prst="roundRect">
            <a:avLst>
              <a:gd name="adj" fmla="val 1082"/>
            </a:avLst>
          </a:prstGeom>
          <a:solidFill>
            <a:srgbClr val="383129"/>
          </a:solidFill>
          <a:ln w="13970">
            <a:solidFill>
              <a:srgbClr val="A67F4A"/>
            </a:solidFill>
            <a:prstDash val="solid"/>
          </a:ln>
        </p:spPr>
      </p:sp>
      <p:sp>
        <p:nvSpPr>
          <p:cNvPr id="11" name="Text 9"/>
          <p:cNvSpPr/>
          <p:nvPr/>
        </p:nvSpPr>
        <p:spPr>
          <a:xfrm>
            <a:off x="8314944" y="2029968"/>
            <a:ext cx="2831592" cy="2834640"/>
          </a:xfrm>
          <a:prstGeom prst="rect">
            <a:avLst/>
          </a:prstGeom>
          <a:noFill/>
          <a:ln/>
        </p:spPr>
        <p:txBody>
          <a:bodyPr wrap="square" lIns="0" tIns="0" rIns="0" bIns="0" rtlCol="0" anchor="ctr">
            <a:normAutofit/>
          </a:bodyPr>
          <a:lstStyle/>
          <a:p>
            <a:pPr algn="ctr" indent="0" marL="0">
              <a:buNone/>
            </a:pPr>
            <a:r>
              <a:rPr lang="en-US" sz="2200" b="1" dirty="0">
                <a:solidFill>
                  <a:srgbClr val="FFFDFC"/>
                </a:solidFill>
                <a:latin typeface="Noto Serif CJK SC" pitchFamily="34" charset="0"/>
                <a:ea typeface="Noto Serif CJK SC" pitchFamily="34" charset="-122"/>
                <a:cs typeface="Noto Serif CJK SC" pitchFamily="34" charset="-120"/>
              </a:rPr>
              <a:t>先独立写下，再把证据放回她的一生。</a:t>
            </a:r>
            <a:endParaRPr lang="en-US" sz="22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28231F"/>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51483F"/>
          </a:solidFill>
          <a:ln w="12700">
            <a:solidFill>
              <a:srgbClr val="51483F"/>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DED0BC"/>
                </a:solidFill>
                <a:latin typeface="Noto Sans CJK SC" pitchFamily="34" charset="0"/>
                <a:ea typeface="Noto Sans CJK SC" pitchFamily="34" charset="-122"/>
                <a:cs typeface="Noto Sans CJK SC" pitchFamily="34" charset="-120"/>
              </a:rPr>
              <a:t>全文</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C5B39B"/>
                </a:solidFill>
                <a:latin typeface="Noto Sans CJK SC" pitchFamily="34" charset="0"/>
                <a:ea typeface="Noto Sans CJK SC" pitchFamily="34" charset="-122"/>
                <a:cs typeface="Noto Sans CJK SC" pitchFamily="34" charset="-120"/>
              </a:rPr>
              <a:t>63</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100" b="1" dirty="0">
                <a:solidFill>
                  <a:srgbClr val="FFFDFC"/>
                </a:solidFill>
                <a:latin typeface="Noto Serif CJK SC" pitchFamily="34" charset="0"/>
                <a:ea typeface="Noto Serif CJK SC" pitchFamily="34" charset="-122"/>
                <a:cs typeface="Noto Serif CJK SC" pitchFamily="34" charset="-120"/>
              </a:rPr>
              <a:t>沿着她的一生，看看这些事实起了怎样的作用。</a:t>
            </a:r>
            <a:endParaRPr lang="en-US" sz="3100" dirty="0"/>
          </a:p>
        </p:txBody>
      </p:sp>
      <p:sp>
        <p:nvSpPr>
          <p:cNvPr id="6" name="Shape 4"/>
          <p:cNvSpPr/>
          <p:nvPr/>
        </p:nvSpPr>
        <p:spPr>
          <a:xfrm>
            <a:off x="768096" y="1572768"/>
            <a:ext cx="5198364" cy="3858768"/>
          </a:xfrm>
          <a:prstGeom prst="roundRect">
            <a:avLst>
              <a:gd name="adj" fmla="val 948"/>
            </a:avLst>
          </a:prstGeom>
          <a:solidFill>
            <a:srgbClr val="383129"/>
          </a:solidFill>
          <a:ln w="13970">
            <a:solidFill>
              <a:srgbClr val="446E78"/>
            </a:solidFill>
            <a:prstDash val="solid"/>
          </a:ln>
        </p:spPr>
      </p:sp>
      <p:sp>
        <p:nvSpPr>
          <p:cNvPr id="7" name="Text 5"/>
          <p:cNvSpPr/>
          <p:nvPr/>
        </p:nvSpPr>
        <p:spPr>
          <a:xfrm>
            <a:off x="1042416" y="2029968"/>
            <a:ext cx="4649724" cy="2834640"/>
          </a:xfrm>
          <a:prstGeom prst="rect">
            <a:avLst/>
          </a:prstGeom>
          <a:noFill/>
          <a:ln/>
        </p:spPr>
        <p:txBody>
          <a:bodyPr wrap="square" lIns="0" tIns="0" rIns="0" bIns="0" rtlCol="0" anchor="ctr">
            <a:normAutofit/>
          </a:bodyPr>
          <a:lstStyle/>
          <a:p>
            <a:pPr algn="ctr" indent="0" marL="0">
              <a:buNone/>
            </a:pPr>
            <a:r>
              <a:rPr lang="en-US" sz="3000" b="1" dirty="0">
                <a:solidFill>
                  <a:srgbClr val="FFFDFC"/>
                </a:solidFill>
                <a:latin typeface="Noto Serif CJK SC" pitchFamily="34" charset="0"/>
                <a:ea typeface="Noto Serif CJK SC" pitchFamily="34" charset="-122"/>
                <a:cs typeface="Noto Serif CJK SC" pitchFamily="34" charset="-120"/>
              </a:rPr>
              <a:t>谁应为伤害负责？哪些日子让不幸继续？她身边少了谁的理解？</a:t>
            </a:r>
            <a:endParaRPr lang="en-US" sz="3000" dirty="0"/>
          </a:p>
        </p:txBody>
      </p:sp>
      <p:sp>
        <p:nvSpPr>
          <p:cNvPr id="8" name="Shape 6"/>
          <p:cNvSpPr/>
          <p:nvPr/>
        </p:nvSpPr>
        <p:spPr>
          <a:xfrm>
            <a:off x="6222492" y="1572768"/>
            <a:ext cx="5198364" cy="3858768"/>
          </a:xfrm>
          <a:prstGeom prst="roundRect">
            <a:avLst>
              <a:gd name="adj" fmla="val 948"/>
            </a:avLst>
          </a:prstGeom>
          <a:solidFill>
            <a:srgbClr val="383129"/>
          </a:solidFill>
          <a:ln w="13970">
            <a:solidFill>
              <a:srgbClr val="725260"/>
            </a:solidFill>
            <a:prstDash val="solid"/>
          </a:ln>
        </p:spPr>
      </p:sp>
      <p:sp>
        <p:nvSpPr>
          <p:cNvPr id="9" name="Text 7"/>
          <p:cNvSpPr/>
          <p:nvPr/>
        </p:nvSpPr>
        <p:spPr>
          <a:xfrm>
            <a:off x="6496812" y="2029968"/>
            <a:ext cx="4649724" cy="2834640"/>
          </a:xfrm>
          <a:prstGeom prst="rect">
            <a:avLst/>
          </a:prstGeom>
          <a:noFill/>
          <a:ln/>
        </p:spPr>
        <p:txBody>
          <a:bodyPr wrap="square" lIns="0" tIns="0" rIns="0" bIns="0" rtlCol="0" anchor="ctr">
            <a:normAutofit/>
          </a:bodyPr>
          <a:lstStyle/>
          <a:p>
            <a:pPr algn="ctr" indent="0" marL="0">
              <a:buNone/>
            </a:pPr>
            <a:r>
              <a:rPr lang="en-US" sz="3000" b="1" dirty="0">
                <a:solidFill>
                  <a:srgbClr val="FFFDFC"/>
                </a:solidFill>
                <a:latin typeface="Noto Serif CJK SC" pitchFamily="34" charset="0"/>
                <a:ea typeface="Noto Serif CJK SC" pitchFamily="34" charset="-122"/>
                <a:cs typeface="Noto Serif CJK SC" pitchFamily="34" charset="-120"/>
              </a:rPr>
              <a:t>若一句判断说得太满，请写：原诗还不能证明。</a:t>
            </a:r>
            <a:endParaRPr lang="en-US" sz="30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28231F"/>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51483F"/>
          </a:solidFill>
          <a:ln w="12700">
            <a:solidFill>
              <a:srgbClr val="51483F"/>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DED0BC"/>
                </a:solidFill>
                <a:latin typeface="Noto Sans CJK SC" pitchFamily="34" charset="0"/>
                <a:ea typeface="Noto Sans CJK SC" pitchFamily="34" charset="-122"/>
                <a:cs typeface="Noto Sans CJK SC" pitchFamily="34" charset="-120"/>
              </a:rPr>
              <a:t>全文</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C5B39B"/>
                </a:solidFill>
                <a:latin typeface="Noto Sans CJK SC" pitchFamily="34" charset="0"/>
                <a:ea typeface="Noto Sans CJK SC" pitchFamily="34" charset="-122"/>
                <a:cs typeface="Noto Sans CJK SC" pitchFamily="34" charset="-120"/>
              </a:rPr>
              <a:t>64</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600" b="1" dirty="0">
                <a:solidFill>
                  <a:srgbClr val="FFFDFC"/>
                </a:solidFill>
                <a:latin typeface="Noto Serif CJK SC" pitchFamily="34" charset="0"/>
                <a:ea typeface="Noto Serif CJK SC" pitchFamily="34" charset="-122"/>
                <a:cs typeface="Noto Serif CJK SC" pitchFamily="34" charset="-120"/>
              </a:rPr>
              <a:t>男子失信、反复并走向粗暴，伤害的责任在他</a:t>
            </a:r>
            <a:endParaRPr lang="en-US" sz="3600" dirty="0"/>
          </a:p>
        </p:txBody>
      </p:sp>
      <p:sp>
        <p:nvSpPr>
          <p:cNvPr id="6" name="Shape 4"/>
          <p:cNvSpPr/>
          <p:nvPr/>
        </p:nvSpPr>
        <p:spPr>
          <a:xfrm>
            <a:off x="777240" y="1417320"/>
            <a:ext cx="5074920" cy="4206240"/>
          </a:xfrm>
          <a:prstGeom prst="roundRect">
            <a:avLst>
              <a:gd name="adj" fmla="val 870"/>
            </a:avLst>
          </a:prstGeom>
          <a:solidFill>
            <a:srgbClr val="383129"/>
          </a:solidFill>
          <a:ln w="13970">
            <a:solidFill>
              <a:srgbClr val="446E78"/>
            </a:solidFill>
            <a:prstDash val="solid"/>
          </a:ln>
        </p:spPr>
      </p:sp>
      <p:sp>
        <p:nvSpPr>
          <p:cNvPr id="7" name="Text 5"/>
          <p:cNvSpPr/>
          <p:nvPr/>
        </p:nvSpPr>
        <p:spPr>
          <a:xfrm>
            <a:off x="1051560" y="1783080"/>
            <a:ext cx="4526280" cy="658368"/>
          </a:xfrm>
          <a:prstGeom prst="rect">
            <a:avLst/>
          </a:prstGeom>
          <a:noFill/>
          <a:ln/>
        </p:spPr>
        <p:txBody>
          <a:bodyPr wrap="square" lIns="0" tIns="0" rIns="0" bIns="0" rtlCol="0" anchor="ctr">
            <a:normAutofit/>
          </a:bodyPr>
          <a:lstStyle/>
          <a:p>
            <a:pPr algn="ctr" indent="0" marL="0">
              <a:buNone/>
            </a:pPr>
            <a:r>
              <a:rPr lang="en-US" sz="2800" dirty="0">
                <a:solidFill>
                  <a:srgbClr val="FFFDFC"/>
                </a:solidFill>
                <a:latin typeface="Noto Serif CJK SC" pitchFamily="34" charset="0"/>
                <a:ea typeface="Noto Serif CJK SC" pitchFamily="34" charset="-122"/>
                <a:cs typeface="Noto Serif CJK SC" pitchFamily="34" charset="-120"/>
              </a:rPr>
              <a:t>贫困与劳作日复一日，关系里的担子越来越偏向一人</a:t>
            </a:r>
            <a:endParaRPr lang="en-US" sz="2800" dirty="0"/>
          </a:p>
        </p:txBody>
      </p:sp>
      <p:sp>
        <p:nvSpPr>
          <p:cNvPr id="8" name="Text 6"/>
          <p:cNvSpPr/>
          <p:nvPr/>
        </p:nvSpPr>
        <p:spPr>
          <a:xfrm>
            <a:off x="1051560" y="2697480"/>
            <a:ext cx="4526280" cy="658368"/>
          </a:xfrm>
          <a:prstGeom prst="rect">
            <a:avLst/>
          </a:prstGeom>
          <a:noFill/>
          <a:ln/>
        </p:spPr>
        <p:txBody>
          <a:bodyPr wrap="square" lIns="0" tIns="0" rIns="0" bIns="0" rtlCol="0" anchor="ctr">
            <a:normAutofit/>
          </a:bodyPr>
          <a:lstStyle/>
          <a:p>
            <a:pPr algn="ctr" indent="0" marL="0">
              <a:buNone/>
            </a:pPr>
            <a:r>
              <a:rPr lang="en-US" sz="2800" dirty="0">
                <a:solidFill>
                  <a:srgbClr val="FFFDFC"/>
                </a:solidFill>
                <a:latin typeface="Noto Serif CJK SC" pitchFamily="34" charset="0"/>
                <a:ea typeface="Noto Serif CJK SC" pitchFamily="34" charset="-122"/>
                <a:cs typeface="Noto Serif CJK SC" pitchFamily="34" charset="-120"/>
              </a:rPr>
              <a:t>兄弟不知而笑，她在困境中没有得到理解</a:t>
            </a:r>
            <a:endParaRPr lang="en-US" sz="2800" dirty="0"/>
          </a:p>
        </p:txBody>
      </p:sp>
      <p:sp>
        <p:nvSpPr>
          <p:cNvPr id="9" name="Text 7"/>
          <p:cNvSpPr/>
          <p:nvPr/>
        </p:nvSpPr>
        <p:spPr>
          <a:xfrm>
            <a:off x="1051560" y="3611880"/>
            <a:ext cx="4526280" cy="658368"/>
          </a:xfrm>
          <a:prstGeom prst="rect">
            <a:avLst/>
          </a:prstGeom>
          <a:noFill/>
          <a:ln/>
        </p:spPr>
        <p:txBody>
          <a:bodyPr wrap="square" lIns="0" tIns="0" rIns="0" bIns="0" rtlCol="0" anchor="ctr">
            <a:normAutofit/>
          </a:bodyPr>
          <a:lstStyle/>
          <a:p>
            <a:pPr algn="ctr" indent="0" marL="0">
              <a:buNone/>
            </a:pPr>
            <a:r>
              <a:rPr lang="en-US" sz="2800" b="1" dirty="0">
                <a:solidFill>
                  <a:srgbClr val="FFFDFC"/>
                </a:solidFill>
                <a:latin typeface="Noto Serif CJK SC" pitchFamily="34" charset="0"/>
                <a:ea typeface="Noto Serif CJK SC" pitchFamily="34" charset="-122"/>
                <a:cs typeface="Noto Serif CJK SC" pitchFamily="34" charset="-120"/>
              </a:rPr>
              <a:t>旧日欢乐与已有投入会让割舍更难，却不是她受伤的原因</a:t>
            </a:r>
            <a:endParaRPr lang="en-US" sz="2800" dirty="0"/>
          </a:p>
        </p:txBody>
      </p:sp>
      <p:sp>
        <p:nvSpPr>
          <p:cNvPr id="10" name="Shape 8"/>
          <p:cNvSpPr/>
          <p:nvPr/>
        </p:nvSpPr>
        <p:spPr>
          <a:xfrm>
            <a:off x="6373368" y="1417320"/>
            <a:ext cx="5074920" cy="4206240"/>
          </a:xfrm>
          <a:prstGeom prst="roundRect">
            <a:avLst>
              <a:gd name="adj" fmla="val 870"/>
            </a:avLst>
          </a:prstGeom>
          <a:solidFill>
            <a:srgbClr val="383129"/>
          </a:solidFill>
          <a:ln w="13970">
            <a:solidFill>
              <a:srgbClr val="725260"/>
            </a:solidFill>
            <a:prstDash val="solid"/>
          </a:ln>
        </p:spPr>
      </p:sp>
      <p:sp>
        <p:nvSpPr>
          <p:cNvPr id="11" name="Text 9"/>
          <p:cNvSpPr/>
          <p:nvPr/>
        </p:nvSpPr>
        <p:spPr>
          <a:xfrm>
            <a:off x="6647688" y="1783080"/>
            <a:ext cx="4526280" cy="658368"/>
          </a:xfrm>
          <a:prstGeom prst="rect">
            <a:avLst/>
          </a:prstGeom>
          <a:noFill/>
          <a:ln/>
        </p:spPr>
        <p:txBody>
          <a:bodyPr wrap="square" lIns="0" tIns="0" rIns="0" bIns="0" rtlCol="0" anchor="ctr">
            <a:normAutofit/>
          </a:bodyPr>
          <a:lstStyle/>
          <a:p>
            <a:pPr algn="ctr" indent="0" marL="0">
              <a:buNone/>
            </a:pPr>
            <a:r>
              <a:rPr lang="en-US" sz="2800" dirty="0">
                <a:solidFill>
                  <a:srgbClr val="FFFDFC"/>
                </a:solidFill>
                <a:latin typeface="Noto Serif CJK SC" pitchFamily="34" charset="0"/>
                <a:ea typeface="Noto Serif CJK SC" pitchFamily="34" charset="-122"/>
                <a:cs typeface="Noto Serif CJK SC" pitchFamily="34" charset="-120"/>
              </a:rPr>
              <a:t>开头的细节值得留意，却不能倒推一开始就有预谋</a:t>
            </a:r>
            <a:endParaRPr lang="en-US" sz="2800" dirty="0"/>
          </a:p>
        </p:txBody>
      </p:sp>
      <p:sp>
        <p:nvSpPr>
          <p:cNvPr id="12" name="Text 10"/>
          <p:cNvSpPr/>
          <p:nvPr/>
        </p:nvSpPr>
        <p:spPr>
          <a:xfrm>
            <a:off x="6647688" y="2697480"/>
            <a:ext cx="4526280" cy="658368"/>
          </a:xfrm>
          <a:prstGeom prst="rect">
            <a:avLst/>
          </a:prstGeom>
          <a:noFill/>
          <a:ln/>
        </p:spPr>
        <p:txBody>
          <a:bodyPr wrap="square" lIns="0" tIns="0" rIns="0" bIns="0" rtlCol="0" anchor="ctr">
            <a:normAutofit/>
          </a:bodyPr>
          <a:lstStyle/>
          <a:p>
            <a:pPr algn="ctr" indent="0" marL="0">
              <a:buNone/>
            </a:pPr>
            <a:r>
              <a:rPr lang="en-US" sz="2800" b="1" dirty="0">
                <a:solidFill>
                  <a:srgbClr val="FFFDFC"/>
                </a:solidFill>
                <a:latin typeface="Noto Serif CJK SC" pitchFamily="34" charset="0"/>
                <a:ea typeface="Noto Serif CJK SC" pitchFamily="34" charset="-122"/>
                <a:cs typeface="Noto Serif CJK SC" pitchFamily="34" charset="-120"/>
              </a:rPr>
              <a:t>“亦已焉哉”是她醒悟后的回应，不是悲剧的原因</a:t>
            </a:r>
            <a:endParaRPr lang="en-US" sz="28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51483F"/>
          </a:solidFill>
          <a:ln w="12700">
            <a:solidFill>
              <a:srgbClr val="51483F"/>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51483F"/>
                </a:solidFill>
                <a:latin typeface="Noto Sans CJK SC" pitchFamily="34" charset="0"/>
                <a:ea typeface="Noto Sans CJK SC" pitchFamily="34" charset="-122"/>
                <a:cs typeface="Noto Sans CJK SC" pitchFamily="34" charset="-120"/>
              </a:rPr>
              <a:t>全文</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65</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500" b="1" dirty="0">
                <a:solidFill>
                  <a:srgbClr val="29241F"/>
                </a:solidFill>
                <a:latin typeface="Noto Serif CJK SC" pitchFamily="34" charset="0"/>
                <a:ea typeface="Noto Serif CJK SC" pitchFamily="34" charset="-122"/>
                <a:cs typeface="Noto Serif CJK SC" pitchFamily="34" charset="-120"/>
              </a:rPr>
              <a:t>现在不看归纳，只写自己的答案</a:t>
            </a:r>
            <a:endParaRPr lang="en-US" sz="3500" dirty="0"/>
          </a:p>
        </p:txBody>
      </p:sp>
      <p:sp>
        <p:nvSpPr>
          <p:cNvPr id="6" name="Text 4"/>
          <p:cNvSpPr/>
          <p:nvPr/>
        </p:nvSpPr>
        <p:spPr>
          <a:xfrm>
            <a:off x="914400" y="1481328"/>
            <a:ext cx="10287000" cy="530352"/>
          </a:xfrm>
          <a:prstGeom prst="rect">
            <a:avLst/>
          </a:prstGeom>
          <a:noFill/>
          <a:ln/>
        </p:spPr>
        <p:txBody>
          <a:bodyPr wrap="square" lIns="0" tIns="0" rIns="0" bIns="0" rtlCol="0" anchor="ctr">
            <a:normAutofit/>
          </a:bodyPr>
          <a:lstStyle/>
          <a:p>
            <a:pPr algn="l" indent="0" marL="0">
              <a:buNone/>
            </a:pPr>
            <a:r>
              <a:rPr lang="en-US" sz="2300" b="1" dirty="0">
                <a:solidFill>
                  <a:srgbClr val="725260"/>
                </a:solidFill>
                <a:latin typeface="Noto Serif CJK SC" pitchFamily="34" charset="0"/>
                <a:ea typeface="Noto Serif CJK SC" pitchFamily="34" charset="-122"/>
                <a:cs typeface="Noto Serif CJK SC" pitchFamily="34" charset="-120"/>
              </a:rPr>
              <a:t>谁应为伤害负责？</a:t>
            </a:r>
            <a:endParaRPr lang="en-US" sz="2300" dirty="0"/>
          </a:p>
        </p:txBody>
      </p:sp>
      <p:sp>
        <p:nvSpPr>
          <p:cNvPr id="7" name="Shape 5"/>
          <p:cNvSpPr/>
          <p:nvPr/>
        </p:nvSpPr>
        <p:spPr>
          <a:xfrm>
            <a:off x="914400" y="2084832"/>
            <a:ext cx="10195560" cy="0"/>
          </a:xfrm>
          <a:prstGeom prst="line">
            <a:avLst/>
          </a:prstGeom>
          <a:noFill/>
          <a:ln w="10160">
            <a:solidFill>
              <a:srgbClr val="DED0BC"/>
            </a:solidFill>
            <a:prstDash val="solid"/>
          </a:ln>
        </p:spPr>
      </p:sp>
      <p:sp>
        <p:nvSpPr>
          <p:cNvPr id="8" name="Text 6"/>
          <p:cNvSpPr/>
          <p:nvPr/>
        </p:nvSpPr>
        <p:spPr>
          <a:xfrm>
            <a:off x="914400" y="2205228"/>
            <a:ext cx="10287000" cy="530352"/>
          </a:xfrm>
          <a:prstGeom prst="rect">
            <a:avLst/>
          </a:prstGeom>
          <a:noFill/>
          <a:ln/>
        </p:spPr>
        <p:txBody>
          <a:bodyPr wrap="square" lIns="0" tIns="0" rIns="0" bIns="0" rtlCol="0" anchor="ctr">
            <a:normAutofit/>
          </a:bodyPr>
          <a:lstStyle/>
          <a:p>
            <a:pPr algn="l" indent="0" marL="0">
              <a:buNone/>
            </a:pPr>
            <a:r>
              <a:rPr lang="en-US" sz="2300" dirty="0">
                <a:solidFill>
                  <a:srgbClr val="29241F"/>
                </a:solidFill>
                <a:latin typeface="Noto Serif CJK SC" pitchFamily="34" charset="0"/>
                <a:ea typeface="Noto Serif CJK SC" pitchFamily="34" charset="-122"/>
                <a:cs typeface="Noto Serif CJK SC" pitchFamily="34" charset="-120"/>
              </a:rPr>
              <a:t>哪些日子让不幸继续？她缺少谁的理解？</a:t>
            </a:r>
            <a:endParaRPr lang="en-US" sz="2300" dirty="0"/>
          </a:p>
        </p:txBody>
      </p:sp>
      <p:sp>
        <p:nvSpPr>
          <p:cNvPr id="9" name="Shape 7"/>
          <p:cNvSpPr/>
          <p:nvPr/>
        </p:nvSpPr>
        <p:spPr>
          <a:xfrm>
            <a:off x="914400" y="2808732"/>
            <a:ext cx="10195560" cy="0"/>
          </a:xfrm>
          <a:prstGeom prst="line">
            <a:avLst/>
          </a:prstGeom>
          <a:noFill/>
          <a:ln w="10160">
            <a:solidFill>
              <a:srgbClr val="DED0BC"/>
            </a:solidFill>
            <a:prstDash val="solid"/>
          </a:ln>
        </p:spPr>
      </p:sp>
      <p:sp>
        <p:nvSpPr>
          <p:cNvPr id="10" name="Text 8"/>
          <p:cNvSpPr/>
          <p:nvPr/>
        </p:nvSpPr>
        <p:spPr>
          <a:xfrm>
            <a:off x="914400" y="2929128"/>
            <a:ext cx="10287000" cy="530352"/>
          </a:xfrm>
          <a:prstGeom prst="rect">
            <a:avLst/>
          </a:prstGeom>
          <a:noFill/>
          <a:ln/>
        </p:spPr>
        <p:txBody>
          <a:bodyPr wrap="square" lIns="0" tIns="0" rIns="0" bIns="0" rtlCol="0" anchor="ctr">
            <a:normAutofit/>
          </a:bodyPr>
          <a:lstStyle/>
          <a:p>
            <a:pPr algn="l" indent="0" marL="0">
              <a:buNone/>
            </a:pPr>
            <a:r>
              <a:rPr lang="en-US" sz="2300" dirty="0">
                <a:solidFill>
                  <a:srgbClr val="29241F"/>
                </a:solidFill>
                <a:latin typeface="Noto Serif CJK SC" pitchFamily="34" charset="0"/>
                <a:ea typeface="Noto Serif CJK SC" pitchFamily="34" charset="-122"/>
                <a:cs typeface="Noto Serif CJK SC" pitchFamily="34" charset="-120"/>
              </a:rPr>
              <a:t>什么让割舍更难，却不能成为责怪她的理由？</a:t>
            </a:r>
            <a:endParaRPr lang="en-US" sz="2300" dirty="0"/>
          </a:p>
        </p:txBody>
      </p:sp>
      <p:sp>
        <p:nvSpPr>
          <p:cNvPr id="11" name="Shape 9"/>
          <p:cNvSpPr/>
          <p:nvPr/>
        </p:nvSpPr>
        <p:spPr>
          <a:xfrm>
            <a:off x="914400" y="3532632"/>
            <a:ext cx="10195560" cy="0"/>
          </a:xfrm>
          <a:prstGeom prst="line">
            <a:avLst/>
          </a:prstGeom>
          <a:noFill/>
          <a:ln w="10160">
            <a:solidFill>
              <a:srgbClr val="DED0BC"/>
            </a:solidFill>
            <a:prstDash val="solid"/>
          </a:ln>
        </p:spPr>
      </p:sp>
      <p:sp>
        <p:nvSpPr>
          <p:cNvPr id="12" name="Text 10"/>
          <p:cNvSpPr/>
          <p:nvPr/>
        </p:nvSpPr>
        <p:spPr>
          <a:xfrm>
            <a:off x="914400" y="3653028"/>
            <a:ext cx="10287000" cy="530352"/>
          </a:xfrm>
          <a:prstGeom prst="rect">
            <a:avLst/>
          </a:prstGeom>
          <a:noFill/>
          <a:ln/>
        </p:spPr>
        <p:txBody>
          <a:bodyPr wrap="square" lIns="0" tIns="0" rIns="0" bIns="0" rtlCol="0" anchor="ctr">
            <a:normAutofit/>
          </a:bodyPr>
          <a:lstStyle/>
          <a:p>
            <a:pPr algn="l" indent="0" marL="0">
              <a:buNone/>
            </a:pPr>
            <a:r>
              <a:rPr lang="en-US" sz="2300" dirty="0">
                <a:solidFill>
                  <a:srgbClr val="29241F"/>
                </a:solidFill>
                <a:latin typeface="Noto Serif CJK SC" pitchFamily="34" charset="0"/>
                <a:ea typeface="Noto Serif CJK SC" pitchFamily="34" charset="-122"/>
                <a:cs typeface="Noto Serif CJK SC" pitchFamily="34" charset="-120"/>
              </a:rPr>
              <a:t>开头哪些细节值得留意？又不能证明什么？</a:t>
            </a:r>
            <a:endParaRPr lang="en-US" sz="2300" dirty="0"/>
          </a:p>
        </p:txBody>
      </p:sp>
      <p:sp>
        <p:nvSpPr>
          <p:cNvPr id="13" name="Shape 11"/>
          <p:cNvSpPr/>
          <p:nvPr/>
        </p:nvSpPr>
        <p:spPr>
          <a:xfrm>
            <a:off x="914400" y="4256532"/>
            <a:ext cx="10195560" cy="0"/>
          </a:xfrm>
          <a:prstGeom prst="line">
            <a:avLst/>
          </a:prstGeom>
          <a:noFill/>
          <a:ln w="10160">
            <a:solidFill>
              <a:srgbClr val="DED0BC"/>
            </a:solidFill>
            <a:prstDash val="solid"/>
          </a:ln>
        </p:spPr>
      </p:sp>
      <p:sp>
        <p:nvSpPr>
          <p:cNvPr id="14" name="Text 12"/>
          <p:cNvSpPr/>
          <p:nvPr/>
        </p:nvSpPr>
        <p:spPr>
          <a:xfrm>
            <a:off x="914400" y="4376928"/>
            <a:ext cx="10287000" cy="530352"/>
          </a:xfrm>
          <a:prstGeom prst="rect">
            <a:avLst/>
          </a:prstGeom>
          <a:noFill/>
          <a:ln/>
        </p:spPr>
        <p:txBody>
          <a:bodyPr wrap="square" lIns="0" tIns="0" rIns="0" bIns="0" rtlCol="0" anchor="ctr">
            <a:normAutofit/>
          </a:bodyPr>
          <a:lstStyle/>
          <a:p>
            <a:pPr algn="l" indent="0" marL="0">
              <a:buNone/>
            </a:pPr>
            <a:r>
              <a:rPr lang="en-US" sz="2300" dirty="0">
                <a:solidFill>
                  <a:srgbClr val="29241F"/>
                </a:solidFill>
                <a:latin typeface="Noto Serif CJK SC" pitchFamily="34" charset="0"/>
                <a:ea typeface="Noto Serif CJK SC" pitchFamily="34" charset="-122"/>
                <a:cs typeface="Noto Serif CJK SC" pitchFamily="34" charset="-120"/>
              </a:rPr>
              <a:t>“亦已焉哉”是什么回应？为什么不是悲剧原因？</a:t>
            </a:r>
            <a:endParaRPr lang="en-US" sz="2300" dirty="0"/>
          </a:p>
        </p:txBody>
      </p:sp>
      <p:sp>
        <p:nvSpPr>
          <p:cNvPr id="15" name="Shape 13"/>
          <p:cNvSpPr/>
          <p:nvPr/>
        </p:nvSpPr>
        <p:spPr>
          <a:xfrm>
            <a:off x="914400" y="4980432"/>
            <a:ext cx="10195560" cy="0"/>
          </a:xfrm>
          <a:prstGeom prst="line">
            <a:avLst/>
          </a:prstGeom>
          <a:noFill/>
          <a:ln w="10160">
            <a:solidFill>
              <a:srgbClr val="DED0BC"/>
            </a:solidFill>
            <a:prstDash val="solid"/>
          </a:ln>
        </p:spPr>
      </p:sp>
      <p:sp>
        <p:nvSpPr>
          <p:cNvPr id="16" name="Text 14"/>
          <p:cNvSpPr/>
          <p:nvPr/>
        </p:nvSpPr>
        <p:spPr>
          <a:xfrm>
            <a:off x="914400" y="5100828"/>
            <a:ext cx="10287000" cy="530352"/>
          </a:xfrm>
          <a:prstGeom prst="rect">
            <a:avLst/>
          </a:prstGeom>
          <a:noFill/>
          <a:ln/>
        </p:spPr>
        <p:txBody>
          <a:bodyPr wrap="square" lIns="0" tIns="0" rIns="0" bIns="0" rtlCol="0" anchor="ctr">
            <a:normAutofit/>
          </a:bodyPr>
          <a:lstStyle/>
          <a:p>
            <a:pPr algn="l" indent="0" marL="0">
              <a:buNone/>
            </a:pPr>
            <a:r>
              <a:rPr lang="en-US" sz="2300" dirty="0">
                <a:solidFill>
                  <a:srgbClr val="29241F"/>
                </a:solidFill>
                <a:latin typeface="Noto Serif CJK SC" pitchFamily="34" charset="0"/>
                <a:ea typeface="Noto Serif CJK SC" pitchFamily="34" charset="-122"/>
                <a:cs typeface="Noto Serif CJK SC" pitchFamily="34" charset="-120"/>
              </a:rPr>
              <a:t>每一层都写一处原诗。</a:t>
            </a:r>
            <a:endParaRPr lang="en-US" sz="23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51483F"/>
          </a:solidFill>
          <a:ln w="12700">
            <a:solidFill>
              <a:srgbClr val="51483F"/>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51483F"/>
                </a:solidFill>
                <a:latin typeface="Noto Sans CJK SC" pitchFamily="34" charset="0"/>
                <a:ea typeface="Noto Sans CJK SC" pitchFamily="34" charset="-122"/>
                <a:cs typeface="Noto Sans CJK SC" pitchFamily="34" charset="-120"/>
              </a:rPr>
              <a:t>全文</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66</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600" b="1" dirty="0">
                <a:solidFill>
                  <a:srgbClr val="29241F"/>
                </a:solidFill>
                <a:latin typeface="Noto Serif CJK SC" pitchFamily="34" charset="0"/>
                <a:ea typeface="Noto Serif CJK SC" pitchFamily="34" charset="-122"/>
                <a:cs typeface="Noto Serif CJK SC" pitchFamily="34" charset="-120"/>
              </a:rPr>
              <a:t>一段好的共同生活，最不能缺少什么？</a:t>
            </a:r>
            <a:endParaRPr lang="en-US" sz="3600" dirty="0"/>
          </a:p>
        </p:txBody>
      </p:sp>
      <p:sp>
        <p:nvSpPr>
          <p:cNvPr id="6" name="Shape 4"/>
          <p:cNvSpPr/>
          <p:nvPr/>
        </p:nvSpPr>
        <p:spPr>
          <a:xfrm>
            <a:off x="768096" y="1572768"/>
            <a:ext cx="3380232" cy="3858768"/>
          </a:xfrm>
          <a:prstGeom prst="roundRect">
            <a:avLst>
              <a:gd name="adj" fmla="val 1082"/>
            </a:avLst>
          </a:prstGeom>
          <a:solidFill>
            <a:srgbClr val="FFFCF7"/>
          </a:solidFill>
          <a:ln w="13970">
            <a:solidFill>
              <a:srgbClr val="446E78"/>
            </a:solidFill>
            <a:prstDash val="solid"/>
          </a:ln>
        </p:spPr>
      </p:sp>
      <p:sp>
        <p:nvSpPr>
          <p:cNvPr id="7" name="Text 5"/>
          <p:cNvSpPr/>
          <p:nvPr/>
        </p:nvSpPr>
        <p:spPr>
          <a:xfrm>
            <a:off x="1042416" y="2029968"/>
            <a:ext cx="2831592" cy="2834640"/>
          </a:xfrm>
          <a:prstGeom prst="rect">
            <a:avLst/>
          </a:prstGeom>
          <a:noFill/>
          <a:ln/>
        </p:spPr>
        <p:txBody>
          <a:bodyPr wrap="square" lIns="0" tIns="0" rIns="0" bIns="0" rtlCol="0" anchor="ctr">
            <a:normAutofit/>
          </a:bodyPr>
          <a:lstStyle/>
          <a:p>
            <a:pPr algn="ctr" indent="0" marL="0">
              <a:buNone/>
            </a:pPr>
            <a:r>
              <a:rPr lang="en-US" sz="2700" b="1" dirty="0">
                <a:solidFill>
                  <a:srgbClr val="29241F"/>
                </a:solidFill>
                <a:latin typeface="Noto Serif CJK SC" pitchFamily="34" charset="0"/>
                <a:ea typeface="Noto Serif CJK SC" pitchFamily="34" charset="-122"/>
                <a:cs typeface="Noto Serif CJK SC" pitchFamily="34" charset="-120"/>
              </a:rPr>
              <a:t>这处悲剧提醒我……</a:t>
            </a:r>
            <a:endParaRPr lang="en-US" sz="2700" dirty="0"/>
          </a:p>
        </p:txBody>
      </p:sp>
      <p:sp>
        <p:nvSpPr>
          <p:cNvPr id="8" name="Shape 6"/>
          <p:cNvSpPr/>
          <p:nvPr/>
        </p:nvSpPr>
        <p:spPr>
          <a:xfrm>
            <a:off x="4404360" y="1572768"/>
            <a:ext cx="3380232" cy="3858768"/>
          </a:xfrm>
          <a:prstGeom prst="roundRect">
            <a:avLst>
              <a:gd name="adj" fmla="val 1082"/>
            </a:avLst>
          </a:prstGeom>
          <a:solidFill>
            <a:srgbClr val="FFFCF7"/>
          </a:solidFill>
          <a:ln w="13970">
            <a:solidFill>
              <a:srgbClr val="725260"/>
            </a:solidFill>
            <a:prstDash val="solid"/>
          </a:ln>
        </p:spPr>
      </p:sp>
      <p:sp>
        <p:nvSpPr>
          <p:cNvPr id="9" name="Text 7"/>
          <p:cNvSpPr/>
          <p:nvPr/>
        </p:nvSpPr>
        <p:spPr>
          <a:xfrm>
            <a:off x="4678680" y="2029968"/>
            <a:ext cx="2831592" cy="2834640"/>
          </a:xfrm>
          <a:prstGeom prst="rect">
            <a:avLst/>
          </a:prstGeom>
          <a:noFill/>
          <a:ln/>
        </p:spPr>
        <p:txBody>
          <a:bodyPr wrap="square" lIns="0" tIns="0" rIns="0" bIns="0" rtlCol="0" anchor="ctr">
            <a:normAutofit/>
          </a:bodyPr>
          <a:lstStyle/>
          <a:p>
            <a:pPr algn="ctr" indent="0" marL="0">
              <a:buNone/>
            </a:pPr>
            <a:r>
              <a:rPr lang="en-US" sz="2400" b="1" dirty="0">
                <a:solidFill>
                  <a:srgbClr val="29241F"/>
                </a:solidFill>
                <a:latin typeface="Noto Serif CJK SC" pitchFamily="34" charset="0"/>
                <a:ea typeface="Noto Serif CJK SC" pitchFamily="34" charset="-122"/>
                <a:cs typeface="Noto Serif CJK SC" pitchFamily="34" charset="-120"/>
              </a:rPr>
              <a:t>因此，好的共同生活需要……</a:t>
            </a:r>
            <a:endParaRPr lang="en-US" sz="2400" dirty="0"/>
          </a:p>
        </p:txBody>
      </p:sp>
      <p:sp>
        <p:nvSpPr>
          <p:cNvPr id="10" name="Shape 8"/>
          <p:cNvSpPr/>
          <p:nvPr/>
        </p:nvSpPr>
        <p:spPr>
          <a:xfrm>
            <a:off x="8040624" y="1572768"/>
            <a:ext cx="3380232" cy="3858768"/>
          </a:xfrm>
          <a:prstGeom prst="roundRect">
            <a:avLst>
              <a:gd name="adj" fmla="val 1082"/>
            </a:avLst>
          </a:prstGeom>
          <a:solidFill>
            <a:srgbClr val="FFFCF7"/>
          </a:solidFill>
          <a:ln w="13970">
            <a:solidFill>
              <a:srgbClr val="A67F4A"/>
            </a:solidFill>
            <a:prstDash val="solid"/>
          </a:ln>
        </p:spPr>
      </p:sp>
      <p:sp>
        <p:nvSpPr>
          <p:cNvPr id="11" name="Text 9"/>
          <p:cNvSpPr/>
          <p:nvPr/>
        </p:nvSpPr>
        <p:spPr>
          <a:xfrm>
            <a:off x="8314944" y="2029968"/>
            <a:ext cx="2831592" cy="2834640"/>
          </a:xfrm>
          <a:prstGeom prst="rect">
            <a:avLst/>
          </a:prstGeom>
          <a:noFill/>
          <a:ln/>
        </p:spPr>
        <p:txBody>
          <a:bodyPr wrap="square" lIns="0" tIns="0" rIns="0" bIns="0" rtlCol="0" anchor="ctr">
            <a:normAutofit/>
          </a:bodyPr>
          <a:lstStyle/>
          <a:p>
            <a:pPr algn="ctr" indent="0" marL="0">
              <a:buNone/>
            </a:pPr>
            <a:r>
              <a:rPr lang="en-US" sz="2200" b="1" dirty="0">
                <a:solidFill>
                  <a:srgbClr val="29241F"/>
                </a:solidFill>
                <a:latin typeface="Noto Serif CJK SC" pitchFamily="34" charset="0"/>
                <a:ea typeface="Noto Serif CJK SC" pitchFamily="34" charset="-122"/>
                <a:cs typeface="Noto Serif CJK SC" pitchFamily="34" charset="-120"/>
              </a:rPr>
              <a:t>只给未来的自己或朋友留一句话。</a:t>
            </a:r>
            <a:endParaRPr lang="en-US" sz="22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51483F"/>
          </a:solidFill>
          <a:ln w="12700">
            <a:solidFill>
              <a:srgbClr val="51483F"/>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51483F"/>
                </a:solidFill>
                <a:latin typeface="Noto Sans CJK SC" pitchFamily="34" charset="0"/>
                <a:ea typeface="Noto Sans CJK SC" pitchFamily="34" charset="-122"/>
                <a:cs typeface="Noto Sans CJK SC" pitchFamily="34" charset="-120"/>
              </a:rPr>
              <a:t>全文</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67</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600" b="1" dirty="0">
                <a:solidFill>
                  <a:srgbClr val="29241F"/>
                </a:solidFill>
                <a:latin typeface="Noto Serif CJK SC" pitchFamily="34" charset="0"/>
                <a:ea typeface="Noto Serif CJK SC" pitchFamily="34" charset="-122"/>
                <a:cs typeface="Noto Serif CJK SC" pitchFamily="34" charset="-120"/>
              </a:rPr>
              <a:t>把每组最想送给未来的一句话贴上来。</a:t>
            </a:r>
            <a:endParaRPr lang="en-US" sz="3600" dirty="0"/>
          </a:p>
        </p:txBody>
      </p:sp>
      <p:sp>
        <p:nvSpPr>
          <p:cNvPr id="6" name="Shape 4"/>
          <p:cNvSpPr/>
          <p:nvPr/>
        </p:nvSpPr>
        <p:spPr>
          <a:xfrm>
            <a:off x="768096" y="1572768"/>
            <a:ext cx="5198364" cy="3858768"/>
          </a:xfrm>
          <a:prstGeom prst="roundRect">
            <a:avLst>
              <a:gd name="adj" fmla="val 948"/>
            </a:avLst>
          </a:prstGeom>
          <a:solidFill>
            <a:srgbClr val="FFFCF7"/>
          </a:solidFill>
          <a:ln w="13970">
            <a:solidFill>
              <a:srgbClr val="446E78"/>
            </a:solidFill>
            <a:prstDash val="solid"/>
          </a:ln>
        </p:spPr>
      </p:sp>
      <p:sp>
        <p:nvSpPr>
          <p:cNvPr id="7" name="Text 5"/>
          <p:cNvSpPr/>
          <p:nvPr/>
        </p:nvSpPr>
        <p:spPr>
          <a:xfrm>
            <a:off x="1042416" y="2029968"/>
            <a:ext cx="4649724" cy="2834640"/>
          </a:xfrm>
          <a:prstGeom prst="rect">
            <a:avLst/>
          </a:prstGeom>
          <a:noFill/>
          <a:ln/>
        </p:spPr>
        <p:txBody>
          <a:bodyPr wrap="square" lIns="0" tIns="0" rIns="0" bIns="0" rtlCol="0" anchor="ctr">
            <a:normAutofit/>
          </a:bodyPr>
          <a:lstStyle/>
          <a:p>
            <a:pPr algn="ctr" indent="0" marL="0">
              <a:buNone/>
            </a:pPr>
            <a:r>
              <a:rPr lang="en-US" sz="3000" b="1" dirty="0">
                <a:solidFill>
                  <a:srgbClr val="29241F"/>
                </a:solidFill>
                <a:latin typeface="Noto Serif CJK SC" pitchFamily="34" charset="0"/>
                <a:ea typeface="Noto Serif CJK SC" pitchFamily="34" charset="-122"/>
                <a:cs typeface="Noto Serif CJK SC" pitchFamily="34" charset="-120"/>
              </a:rPr>
              <a:t>先看哪些彼此照应，再看哪些彼此冲突。</a:t>
            </a:r>
            <a:endParaRPr lang="en-US" sz="3000" dirty="0"/>
          </a:p>
        </p:txBody>
      </p:sp>
      <p:sp>
        <p:nvSpPr>
          <p:cNvPr id="8" name="Shape 6"/>
          <p:cNvSpPr/>
          <p:nvPr/>
        </p:nvSpPr>
        <p:spPr>
          <a:xfrm>
            <a:off x="6222492" y="1572768"/>
            <a:ext cx="5198364" cy="3858768"/>
          </a:xfrm>
          <a:prstGeom prst="roundRect">
            <a:avLst>
              <a:gd name="adj" fmla="val 948"/>
            </a:avLst>
          </a:prstGeom>
          <a:solidFill>
            <a:srgbClr val="FFFCF7"/>
          </a:solidFill>
          <a:ln w="13970">
            <a:solidFill>
              <a:srgbClr val="725260"/>
            </a:solidFill>
            <a:prstDash val="solid"/>
          </a:ln>
        </p:spPr>
      </p:sp>
      <p:sp>
        <p:nvSpPr>
          <p:cNvPr id="9" name="Text 7"/>
          <p:cNvSpPr/>
          <p:nvPr/>
        </p:nvSpPr>
        <p:spPr>
          <a:xfrm>
            <a:off x="6496812" y="2029968"/>
            <a:ext cx="4649724" cy="2834640"/>
          </a:xfrm>
          <a:prstGeom prst="rect">
            <a:avLst/>
          </a:prstGeom>
          <a:noFill/>
          <a:ln/>
        </p:spPr>
        <p:txBody>
          <a:bodyPr wrap="square" lIns="0" tIns="0" rIns="0" bIns="0" rtlCol="0" anchor="ctr">
            <a:normAutofit/>
          </a:bodyPr>
          <a:lstStyle/>
          <a:p>
            <a:pPr algn="ctr" indent="0" marL="0">
              <a:buNone/>
            </a:pPr>
            <a:r>
              <a:rPr lang="en-US" sz="3000" b="1" dirty="0">
                <a:solidFill>
                  <a:srgbClr val="29241F"/>
                </a:solidFill>
                <a:latin typeface="Noto Serif CJK SC" pitchFamily="34" charset="0"/>
                <a:ea typeface="Noto Serif CJK SC" pitchFamily="34" charset="-122"/>
                <a:cs typeface="Noto Serif CJK SC" pitchFamily="34" charset="-120"/>
              </a:rPr>
              <a:t>每张卡都要带着一处《氓》的原诗。</a:t>
            </a:r>
            <a:endParaRPr lang="en-US" sz="30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51483F"/>
          </a:solidFill>
          <a:ln w="12700">
            <a:solidFill>
              <a:srgbClr val="51483F"/>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51483F"/>
                </a:solidFill>
                <a:latin typeface="Noto Sans CJK SC" pitchFamily="34" charset="0"/>
                <a:ea typeface="Noto Sans CJK SC" pitchFamily="34" charset="-122"/>
                <a:cs typeface="Noto Sans CJK SC" pitchFamily="34" charset="-120"/>
              </a:rPr>
              <a:t>全文</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68</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600" b="1" dirty="0">
                <a:solidFill>
                  <a:srgbClr val="29241F"/>
                </a:solidFill>
                <a:latin typeface="Noto Serif CJK SC" pitchFamily="34" charset="0"/>
                <a:ea typeface="Noto Serif CJK SC" pitchFamily="34" charset="-122"/>
                <a:cs typeface="Noto Serif CJK SC" pitchFamily="34" charset="-120"/>
              </a:rPr>
              <a:t>先听你们写下的话</a:t>
            </a:r>
            <a:endParaRPr lang="en-US" sz="3600" dirty="0"/>
          </a:p>
        </p:txBody>
      </p:sp>
      <p:sp>
        <p:nvSpPr>
          <p:cNvPr id="6" name="Shape 4"/>
          <p:cNvSpPr/>
          <p:nvPr/>
        </p:nvSpPr>
        <p:spPr>
          <a:xfrm>
            <a:off x="1005840" y="1481328"/>
            <a:ext cx="10149840" cy="3520440"/>
          </a:xfrm>
          <a:prstGeom prst="roundRect">
            <a:avLst>
              <a:gd name="adj" fmla="val 1039"/>
            </a:avLst>
          </a:prstGeom>
          <a:solidFill>
            <a:srgbClr val="FFFCF7"/>
          </a:solidFill>
          <a:ln w="15240">
            <a:solidFill>
              <a:srgbClr val="446E78"/>
            </a:solidFill>
            <a:prstDash val="solid"/>
          </a:ln>
        </p:spPr>
      </p:sp>
      <p:sp>
        <p:nvSpPr>
          <p:cNvPr id="7" name="Text 5"/>
          <p:cNvSpPr/>
          <p:nvPr/>
        </p:nvSpPr>
        <p:spPr>
          <a:xfrm>
            <a:off x="1417320" y="2011680"/>
            <a:ext cx="9326880" cy="1097280"/>
          </a:xfrm>
          <a:prstGeom prst="rect">
            <a:avLst/>
          </a:prstGeom>
          <a:noFill/>
          <a:ln/>
        </p:spPr>
        <p:txBody>
          <a:bodyPr wrap="square" lIns="0" tIns="0" rIns="0" bIns="0" rtlCol="0" anchor="ctr"/>
          <a:lstStyle/>
          <a:p>
            <a:pPr algn="ctr" indent="0" marL="0">
              <a:buNone/>
            </a:pPr>
            <a:r>
              <a:rPr lang="en-US" sz="4400" dirty="0">
                <a:solidFill>
                  <a:srgbClr val="C5B39B"/>
                </a:solidFill>
                <a:latin typeface="Noto Serif CJK SC" pitchFamily="34" charset="0"/>
                <a:ea typeface="Noto Serif CJK SC" pitchFamily="34" charset="-122"/>
                <a:cs typeface="Noto Serif CJK SC" pitchFamily="34" charset="-120"/>
              </a:rPr>
              <a:t>“　　　　　　　　　　　　　　　　”</a:t>
            </a:r>
            <a:endParaRPr lang="en-US" sz="4400" dirty="0"/>
          </a:p>
        </p:txBody>
      </p:sp>
      <p:sp>
        <p:nvSpPr>
          <p:cNvPr id="8" name="Text 6"/>
          <p:cNvSpPr/>
          <p:nvPr/>
        </p:nvSpPr>
        <p:spPr>
          <a:xfrm>
            <a:off x="1417320" y="3840480"/>
            <a:ext cx="9326880" cy="658368"/>
          </a:xfrm>
          <a:prstGeom prst="rect">
            <a:avLst/>
          </a:prstGeom>
          <a:noFill/>
          <a:ln/>
        </p:spPr>
        <p:txBody>
          <a:bodyPr wrap="square" lIns="0" tIns="0" rIns="0" bIns="0" rtlCol="0" anchor="ctr">
            <a:normAutofit/>
          </a:bodyPr>
          <a:lstStyle/>
          <a:p>
            <a:pPr algn="ctr" indent="0" marL="0">
              <a:buNone/>
            </a:pPr>
            <a:r>
              <a:rPr lang="en-US" sz="2400" dirty="0">
                <a:solidFill>
                  <a:srgbClr val="51483F"/>
                </a:solidFill>
                <a:latin typeface="Noto Serif CJK SC" pitchFamily="34" charset="0"/>
                <a:ea typeface="Noto Serif CJK SC" pitchFamily="34" charset="-122"/>
                <a:cs typeface="Noto Serif CJK SC" pitchFamily="34" charset="-120"/>
              </a:rPr>
              <a:t>原作者读卡；同学只指出它照应的原诗，或仍保留的分歧。</a:t>
            </a:r>
            <a:endParaRPr lang="en-US" sz="2400" dirty="0"/>
          </a:p>
        </p:txBody>
      </p:sp>
      <p:sp>
        <p:nvSpPr>
          <p:cNvPr id="9" name="Text 7"/>
          <p:cNvSpPr/>
          <p:nvPr/>
        </p:nvSpPr>
        <p:spPr>
          <a:xfrm>
            <a:off x="914400" y="5440680"/>
            <a:ext cx="10360152" cy="658368"/>
          </a:xfrm>
          <a:prstGeom prst="rect">
            <a:avLst/>
          </a:prstGeom>
          <a:noFill/>
          <a:ln/>
        </p:spPr>
        <p:txBody>
          <a:bodyPr wrap="square" lIns="0" tIns="0" rIns="0" bIns="0" rtlCol="0" anchor="ctr"/>
          <a:lstStyle/>
          <a:p>
            <a:pPr algn="ctr" indent="0" marL="0">
              <a:buNone/>
            </a:pPr>
            <a:r>
              <a:rPr lang="en-US" sz="2600" b="1" dirty="0">
                <a:solidFill>
                  <a:srgbClr val="725260"/>
                </a:solidFill>
                <a:latin typeface="Noto Serif CJK SC" pitchFamily="34" charset="0"/>
                <a:ea typeface="Noto Serif CJK SC" pitchFamily="34" charset="-122"/>
                <a:cs typeface="Noto Serif CJK SC" pitchFamily="34" charset="-120"/>
              </a:rPr>
              <a:t>先让真实的话被听见。</a:t>
            </a:r>
            <a:endParaRPr lang="en-US" sz="26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51483F"/>
          </a:solidFill>
          <a:ln w="12700">
            <a:solidFill>
              <a:srgbClr val="51483F"/>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51483F"/>
                </a:solidFill>
                <a:latin typeface="Noto Sans CJK SC" pitchFamily="34" charset="0"/>
                <a:ea typeface="Noto Sans CJK SC" pitchFamily="34" charset="-122"/>
                <a:cs typeface="Noto Sans CJK SC" pitchFamily="34" charset="-120"/>
              </a:rPr>
              <a:t>全文</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69</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600" b="1" dirty="0">
                <a:solidFill>
                  <a:srgbClr val="29241F"/>
                </a:solidFill>
                <a:latin typeface="Noto Serif CJK SC" pitchFamily="34" charset="0"/>
                <a:ea typeface="Noto Serif CJK SC" pitchFamily="34" charset="-122"/>
                <a:cs typeface="Noto Serif CJK SC" pitchFamily="34" charset="-120"/>
              </a:rPr>
              <a:t>听过你们的话，再分清两层</a:t>
            </a:r>
            <a:endParaRPr lang="en-US" sz="3600" dirty="0"/>
          </a:p>
        </p:txBody>
      </p:sp>
      <p:sp>
        <p:nvSpPr>
          <p:cNvPr id="6" name="Shape 4"/>
          <p:cNvSpPr/>
          <p:nvPr/>
        </p:nvSpPr>
        <p:spPr>
          <a:xfrm>
            <a:off x="822960" y="1572768"/>
            <a:ext cx="5138928" cy="4160520"/>
          </a:xfrm>
          <a:prstGeom prst="roundRect">
            <a:avLst>
              <a:gd name="adj" fmla="val 879"/>
            </a:avLst>
          </a:prstGeom>
          <a:solidFill>
            <a:srgbClr val="FFFCF7"/>
          </a:solidFill>
          <a:ln w="15240">
            <a:solidFill>
              <a:srgbClr val="A67F4A"/>
            </a:solidFill>
            <a:prstDash val="solid"/>
          </a:ln>
        </p:spPr>
      </p:sp>
      <p:sp>
        <p:nvSpPr>
          <p:cNvPr id="7" name="Text 5"/>
          <p:cNvSpPr/>
          <p:nvPr/>
        </p:nvSpPr>
        <p:spPr>
          <a:xfrm>
            <a:off x="1097280" y="1874520"/>
            <a:ext cx="4590288" cy="457200"/>
          </a:xfrm>
          <a:prstGeom prst="rect">
            <a:avLst/>
          </a:prstGeom>
          <a:noFill/>
          <a:ln/>
        </p:spPr>
        <p:txBody>
          <a:bodyPr wrap="square" lIns="0" tIns="0" rIns="0" bIns="0" rtlCol="0" anchor="ctr"/>
          <a:lstStyle/>
          <a:p>
            <a:pPr algn="ctr" indent="0" marL="0">
              <a:buNone/>
            </a:pPr>
            <a:r>
              <a:rPr lang="en-US" sz="2500" b="1" dirty="0">
                <a:solidFill>
                  <a:srgbClr val="A67F4A"/>
                </a:solidFill>
                <a:latin typeface="Noto Serif CJK SC" pitchFamily="34" charset="0"/>
                <a:ea typeface="Noto Serif CJK SC" pitchFamily="34" charset="-122"/>
                <a:cs typeface="Noto Serif CJK SC" pitchFamily="34" charset="-120"/>
              </a:rPr>
              <a:t>诗中写到的</a:t>
            </a:r>
            <a:endParaRPr lang="en-US" sz="2500" dirty="0"/>
          </a:p>
        </p:txBody>
      </p:sp>
      <p:sp>
        <p:nvSpPr>
          <p:cNvPr id="8" name="Text 6"/>
          <p:cNvSpPr/>
          <p:nvPr/>
        </p:nvSpPr>
        <p:spPr>
          <a:xfrm>
            <a:off x="1170432" y="2578608"/>
            <a:ext cx="4443984" cy="2514600"/>
          </a:xfrm>
          <a:prstGeom prst="rect">
            <a:avLst/>
          </a:prstGeom>
          <a:noFill/>
          <a:ln/>
        </p:spPr>
        <p:txBody>
          <a:bodyPr wrap="square" lIns="0" tIns="0" rIns="0" bIns="0" rtlCol="0" anchor="ctr">
            <a:normAutofit/>
          </a:bodyPr>
          <a:lstStyle/>
          <a:p>
            <a:pPr algn="ctr" indent="0" marL="0">
              <a:buNone/>
            </a:pPr>
            <a:r>
              <a:rPr lang="en-US" sz="2400" b="1" dirty="0">
                <a:solidFill>
                  <a:srgbClr val="29241F"/>
                </a:solidFill>
                <a:latin typeface="Noto Serif CJK SC" pitchFamily="34" charset="0"/>
                <a:ea typeface="Noto Serif CJK SC" pitchFamily="34" charset="-122"/>
                <a:cs typeface="Noto Serif CJK SC" pitchFamily="34" charset="-120"/>
              </a:rPr>
              <a:t>承诺落空｜日子失衡｜兄弟不知而笑｜她作出止息判断</a:t>
            </a:r>
            <a:endParaRPr lang="en-US" sz="2400" dirty="0"/>
          </a:p>
        </p:txBody>
      </p:sp>
      <p:sp>
        <p:nvSpPr>
          <p:cNvPr id="9" name="Shape 7"/>
          <p:cNvSpPr/>
          <p:nvPr/>
        </p:nvSpPr>
        <p:spPr>
          <a:xfrm>
            <a:off x="6236208" y="1572768"/>
            <a:ext cx="5138928" cy="4160520"/>
          </a:xfrm>
          <a:prstGeom prst="roundRect">
            <a:avLst>
              <a:gd name="adj" fmla="val 879"/>
            </a:avLst>
          </a:prstGeom>
          <a:solidFill>
            <a:srgbClr val="FFFCF7"/>
          </a:solidFill>
          <a:ln w="15240">
            <a:solidFill>
              <a:srgbClr val="725260"/>
            </a:solidFill>
            <a:prstDash val="solid"/>
          </a:ln>
        </p:spPr>
      </p:sp>
      <p:sp>
        <p:nvSpPr>
          <p:cNvPr id="10" name="Text 8"/>
          <p:cNvSpPr/>
          <p:nvPr/>
        </p:nvSpPr>
        <p:spPr>
          <a:xfrm>
            <a:off x="6510528" y="1874520"/>
            <a:ext cx="4590288" cy="457200"/>
          </a:xfrm>
          <a:prstGeom prst="rect">
            <a:avLst/>
          </a:prstGeom>
          <a:noFill/>
          <a:ln/>
        </p:spPr>
        <p:txBody>
          <a:bodyPr wrap="square" lIns="0" tIns="0" rIns="0" bIns="0" rtlCol="0" anchor="ctr"/>
          <a:lstStyle/>
          <a:p>
            <a:pPr algn="ctr" indent="0" marL="0">
              <a:buNone/>
            </a:pPr>
            <a:r>
              <a:rPr lang="en-US" sz="2500" b="1" dirty="0">
                <a:solidFill>
                  <a:srgbClr val="725260"/>
                </a:solidFill>
                <a:latin typeface="Noto Serif CJK SC" pitchFamily="34" charset="0"/>
                <a:ea typeface="Noto Serif CJK SC" pitchFamily="34" charset="-122"/>
                <a:cs typeface="Noto Serif CJK SC" pitchFamily="34" charset="-120"/>
              </a:rPr>
              <a:t>由诗想到今天</a:t>
            </a:r>
            <a:endParaRPr lang="en-US" sz="2500" dirty="0"/>
          </a:p>
        </p:txBody>
      </p:sp>
      <p:sp>
        <p:nvSpPr>
          <p:cNvPr id="11" name="Text 9"/>
          <p:cNvSpPr/>
          <p:nvPr/>
        </p:nvSpPr>
        <p:spPr>
          <a:xfrm>
            <a:off x="6583680" y="2578608"/>
            <a:ext cx="4443984" cy="2514600"/>
          </a:xfrm>
          <a:prstGeom prst="rect">
            <a:avLst/>
          </a:prstGeom>
          <a:noFill/>
          <a:ln/>
        </p:spPr>
        <p:txBody>
          <a:bodyPr wrap="square" lIns="0" tIns="0" rIns="0" bIns="0" rtlCol="0" anchor="ctr">
            <a:normAutofit/>
          </a:bodyPr>
          <a:lstStyle/>
          <a:p>
            <a:pPr algn="ctr" indent="0" marL="0">
              <a:buNone/>
            </a:pPr>
            <a:r>
              <a:rPr lang="en-US" sz="2400" b="1" dirty="0">
                <a:solidFill>
                  <a:srgbClr val="29241F"/>
                </a:solidFill>
                <a:latin typeface="Noto Serif CJK SC" pitchFamily="34" charset="0"/>
                <a:ea typeface="Noto Serif CJK SC" pitchFamily="34" charset="-122"/>
                <a:cs typeface="Noto Serif CJK SC" pitchFamily="34" charset="-120"/>
              </a:rPr>
              <a:t>面对持续伤害，可以求助；必要时离开</a:t>
            </a:r>
            <a:endParaRPr lang="en-US" sz="2400" dirty="0"/>
          </a:p>
          <a:p>
            <a:pPr algn="ctr" indent="0" marL="0">
              <a:buNone/>
            </a:pPr>
            <a:r>
              <a:rPr lang="en-US" sz="2400" b="1" dirty="0">
                <a:solidFill>
                  <a:srgbClr val="29241F"/>
                </a:solidFill>
                <a:latin typeface="Noto Serif CJK SC" pitchFamily="34" charset="0"/>
                <a:ea typeface="Noto Serif CJK SC" pitchFamily="34" charset="-122"/>
                <a:cs typeface="Noto Serif CJK SC" pitchFamily="34" charset="-120"/>
              </a:rPr>
              <a:t>现代建议不是诗中已经发生的结局。</a:t>
            </a:r>
            <a:endParaRPr lang="en-US" sz="24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51483F"/>
          </a:solidFill>
          <a:ln w="12700">
            <a:solidFill>
              <a:srgbClr val="51483F"/>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51483F"/>
                </a:solidFill>
                <a:latin typeface="Noto Sans CJK SC" pitchFamily="34" charset="0"/>
                <a:ea typeface="Noto Sans CJK SC" pitchFamily="34" charset="-122"/>
                <a:cs typeface="Noto Sans CJK SC" pitchFamily="34" charset="-120"/>
              </a:rPr>
              <a:t>全文</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70</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500" b="1" dirty="0">
                <a:solidFill>
                  <a:srgbClr val="29241F"/>
                </a:solidFill>
                <a:latin typeface="Noto Serif CJK SC" pitchFamily="34" charset="0"/>
                <a:ea typeface="Noto Serif CJK SC" pitchFamily="34" charset="-122"/>
                <a:cs typeface="Noto Serif CJK SC" pitchFamily="34" charset="-120"/>
              </a:rPr>
              <a:t>回到开头那幅爱情与婚姻文学长卷</a:t>
            </a:r>
            <a:endParaRPr lang="en-US" sz="3500" dirty="0"/>
          </a:p>
        </p:txBody>
      </p:sp>
      <p:sp>
        <p:nvSpPr>
          <p:cNvPr id="6" name="Text 4"/>
          <p:cNvSpPr/>
          <p:nvPr/>
        </p:nvSpPr>
        <p:spPr>
          <a:xfrm>
            <a:off x="914400" y="1481328"/>
            <a:ext cx="10287000" cy="530352"/>
          </a:xfrm>
          <a:prstGeom prst="rect">
            <a:avLst/>
          </a:prstGeom>
          <a:noFill/>
          <a:ln/>
        </p:spPr>
        <p:txBody>
          <a:bodyPr wrap="square" lIns="0" tIns="0" rIns="0" bIns="0" rtlCol="0" anchor="ctr">
            <a:normAutofit/>
          </a:bodyPr>
          <a:lstStyle/>
          <a:p>
            <a:pPr algn="l" indent="0" marL="0">
              <a:buNone/>
            </a:pPr>
            <a:r>
              <a:rPr lang="en-US" sz="2700" b="1" dirty="0">
                <a:solidFill>
                  <a:srgbClr val="725260"/>
                </a:solidFill>
                <a:latin typeface="Noto Serif CJK SC" pitchFamily="34" charset="0"/>
                <a:ea typeface="Noto Serif CJK SC" pitchFamily="34" charset="-122"/>
                <a:cs typeface="Noto Serif CJK SC" pitchFamily="34" charset="-120"/>
              </a:rPr>
              <a:t>《氓》为它新添了什么？</a:t>
            </a:r>
            <a:endParaRPr lang="en-US" sz="2700" dirty="0"/>
          </a:p>
        </p:txBody>
      </p:sp>
      <p:sp>
        <p:nvSpPr>
          <p:cNvPr id="7" name="Shape 5"/>
          <p:cNvSpPr/>
          <p:nvPr/>
        </p:nvSpPr>
        <p:spPr>
          <a:xfrm>
            <a:off x="914400" y="2084832"/>
            <a:ext cx="10195560" cy="0"/>
          </a:xfrm>
          <a:prstGeom prst="line">
            <a:avLst/>
          </a:prstGeom>
          <a:noFill/>
          <a:ln w="10160">
            <a:solidFill>
              <a:srgbClr val="DED0BC"/>
            </a:solidFill>
            <a:prstDash val="solid"/>
          </a:ln>
        </p:spPr>
      </p:sp>
      <p:sp>
        <p:nvSpPr>
          <p:cNvPr id="8" name="Text 6"/>
          <p:cNvSpPr/>
          <p:nvPr/>
        </p:nvSpPr>
        <p:spPr>
          <a:xfrm>
            <a:off x="914400" y="2414016"/>
            <a:ext cx="10287000" cy="530352"/>
          </a:xfrm>
          <a:prstGeom prst="rect">
            <a:avLst/>
          </a:prstGeom>
          <a:noFill/>
          <a:ln/>
        </p:spPr>
        <p:txBody>
          <a:bodyPr wrap="square" lIns="0" tIns="0" rIns="0" bIns="0" rtlCol="0" anchor="ctr">
            <a:normAutofit/>
          </a:bodyPr>
          <a:lstStyle/>
          <a:p>
            <a:pPr algn="l" indent="0" marL="0">
              <a:buNone/>
            </a:pPr>
            <a:r>
              <a:rPr lang="en-US" sz="2700" dirty="0">
                <a:solidFill>
                  <a:srgbClr val="29241F"/>
                </a:solidFill>
                <a:latin typeface="Noto Serif CJK SC" pitchFamily="34" charset="0"/>
                <a:ea typeface="Noto Serif CJK SC" pitchFamily="34" charset="-122"/>
                <a:cs typeface="Noto Serif CJK SC" pitchFamily="34" charset="-120"/>
              </a:rPr>
              <a:t>请用自己的话补上一句。</a:t>
            </a:r>
            <a:endParaRPr lang="en-US" sz="2700" dirty="0"/>
          </a:p>
        </p:txBody>
      </p:sp>
      <p:sp>
        <p:nvSpPr>
          <p:cNvPr id="9" name="Shape 7"/>
          <p:cNvSpPr/>
          <p:nvPr/>
        </p:nvSpPr>
        <p:spPr>
          <a:xfrm>
            <a:off x="914400" y="3017520"/>
            <a:ext cx="10195560" cy="0"/>
          </a:xfrm>
          <a:prstGeom prst="line">
            <a:avLst/>
          </a:prstGeom>
          <a:noFill/>
          <a:ln w="10160">
            <a:solidFill>
              <a:srgbClr val="DED0BC"/>
            </a:solidFill>
            <a:prstDash val="solid"/>
          </a:ln>
        </p:spPr>
      </p:sp>
      <p:sp>
        <p:nvSpPr>
          <p:cNvPr id="10" name="Text 8"/>
          <p:cNvSpPr/>
          <p:nvPr/>
        </p:nvSpPr>
        <p:spPr>
          <a:xfrm>
            <a:off x="914400" y="3346704"/>
            <a:ext cx="10287000" cy="530352"/>
          </a:xfrm>
          <a:prstGeom prst="rect">
            <a:avLst/>
          </a:prstGeom>
          <a:noFill/>
          <a:ln/>
        </p:spPr>
        <p:txBody>
          <a:bodyPr wrap="square" lIns="0" tIns="0" rIns="0" bIns="0" rtlCol="0" anchor="ctr">
            <a:normAutofit/>
          </a:bodyPr>
          <a:lstStyle/>
          <a:p>
            <a:pPr algn="l" indent="0" marL="0">
              <a:buNone/>
            </a:pPr>
            <a:r>
              <a:rPr lang="en-US" sz="2700" dirty="0">
                <a:solidFill>
                  <a:srgbClr val="29241F"/>
                </a:solidFill>
                <a:latin typeface="Noto Serif CJK SC" pitchFamily="34" charset="0"/>
                <a:ea typeface="Noto Serif CJK SC" pitchFamily="34" charset="-122"/>
                <a:cs typeface="Noto Serif CJK SC" pitchFamily="34" charset="-120"/>
              </a:rPr>
              <a:t>可以不同意教师的归纳，但要带着一处原诗。</a:t>
            </a:r>
            <a:endParaRPr lang="en-US" sz="27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51483F"/>
          </a:solidFill>
          <a:ln w="12700">
            <a:solidFill>
              <a:srgbClr val="51483F"/>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51483F"/>
                </a:solidFill>
                <a:latin typeface="Noto Sans CJK SC" pitchFamily="34" charset="0"/>
                <a:ea typeface="Noto Sans CJK SC" pitchFamily="34" charset="-122"/>
                <a:cs typeface="Noto Sans CJK SC" pitchFamily="34" charset="-120"/>
              </a:rPr>
              <a:t>全文</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71</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700" b="1" dirty="0">
                <a:solidFill>
                  <a:srgbClr val="29241F"/>
                </a:solidFill>
                <a:latin typeface="Noto Serif CJK SC" pitchFamily="34" charset="0"/>
                <a:ea typeface="Noto Serif CJK SC" pitchFamily="34" charset="-122"/>
                <a:cs typeface="Noto Serif CJK SC" pitchFamily="34" charset="-120"/>
              </a:rPr>
              <a:t>《诗经》，我们真正记住了什么？</a:t>
            </a:r>
            <a:endParaRPr lang="en-US" sz="3700" dirty="0"/>
          </a:p>
        </p:txBody>
      </p:sp>
      <p:sp>
        <p:nvSpPr>
          <p:cNvPr id="6" name="Text 4"/>
          <p:cNvSpPr/>
          <p:nvPr/>
        </p:nvSpPr>
        <p:spPr>
          <a:xfrm>
            <a:off x="960120" y="1554480"/>
            <a:ext cx="10195560" cy="656173"/>
          </a:xfrm>
          <a:prstGeom prst="rect">
            <a:avLst/>
          </a:prstGeom>
          <a:noFill/>
          <a:ln/>
        </p:spPr>
        <p:txBody>
          <a:bodyPr wrap="square" lIns="0" tIns="0" rIns="0" bIns="0" rtlCol="0" anchor="ctr">
            <a:normAutofit/>
          </a:bodyPr>
          <a:lstStyle/>
          <a:p>
            <a:pPr algn="ctr" indent="0" marL="0">
              <a:buNone/>
            </a:pPr>
            <a:r>
              <a:rPr lang="en-US" sz="3000" dirty="0">
                <a:solidFill>
                  <a:srgbClr val="29241F"/>
                </a:solidFill>
                <a:latin typeface="Noto Serif CJK SC" pitchFamily="34" charset="0"/>
                <a:ea typeface="Noto Serif CJK SC" pitchFamily="34" charset="-122"/>
                <a:cs typeface="Noto Serif CJK SC" pitchFamily="34" charset="-120"/>
              </a:rPr>
              <a:t>它是什么？</a:t>
            </a:r>
            <a:endParaRPr lang="en-US" sz="3000" dirty="0"/>
          </a:p>
        </p:txBody>
      </p:sp>
      <p:sp>
        <p:nvSpPr>
          <p:cNvPr id="7" name="Text 5"/>
          <p:cNvSpPr/>
          <p:nvPr/>
        </p:nvSpPr>
        <p:spPr>
          <a:xfrm>
            <a:off x="960120" y="2395728"/>
            <a:ext cx="10195560" cy="656173"/>
          </a:xfrm>
          <a:prstGeom prst="rect">
            <a:avLst/>
          </a:prstGeom>
          <a:noFill/>
          <a:ln/>
        </p:spPr>
        <p:txBody>
          <a:bodyPr wrap="square" lIns="0" tIns="0" rIns="0" bIns="0" rtlCol="0" anchor="ctr">
            <a:normAutofit/>
          </a:bodyPr>
          <a:lstStyle/>
          <a:p>
            <a:pPr algn="ctr" indent="0" marL="0">
              <a:buNone/>
            </a:pPr>
            <a:r>
              <a:rPr lang="en-US" sz="3000" dirty="0">
                <a:solidFill>
                  <a:srgbClr val="29241F"/>
                </a:solidFill>
                <a:latin typeface="Noto Serif CJK SC" pitchFamily="34" charset="0"/>
                <a:ea typeface="Noto Serif CJK SC" pitchFamily="34" charset="-122"/>
                <a:cs typeface="Noto Serif CJK SC" pitchFamily="34" charset="-120"/>
              </a:rPr>
              <a:t>有多少篇？</a:t>
            </a:r>
            <a:endParaRPr lang="en-US" sz="3000" dirty="0"/>
          </a:p>
        </p:txBody>
      </p:sp>
      <p:sp>
        <p:nvSpPr>
          <p:cNvPr id="8" name="Text 6"/>
          <p:cNvSpPr/>
          <p:nvPr/>
        </p:nvSpPr>
        <p:spPr>
          <a:xfrm>
            <a:off x="960120" y="3236976"/>
            <a:ext cx="10195560" cy="656173"/>
          </a:xfrm>
          <a:prstGeom prst="rect">
            <a:avLst/>
          </a:prstGeom>
          <a:noFill/>
          <a:ln/>
        </p:spPr>
        <p:txBody>
          <a:bodyPr wrap="square" lIns="0" tIns="0" rIns="0" bIns="0" rtlCol="0" anchor="ctr">
            <a:normAutofit/>
          </a:bodyPr>
          <a:lstStyle/>
          <a:p>
            <a:pPr algn="ctr" indent="0" marL="0">
              <a:buNone/>
            </a:pPr>
            <a:r>
              <a:rPr lang="en-US" sz="3000" dirty="0">
                <a:solidFill>
                  <a:srgbClr val="29241F"/>
                </a:solidFill>
                <a:latin typeface="Noto Serif CJK SC" pitchFamily="34" charset="0"/>
                <a:ea typeface="Noto Serif CJK SC" pitchFamily="34" charset="-122"/>
                <a:cs typeface="Noto Serif CJK SC" pitchFamily="34" charset="-120"/>
              </a:rPr>
              <a:t>作品大致来自怎样的年代？</a:t>
            </a:r>
            <a:endParaRPr lang="en-US" sz="3000" dirty="0"/>
          </a:p>
        </p:txBody>
      </p:sp>
      <p:sp>
        <p:nvSpPr>
          <p:cNvPr id="9" name="Text 7"/>
          <p:cNvSpPr/>
          <p:nvPr/>
        </p:nvSpPr>
        <p:spPr>
          <a:xfrm>
            <a:off x="960120" y="4078224"/>
            <a:ext cx="10195560" cy="656173"/>
          </a:xfrm>
          <a:prstGeom prst="rect">
            <a:avLst/>
          </a:prstGeom>
          <a:noFill/>
          <a:ln/>
        </p:spPr>
        <p:txBody>
          <a:bodyPr wrap="square" lIns="0" tIns="0" rIns="0" bIns="0" rtlCol="0" anchor="ctr">
            <a:normAutofit/>
          </a:bodyPr>
          <a:lstStyle/>
          <a:p>
            <a:pPr algn="ctr" indent="0" marL="0">
              <a:buNone/>
            </a:pPr>
            <a:r>
              <a:rPr lang="en-US" sz="3000" dirty="0">
                <a:solidFill>
                  <a:srgbClr val="29241F"/>
                </a:solidFill>
                <a:latin typeface="Noto Serif CJK SC" pitchFamily="34" charset="0"/>
                <a:ea typeface="Noto Serif CJK SC" pitchFamily="34" charset="-122"/>
                <a:cs typeface="Noto Serif CJK SC" pitchFamily="34" charset="-120"/>
              </a:rPr>
              <a:t>分哪三类？《氓》在哪里？</a:t>
            </a:r>
            <a:endParaRPr lang="en-US" sz="3000" dirty="0"/>
          </a:p>
        </p:txBody>
      </p:sp>
      <p:sp>
        <p:nvSpPr>
          <p:cNvPr id="10" name="Text 8"/>
          <p:cNvSpPr/>
          <p:nvPr/>
        </p:nvSpPr>
        <p:spPr>
          <a:xfrm>
            <a:off x="960120" y="4919472"/>
            <a:ext cx="10195560" cy="656173"/>
          </a:xfrm>
          <a:prstGeom prst="rect">
            <a:avLst/>
          </a:prstGeom>
          <a:noFill/>
          <a:ln/>
        </p:spPr>
        <p:txBody>
          <a:bodyPr wrap="square" lIns="0" tIns="0" rIns="0" bIns="0" rtlCol="0" anchor="ctr">
            <a:normAutofit/>
          </a:bodyPr>
          <a:lstStyle/>
          <a:p>
            <a:pPr algn="ctr" indent="0" marL="0">
              <a:buNone/>
            </a:pPr>
            <a:r>
              <a:rPr lang="en-US" sz="2800" b="1" dirty="0">
                <a:solidFill>
                  <a:srgbClr val="725260"/>
                </a:solidFill>
                <a:latin typeface="Noto Serif CJK SC" pitchFamily="34" charset="0"/>
                <a:ea typeface="Noto Serif CJK SC" pitchFamily="34" charset="-122"/>
                <a:cs typeface="Noto Serif CJK SC" pitchFamily="34" charset="-120"/>
              </a:rPr>
              <a:t>先合书写；不确定，可以留空。</a:t>
            </a:r>
            <a:endParaRPr lang="en-US" sz="28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51483F"/>
          </a:solidFill>
          <a:ln w="12700">
            <a:solidFill>
              <a:srgbClr val="51483F"/>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51483F"/>
                </a:solidFill>
                <a:latin typeface="Noto Sans CJK SC" pitchFamily="34" charset="0"/>
                <a:ea typeface="Noto Sans CJK SC" pitchFamily="34" charset="-122"/>
                <a:cs typeface="Noto Sans CJK SC" pitchFamily="34" charset="-120"/>
              </a:rPr>
              <a:t>全文</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72</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400" b="1" dirty="0">
                <a:solidFill>
                  <a:srgbClr val="29241F"/>
                </a:solidFill>
                <a:latin typeface="Noto Serif CJK SC" pitchFamily="34" charset="0"/>
                <a:ea typeface="Noto Serif CJK SC" pitchFamily="34" charset="-122"/>
                <a:cs typeface="Noto Serif CJK SC" pitchFamily="34" charset="-120"/>
              </a:rPr>
              <a:t>《诗经》｜把五项事实校准</a:t>
            </a:r>
            <a:endParaRPr lang="en-US" sz="3400" dirty="0"/>
          </a:p>
        </p:txBody>
      </p:sp>
      <p:sp>
        <p:nvSpPr>
          <p:cNvPr id="6" name="Shape 4"/>
          <p:cNvSpPr/>
          <p:nvPr/>
        </p:nvSpPr>
        <p:spPr>
          <a:xfrm>
            <a:off x="786384" y="1572768"/>
            <a:ext cx="3401568" cy="1234440"/>
          </a:xfrm>
          <a:prstGeom prst="roundRect">
            <a:avLst>
              <a:gd name="adj" fmla="val 2963"/>
            </a:avLst>
          </a:prstGeom>
          <a:solidFill>
            <a:srgbClr val="FFFCF7"/>
          </a:solidFill>
          <a:ln w="13335">
            <a:solidFill>
              <a:srgbClr val="A67F4A"/>
            </a:solidFill>
            <a:prstDash val="solid"/>
          </a:ln>
        </p:spPr>
      </p:sp>
      <p:sp>
        <p:nvSpPr>
          <p:cNvPr id="7" name="Text 5"/>
          <p:cNvSpPr/>
          <p:nvPr/>
        </p:nvSpPr>
        <p:spPr>
          <a:xfrm>
            <a:off x="969264" y="1792224"/>
            <a:ext cx="3035808" cy="777240"/>
          </a:xfrm>
          <a:prstGeom prst="rect">
            <a:avLst/>
          </a:prstGeom>
          <a:noFill/>
          <a:ln/>
        </p:spPr>
        <p:txBody>
          <a:bodyPr wrap="square" lIns="0" tIns="0" rIns="0" bIns="0" rtlCol="0" anchor="ctr">
            <a:normAutofit/>
          </a:bodyPr>
          <a:lstStyle/>
          <a:p>
            <a:pPr algn="ctr" indent="0" marL="0">
              <a:buNone/>
            </a:pPr>
            <a:r>
              <a:rPr lang="en-US" sz="2100" b="1" dirty="0">
                <a:solidFill>
                  <a:srgbClr val="29241F"/>
                </a:solidFill>
                <a:latin typeface="Noto Serif CJK SC" pitchFamily="34" charset="0"/>
                <a:ea typeface="Noto Serif CJK SC" pitchFamily="34" charset="-122"/>
                <a:cs typeface="Noto Serif CJK SC" pitchFamily="34" charset="-120"/>
              </a:rPr>
              <a:t>《诗经》｜我国第一部诗歌总集</a:t>
            </a:r>
            <a:endParaRPr lang="en-US" sz="2100" dirty="0"/>
          </a:p>
        </p:txBody>
      </p:sp>
      <p:sp>
        <p:nvSpPr>
          <p:cNvPr id="8" name="Shape 6"/>
          <p:cNvSpPr/>
          <p:nvPr/>
        </p:nvSpPr>
        <p:spPr>
          <a:xfrm>
            <a:off x="4572000" y="1572768"/>
            <a:ext cx="3401568" cy="1234440"/>
          </a:xfrm>
          <a:prstGeom prst="roundRect">
            <a:avLst>
              <a:gd name="adj" fmla="val 2963"/>
            </a:avLst>
          </a:prstGeom>
          <a:solidFill>
            <a:srgbClr val="FFFCF7"/>
          </a:solidFill>
          <a:ln w="13335">
            <a:solidFill>
              <a:srgbClr val="446E78"/>
            </a:solidFill>
            <a:prstDash val="solid"/>
          </a:ln>
        </p:spPr>
      </p:sp>
      <p:sp>
        <p:nvSpPr>
          <p:cNvPr id="9" name="Text 7"/>
          <p:cNvSpPr/>
          <p:nvPr/>
        </p:nvSpPr>
        <p:spPr>
          <a:xfrm>
            <a:off x="4754880" y="1792224"/>
            <a:ext cx="3035808" cy="777240"/>
          </a:xfrm>
          <a:prstGeom prst="rect">
            <a:avLst/>
          </a:prstGeom>
          <a:noFill/>
          <a:ln/>
        </p:spPr>
        <p:txBody>
          <a:bodyPr wrap="square" lIns="0" tIns="0" rIns="0" bIns="0" rtlCol="0" anchor="ctr">
            <a:normAutofit/>
          </a:bodyPr>
          <a:lstStyle/>
          <a:p>
            <a:pPr algn="ctr" indent="0" marL="0">
              <a:buNone/>
            </a:pPr>
            <a:r>
              <a:rPr lang="en-US" sz="2100" b="1" dirty="0">
                <a:solidFill>
                  <a:srgbClr val="29241F"/>
                </a:solidFill>
                <a:latin typeface="Noto Serif CJK SC" pitchFamily="34" charset="0"/>
                <a:ea typeface="Noto Serif CJK SC" pitchFamily="34" charset="-122"/>
                <a:cs typeface="Noto Serif CJK SC" pitchFamily="34" charset="-120"/>
              </a:rPr>
              <a:t>现存305篇</a:t>
            </a:r>
            <a:endParaRPr lang="en-US" sz="2100" dirty="0"/>
          </a:p>
        </p:txBody>
      </p:sp>
      <p:sp>
        <p:nvSpPr>
          <p:cNvPr id="10" name="Shape 8"/>
          <p:cNvSpPr/>
          <p:nvPr/>
        </p:nvSpPr>
        <p:spPr>
          <a:xfrm>
            <a:off x="8357616" y="1572768"/>
            <a:ext cx="3401568" cy="1234440"/>
          </a:xfrm>
          <a:prstGeom prst="roundRect">
            <a:avLst>
              <a:gd name="adj" fmla="val 2963"/>
            </a:avLst>
          </a:prstGeom>
          <a:solidFill>
            <a:srgbClr val="FFFCF7"/>
          </a:solidFill>
          <a:ln w="13335">
            <a:solidFill>
              <a:srgbClr val="657653"/>
            </a:solidFill>
            <a:prstDash val="solid"/>
          </a:ln>
        </p:spPr>
      </p:sp>
      <p:sp>
        <p:nvSpPr>
          <p:cNvPr id="11" name="Text 9"/>
          <p:cNvSpPr/>
          <p:nvPr/>
        </p:nvSpPr>
        <p:spPr>
          <a:xfrm>
            <a:off x="8540496" y="1792224"/>
            <a:ext cx="3035808" cy="777240"/>
          </a:xfrm>
          <a:prstGeom prst="rect">
            <a:avLst/>
          </a:prstGeom>
          <a:noFill/>
          <a:ln/>
        </p:spPr>
        <p:txBody>
          <a:bodyPr wrap="square" lIns="0" tIns="0" rIns="0" bIns="0" rtlCol="0" anchor="ctr">
            <a:normAutofit/>
          </a:bodyPr>
          <a:lstStyle/>
          <a:p>
            <a:pPr algn="ctr" indent="0" marL="0">
              <a:buNone/>
            </a:pPr>
            <a:r>
              <a:rPr lang="en-US" sz="2100" b="1" dirty="0">
                <a:solidFill>
                  <a:srgbClr val="29241F"/>
                </a:solidFill>
                <a:latin typeface="Noto Serif CJK SC" pitchFamily="34" charset="0"/>
                <a:ea typeface="Noto Serif CJK SC" pitchFamily="34" charset="-122"/>
                <a:cs typeface="Noto Serif CJK SC" pitchFamily="34" charset="-120"/>
              </a:rPr>
              <a:t>作品大致产生于西周初年至春秋中叶</a:t>
            </a:r>
            <a:endParaRPr lang="en-US" sz="2100" dirty="0"/>
          </a:p>
        </p:txBody>
      </p:sp>
      <p:sp>
        <p:nvSpPr>
          <p:cNvPr id="12" name="Shape 10"/>
          <p:cNvSpPr/>
          <p:nvPr/>
        </p:nvSpPr>
        <p:spPr>
          <a:xfrm>
            <a:off x="786384" y="3172968"/>
            <a:ext cx="3401568" cy="1234440"/>
          </a:xfrm>
          <a:prstGeom prst="roundRect">
            <a:avLst>
              <a:gd name="adj" fmla="val 2963"/>
            </a:avLst>
          </a:prstGeom>
          <a:solidFill>
            <a:srgbClr val="FFFCF7"/>
          </a:solidFill>
          <a:ln w="13335">
            <a:solidFill>
              <a:srgbClr val="725260"/>
            </a:solidFill>
            <a:prstDash val="solid"/>
          </a:ln>
        </p:spPr>
      </p:sp>
      <p:sp>
        <p:nvSpPr>
          <p:cNvPr id="13" name="Text 11"/>
          <p:cNvSpPr/>
          <p:nvPr/>
        </p:nvSpPr>
        <p:spPr>
          <a:xfrm>
            <a:off x="969264" y="3392424"/>
            <a:ext cx="3035808" cy="777240"/>
          </a:xfrm>
          <a:prstGeom prst="rect">
            <a:avLst/>
          </a:prstGeom>
          <a:noFill/>
          <a:ln/>
        </p:spPr>
        <p:txBody>
          <a:bodyPr wrap="square" lIns="0" tIns="0" rIns="0" bIns="0" rtlCol="0" anchor="ctr">
            <a:normAutofit/>
          </a:bodyPr>
          <a:lstStyle/>
          <a:p>
            <a:pPr algn="ctr" indent="0" marL="0">
              <a:buNone/>
            </a:pPr>
            <a:r>
              <a:rPr lang="en-US" sz="2100" b="1" dirty="0">
                <a:solidFill>
                  <a:srgbClr val="29241F"/>
                </a:solidFill>
                <a:latin typeface="Noto Serif CJK SC" pitchFamily="34" charset="0"/>
                <a:ea typeface="Noto Serif CJK SC" pitchFamily="34" charset="-122"/>
                <a:cs typeface="Noto Serif CJK SC" pitchFamily="34" charset="-120"/>
              </a:rPr>
              <a:t>风｜雅｜颂</a:t>
            </a:r>
            <a:endParaRPr lang="en-US" sz="2100" dirty="0"/>
          </a:p>
        </p:txBody>
      </p:sp>
      <p:sp>
        <p:nvSpPr>
          <p:cNvPr id="14" name="Shape 12"/>
          <p:cNvSpPr/>
          <p:nvPr/>
        </p:nvSpPr>
        <p:spPr>
          <a:xfrm>
            <a:off x="4572000" y="3172968"/>
            <a:ext cx="3401568" cy="1234440"/>
          </a:xfrm>
          <a:prstGeom prst="roundRect">
            <a:avLst>
              <a:gd name="adj" fmla="val 2963"/>
            </a:avLst>
          </a:prstGeom>
          <a:solidFill>
            <a:srgbClr val="FFFCF7"/>
          </a:solidFill>
          <a:ln w="13335">
            <a:solidFill>
              <a:srgbClr val="94473B"/>
            </a:solidFill>
            <a:prstDash val="solid"/>
          </a:ln>
        </p:spPr>
      </p:sp>
      <p:sp>
        <p:nvSpPr>
          <p:cNvPr id="15" name="Text 13"/>
          <p:cNvSpPr/>
          <p:nvPr/>
        </p:nvSpPr>
        <p:spPr>
          <a:xfrm>
            <a:off x="4754880" y="3392424"/>
            <a:ext cx="3035808" cy="777240"/>
          </a:xfrm>
          <a:prstGeom prst="rect">
            <a:avLst/>
          </a:prstGeom>
          <a:noFill/>
          <a:ln/>
        </p:spPr>
        <p:txBody>
          <a:bodyPr wrap="square" lIns="0" tIns="0" rIns="0" bIns="0" rtlCol="0" anchor="ctr">
            <a:normAutofit/>
          </a:bodyPr>
          <a:lstStyle/>
          <a:p>
            <a:pPr algn="ctr" indent="0" marL="0">
              <a:buNone/>
            </a:pPr>
            <a:r>
              <a:rPr lang="en-US" sz="2100" b="1" dirty="0">
                <a:solidFill>
                  <a:srgbClr val="29241F"/>
                </a:solidFill>
                <a:latin typeface="Noto Serif CJK SC" pitchFamily="34" charset="0"/>
                <a:ea typeface="Noto Serif CJK SC" pitchFamily="34" charset="-122"/>
                <a:cs typeface="Noto Serif CJK SC" pitchFamily="34" charset="-120"/>
              </a:rPr>
              <a:t>《氓》在《卫风》中</a:t>
            </a:r>
            <a:endParaRPr lang="en-US" sz="2100" dirty="0"/>
          </a:p>
        </p:txBody>
      </p:sp>
      <p:sp>
        <p:nvSpPr>
          <p:cNvPr id="16" name="Text 14"/>
          <p:cNvSpPr/>
          <p:nvPr/>
        </p:nvSpPr>
        <p:spPr>
          <a:xfrm>
            <a:off x="914400" y="5212080"/>
            <a:ext cx="10360152" cy="658368"/>
          </a:xfrm>
          <a:prstGeom prst="rect">
            <a:avLst/>
          </a:prstGeom>
          <a:noFill/>
          <a:ln/>
        </p:spPr>
        <p:txBody>
          <a:bodyPr wrap="square" lIns="0" tIns="0" rIns="0" bIns="0" rtlCol="0" anchor="ctr"/>
          <a:lstStyle/>
          <a:p>
            <a:pPr algn="ctr" indent="0" marL="0">
              <a:buNone/>
            </a:pPr>
            <a:r>
              <a:rPr lang="en-US" sz="2400" b="1" dirty="0">
                <a:solidFill>
                  <a:srgbClr val="725260"/>
                </a:solidFill>
                <a:latin typeface="Noto Serif CJK SC" pitchFamily="34" charset="0"/>
                <a:ea typeface="Noto Serif CJK SC" pitchFamily="34" charset="-122"/>
                <a:cs typeface="Noto Serif CJK SC" pitchFamily="34" charset="-120"/>
              </a:rPr>
              <a:t>只修自己错空的地方。</a:t>
            </a:r>
            <a:endParaRPr lang="en-US" sz="24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28231F"/>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51483F"/>
          </a:solidFill>
          <a:ln w="12700">
            <a:solidFill>
              <a:srgbClr val="51483F"/>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DED0BC"/>
                </a:solidFill>
                <a:latin typeface="Noto Sans CJK SC" pitchFamily="34" charset="0"/>
                <a:ea typeface="Noto Sans CJK SC" pitchFamily="34" charset="-122"/>
                <a:cs typeface="Noto Sans CJK SC" pitchFamily="34" charset="-120"/>
              </a:rPr>
              <a:t>全文</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C5B39B"/>
                </a:solidFill>
                <a:latin typeface="Noto Sans CJK SC" pitchFamily="34" charset="0"/>
                <a:ea typeface="Noto Sans CJK SC" pitchFamily="34" charset="-122"/>
                <a:cs typeface="Noto Sans CJK SC" pitchFamily="34" charset="-120"/>
              </a:rPr>
              <a:t>73</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ctr" indent="0" marL="0">
              <a:buNone/>
            </a:pPr>
            <a:r>
              <a:rPr lang="en-US" sz="3900" b="1" dirty="0">
                <a:solidFill>
                  <a:srgbClr val="FFFDFC"/>
                </a:solidFill>
                <a:latin typeface="Noto Serif CJK SC" pitchFamily="34" charset="0"/>
                <a:ea typeface="Noto Serif CJK SC" pitchFamily="34" charset="-122"/>
                <a:cs typeface="Noto Serif CJK SC" pitchFamily="34" charset="-120"/>
              </a:rPr>
              <a:t>现在再合上书</a:t>
            </a:r>
            <a:endParaRPr lang="en-US" sz="3900" dirty="0"/>
          </a:p>
        </p:txBody>
      </p:sp>
      <p:sp>
        <p:nvSpPr>
          <p:cNvPr id="6" name="Text 4"/>
          <p:cNvSpPr/>
          <p:nvPr/>
        </p:nvSpPr>
        <p:spPr>
          <a:xfrm>
            <a:off x="1188720" y="2057400"/>
            <a:ext cx="9811512" cy="566928"/>
          </a:xfrm>
          <a:prstGeom prst="rect">
            <a:avLst/>
          </a:prstGeom>
          <a:noFill/>
          <a:ln/>
        </p:spPr>
        <p:txBody>
          <a:bodyPr wrap="square" lIns="0" tIns="0" rIns="0" bIns="0" rtlCol="0" anchor="ctr">
            <a:normAutofit/>
          </a:bodyPr>
          <a:lstStyle/>
          <a:p>
            <a:pPr algn="ctr" indent="0" marL="0">
              <a:buNone/>
            </a:pPr>
            <a:r>
              <a:rPr lang="en-US" sz="2900" b="1" dirty="0">
                <a:solidFill>
                  <a:srgbClr val="FFFDFC"/>
                </a:solidFill>
                <a:latin typeface="Noto Serif CJK SC" pitchFamily="34" charset="0"/>
                <a:ea typeface="Noto Serif CJK SC" pitchFamily="34" charset="-122"/>
                <a:cs typeface="Noto Serif CJK SC" pitchFamily="34" charset="-120"/>
              </a:rPr>
              <a:t>用两句话说给同桌听：</a:t>
            </a:r>
            <a:endParaRPr lang="en-US" sz="2900" dirty="0"/>
          </a:p>
        </p:txBody>
      </p:sp>
      <p:sp>
        <p:nvSpPr>
          <p:cNvPr id="7" name="Text 5"/>
          <p:cNvSpPr/>
          <p:nvPr/>
        </p:nvSpPr>
        <p:spPr>
          <a:xfrm>
            <a:off x="1188720" y="2971800"/>
            <a:ext cx="9811512" cy="566928"/>
          </a:xfrm>
          <a:prstGeom prst="rect">
            <a:avLst/>
          </a:prstGeom>
          <a:noFill/>
          <a:ln/>
        </p:spPr>
        <p:txBody>
          <a:bodyPr wrap="square" lIns="0" tIns="0" rIns="0" bIns="0" rtlCol="0" anchor="ctr">
            <a:normAutofit/>
          </a:bodyPr>
          <a:lstStyle/>
          <a:p>
            <a:pPr algn="ctr" indent="0" marL="0">
              <a:buNone/>
            </a:pPr>
            <a:r>
              <a:rPr lang="en-US" sz="2500" dirty="0">
                <a:solidFill>
                  <a:srgbClr val="FFFDFC"/>
                </a:solidFill>
                <a:latin typeface="Noto Serif CJK SC" pitchFamily="34" charset="0"/>
                <a:ea typeface="Noto Serif CJK SC" pitchFamily="34" charset="-122"/>
                <a:cs typeface="Noto Serif CJK SC" pitchFamily="34" charset="-120"/>
              </a:rPr>
              <a:t>《诗经》的基本身份是什么？</a:t>
            </a:r>
            <a:endParaRPr lang="en-US" sz="2500" dirty="0"/>
          </a:p>
        </p:txBody>
      </p:sp>
      <p:sp>
        <p:nvSpPr>
          <p:cNvPr id="8" name="Text 6"/>
          <p:cNvSpPr/>
          <p:nvPr/>
        </p:nvSpPr>
        <p:spPr>
          <a:xfrm>
            <a:off x="1188720" y="3886200"/>
            <a:ext cx="9811512" cy="566928"/>
          </a:xfrm>
          <a:prstGeom prst="rect">
            <a:avLst/>
          </a:prstGeom>
          <a:noFill/>
          <a:ln/>
        </p:spPr>
        <p:txBody>
          <a:bodyPr wrap="square" lIns="0" tIns="0" rIns="0" bIns="0" rtlCol="0" anchor="ctr">
            <a:normAutofit/>
          </a:bodyPr>
          <a:lstStyle/>
          <a:p>
            <a:pPr algn="ctr" indent="0" marL="0">
              <a:buNone/>
            </a:pPr>
            <a:r>
              <a:rPr lang="en-US" sz="2500" dirty="0">
                <a:solidFill>
                  <a:srgbClr val="EFE3CF"/>
                </a:solidFill>
                <a:latin typeface="Noto Serif CJK SC" pitchFamily="34" charset="0"/>
                <a:ea typeface="Noto Serif CJK SC" pitchFamily="34" charset="-122"/>
                <a:cs typeface="Noto Serif CJK SC" pitchFamily="34" charset="-120"/>
              </a:rPr>
              <a:t>《氓》在其中什么位置？</a:t>
            </a:r>
            <a:endParaRPr lang="en-US" sz="25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51483F"/>
          </a:solidFill>
          <a:ln w="12700">
            <a:solidFill>
              <a:srgbClr val="51483F"/>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51483F"/>
                </a:solidFill>
                <a:latin typeface="Noto Sans CJK SC" pitchFamily="34" charset="0"/>
                <a:ea typeface="Noto Sans CJK SC" pitchFamily="34" charset="-122"/>
                <a:cs typeface="Noto Sans CJK SC" pitchFamily="34" charset="-120"/>
              </a:rPr>
              <a:t>全文</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74</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400" b="1" dirty="0">
                <a:solidFill>
                  <a:srgbClr val="29241F"/>
                </a:solidFill>
                <a:latin typeface="Noto Serif CJK SC" pitchFamily="34" charset="0"/>
                <a:ea typeface="Noto Serif CJK SC" pitchFamily="34" charset="-122"/>
                <a:cs typeface="Noto Serif CJK SC" pitchFamily="34" charset="-120"/>
              </a:rPr>
              <a:t>六章关键字词，能不能回到原句？</a:t>
            </a:r>
            <a:endParaRPr lang="en-US" sz="3400" dirty="0"/>
          </a:p>
        </p:txBody>
      </p:sp>
      <p:sp>
        <p:nvSpPr>
          <p:cNvPr id="6" name="Shape 4"/>
          <p:cNvSpPr/>
          <p:nvPr/>
        </p:nvSpPr>
        <p:spPr>
          <a:xfrm>
            <a:off x="731520" y="1828800"/>
            <a:ext cx="1572768" cy="1371600"/>
          </a:xfrm>
          <a:prstGeom prst="roundRect">
            <a:avLst>
              <a:gd name="adj" fmla="val 2667"/>
            </a:avLst>
          </a:prstGeom>
          <a:solidFill>
            <a:srgbClr val="FFFCF7"/>
          </a:solidFill>
          <a:ln w="13970">
            <a:solidFill>
              <a:srgbClr val="A67F4A"/>
            </a:solidFill>
            <a:prstDash val="solid"/>
          </a:ln>
        </p:spPr>
      </p:sp>
      <p:sp>
        <p:nvSpPr>
          <p:cNvPr id="7" name="Text 5"/>
          <p:cNvSpPr/>
          <p:nvPr/>
        </p:nvSpPr>
        <p:spPr>
          <a:xfrm>
            <a:off x="731520" y="2148840"/>
            <a:ext cx="1572768" cy="658368"/>
          </a:xfrm>
          <a:prstGeom prst="rect">
            <a:avLst/>
          </a:prstGeom>
          <a:noFill/>
          <a:ln/>
        </p:spPr>
        <p:txBody>
          <a:bodyPr wrap="square" lIns="0" tIns="0" rIns="0" bIns="0" rtlCol="0" anchor="ctr"/>
          <a:lstStyle/>
          <a:p>
            <a:pPr algn="ctr" indent="0" marL="0">
              <a:buNone/>
            </a:pPr>
            <a:r>
              <a:rPr lang="en-US" sz="4000" b="1" dirty="0">
                <a:solidFill>
                  <a:srgbClr val="29241F"/>
                </a:solidFill>
                <a:latin typeface="Noto Serif CJK SC" pitchFamily="34" charset="0"/>
                <a:ea typeface="Noto Serif CJK SC" pitchFamily="34" charset="-122"/>
                <a:cs typeface="Noto Serif CJK SC" pitchFamily="34" charset="-120"/>
              </a:rPr>
              <a:t>愆</a:t>
            </a:r>
            <a:endParaRPr lang="en-US" sz="4000" dirty="0"/>
          </a:p>
        </p:txBody>
      </p:sp>
      <p:sp>
        <p:nvSpPr>
          <p:cNvPr id="8" name="Shape 6"/>
          <p:cNvSpPr/>
          <p:nvPr/>
        </p:nvSpPr>
        <p:spPr>
          <a:xfrm>
            <a:off x="2633472" y="1828800"/>
            <a:ext cx="1572768" cy="1371600"/>
          </a:xfrm>
          <a:prstGeom prst="roundRect">
            <a:avLst>
              <a:gd name="adj" fmla="val 2667"/>
            </a:avLst>
          </a:prstGeom>
          <a:solidFill>
            <a:srgbClr val="FFFCF7"/>
          </a:solidFill>
          <a:ln w="13970">
            <a:solidFill>
              <a:srgbClr val="446E78"/>
            </a:solidFill>
            <a:prstDash val="solid"/>
          </a:ln>
        </p:spPr>
      </p:sp>
      <p:sp>
        <p:nvSpPr>
          <p:cNvPr id="9" name="Text 7"/>
          <p:cNvSpPr/>
          <p:nvPr/>
        </p:nvSpPr>
        <p:spPr>
          <a:xfrm>
            <a:off x="2633472" y="2148840"/>
            <a:ext cx="1572768" cy="658368"/>
          </a:xfrm>
          <a:prstGeom prst="rect">
            <a:avLst/>
          </a:prstGeom>
          <a:noFill/>
          <a:ln/>
        </p:spPr>
        <p:txBody>
          <a:bodyPr wrap="square" lIns="0" tIns="0" rIns="0" bIns="0" rtlCol="0" anchor="ctr"/>
          <a:lstStyle/>
          <a:p>
            <a:pPr algn="ctr" indent="0" marL="0">
              <a:buNone/>
            </a:pPr>
            <a:r>
              <a:rPr lang="en-US" sz="4000" b="1" dirty="0">
                <a:solidFill>
                  <a:srgbClr val="29241F"/>
                </a:solidFill>
                <a:latin typeface="Noto Serif CJK SC" pitchFamily="34" charset="0"/>
                <a:ea typeface="Noto Serif CJK SC" pitchFamily="34" charset="-122"/>
                <a:cs typeface="Noto Serif CJK SC" pitchFamily="34" charset="-120"/>
              </a:rPr>
              <a:t>筮</a:t>
            </a:r>
            <a:endParaRPr lang="en-US" sz="4000" dirty="0"/>
          </a:p>
        </p:txBody>
      </p:sp>
      <p:sp>
        <p:nvSpPr>
          <p:cNvPr id="10" name="Shape 8"/>
          <p:cNvSpPr/>
          <p:nvPr/>
        </p:nvSpPr>
        <p:spPr>
          <a:xfrm>
            <a:off x="4535424" y="1828800"/>
            <a:ext cx="1572768" cy="1371600"/>
          </a:xfrm>
          <a:prstGeom prst="roundRect">
            <a:avLst>
              <a:gd name="adj" fmla="val 2667"/>
            </a:avLst>
          </a:prstGeom>
          <a:solidFill>
            <a:srgbClr val="FFFCF7"/>
          </a:solidFill>
          <a:ln w="13970">
            <a:solidFill>
              <a:srgbClr val="657653"/>
            </a:solidFill>
            <a:prstDash val="solid"/>
          </a:ln>
        </p:spPr>
      </p:sp>
      <p:sp>
        <p:nvSpPr>
          <p:cNvPr id="11" name="Text 9"/>
          <p:cNvSpPr/>
          <p:nvPr/>
        </p:nvSpPr>
        <p:spPr>
          <a:xfrm>
            <a:off x="4535424" y="2148840"/>
            <a:ext cx="1572768" cy="658368"/>
          </a:xfrm>
          <a:prstGeom prst="rect">
            <a:avLst/>
          </a:prstGeom>
          <a:noFill/>
          <a:ln/>
        </p:spPr>
        <p:txBody>
          <a:bodyPr wrap="square" lIns="0" tIns="0" rIns="0" bIns="0" rtlCol="0" anchor="ctr"/>
          <a:lstStyle/>
          <a:p>
            <a:pPr algn="ctr" indent="0" marL="0">
              <a:buNone/>
            </a:pPr>
            <a:r>
              <a:rPr lang="en-US" sz="4000" b="1" dirty="0">
                <a:solidFill>
                  <a:srgbClr val="29241F"/>
                </a:solidFill>
                <a:latin typeface="Noto Serif CJK SC" pitchFamily="34" charset="0"/>
                <a:ea typeface="Noto Serif CJK SC" pitchFamily="34" charset="-122"/>
                <a:cs typeface="Noto Serif CJK SC" pitchFamily="34" charset="-120"/>
              </a:rPr>
              <a:t>说</a:t>
            </a:r>
            <a:endParaRPr lang="en-US" sz="4000" dirty="0"/>
          </a:p>
        </p:txBody>
      </p:sp>
      <p:sp>
        <p:nvSpPr>
          <p:cNvPr id="12" name="Shape 10"/>
          <p:cNvSpPr/>
          <p:nvPr/>
        </p:nvSpPr>
        <p:spPr>
          <a:xfrm>
            <a:off x="6437376" y="1828800"/>
            <a:ext cx="1572768" cy="1371600"/>
          </a:xfrm>
          <a:prstGeom prst="roundRect">
            <a:avLst>
              <a:gd name="adj" fmla="val 2667"/>
            </a:avLst>
          </a:prstGeom>
          <a:solidFill>
            <a:srgbClr val="FFFCF7"/>
          </a:solidFill>
          <a:ln w="13970">
            <a:solidFill>
              <a:srgbClr val="B58B3E"/>
            </a:solidFill>
            <a:prstDash val="solid"/>
          </a:ln>
        </p:spPr>
      </p:sp>
      <p:sp>
        <p:nvSpPr>
          <p:cNvPr id="13" name="Text 11"/>
          <p:cNvSpPr/>
          <p:nvPr/>
        </p:nvSpPr>
        <p:spPr>
          <a:xfrm>
            <a:off x="6437376" y="2148840"/>
            <a:ext cx="1572768" cy="658368"/>
          </a:xfrm>
          <a:prstGeom prst="rect">
            <a:avLst/>
          </a:prstGeom>
          <a:noFill/>
          <a:ln/>
        </p:spPr>
        <p:txBody>
          <a:bodyPr wrap="square" lIns="0" tIns="0" rIns="0" bIns="0" rtlCol="0" anchor="ctr"/>
          <a:lstStyle/>
          <a:p>
            <a:pPr algn="ctr" indent="0" marL="0">
              <a:buNone/>
            </a:pPr>
            <a:r>
              <a:rPr lang="en-US" sz="4000" b="1" dirty="0">
                <a:solidFill>
                  <a:srgbClr val="29241F"/>
                </a:solidFill>
                <a:latin typeface="Noto Serif CJK SC" pitchFamily="34" charset="0"/>
                <a:ea typeface="Noto Serif CJK SC" pitchFamily="34" charset="-122"/>
                <a:cs typeface="Noto Serif CJK SC" pitchFamily="34" charset="-120"/>
              </a:rPr>
              <a:t>爽</a:t>
            </a:r>
            <a:endParaRPr lang="en-US" sz="4000" dirty="0"/>
          </a:p>
        </p:txBody>
      </p:sp>
      <p:sp>
        <p:nvSpPr>
          <p:cNvPr id="14" name="Shape 12"/>
          <p:cNvSpPr/>
          <p:nvPr/>
        </p:nvSpPr>
        <p:spPr>
          <a:xfrm>
            <a:off x="8339328" y="1828800"/>
            <a:ext cx="1572768" cy="1371600"/>
          </a:xfrm>
          <a:prstGeom prst="roundRect">
            <a:avLst>
              <a:gd name="adj" fmla="val 2667"/>
            </a:avLst>
          </a:prstGeom>
          <a:solidFill>
            <a:srgbClr val="FFFCF7"/>
          </a:solidFill>
          <a:ln w="13970">
            <a:solidFill>
              <a:srgbClr val="725260"/>
            </a:solidFill>
            <a:prstDash val="solid"/>
          </a:ln>
        </p:spPr>
      </p:sp>
      <p:sp>
        <p:nvSpPr>
          <p:cNvPr id="15" name="Text 13"/>
          <p:cNvSpPr/>
          <p:nvPr/>
        </p:nvSpPr>
        <p:spPr>
          <a:xfrm>
            <a:off x="8339328" y="2148840"/>
            <a:ext cx="1572768" cy="658368"/>
          </a:xfrm>
          <a:prstGeom prst="rect">
            <a:avLst/>
          </a:prstGeom>
          <a:noFill/>
          <a:ln/>
        </p:spPr>
        <p:txBody>
          <a:bodyPr wrap="square" lIns="0" tIns="0" rIns="0" bIns="0" rtlCol="0" anchor="ctr"/>
          <a:lstStyle/>
          <a:p>
            <a:pPr algn="ctr" indent="0" marL="0">
              <a:buNone/>
            </a:pPr>
            <a:r>
              <a:rPr lang="en-US" sz="4000" b="1" dirty="0">
                <a:solidFill>
                  <a:srgbClr val="29241F"/>
                </a:solidFill>
                <a:latin typeface="Noto Serif CJK SC" pitchFamily="34" charset="0"/>
                <a:ea typeface="Noto Serif CJK SC" pitchFamily="34" charset="-122"/>
                <a:cs typeface="Noto Serif CJK SC" pitchFamily="34" charset="-120"/>
              </a:rPr>
              <a:t>咥</a:t>
            </a:r>
            <a:endParaRPr lang="en-US" sz="4000" dirty="0"/>
          </a:p>
        </p:txBody>
      </p:sp>
      <p:sp>
        <p:nvSpPr>
          <p:cNvPr id="16" name="Shape 14"/>
          <p:cNvSpPr/>
          <p:nvPr/>
        </p:nvSpPr>
        <p:spPr>
          <a:xfrm>
            <a:off x="10241280" y="1828800"/>
            <a:ext cx="1572768" cy="1371600"/>
          </a:xfrm>
          <a:prstGeom prst="roundRect">
            <a:avLst>
              <a:gd name="adj" fmla="val 2667"/>
            </a:avLst>
          </a:prstGeom>
          <a:solidFill>
            <a:srgbClr val="FFFCF7"/>
          </a:solidFill>
          <a:ln w="13970">
            <a:solidFill>
              <a:srgbClr val="94473B"/>
            </a:solidFill>
            <a:prstDash val="solid"/>
          </a:ln>
        </p:spPr>
      </p:sp>
      <p:sp>
        <p:nvSpPr>
          <p:cNvPr id="17" name="Text 15"/>
          <p:cNvSpPr/>
          <p:nvPr/>
        </p:nvSpPr>
        <p:spPr>
          <a:xfrm>
            <a:off x="10241280" y="2148840"/>
            <a:ext cx="1572768" cy="658368"/>
          </a:xfrm>
          <a:prstGeom prst="rect">
            <a:avLst/>
          </a:prstGeom>
          <a:noFill/>
          <a:ln/>
        </p:spPr>
        <p:txBody>
          <a:bodyPr wrap="square" lIns="0" tIns="0" rIns="0" bIns="0" rtlCol="0" anchor="ctr"/>
          <a:lstStyle/>
          <a:p>
            <a:pPr algn="ctr" indent="0" marL="0">
              <a:buNone/>
            </a:pPr>
            <a:r>
              <a:rPr lang="en-US" sz="4000" b="1" dirty="0">
                <a:solidFill>
                  <a:srgbClr val="29241F"/>
                </a:solidFill>
                <a:latin typeface="Noto Serif CJK SC" pitchFamily="34" charset="0"/>
                <a:ea typeface="Noto Serif CJK SC" pitchFamily="34" charset="-122"/>
                <a:cs typeface="Noto Serif CJK SC" pitchFamily="34" charset="-120"/>
              </a:rPr>
              <a:t>泮</a:t>
            </a:r>
            <a:endParaRPr lang="en-US" sz="4000" dirty="0"/>
          </a:p>
        </p:txBody>
      </p:sp>
      <p:sp>
        <p:nvSpPr>
          <p:cNvPr id="18" name="Text 16"/>
          <p:cNvSpPr/>
          <p:nvPr/>
        </p:nvSpPr>
        <p:spPr>
          <a:xfrm>
            <a:off x="914400" y="3886200"/>
            <a:ext cx="10360152" cy="658368"/>
          </a:xfrm>
          <a:prstGeom prst="rect">
            <a:avLst/>
          </a:prstGeom>
          <a:noFill/>
          <a:ln/>
        </p:spPr>
        <p:txBody>
          <a:bodyPr wrap="square" lIns="0" tIns="0" rIns="0" bIns="0" rtlCol="0" anchor="ctr"/>
          <a:lstStyle/>
          <a:p>
            <a:pPr algn="ctr" indent="0" marL="0">
              <a:buNone/>
            </a:pPr>
            <a:r>
              <a:rPr lang="en-US" sz="2500" b="1" dirty="0">
                <a:solidFill>
                  <a:srgbClr val="725260"/>
                </a:solidFill>
                <a:latin typeface="Noto Serif CJK SC" pitchFamily="34" charset="0"/>
                <a:ea typeface="Noto Serif CJK SC" pitchFamily="34" charset="-122"/>
                <a:cs typeface="Noto Serif CJK SC" pitchFamily="34" charset="-120"/>
              </a:rPr>
              <a:t>每项写：读音｜句中义｜原句。不会，可以留空。</a:t>
            </a:r>
            <a:endParaRPr lang="en-US" sz="25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51483F"/>
          </a:solidFill>
          <a:ln w="12700">
            <a:solidFill>
              <a:srgbClr val="51483F"/>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51483F"/>
                </a:solidFill>
                <a:latin typeface="Noto Sans CJK SC" pitchFamily="34" charset="0"/>
                <a:ea typeface="Noto Sans CJK SC" pitchFamily="34" charset="-122"/>
                <a:cs typeface="Noto Sans CJK SC" pitchFamily="34" charset="-120"/>
              </a:rPr>
              <a:t>全文</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75</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400" b="1" dirty="0">
                <a:solidFill>
                  <a:srgbClr val="29241F"/>
                </a:solidFill>
                <a:latin typeface="Noto Serif CJK SC" pitchFamily="34" charset="0"/>
                <a:ea typeface="Noto Serif CJK SC" pitchFamily="34" charset="-122"/>
                <a:cs typeface="Noto Serif CJK SC" pitchFamily="34" charset="-120"/>
              </a:rPr>
              <a:t>打开教材，只修自己错空的地方。</a:t>
            </a:r>
            <a:endParaRPr lang="en-US" sz="3400" dirty="0"/>
          </a:p>
        </p:txBody>
      </p:sp>
      <p:sp>
        <p:nvSpPr>
          <p:cNvPr id="6" name="Shape 4"/>
          <p:cNvSpPr/>
          <p:nvPr/>
        </p:nvSpPr>
        <p:spPr>
          <a:xfrm>
            <a:off x="731520" y="1828800"/>
            <a:ext cx="1572768" cy="1371600"/>
          </a:xfrm>
          <a:prstGeom prst="roundRect">
            <a:avLst>
              <a:gd name="adj" fmla="val 2667"/>
            </a:avLst>
          </a:prstGeom>
          <a:solidFill>
            <a:srgbClr val="FFFCF7"/>
          </a:solidFill>
          <a:ln w="13970">
            <a:solidFill>
              <a:srgbClr val="A67F4A"/>
            </a:solidFill>
            <a:prstDash val="solid"/>
          </a:ln>
        </p:spPr>
      </p:sp>
      <p:sp>
        <p:nvSpPr>
          <p:cNvPr id="7" name="Text 5"/>
          <p:cNvSpPr/>
          <p:nvPr/>
        </p:nvSpPr>
        <p:spPr>
          <a:xfrm>
            <a:off x="731520" y="2148840"/>
            <a:ext cx="1572768" cy="658368"/>
          </a:xfrm>
          <a:prstGeom prst="rect">
            <a:avLst/>
          </a:prstGeom>
          <a:noFill/>
          <a:ln/>
        </p:spPr>
        <p:txBody>
          <a:bodyPr wrap="square" lIns="0" tIns="0" rIns="0" bIns="0" rtlCol="0" anchor="ctr"/>
          <a:lstStyle/>
          <a:p>
            <a:pPr algn="ctr" indent="0" marL="0">
              <a:buNone/>
            </a:pPr>
            <a:r>
              <a:rPr lang="en-US" sz="4000" b="1" dirty="0">
                <a:solidFill>
                  <a:srgbClr val="29241F"/>
                </a:solidFill>
                <a:latin typeface="Noto Serif CJK SC" pitchFamily="34" charset="0"/>
                <a:ea typeface="Noto Serif CJK SC" pitchFamily="34" charset="-122"/>
                <a:cs typeface="Noto Serif CJK SC" pitchFamily="34" charset="-120"/>
              </a:rPr>
              <a:t>愆</a:t>
            </a:r>
            <a:endParaRPr lang="en-US" sz="4000" dirty="0"/>
          </a:p>
        </p:txBody>
      </p:sp>
      <p:sp>
        <p:nvSpPr>
          <p:cNvPr id="8" name="Shape 6"/>
          <p:cNvSpPr/>
          <p:nvPr/>
        </p:nvSpPr>
        <p:spPr>
          <a:xfrm>
            <a:off x="2633472" y="1828800"/>
            <a:ext cx="1572768" cy="1371600"/>
          </a:xfrm>
          <a:prstGeom prst="roundRect">
            <a:avLst>
              <a:gd name="adj" fmla="val 2667"/>
            </a:avLst>
          </a:prstGeom>
          <a:solidFill>
            <a:srgbClr val="FFFCF7"/>
          </a:solidFill>
          <a:ln w="13970">
            <a:solidFill>
              <a:srgbClr val="446E78"/>
            </a:solidFill>
            <a:prstDash val="solid"/>
          </a:ln>
        </p:spPr>
      </p:sp>
      <p:sp>
        <p:nvSpPr>
          <p:cNvPr id="9" name="Text 7"/>
          <p:cNvSpPr/>
          <p:nvPr/>
        </p:nvSpPr>
        <p:spPr>
          <a:xfrm>
            <a:off x="2633472" y="2148840"/>
            <a:ext cx="1572768" cy="658368"/>
          </a:xfrm>
          <a:prstGeom prst="rect">
            <a:avLst/>
          </a:prstGeom>
          <a:noFill/>
          <a:ln/>
        </p:spPr>
        <p:txBody>
          <a:bodyPr wrap="square" lIns="0" tIns="0" rIns="0" bIns="0" rtlCol="0" anchor="ctr"/>
          <a:lstStyle/>
          <a:p>
            <a:pPr algn="ctr" indent="0" marL="0">
              <a:buNone/>
            </a:pPr>
            <a:r>
              <a:rPr lang="en-US" sz="4000" b="1" dirty="0">
                <a:solidFill>
                  <a:srgbClr val="29241F"/>
                </a:solidFill>
                <a:latin typeface="Noto Serif CJK SC" pitchFamily="34" charset="0"/>
                <a:ea typeface="Noto Serif CJK SC" pitchFamily="34" charset="-122"/>
                <a:cs typeface="Noto Serif CJK SC" pitchFamily="34" charset="-120"/>
              </a:rPr>
              <a:t>筮</a:t>
            </a:r>
            <a:endParaRPr lang="en-US" sz="4000" dirty="0"/>
          </a:p>
        </p:txBody>
      </p:sp>
      <p:sp>
        <p:nvSpPr>
          <p:cNvPr id="10" name="Shape 8"/>
          <p:cNvSpPr/>
          <p:nvPr/>
        </p:nvSpPr>
        <p:spPr>
          <a:xfrm>
            <a:off x="4535424" y="1828800"/>
            <a:ext cx="1572768" cy="1371600"/>
          </a:xfrm>
          <a:prstGeom prst="roundRect">
            <a:avLst>
              <a:gd name="adj" fmla="val 2667"/>
            </a:avLst>
          </a:prstGeom>
          <a:solidFill>
            <a:srgbClr val="FFFCF7"/>
          </a:solidFill>
          <a:ln w="13970">
            <a:solidFill>
              <a:srgbClr val="657653"/>
            </a:solidFill>
            <a:prstDash val="solid"/>
          </a:ln>
        </p:spPr>
      </p:sp>
      <p:sp>
        <p:nvSpPr>
          <p:cNvPr id="11" name="Text 9"/>
          <p:cNvSpPr/>
          <p:nvPr/>
        </p:nvSpPr>
        <p:spPr>
          <a:xfrm>
            <a:off x="4535424" y="2148840"/>
            <a:ext cx="1572768" cy="658368"/>
          </a:xfrm>
          <a:prstGeom prst="rect">
            <a:avLst/>
          </a:prstGeom>
          <a:noFill/>
          <a:ln/>
        </p:spPr>
        <p:txBody>
          <a:bodyPr wrap="square" lIns="0" tIns="0" rIns="0" bIns="0" rtlCol="0" anchor="ctr"/>
          <a:lstStyle/>
          <a:p>
            <a:pPr algn="ctr" indent="0" marL="0">
              <a:buNone/>
            </a:pPr>
            <a:r>
              <a:rPr lang="en-US" sz="4000" b="1" dirty="0">
                <a:solidFill>
                  <a:srgbClr val="29241F"/>
                </a:solidFill>
                <a:latin typeface="Noto Serif CJK SC" pitchFamily="34" charset="0"/>
                <a:ea typeface="Noto Serif CJK SC" pitchFamily="34" charset="-122"/>
                <a:cs typeface="Noto Serif CJK SC" pitchFamily="34" charset="-120"/>
              </a:rPr>
              <a:t>说</a:t>
            </a:r>
            <a:endParaRPr lang="en-US" sz="4000" dirty="0"/>
          </a:p>
        </p:txBody>
      </p:sp>
      <p:sp>
        <p:nvSpPr>
          <p:cNvPr id="12" name="Shape 10"/>
          <p:cNvSpPr/>
          <p:nvPr/>
        </p:nvSpPr>
        <p:spPr>
          <a:xfrm>
            <a:off x="6437376" y="1828800"/>
            <a:ext cx="1572768" cy="1371600"/>
          </a:xfrm>
          <a:prstGeom prst="roundRect">
            <a:avLst>
              <a:gd name="adj" fmla="val 2667"/>
            </a:avLst>
          </a:prstGeom>
          <a:solidFill>
            <a:srgbClr val="FFFCF7"/>
          </a:solidFill>
          <a:ln w="13970">
            <a:solidFill>
              <a:srgbClr val="B58B3E"/>
            </a:solidFill>
            <a:prstDash val="solid"/>
          </a:ln>
        </p:spPr>
      </p:sp>
      <p:sp>
        <p:nvSpPr>
          <p:cNvPr id="13" name="Text 11"/>
          <p:cNvSpPr/>
          <p:nvPr/>
        </p:nvSpPr>
        <p:spPr>
          <a:xfrm>
            <a:off x="6437376" y="2148840"/>
            <a:ext cx="1572768" cy="658368"/>
          </a:xfrm>
          <a:prstGeom prst="rect">
            <a:avLst/>
          </a:prstGeom>
          <a:noFill/>
          <a:ln/>
        </p:spPr>
        <p:txBody>
          <a:bodyPr wrap="square" lIns="0" tIns="0" rIns="0" bIns="0" rtlCol="0" anchor="ctr"/>
          <a:lstStyle/>
          <a:p>
            <a:pPr algn="ctr" indent="0" marL="0">
              <a:buNone/>
            </a:pPr>
            <a:r>
              <a:rPr lang="en-US" sz="4000" b="1" dirty="0">
                <a:solidFill>
                  <a:srgbClr val="29241F"/>
                </a:solidFill>
                <a:latin typeface="Noto Serif CJK SC" pitchFamily="34" charset="0"/>
                <a:ea typeface="Noto Serif CJK SC" pitchFamily="34" charset="-122"/>
                <a:cs typeface="Noto Serif CJK SC" pitchFamily="34" charset="-120"/>
              </a:rPr>
              <a:t>爽</a:t>
            </a:r>
            <a:endParaRPr lang="en-US" sz="4000" dirty="0"/>
          </a:p>
        </p:txBody>
      </p:sp>
      <p:sp>
        <p:nvSpPr>
          <p:cNvPr id="14" name="Shape 12"/>
          <p:cNvSpPr/>
          <p:nvPr/>
        </p:nvSpPr>
        <p:spPr>
          <a:xfrm>
            <a:off x="8339328" y="1828800"/>
            <a:ext cx="1572768" cy="1371600"/>
          </a:xfrm>
          <a:prstGeom prst="roundRect">
            <a:avLst>
              <a:gd name="adj" fmla="val 2667"/>
            </a:avLst>
          </a:prstGeom>
          <a:solidFill>
            <a:srgbClr val="FFFCF7"/>
          </a:solidFill>
          <a:ln w="13970">
            <a:solidFill>
              <a:srgbClr val="725260"/>
            </a:solidFill>
            <a:prstDash val="solid"/>
          </a:ln>
        </p:spPr>
      </p:sp>
      <p:sp>
        <p:nvSpPr>
          <p:cNvPr id="15" name="Text 13"/>
          <p:cNvSpPr/>
          <p:nvPr/>
        </p:nvSpPr>
        <p:spPr>
          <a:xfrm>
            <a:off x="8339328" y="2148840"/>
            <a:ext cx="1572768" cy="658368"/>
          </a:xfrm>
          <a:prstGeom prst="rect">
            <a:avLst/>
          </a:prstGeom>
          <a:noFill/>
          <a:ln/>
        </p:spPr>
        <p:txBody>
          <a:bodyPr wrap="square" lIns="0" tIns="0" rIns="0" bIns="0" rtlCol="0" anchor="ctr"/>
          <a:lstStyle/>
          <a:p>
            <a:pPr algn="ctr" indent="0" marL="0">
              <a:buNone/>
            </a:pPr>
            <a:r>
              <a:rPr lang="en-US" sz="4000" b="1" dirty="0">
                <a:solidFill>
                  <a:srgbClr val="29241F"/>
                </a:solidFill>
                <a:latin typeface="Noto Serif CJK SC" pitchFamily="34" charset="0"/>
                <a:ea typeface="Noto Serif CJK SC" pitchFamily="34" charset="-122"/>
                <a:cs typeface="Noto Serif CJK SC" pitchFamily="34" charset="-120"/>
              </a:rPr>
              <a:t>咥</a:t>
            </a:r>
            <a:endParaRPr lang="en-US" sz="4000" dirty="0"/>
          </a:p>
        </p:txBody>
      </p:sp>
      <p:sp>
        <p:nvSpPr>
          <p:cNvPr id="16" name="Shape 14"/>
          <p:cNvSpPr/>
          <p:nvPr/>
        </p:nvSpPr>
        <p:spPr>
          <a:xfrm>
            <a:off x="10241280" y="1828800"/>
            <a:ext cx="1572768" cy="1371600"/>
          </a:xfrm>
          <a:prstGeom prst="roundRect">
            <a:avLst>
              <a:gd name="adj" fmla="val 2667"/>
            </a:avLst>
          </a:prstGeom>
          <a:solidFill>
            <a:srgbClr val="FFFCF7"/>
          </a:solidFill>
          <a:ln w="13970">
            <a:solidFill>
              <a:srgbClr val="94473B"/>
            </a:solidFill>
            <a:prstDash val="solid"/>
          </a:ln>
        </p:spPr>
      </p:sp>
      <p:sp>
        <p:nvSpPr>
          <p:cNvPr id="17" name="Text 15"/>
          <p:cNvSpPr/>
          <p:nvPr/>
        </p:nvSpPr>
        <p:spPr>
          <a:xfrm>
            <a:off x="10241280" y="2148840"/>
            <a:ext cx="1572768" cy="658368"/>
          </a:xfrm>
          <a:prstGeom prst="rect">
            <a:avLst/>
          </a:prstGeom>
          <a:noFill/>
          <a:ln/>
        </p:spPr>
        <p:txBody>
          <a:bodyPr wrap="square" lIns="0" tIns="0" rIns="0" bIns="0" rtlCol="0" anchor="ctr"/>
          <a:lstStyle/>
          <a:p>
            <a:pPr algn="ctr" indent="0" marL="0">
              <a:buNone/>
            </a:pPr>
            <a:r>
              <a:rPr lang="en-US" sz="4000" b="1" dirty="0">
                <a:solidFill>
                  <a:srgbClr val="29241F"/>
                </a:solidFill>
                <a:latin typeface="Noto Serif CJK SC" pitchFamily="34" charset="0"/>
                <a:ea typeface="Noto Serif CJK SC" pitchFamily="34" charset="-122"/>
                <a:cs typeface="Noto Serif CJK SC" pitchFamily="34" charset="-120"/>
              </a:rPr>
              <a:t>泮</a:t>
            </a:r>
            <a:endParaRPr lang="en-US" sz="4000" dirty="0"/>
          </a:p>
        </p:txBody>
      </p:sp>
      <p:sp>
        <p:nvSpPr>
          <p:cNvPr id="18" name="Text 16"/>
          <p:cNvSpPr/>
          <p:nvPr/>
        </p:nvSpPr>
        <p:spPr>
          <a:xfrm>
            <a:off x="914400" y="3886200"/>
            <a:ext cx="10360152" cy="658368"/>
          </a:xfrm>
          <a:prstGeom prst="rect">
            <a:avLst/>
          </a:prstGeom>
          <a:noFill/>
          <a:ln/>
        </p:spPr>
        <p:txBody>
          <a:bodyPr wrap="square" lIns="0" tIns="0" rIns="0" bIns="0" rtlCol="0" anchor="ctr"/>
          <a:lstStyle/>
          <a:p>
            <a:pPr algn="ctr" indent="0" marL="0">
              <a:buNone/>
            </a:pPr>
            <a:r>
              <a:rPr lang="en-US" sz="2500" b="1" dirty="0">
                <a:solidFill>
                  <a:srgbClr val="725260"/>
                </a:solidFill>
                <a:latin typeface="Noto Serif CJK SC" pitchFamily="34" charset="0"/>
                <a:ea typeface="Noto Serif CJK SC" pitchFamily="34" charset="-122"/>
                <a:cs typeface="Noto Serif CJK SC" pitchFamily="34" charset="-120"/>
              </a:rPr>
              <a:t>在对应句旁圈一个终读提醒。</a:t>
            </a:r>
            <a:endParaRPr lang="en-US" sz="25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51483F"/>
          </a:solidFill>
          <a:ln w="12700">
            <a:solidFill>
              <a:srgbClr val="51483F"/>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51483F"/>
                </a:solidFill>
                <a:latin typeface="Noto Sans CJK SC" pitchFamily="34" charset="0"/>
                <a:ea typeface="Noto Sans CJK SC" pitchFamily="34" charset="-122"/>
                <a:cs typeface="Noto Sans CJK SC" pitchFamily="34" charset="-120"/>
              </a:rPr>
              <a:t>全文</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76</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400" b="1" dirty="0">
                <a:solidFill>
                  <a:srgbClr val="29241F"/>
                </a:solidFill>
                <a:latin typeface="Noto Serif CJK SC" pitchFamily="34" charset="0"/>
                <a:ea typeface="Noto Serif CJK SC" pitchFamily="34" charset="-122"/>
                <a:cs typeface="Noto Serif CJK SC" pitchFamily="34" charset="-120"/>
              </a:rPr>
              <a:t>六章六词，逐项校准</a:t>
            </a:r>
            <a:endParaRPr lang="en-US" sz="3400" dirty="0"/>
          </a:p>
        </p:txBody>
      </p:sp>
      <p:sp>
        <p:nvSpPr>
          <p:cNvPr id="6" name="Shape 4"/>
          <p:cNvSpPr/>
          <p:nvPr/>
        </p:nvSpPr>
        <p:spPr>
          <a:xfrm>
            <a:off x="786384" y="1572768"/>
            <a:ext cx="3401568" cy="1371600"/>
          </a:xfrm>
          <a:prstGeom prst="roundRect">
            <a:avLst>
              <a:gd name="adj" fmla="val 2667"/>
            </a:avLst>
          </a:prstGeom>
          <a:solidFill>
            <a:srgbClr val="FFFCF7"/>
          </a:solidFill>
          <a:ln w="13970">
            <a:solidFill>
              <a:srgbClr val="A67F4A"/>
            </a:solidFill>
            <a:prstDash val="solid"/>
          </a:ln>
        </p:spPr>
      </p:sp>
      <p:sp>
        <p:nvSpPr>
          <p:cNvPr id="7" name="Text 5"/>
          <p:cNvSpPr/>
          <p:nvPr/>
        </p:nvSpPr>
        <p:spPr>
          <a:xfrm>
            <a:off x="987552" y="1773936"/>
            <a:ext cx="2999232" cy="960120"/>
          </a:xfrm>
          <a:prstGeom prst="rect">
            <a:avLst/>
          </a:prstGeom>
          <a:noFill/>
          <a:ln/>
        </p:spPr>
        <p:txBody>
          <a:bodyPr wrap="square" lIns="0" tIns="0" rIns="0" bIns="0" rtlCol="0" anchor="ctr">
            <a:normAutofit/>
          </a:bodyPr>
          <a:lstStyle/>
          <a:p>
            <a:pPr algn="ctr" indent="0" marL="0">
              <a:buNone/>
            </a:pPr>
            <a:r>
              <a:rPr lang="en-US" sz="2000" b="1" dirty="0">
                <a:solidFill>
                  <a:srgbClr val="29241F"/>
                </a:solidFill>
                <a:latin typeface="Noto Serif CJK SC" pitchFamily="34" charset="0"/>
                <a:ea typeface="Noto Serif CJK SC" pitchFamily="34" charset="-122"/>
                <a:cs typeface="Noto Serif CJK SC" pitchFamily="34" charset="-120"/>
              </a:rPr>
              <a:t>愆（qiān）｜延误｜匪我愆期</a:t>
            </a:r>
            <a:endParaRPr lang="en-US" sz="2000" dirty="0"/>
          </a:p>
        </p:txBody>
      </p:sp>
      <p:sp>
        <p:nvSpPr>
          <p:cNvPr id="8" name="Shape 6"/>
          <p:cNvSpPr/>
          <p:nvPr/>
        </p:nvSpPr>
        <p:spPr>
          <a:xfrm>
            <a:off x="4572000" y="1572768"/>
            <a:ext cx="3401568" cy="1371600"/>
          </a:xfrm>
          <a:prstGeom prst="roundRect">
            <a:avLst>
              <a:gd name="adj" fmla="val 2667"/>
            </a:avLst>
          </a:prstGeom>
          <a:solidFill>
            <a:srgbClr val="FFFCF7"/>
          </a:solidFill>
          <a:ln w="13970">
            <a:solidFill>
              <a:srgbClr val="446E78"/>
            </a:solidFill>
            <a:prstDash val="solid"/>
          </a:ln>
        </p:spPr>
      </p:sp>
      <p:sp>
        <p:nvSpPr>
          <p:cNvPr id="9" name="Text 7"/>
          <p:cNvSpPr/>
          <p:nvPr/>
        </p:nvSpPr>
        <p:spPr>
          <a:xfrm>
            <a:off x="4773168" y="1773936"/>
            <a:ext cx="2999232" cy="960120"/>
          </a:xfrm>
          <a:prstGeom prst="rect">
            <a:avLst/>
          </a:prstGeom>
          <a:noFill/>
          <a:ln/>
        </p:spPr>
        <p:txBody>
          <a:bodyPr wrap="square" lIns="0" tIns="0" rIns="0" bIns="0" rtlCol="0" anchor="ctr">
            <a:normAutofit/>
          </a:bodyPr>
          <a:lstStyle/>
          <a:p>
            <a:pPr algn="ctr" indent="0" marL="0">
              <a:buNone/>
            </a:pPr>
            <a:r>
              <a:rPr lang="en-US" sz="2000" b="1" dirty="0">
                <a:solidFill>
                  <a:srgbClr val="29241F"/>
                </a:solidFill>
                <a:latin typeface="Noto Serif CJK SC" pitchFamily="34" charset="0"/>
                <a:ea typeface="Noto Serif CJK SC" pitchFamily="34" charset="-122"/>
                <a:cs typeface="Noto Serif CJK SC" pitchFamily="34" charset="-120"/>
              </a:rPr>
              <a:t>筮（shì）｜用蓍草占问｜尔卜尔筮</a:t>
            </a:r>
            <a:endParaRPr lang="en-US" sz="2000" dirty="0"/>
          </a:p>
        </p:txBody>
      </p:sp>
      <p:sp>
        <p:nvSpPr>
          <p:cNvPr id="10" name="Shape 8"/>
          <p:cNvSpPr/>
          <p:nvPr/>
        </p:nvSpPr>
        <p:spPr>
          <a:xfrm>
            <a:off x="8357616" y="1572768"/>
            <a:ext cx="3401568" cy="1371600"/>
          </a:xfrm>
          <a:prstGeom prst="roundRect">
            <a:avLst>
              <a:gd name="adj" fmla="val 2667"/>
            </a:avLst>
          </a:prstGeom>
          <a:solidFill>
            <a:srgbClr val="FFFCF7"/>
          </a:solidFill>
          <a:ln w="13970">
            <a:solidFill>
              <a:srgbClr val="657653"/>
            </a:solidFill>
            <a:prstDash val="solid"/>
          </a:ln>
        </p:spPr>
      </p:sp>
      <p:sp>
        <p:nvSpPr>
          <p:cNvPr id="11" name="Text 9"/>
          <p:cNvSpPr/>
          <p:nvPr/>
        </p:nvSpPr>
        <p:spPr>
          <a:xfrm>
            <a:off x="8558784" y="1773936"/>
            <a:ext cx="2999232" cy="960120"/>
          </a:xfrm>
          <a:prstGeom prst="rect">
            <a:avLst/>
          </a:prstGeom>
          <a:noFill/>
          <a:ln/>
        </p:spPr>
        <p:txBody>
          <a:bodyPr wrap="square" lIns="0" tIns="0" rIns="0" bIns="0" rtlCol="0" anchor="ctr">
            <a:normAutofit/>
          </a:bodyPr>
          <a:lstStyle/>
          <a:p>
            <a:pPr algn="ctr" indent="0" marL="0">
              <a:buNone/>
            </a:pPr>
            <a:r>
              <a:rPr lang="en-US" sz="2000" b="1" dirty="0">
                <a:solidFill>
                  <a:srgbClr val="29241F"/>
                </a:solidFill>
                <a:latin typeface="Noto Serif CJK SC" pitchFamily="34" charset="0"/>
                <a:ea typeface="Noto Serif CJK SC" pitchFamily="34" charset="-122"/>
                <a:cs typeface="Noto Serif CJK SC" pitchFamily="34" charset="-120"/>
              </a:rPr>
              <a:t>说（tuō）｜同“脱”，脱身｜犹可说也</a:t>
            </a:r>
            <a:endParaRPr lang="en-US" sz="2000" dirty="0"/>
          </a:p>
        </p:txBody>
      </p:sp>
      <p:sp>
        <p:nvSpPr>
          <p:cNvPr id="12" name="Shape 10"/>
          <p:cNvSpPr/>
          <p:nvPr/>
        </p:nvSpPr>
        <p:spPr>
          <a:xfrm>
            <a:off x="786384" y="3328416"/>
            <a:ext cx="3401568" cy="1371600"/>
          </a:xfrm>
          <a:prstGeom prst="roundRect">
            <a:avLst>
              <a:gd name="adj" fmla="val 2667"/>
            </a:avLst>
          </a:prstGeom>
          <a:solidFill>
            <a:srgbClr val="FFFCF7"/>
          </a:solidFill>
          <a:ln w="13970">
            <a:solidFill>
              <a:srgbClr val="B58B3E"/>
            </a:solidFill>
            <a:prstDash val="solid"/>
          </a:ln>
        </p:spPr>
      </p:sp>
      <p:sp>
        <p:nvSpPr>
          <p:cNvPr id="13" name="Text 11"/>
          <p:cNvSpPr/>
          <p:nvPr/>
        </p:nvSpPr>
        <p:spPr>
          <a:xfrm>
            <a:off x="987552" y="3529584"/>
            <a:ext cx="2999232" cy="960120"/>
          </a:xfrm>
          <a:prstGeom prst="rect">
            <a:avLst/>
          </a:prstGeom>
          <a:noFill/>
          <a:ln/>
        </p:spPr>
        <p:txBody>
          <a:bodyPr wrap="square" lIns="0" tIns="0" rIns="0" bIns="0" rtlCol="0" anchor="ctr">
            <a:normAutofit/>
          </a:bodyPr>
          <a:lstStyle/>
          <a:p>
            <a:pPr algn="ctr" indent="0" marL="0">
              <a:buNone/>
            </a:pPr>
            <a:r>
              <a:rPr lang="en-US" sz="2000" b="1" dirty="0">
                <a:solidFill>
                  <a:srgbClr val="29241F"/>
                </a:solidFill>
                <a:latin typeface="Noto Serif CJK SC" pitchFamily="34" charset="0"/>
                <a:ea typeface="Noto Serif CJK SC" pitchFamily="34" charset="-122"/>
                <a:cs typeface="Noto Serif CJK SC" pitchFamily="34" charset="-120"/>
              </a:rPr>
              <a:t>爽（shuǎng）｜差错｜女也不爽</a:t>
            </a:r>
            <a:endParaRPr lang="en-US" sz="2000" dirty="0"/>
          </a:p>
        </p:txBody>
      </p:sp>
      <p:sp>
        <p:nvSpPr>
          <p:cNvPr id="14" name="Shape 12"/>
          <p:cNvSpPr/>
          <p:nvPr/>
        </p:nvSpPr>
        <p:spPr>
          <a:xfrm>
            <a:off x="4572000" y="3328416"/>
            <a:ext cx="3401568" cy="1371600"/>
          </a:xfrm>
          <a:prstGeom prst="roundRect">
            <a:avLst>
              <a:gd name="adj" fmla="val 2667"/>
            </a:avLst>
          </a:prstGeom>
          <a:solidFill>
            <a:srgbClr val="FFFCF7"/>
          </a:solidFill>
          <a:ln w="13970">
            <a:solidFill>
              <a:srgbClr val="725260"/>
            </a:solidFill>
            <a:prstDash val="solid"/>
          </a:ln>
        </p:spPr>
      </p:sp>
      <p:sp>
        <p:nvSpPr>
          <p:cNvPr id="15" name="Text 13"/>
          <p:cNvSpPr/>
          <p:nvPr/>
        </p:nvSpPr>
        <p:spPr>
          <a:xfrm>
            <a:off x="4773168" y="3529584"/>
            <a:ext cx="2999232" cy="960120"/>
          </a:xfrm>
          <a:prstGeom prst="rect">
            <a:avLst/>
          </a:prstGeom>
          <a:noFill/>
          <a:ln/>
        </p:spPr>
        <p:txBody>
          <a:bodyPr wrap="square" lIns="0" tIns="0" rIns="0" bIns="0" rtlCol="0" anchor="ctr">
            <a:normAutofit/>
          </a:bodyPr>
          <a:lstStyle/>
          <a:p>
            <a:pPr algn="ctr" indent="0" marL="0">
              <a:buNone/>
            </a:pPr>
            <a:r>
              <a:rPr lang="en-US" sz="2000" b="1" dirty="0">
                <a:solidFill>
                  <a:srgbClr val="29241F"/>
                </a:solidFill>
                <a:latin typeface="Noto Serif CJK SC" pitchFamily="34" charset="0"/>
                <a:ea typeface="Noto Serif CJK SC" pitchFamily="34" charset="-122"/>
                <a:cs typeface="Noto Serif CJK SC" pitchFamily="34" charset="-120"/>
              </a:rPr>
              <a:t>咥（xì）｜笑的样子｜咥其笑矣</a:t>
            </a:r>
            <a:endParaRPr lang="en-US" sz="2000" dirty="0"/>
          </a:p>
        </p:txBody>
      </p:sp>
      <p:sp>
        <p:nvSpPr>
          <p:cNvPr id="16" name="Shape 14"/>
          <p:cNvSpPr/>
          <p:nvPr/>
        </p:nvSpPr>
        <p:spPr>
          <a:xfrm>
            <a:off x="8357616" y="3328416"/>
            <a:ext cx="3401568" cy="1371600"/>
          </a:xfrm>
          <a:prstGeom prst="roundRect">
            <a:avLst>
              <a:gd name="adj" fmla="val 2667"/>
            </a:avLst>
          </a:prstGeom>
          <a:solidFill>
            <a:srgbClr val="FFFCF7"/>
          </a:solidFill>
          <a:ln w="13970">
            <a:solidFill>
              <a:srgbClr val="94473B"/>
            </a:solidFill>
            <a:prstDash val="solid"/>
          </a:ln>
        </p:spPr>
      </p:sp>
      <p:sp>
        <p:nvSpPr>
          <p:cNvPr id="17" name="Text 15"/>
          <p:cNvSpPr/>
          <p:nvPr/>
        </p:nvSpPr>
        <p:spPr>
          <a:xfrm>
            <a:off x="8558784" y="3529584"/>
            <a:ext cx="2999232" cy="960120"/>
          </a:xfrm>
          <a:prstGeom prst="rect">
            <a:avLst/>
          </a:prstGeom>
          <a:noFill/>
          <a:ln/>
        </p:spPr>
        <p:txBody>
          <a:bodyPr wrap="square" lIns="0" tIns="0" rIns="0" bIns="0" rtlCol="0" anchor="ctr">
            <a:normAutofit/>
          </a:bodyPr>
          <a:lstStyle/>
          <a:p>
            <a:pPr algn="ctr" indent="0" marL="0">
              <a:buNone/>
            </a:pPr>
            <a:r>
              <a:rPr lang="en-US" sz="2000" b="1" dirty="0">
                <a:solidFill>
                  <a:srgbClr val="29241F"/>
                </a:solidFill>
                <a:latin typeface="Noto Serif CJK SC" pitchFamily="34" charset="0"/>
                <a:ea typeface="Noto Serif CJK SC" pitchFamily="34" charset="-122"/>
                <a:cs typeface="Noto Serif CJK SC" pitchFamily="34" charset="-120"/>
              </a:rPr>
              <a:t>泮（pàn）｜同“畔”，边岸｜隰则有泮</a:t>
            </a:r>
            <a:endParaRPr lang="en-US" sz="2000" dirty="0"/>
          </a:p>
        </p:txBody>
      </p:sp>
      <p:sp>
        <p:nvSpPr>
          <p:cNvPr id="18" name="Text 16"/>
          <p:cNvSpPr/>
          <p:nvPr/>
        </p:nvSpPr>
        <p:spPr>
          <a:xfrm>
            <a:off x="914400" y="5330952"/>
            <a:ext cx="10360152" cy="658368"/>
          </a:xfrm>
          <a:prstGeom prst="rect">
            <a:avLst/>
          </a:prstGeom>
          <a:noFill/>
          <a:ln/>
        </p:spPr>
        <p:txBody>
          <a:bodyPr wrap="square" lIns="0" tIns="0" rIns="0" bIns="0" rtlCol="0" anchor="ctr"/>
          <a:lstStyle/>
          <a:p>
            <a:pPr algn="ctr" indent="0" marL="0">
              <a:buNone/>
            </a:pPr>
            <a:r>
              <a:rPr lang="en-US" sz="2300" b="1" dirty="0">
                <a:solidFill>
                  <a:srgbClr val="725260"/>
                </a:solidFill>
                <a:latin typeface="Noto Serif CJK SC" pitchFamily="34" charset="0"/>
                <a:ea typeface="Noto Serif CJK SC" pitchFamily="34" charset="-122"/>
                <a:cs typeface="Noto Serif CJK SC" pitchFamily="34" charset="-120"/>
              </a:rPr>
              <a:t>六项修好以后，再自选两个仍不稳的词。</a:t>
            </a:r>
            <a:endParaRPr lang="en-US" sz="23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51483F"/>
          </a:solidFill>
          <a:ln w="12700">
            <a:solidFill>
              <a:srgbClr val="51483F"/>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51483F"/>
                </a:solidFill>
                <a:latin typeface="Noto Sans CJK SC" pitchFamily="34" charset="0"/>
                <a:ea typeface="Noto Sans CJK SC" pitchFamily="34" charset="-122"/>
                <a:cs typeface="Noto Sans CJK SC" pitchFamily="34" charset="-120"/>
              </a:rPr>
              <a:t>全文</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77</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400" b="1" dirty="0">
                <a:solidFill>
                  <a:srgbClr val="29241F"/>
                </a:solidFill>
                <a:latin typeface="Noto Serif CJK SC" pitchFamily="34" charset="0"/>
                <a:ea typeface="Noto Serif CJK SC" pitchFamily="34" charset="-122"/>
                <a:cs typeface="Noto Serif CJK SC" pitchFamily="34" charset="-120"/>
              </a:rPr>
              <a:t>这些已经读过的句子，哪些可以放在一起？</a:t>
            </a:r>
            <a:endParaRPr lang="en-US" sz="3400" dirty="0"/>
          </a:p>
        </p:txBody>
      </p:sp>
      <p:sp>
        <p:nvSpPr>
          <p:cNvPr id="6" name="Shape 4"/>
          <p:cNvSpPr/>
          <p:nvPr/>
        </p:nvSpPr>
        <p:spPr>
          <a:xfrm>
            <a:off x="749808" y="1481328"/>
            <a:ext cx="2487168" cy="694944"/>
          </a:xfrm>
          <a:prstGeom prst="roundRect">
            <a:avLst>
              <a:gd name="adj" fmla="val 5263"/>
            </a:avLst>
          </a:prstGeom>
          <a:solidFill>
            <a:srgbClr val="FFFCF7"/>
          </a:solidFill>
          <a:ln w="13335">
            <a:solidFill>
              <a:srgbClr val="C5B39B"/>
            </a:solidFill>
            <a:prstDash val="solid"/>
          </a:ln>
        </p:spPr>
      </p:sp>
      <p:sp>
        <p:nvSpPr>
          <p:cNvPr id="7" name="Text 5"/>
          <p:cNvSpPr/>
          <p:nvPr/>
        </p:nvSpPr>
        <p:spPr>
          <a:xfrm>
            <a:off x="877824" y="1572768"/>
            <a:ext cx="2231136" cy="512064"/>
          </a:xfrm>
          <a:prstGeom prst="rect">
            <a:avLst/>
          </a:prstGeom>
          <a:noFill/>
          <a:ln/>
        </p:spPr>
        <p:txBody>
          <a:bodyPr wrap="square" lIns="0" tIns="0" rIns="0" bIns="0" rtlCol="0" anchor="ctr">
            <a:normAutofit/>
          </a:bodyPr>
          <a:lstStyle/>
          <a:p>
            <a:pPr algn="ctr" indent="0" marL="0">
              <a:buNone/>
            </a:pPr>
            <a:r>
              <a:rPr lang="en-US" sz="2600" b="1" dirty="0">
                <a:solidFill>
                  <a:srgbClr val="29241F"/>
                </a:solidFill>
                <a:latin typeface="Noto Serif CJK SC" pitchFamily="34" charset="0"/>
                <a:ea typeface="Noto Serif CJK SC" pitchFamily="34" charset="-122"/>
                <a:cs typeface="Noto Serif CJK SC" pitchFamily="34" charset="-120"/>
              </a:rPr>
              <a:t>抱布贸丝</a:t>
            </a:r>
            <a:endParaRPr lang="en-US" sz="2600" dirty="0"/>
          </a:p>
        </p:txBody>
      </p:sp>
      <p:sp>
        <p:nvSpPr>
          <p:cNvPr id="8" name="Shape 6"/>
          <p:cNvSpPr/>
          <p:nvPr/>
        </p:nvSpPr>
        <p:spPr>
          <a:xfrm>
            <a:off x="3465576" y="1481328"/>
            <a:ext cx="2487168" cy="694944"/>
          </a:xfrm>
          <a:prstGeom prst="roundRect">
            <a:avLst>
              <a:gd name="adj" fmla="val 5263"/>
            </a:avLst>
          </a:prstGeom>
          <a:solidFill>
            <a:srgbClr val="FFFCF7"/>
          </a:solidFill>
          <a:ln w="13335">
            <a:solidFill>
              <a:srgbClr val="C5B39B"/>
            </a:solidFill>
            <a:prstDash val="solid"/>
          </a:ln>
        </p:spPr>
      </p:sp>
      <p:sp>
        <p:nvSpPr>
          <p:cNvPr id="9" name="Text 7"/>
          <p:cNvSpPr/>
          <p:nvPr/>
        </p:nvSpPr>
        <p:spPr>
          <a:xfrm>
            <a:off x="3593592" y="1572768"/>
            <a:ext cx="2231136" cy="512064"/>
          </a:xfrm>
          <a:prstGeom prst="rect">
            <a:avLst/>
          </a:prstGeom>
          <a:noFill/>
          <a:ln/>
        </p:spPr>
        <p:txBody>
          <a:bodyPr wrap="square" lIns="0" tIns="0" rIns="0" bIns="0" rtlCol="0" anchor="ctr">
            <a:normAutofit/>
          </a:bodyPr>
          <a:lstStyle/>
          <a:p>
            <a:pPr algn="ctr" indent="0" marL="0">
              <a:buNone/>
            </a:pPr>
            <a:r>
              <a:rPr lang="en-US" sz="2600" b="1" dirty="0">
                <a:solidFill>
                  <a:srgbClr val="29241F"/>
                </a:solidFill>
                <a:latin typeface="Noto Serif CJK SC" pitchFamily="34" charset="0"/>
                <a:ea typeface="Noto Serif CJK SC" pitchFamily="34" charset="-122"/>
                <a:cs typeface="Noto Serif CJK SC" pitchFamily="34" charset="-120"/>
              </a:rPr>
              <a:t>桑之未落</a:t>
            </a:r>
            <a:endParaRPr lang="en-US" sz="2600" dirty="0"/>
          </a:p>
        </p:txBody>
      </p:sp>
      <p:sp>
        <p:nvSpPr>
          <p:cNvPr id="10" name="Shape 8"/>
          <p:cNvSpPr/>
          <p:nvPr/>
        </p:nvSpPr>
        <p:spPr>
          <a:xfrm>
            <a:off x="6181344" y="1481328"/>
            <a:ext cx="2487168" cy="694944"/>
          </a:xfrm>
          <a:prstGeom prst="roundRect">
            <a:avLst>
              <a:gd name="adj" fmla="val 5263"/>
            </a:avLst>
          </a:prstGeom>
          <a:solidFill>
            <a:srgbClr val="FFFCF7"/>
          </a:solidFill>
          <a:ln w="13335">
            <a:solidFill>
              <a:srgbClr val="C5B39B"/>
            </a:solidFill>
            <a:prstDash val="solid"/>
          </a:ln>
        </p:spPr>
      </p:sp>
      <p:sp>
        <p:nvSpPr>
          <p:cNvPr id="11" name="Text 9"/>
          <p:cNvSpPr/>
          <p:nvPr/>
        </p:nvSpPr>
        <p:spPr>
          <a:xfrm>
            <a:off x="6309360" y="1572768"/>
            <a:ext cx="2231136" cy="512064"/>
          </a:xfrm>
          <a:prstGeom prst="rect">
            <a:avLst/>
          </a:prstGeom>
          <a:noFill/>
          <a:ln/>
        </p:spPr>
        <p:txBody>
          <a:bodyPr wrap="square" lIns="0" tIns="0" rIns="0" bIns="0" rtlCol="0" anchor="ctr">
            <a:normAutofit/>
          </a:bodyPr>
          <a:lstStyle/>
          <a:p>
            <a:pPr algn="ctr" indent="0" marL="0">
              <a:buNone/>
            </a:pPr>
            <a:r>
              <a:rPr lang="en-US" sz="2600" b="1" dirty="0">
                <a:solidFill>
                  <a:srgbClr val="29241F"/>
                </a:solidFill>
                <a:latin typeface="Noto Serif CJK SC" pitchFamily="34" charset="0"/>
                <a:ea typeface="Noto Serif CJK SC" pitchFamily="34" charset="-122"/>
                <a:cs typeface="Noto Serif CJK SC" pitchFamily="34" charset="-120"/>
              </a:rPr>
              <a:t>不思其反</a:t>
            </a:r>
            <a:endParaRPr lang="en-US" sz="2600" dirty="0"/>
          </a:p>
        </p:txBody>
      </p:sp>
      <p:sp>
        <p:nvSpPr>
          <p:cNvPr id="12" name="Shape 10"/>
          <p:cNvSpPr/>
          <p:nvPr/>
        </p:nvSpPr>
        <p:spPr>
          <a:xfrm>
            <a:off x="8897112" y="1481328"/>
            <a:ext cx="2487168" cy="694944"/>
          </a:xfrm>
          <a:prstGeom prst="roundRect">
            <a:avLst>
              <a:gd name="adj" fmla="val 5263"/>
            </a:avLst>
          </a:prstGeom>
          <a:solidFill>
            <a:srgbClr val="FFFCF7"/>
          </a:solidFill>
          <a:ln w="13335">
            <a:solidFill>
              <a:srgbClr val="C5B39B"/>
            </a:solidFill>
            <a:prstDash val="solid"/>
          </a:ln>
        </p:spPr>
      </p:sp>
      <p:sp>
        <p:nvSpPr>
          <p:cNvPr id="13" name="Text 11"/>
          <p:cNvSpPr/>
          <p:nvPr/>
        </p:nvSpPr>
        <p:spPr>
          <a:xfrm>
            <a:off x="9025128" y="1572768"/>
            <a:ext cx="2231136" cy="512064"/>
          </a:xfrm>
          <a:prstGeom prst="rect">
            <a:avLst/>
          </a:prstGeom>
          <a:noFill/>
          <a:ln/>
        </p:spPr>
        <p:txBody>
          <a:bodyPr wrap="square" lIns="0" tIns="0" rIns="0" bIns="0" rtlCol="0" anchor="ctr">
            <a:normAutofit/>
          </a:bodyPr>
          <a:lstStyle/>
          <a:p>
            <a:pPr algn="ctr" indent="0" marL="0">
              <a:buNone/>
            </a:pPr>
            <a:r>
              <a:rPr lang="en-US" sz="2600" b="1" dirty="0">
                <a:solidFill>
                  <a:srgbClr val="29241F"/>
                </a:solidFill>
                <a:latin typeface="Noto Serif CJK SC" pitchFamily="34" charset="0"/>
                <a:ea typeface="Noto Serif CJK SC" pitchFamily="34" charset="-122"/>
                <a:cs typeface="Noto Serif CJK SC" pitchFamily="34" charset="-120"/>
              </a:rPr>
              <a:t>泣涕涟涟</a:t>
            </a:r>
            <a:endParaRPr lang="en-US" sz="2600" dirty="0"/>
          </a:p>
        </p:txBody>
      </p:sp>
      <p:sp>
        <p:nvSpPr>
          <p:cNvPr id="14" name="Shape 12"/>
          <p:cNvSpPr/>
          <p:nvPr/>
        </p:nvSpPr>
        <p:spPr>
          <a:xfrm>
            <a:off x="749808" y="2340864"/>
            <a:ext cx="2487168" cy="694944"/>
          </a:xfrm>
          <a:prstGeom prst="roundRect">
            <a:avLst>
              <a:gd name="adj" fmla="val 5263"/>
            </a:avLst>
          </a:prstGeom>
          <a:solidFill>
            <a:srgbClr val="FFFCF7"/>
          </a:solidFill>
          <a:ln w="13335">
            <a:solidFill>
              <a:srgbClr val="C5B39B"/>
            </a:solidFill>
            <a:prstDash val="solid"/>
          </a:ln>
        </p:spPr>
      </p:sp>
      <p:sp>
        <p:nvSpPr>
          <p:cNvPr id="15" name="Text 13"/>
          <p:cNvSpPr/>
          <p:nvPr/>
        </p:nvSpPr>
        <p:spPr>
          <a:xfrm>
            <a:off x="877824" y="2432304"/>
            <a:ext cx="2231136" cy="512064"/>
          </a:xfrm>
          <a:prstGeom prst="rect">
            <a:avLst/>
          </a:prstGeom>
          <a:noFill/>
          <a:ln/>
        </p:spPr>
        <p:txBody>
          <a:bodyPr wrap="square" lIns="0" tIns="0" rIns="0" bIns="0" rtlCol="0" anchor="ctr">
            <a:normAutofit/>
          </a:bodyPr>
          <a:lstStyle/>
          <a:p>
            <a:pPr algn="ctr" indent="0" marL="0">
              <a:buNone/>
            </a:pPr>
            <a:r>
              <a:rPr lang="en-US" sz="2600" b="1" dirty="0">
                <a:solidFill>
                  <a:srgbClr val="29241F"/>
                </a:solidFill>
                <a:latin typeface="Noto Serif CJK SC" pitchFamily="34" charset="0"/>
                <a:ea typeface="Noto Serif CJK SC" pitchFamily="34" charset="-122"/>
                <a:cs typeface="Noto Serif CJK SC" pitchFamily="34" charset="-120"/>
              </a:rPr>
              <a:t>反是不思</a:t>
            </a:r>
            <a:endParaRPr lang="en-US" sz="2600" dirty="0"/>
          </a:p>
        </p:txBody>
      </p:sp>
      <p:sp>
        <p:nvSpPr>
          <p:cNvPr id="16" name="Shape 14"/>
          <p:cNvSpPr/>
          <p:nvPr/>
        </p:nvSpPr>
        <p:spPr>
          <a:xfrm>
            <a:off x="3465576" y="2340864"/>
            <a:ext cx="2487168" cy="694944"/>
          </a:xfrm>
          <a:prstGeom prst="roundRect">
            <a:avLst>
              <a:gd name="adj" fmla="val 5263"/>
            </a:avLst>
          </a:prstGeom>
          <a:solidFill>
            <a:srgbClr val="FFFCF7"/>
          </a:solidFill>
          <a:ln w="13335">
            <a:solidFill>
              <a:srgbClr val="C5B39B"/>
            </a:solidFill>
            <a:prstDash val="solid"/>
          </a:ln>
        </p:spPr>
      </p:sp>
      <p:sp>
        <p:nvSpPr>
          <p:cNvPr id="17" name="Text 15"/>
          <p:cNvSpPr/>
          <p:nvPr/>
        </p:nvSpPr>
        <p:spPr>
          <a:xfrm>
            <a:off x="3593592" y="2432304"/>
            <a:ext cx="2231136" cy="512064"/>
          </a:xfrm>
          <a:prstGeom prst="rect">
            <a:avLst/>
          </a:prstGeom>
          <a:noFill/>
          <a:ln/>
        </p:spPr>
        <p:txBody>
          <a:bodyPr wrap="square" lIns="0" tIns="0" rIns="0" bIns="0" rtlCol="0" anchor="ctr">
            <a:normAutofit/>
          </a:bodyPr>
          <a:lstStyle/>
          <a:p>
            <a:pPr algn="ctr" indent="0" marL="0">
              <a:buNone/>
            </a:pPr>
            <a:r>
              <a:rPr lang="en-US" sz="2600" b="1" dirty="0">
                <a:solidFill>
                  <a:srgbClr val="29241F"/>
                </a:solidFill>
                <a:latin typeface="Noto Serif CJK SC" pitchFamily="34" charset="0"/>
                <a:ea typeface="Noto Serif CJK SC" pitchFamily="34" charset="-122"/>
                <a:cs typeface="Noto Serif CJK SC" pitchFamily="34" charset="-120"/>
              </a:rPr>
              <a:t>氓之蚩蚩</a:t>
            </a:r>
            <a:endParaRPr lang="en-US" sz="2600" dirty="0"/>
          </a:p>
        </p:txBody>
      </p:sp>
      <p:sp>
        <p:nvSpPr>
          <p:cNvPr id="18" name="Shape 16"/>
          <p:cNvSpPr/>
          <p:nvPr/>
        </p:nvSpPr>
        <p:spPr>
          <a:xfrm>
            <a:off x="6181344" y="2340864"/>
            <a:ext cx="2487168" cy="694944"/>
          </a:xfrm>
          <a:prstGeom prst="roundRect">
            <a:avLst>
              <a:gd name="adj" fmla="val 5263"/>
            </a:avLst>
          </a:prstGeom>
          <a:solidFill>
            <a:srgbClr val="FFFCF7"/>
          </a:solidFill>
          <a:ln w="13335">
            <a:solidFill>
              <a:srgbClr val="C5B39B"/>
            </a:solidFill>
            <a:prstDash val="solid"/>
          </a:ln>
        </p:spPr>
      </p:sp>
      <p:sp>
        <p:nvSpPr>
          <p:cNvPr id="19" name="Text 17"/>
          <p:cNvSpPr/>
          <p:nvPr/>
        </p:nvSpPr>
        <p:spPr>
          <a:xfrm>
            <a:off x="6309360" y="2432304"/>
            <a:ext cx="2231136" cy="512064"/>
          </a:xfrm>
          <a:prstGeom prst="rect">
            <a:avLst/>
          </a:prstGeom>
          <a:noFill/>
          <a:ln/>
        </p:spPr>
        <p:txBody>
          <a:bodyPr wrap="square" lIns="0" tIns="0" rIns="0" bIns="0" rtlCol="0" anchor="ctr">
            <a:normAutofit/>
          </a:bodyPr>
          <a:lstStyle/>
          <a:p>
            <a:pPr algn="ctr" indent="0" marL="0">
              <a:buNone/>
            </a:pPr>
            <a:r>
              <a:rPr lang="en-US" sz="2600" b="1" dirty="0">
                <a:solidFill>
                  <a:srgbClr val="29241F"/>
                </a:solidFill>
                <a:latin typeface="Noto Serif CJK SC" pitchFamily="34" charset="0"/>
                <a:ea typeface="Noto Serif CJK SC" pitchFamily="34" charset="-122"/>
                <a:cs typeface="Noto Serif CJK SC" pitchFamily="34" charset="-120"/>
              </a:rPr>
              <a:t>送子涉淇</a:t>
            </a:r>
            <a:endParaRPr lang="en-US" sz="2600" dirty="0"/>
          </a:p>
        </p:txBody>
      </p:sp>
      <p:sp>
        <p:nvSpPr>
          <p:cNvPr id="20" name="Shape 18"/>
          <p:cNvSpPr/>
          <p:nvPr/>
        </p:nvSpPr>
        <p:spPr>
          <a:xfrm>
            <a:off x="8897112" y="2340864"/>
            <a:ext cx="2487168" cy="694944"/>
          </a:xfrm>
          <a:prstGeom prst="roundRect">
            <a:avLst>
              <a:gd name="adj" fmla="val 5263"/>
            </a:avLst>
          </a:prstGeom>
          <a:solidFill>
            <a:srgbClr val="FFFCF7"/>
          </a:solidFill>
          <a:ln w="13335">
            <a:solidFill>
              <a:srgbClr val="C5B39B"/>
            </a:solidFill>
            <a:prstDash val="solid"/>
          </a:ln>
        </p:spPr>
      </p:sp>
      <p:sp>
        <p:nvSpPr>
          <p:cNvPr id="21" name="Text 19"/>
          <p:cNvSpPr/>
          <p:nvPr/>
        </p:nvSpPr>
        <p:spPr>
          <a:xfrm>
            <a:off x="9025128" y="2432304"/>
            <a:ext cx="2231136" cy="512064"/>
          </a:xfrm>
          <a:prstGeom prst="rect">
            <a:avLst/>
          </a:prstGeom>
          <a:noFill/>
          <a:ln/>
        </p:spPr>
        <p:txBody>
          <a:bodyPr wrap="square" lIns="0" tIns="0" rIns="0" bIns="0" rtlCol="0" anchor="ctr">
            <a:normAutofit/>
          </a:bodyPr>
          <a:lstStyle/>
          <a:p>
            <a:pPr algn="ctr" indent="0" marL="0">
              <a:buNone/>
            </a:pPr>
            <a:r>
              <a:rPr lang="en-US" sz="2600" b="1" dirty="0">
                <a:solidFill>
                  <a:srgbClr val="29241F"/>
                </a:solidFill>
                <a:latin typeface="Noto Serif CJK SC" pitchFamily="34" charset="0"/>
                <a:ea typeface="Noto Serif CJK SC" pitchFamily="34" charset="-122"/>
                <a:cs typeface="Noto Serif CJK SC" pitchFamily="34" charset="-120"/>
              </a:rPr>
              <a:t>桑之落矣</a:t>
            </a:r>
            <a:endParaRPr lang="en-US" sz="2600" dirty="0"/>
          </a:p>
        </p:txBody>
      </p:sp>
      <p:sp>
        <p:nvSpPr>
          <p:cNvPr id="22" name="Shape 20"/>
          <p:cNvSpPr/>
          <p:nvPr/>
        </p:nvSpPr>
        <p:spPr>
          <a:xfrm>
            <a:off x="749808" y="3200400"/>
            <a:ext cx="2487168" cy="694944"/>
          </a:xfrm>
          <a:prstGeom prst="roundRect">
            <a:avLst>
              <a:gd name="adj" fmla="val 5263"/>
            </a:avLst>
          </a:prstGeom>
          <a:solidFill>
            <a:srgbClr val="FFFCF7"/>
          </a:solidFill>
          <a:ln w="13335">
            <a:solidFill>
              <a:srgbClr val="C5B39B"/>
            </a:solidFill>
            <a:prstDash val="solid"/>
          </a:ln>
        </p:spPr>
      </p:sp>
      <p:sp>
        <p:nvSpPr>
          <p:cNvPr id="23" name="Text 21"/>
          <p:cNvSpPr/>
          <p:nvPr/>
        </p:nvSpPr>
        <p:spPr>
          <a:xfrm>
            <a:off x="877824" y="3291840"/>
            <a:ext cx="2231136" cy="512064"/>
          </a:xfrm>
          <a:prstGeom prst="rect">
            <a:avLst/>
          </a:prstGeom>
          <a:noFill/>
          <a:ln/>
        </p:spPr>
        <p:txBody>
          <a:bodyPr wrap="square" lIns="0" tIns="0" rIns="0" bIns="0" rtlCol="0" anchor="ctr">
            <a:normAutofit/>
          </a:bodyPr>
          <a:lstStyle/>
          <a:p>
            <a:pPr algn="ctr" indent="0" marL="0">
              <a:buNone/>
            </a:pPr>
            <a:r>
              <a:rPr lang="en-US" sz="2600" b="1" dirty="0">
                <a:solidFill>
                  <a:srgbClr val="29241F"/>
                </a:solidFill>
                <a:latin typeface="Noto Serif CJK SC" pitchFamily="34" charset="0"/>
                <a:ea typeface="Noto Serif CJK SC" pitchFamily="34" charset="-122"/>
                <a:cs typeface="Noto Serif CJK SC" pitchFamily="34" charset="-120"/>
              </a:rPr>
              <a:t>信誓旦旦</a:t>
            </a:r>
            <a:endParaRPr lang="en-US" sz="2600" dirty="0"/>
          </a:p>
        </p:txBody>
      </p:sp>
      <p:sp>
        <p:nvSpPr>
          <p:cNvPr id="24" name="Shape 22"/>
          <p:cNvSpPr/>
          <p:nvPr/>
        </p:nvSpPr>
        <p:spPr>
          <a:xfrm>
            <a:off x="3465576" y="3200400"/>
            <a:ext cx="2487168" cy="694944"/>
          </a:xfrm>
          <a:prstGeom prst="roundRect">
            <a:avLst>
              <a:gd name="adj" fmla="val 5263"/>
            </a:avLst>
          </a:prstGeom>
          <a:solidFill>
            <a:srgbClr val="FFFCF7"/>
          </a:solidFill>
          <a:ln w="13335">
            <a:solidFill>
              <a:srgbClr val="C5B39B"/>
            </a:solidFill>
            <a:prstDash val="solid"/>
          </a:ln>
        </p:spPr>
      </p:sp>
      <p:sp>
        <p:nvSpPr>
          <p:cNvPr id="25" name="Text 23"/>
          <p:cNvSpPr/>
          <p:nvPr/>
        </p:nvSpPr>
        <p:spPr>
          <a:xfrm>
            <a:off x="3593592" y="3291840"/>
            <a:ext cx="2231136" cy="512064"/>
          </a:xfrm>
          <a:prstGeom prst="rect">
            <a:avLst/>
          </a:prstGeom>
          <a:noFill/>
          <a:ln/>
        </p:spPr>
        <p:txBody>
          <a:bodyPr wrap="square" lIns="0" tIns="0" rIns="0" bIns="0" rtlCol="0" anchor="ctr">
            <a:normAutofit/>
          </a:bodyPr>
          <a:lstStyle/>
          <a:p>
            <a:pPr algn="ctr" indent="0" marL="0">
              <a:buNone/>
            </a:pPr>
            <a:r>
              <a:rPr lang="en-US" sz="2600" b="1" dirty="0">
                <a:solidFill>
                  <a:srgbClr val="29241F"/>
                </a:solidFill>
                <a:latin typeface="Noto Serif CJK SC" pitchFamily="34" charset="0"/>
                <a:ea typeface="Noto Serif CJK SC" pitchFamily="34" charset="-122"/>
                <a:cs typeface="Noto Serif CJK SC" pitchFamily="34" charset="-120"/>
              </a:rPr>
              <a:t>以我贿迁</a:t>
            </a:r>
            <a:endParaRPr lang="en-US" sz="2600" dirty="0"/>
          </a:p>
        </p:txBody>
      </p:sp>
      <p:sp>
        <p:nvSpPr>
          <p:cNvPr id="26" name="Shape 24"/>
          <p:cNvSpPr/>
          <p:nvPr/>
        </p:nvSpPr>
        <p:spPr>
          <a:xfrm>
            <a:off x="6181344" y="3200400"/>
            <a:ext cx="2487168" cy="694944"/>
          </a:xfrm>
          <a:prstGeom prst="roundRect">
            <a:avLst>
              <a:gd name="adj" fmla="val 5263"/>
            </a:avLst>
          </a:prstGeom>
          <a:solidFill>
            <a:srgbClr val="FFFCF7"/>
          </a:solidFill>
          <a:ln w="13335">
            <a:solidFill>
              <a:srgbClr val="C5B39B"/>
            </a:solidFill>
            <a:prstDash val="solid"/>
          </a:ln>
        </p:spPr>
      </p:sp>
      <p:sp>
        <p:nvSpPr>
          <p:cNvPr id="27" name="Text 25"/>
          <p:cNvSpPr/>
          <p:nvPr/>
        </p:nvSpPr>
        <p:spPr>
          <a:xfrm>
            <a:off x="6309360" y="3291840"/>
            <a:ext cx="2231136" cy="512064"/>
          </a:xfrm>
          <a:prstGeom prst="rect">
            <a:avLst/>
          </a:prstGeom>
          <a:noFill/>
          <a:ln/>
        </p:spPr>
        <p:txBody>
          <a:bodyPr wrap="square" lIns="0" tIns="0" rIns="0" bIns="0" rtlCol="0" anchor="ctr">
            <a:normAutofit/>
          </a:bodyPr>
          <a:lstStyle/>
          <a:p>
            <a:pPr algn="ctr" indent="0" marL="0">
              <a:buNone/>
            </a:pPr>
            <a:r>
              <a:rPr lang="en-US" sz="2600" b="1" dirty="0">
                <a:solidFill>
                  <a:srgbClr val="29241F"/>
                </a:solidFill>
                <a:latin typeface="Noto Serif CJK SC" pitchFamily="34" charset="0"/>
                <a:ea typeface="Noto Serif CJK SC" pitchFamily="34" charset="-122"/>
                <a:cs typeface="Noto Serif CJK SC" pitchFamily="34" charset="-120"/>
              </a:rPr>
              <a:t>于嗟鸠兮</a:t>
            </a:r>
            <a:endParaRPr lang="en-US" sz="2600" dirty="0"/>
          </a:p>
        </p:txBody>
      </p:sp>
      <p:sp>
        <p:nvSpPr>
          <p:cNvPr id="28" name="Shape 26"/>
          <p:cNvSpPr/>
          <p:nvPr/>
        </p:nvSpPr>
        <p:spPr>
          <a:xfrm>
            <a:off x="8897112" y="3200400"/>
            <a:ext cx="2487168" cy="694944"/>
          </a:xfrm>
          <a:prstGeom prst="roundRect">
            <a:avLst>
              <a:gd name="adj" fmla="val 5263"/>
            </a:avLst>
          </a:prstGeom>
          <a:solidFill>
            <a:srgbClr val="FFFCF7"/>
          </a:solidFill>
          <a:ln w="13335">
            <a:solidFill>
              <a:srgbClr val="C5B39B"/>
            </a:solidFill>
            <a:prstDash val="solid"/>
          </a:ln>
        </p:spPr>
      </p:sp>
      <p:sp>
        <p:nvSpPr>
          <p:cNvPr id="29" name="Text 27"/>
          <p:cNvSpPr/>
          <p:nvPr/>
        </p:nvSpPr>
        <p:spPr>
          <a:xfrm>
            <a:off x="9025128" y="3291840"/>
            <a:ext cx="2231136" cy="512064"/>
          </a:xfrm>
          <a:prstGeom prst="rect">
            <a:avLst/>
          </a:prstGeom>
          <a:noFill/>
          <a:ln/>
        </p:spPr>
        <p:txBody>
          <a:bodyPr wrap="square" lIns="0" tIns="0" rIns="0" bIns="0" rtlCol="0" anchor="ctr">
            <a:normAutofit/>
          </a:bodyPr>
          <a:lstStyle/>
          <a:p>
            <a:pPr algn="ctr" indent="0" marL="0">
              <a:buNone/>
            </a:pPr>
            <a:r>
              <a:rPr lang="en-US" sz="2600" b="1" dirty="0">
                <a:solidFill>
                  <a:srgbClr val="29241F"/>
                </a:solidFill>
                <a:latin typeface="Noto Serif CJK SC" pitchFamily="34" charset="0"/>
                <a:ea typeface="Noto Serif CJK SC" pitchFamily="34" charset="-122"/>
                <a:cs typeface="Noto Serif CJK SC" pitchFamily="34" charset="-120"/>
              </a:rPr>
              <a:t>不见复关</a:t>
            </a:r>
            <a:endParaRPr lang="en-US" sz="2600" dirty="0"/>
          </a:p>
        </p:txBody>
      </p:sp>
      <p:sp>
        <p:nvSpPr>
          <p:cNvPr id="30" name="Shape 28"/>
          <p:cNvSpPr/>
          <p:nvPr/>
        </p:nvSpPr>
        <p:spPr>
          <a:xfrm>
            <a:off x="749808" y="4059936"/>
            <a:ext cx="2487168" cy="694944"/>
          </a:xfrm>
          <a:prstGeom prst="roundRect">
            <a:avLst>
              <a:gd name="adj" fmla="val 5263"/>
            </a:avLst>
          </a:prstGeom>
          <a:solidFill>
            <a:srgbClr val="FFFCF7"/>
          </a:solidFill>
          <a:ln w="13335">
            <a:solidFill>
              <a:srgbClr val="C5B39B"/>
            </a:solidFill>
            <a:prstDash val="solid"/>
          </a:ln>
        </p:spPr>
      </p:sp>
      <p:sp>
        <p:nvSpPr>
          <p:cNvPr id="31" name="Text 29"/>
          <p:cNvSpPr/>
          <p:nvPr/>
        </p:nvSpPr>
        <p:spPr>
          <a:xfrm>
            <a:off x="877824" y="4151376"/>
            <a:ext cx="2231136" cy="512064"/>
          </a:xfrm>
          <a:prstGeom prst="rect">
            <a:avLst/>
          </a:prstGeom>
          <a:noFill/>
          <a:ln/>
        </p:spPr>
        <p:txBody>
          <a:bodyPr wrap="square" lIns="0" tIns="0" rIns="0" bIns="0" rtlCol="0" anchor="ctr">
            <a:normAutofit/>
          </a:bodyPr>
          <a:lstStyle/>
          <a:p>
            <a:pPr algn="ctr" indent="0" marL="0">
              <a:buNone/>
            </a:pPr>
            <a:r>
              <a:rPr lang="en-US" sz="2600" b="1" dirty="0">
                <a:solidFill>
                  <a:srgbClr val="29241F"/>
                </a:solidFill>
                <a:latin typeface="Noto Serif CJK SC" pitchFamily="34" charset="0"/>
                <a:ea typeface="Noto Serif CJK SC" pitchFamily="34" charset="-122"/>
                <a:cs typeface="Noto Serif CJK SC" pitchFamily="34" charset="-120"/>
              </a:rPr>
              <a:t>于嗟女兮</a:t>
            </a:r>
            <a:endParaRPr lang="en-US" sz="2600" dirty="0"/>
          </a:p>
        </p:txBody>
      </p:sp>
      <p:sp>
        <p:nvSpPr>
          <p:cNvPr id="32" name="Shape 30"/>
          <p:cNvSpPr/>
          <p:nvPr/>
        </p:nvSpPr>
        <p:spPr>
          <a:xfrm>
            <a:off x="3465576" y="4059936"/>
            <a:ext cx="2487168" cy="694944"/>
          </a:xfrm>
          <a:prstGeom prst="roundRect">
            <a:avLst>
              <a:gd name="adj" fmla="val 5263"/>
            </a:avLst>
          </a:prstGeom>
          <a:solidFill>
            <a:srgbClr val="FFFCF7"/>
          </a:solidFill>
          <a:ln w="13335">
            <a:solidFill>
              <a:srgbClr val="C5B39B"/>
            </a:solidFill>
            <a:prstDash val="solid"/>
          </a:ln>
        </p:spPr>
      </p:sp>
      <p:sp>
        <p:nvSpPr>
          <p:cNvPr id="33" name="Text 31"/>
          <p:cNvSpPr/>
          <p:nvPr/>
        </p:nvSpPr>
        <p:spPr>
          <a:xfrm>
            <a:off x="3593592" y="4151376"/>
            <a:ext cx="2231136" cy="512064"/>
          </a:xfrm>
          <a:prstGeom prst="rect">
            <a:avLst/>
          </a:prstGeom>
          <a:noFill/>
          <a:ln/>
        </p:spPr>
        <p:txBody>
          <a:bodyPr wrap="square" lIns="0" tIns="0" rIns="0" bIns="0" rtlCol="0" anchor="ctr">
            <a:normAutofit/>
          </a:bodyPr>
          <a:lstStyle/>
          <a:p>
            <a:pPr algn="ctr" indent="0" marL="0">
              <a:buNone/>
            </a:pPr>
            <a:r>
              <a:rPr lang="en-US" sz="2600" b="1" dirty="0">
                <a:solidFill>
                  <a:srgbClr val="29241F"/>
                </a:solidFill>
                <a:latin typeface="Noto Serif CJK SC" pitchFamily="34" charset="0"/>
                <a:ea typeface="Noto Serif CJK SC" pitchFamily="34" charset="-122"/>
                <a:cs typeface="Noto Serif CJK SC" pitchFamily="34" charset="-120"/>
              </a:rPr>
              <a:t>既见复关</a:t>
            </a:r>
            <a:endParaRPr lang="en-US" sz="2600" dirty="0"/>
          </a:p>
        </p:txBody>
      </p:sp>
      <p:sp>
        <p:nvSpPr>
          <p:cNvPr id="34" name="Shape 32"/>
          <p:cNvSpPr/>
          <p:nvPr/>
        </p:nvSpPr>
        <p:spPr>
          <a:xfrm>
            <a:off x="6181344" y="4059936"/>
            <a:ext cx="2487168" cy="694944"/>
          </a:xfrm>
          <a:prstGeom prst="roundRect">
            <a:avLst>
              <a:gd name="adj" fmla="val 5263"/>
            </a:avLst>
          </a:prstGeom>
          <a:solidFill>
            <a:srgbClr val="FFFCF7"/>
          </a:solidFill>
          <a:ln w="13335">
            <a:solidFill>
              <a:srgbClr val="C5B39B"/>
            </a:solidFill>
            <a:prstDash val="solid"/>
          </a:ln>
        </p:spPr>
      </p:sp>
      <p:sp>
        <p:nvSpPr>
          <p:cNvPr id="35" name="Text 33"/>
          <p:cNvSpPr/>
          <p:nvPr/>
        </p:nvSpPr>
        <p:spPr>
          <a:xfrm>
            <a:off x="6309360" y="4151376"/>
            <a:ext cx="2231136" cy="512064"/>
          </a:xfrm>
          <a:prstGeom prst="rect">
            <a:avLst/>
          </a:prstGeom>
          <a:noFill/>
          <a:ln/>
        </p:spPr>
        <p:txBody>
          <a:bodyPr wrap="square" lIns="0" tIns="0" rIns="0" bIns="0" rtlCol="0" anchor="ctr">
            <a:normAutofit/>
          </a:bodyPr>
          <a:lstStyle/>
          <a:p>
            <a:pPr algn="ctr" indent="0" marL="0">
              <a:buNone/>
            </a:pPr>
            <a:r>
              <a:rPr lang="en-US" sz="2600" b="1" dirty="0">
                <a:solidFill>
                  <a:srgbClr val="29241F"/>
                </a:solidFill>
                <a:latin typeface="Noto Serif CJK SC" pitchFamily="34" charset="0"/>
                <a:ea typeface="Noto Serif CJK SC" pitchFamily="34" charset="-122"/>
                <a:cs typeface="Noto Serif CJK SC" pitchFamily="34" charset="-120"/>
              </a:rPr>
              <a:t>言笑晏晏</a:t>
            </a:r>
            <a:endParaRPr lang="en-US" sz="2600" dirty="0"/>
          </a:p>
        </p:txBody>
      </p:sp>
      <p:sp>
        <p:nvSpPr>
          <p:cNvPr id="36" name="Shape 34"/>
          <p:cNvSpPr/>
          <p:nvPr/>
        </p:nvSpPr>
        <p:spPr>
          <a:xfrm>
            <a:off x="8897112" y="4059936"/>
            <a:ext cx="2487168" cy="694944"/>
          </a:xfrm>
          <a:prstGeom prst="roundRect">
            <a:avLst>
              <a:gd name="adj" fmla="val 5263"/>
            </a:avLst>
          </a:prstGeom>
          <a:solidFill>
            <a:srgbClr val="FFFCF7"/>
          </a:solidFill>
          <a:ln w="13335">
            <a:solidFill>
              <a:srgbClr val="C5B39B"/>
            </a:solidFill>
            <a:prstDash val="solid"/>
          </a:ln>
        </p:spPr>
      </p:sp>
      <p:sp>
        <p:nvSpPr>
          <p:cNvPr id="37" name="Text 35"/>
          <p:cNvSpPr/>
          <p:nvPr/>
        </p:nvSpPr>
        <p:spPr>
          <a:xfrm>
            <a:off x="9025128" y="4151376"/>
            <a:ext cx="2231136" cy="512064"/>
          </a:xfrm>
          <a:prstGeom prst="rect">
            <a:avLst/>
          </a:prstGeom>
          <a:noFill/>
          <a:ln/>
        </p:spPr>
        <p:txBody>
          <a:bodyPr wrap="square" lIns="0" tIns="0" rIns="0" bIns="0" rtlCol="0" anchor="ctr">
            <a:normAutofit/>
          </a:bodyPr>
          <a:lstStyle/>
          <a:p>
            <a:pPr algn="ctr" indent="0" marL="0">
              <a:buNone/>
            </a:pPr>
            <a:r>
              <a:rPr lang="en-US" sz="2600" b="1" dirty="0">
                <a:solidFill>
                  <a:srgbClr val="29241F"/>
                </a:solidFill>
                <a:latin typeface="Noto Serif CJK SC" pitchFamily="34" charset="0"/>
                <a:ea typeface="Noto Serif CJK SC" pitchFamily="34" charset="-122"/>
                <a:cs typeface="Noto Serif CJK SC" pitchFamily="34" charset="-120"/>
              </a:rPr>
              <a:t>夙兴夜寐</a:t>
            </a:r>
            <a:endParaRPr lang="en-US" sz="2600" dirty="0"/>
          </a:p>
        </p:txBody>
      </p:sp>
      <p:sp>
        <p:nvSpPr>
          <p:cNvPr id="38" name="Text 36"/>
          <p:cNvSpPr/>
          <p:nvPr/>
        </p:nvSpPr>
        <p:spPr>
          <a:xfrm>
            <a:off x="914400" y="5230368"/>
            <a:ext cx="10360152" cy="658368"/>
          </a:xfrm>
          <a:prstGeom prst="rect">
            <a:avLst/>
          </a:prstGeom>
          <a:noFill/>
          <a:ln/>
        </p:spPr>
        <p:txBody>
          <a:bodyPr wrap="square" lIns="0" tIns="0" rIns="0" bIns="0" rtlCol="0" anchor="ctr"/>
          <a:lstStyle/>
          <a:p>
            <a:pPr algn="ctr" indent="0" marL="0">
              <a:buNone/>
            </a:pPr>
            <a:r>
              <a:rPr lang="en-US" sz="2300" b="1" dirty="0">
                <a:solidFill>
                  <a:srgbClr val="725260"/>
                </a:solidFill>
                <a:latin typeface="Noto Serif CJK SC" pitchFamily="34" charset="0"/>
                <a:ea typeface="Noto Serif CJK SC" pitchFamily="34" charset="-122"/>
                <a:cs typeface="Noto Serif CJK SC" pitchFamily="34" charset="-120"/>
              </a:rPr>
              <a:t>先自己分；不要猜老师准备了几类。</a:t>
            </a:r>
            <a:endParaRPr lang="en-US" sz="23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51483F"/>
          </a:solidFill>
          <a:ln w="12700">
            <a:solidFill>
              <a:srgbClr val="51483F"/>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51483F"/>
                </a:solidFill>
                <a:latin typeface="Noto Sans CJK SC" pitchFamily="34" charset="0"/>
                <a:ea typeface="Noto Sans CJK SC" pitchFamily="34" charset="-122"/>
                <a:cs typeface="Noto Sans CJK SC" pitchFamily="34" charset="-120"/>
              </a:rPr>
              <a:t>全文</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78</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600" b="1" dirty="0">
                <a:solidFill>
                  <a:srgbClr val="29241F"/>
                </a:solidFill>
                <a:latin typeface="Noto Serif CJK SC" pitchFamily="34" charset="0"/>
                <a:ea typeface="Noto Serif CJK SC" pitchFamily="34" charset="-122"/>
                <a:cs typeface="Noto Serif CJK SC" pitchFamily="34" charset="-120"/>
              </a:rPr>
              <a:t>看看黑板上你们自己的分法</a:t>
            </a:r>
            <a:endParaRPr lang="en-US" sz="3600" dirty="0"/>
          </a:p>
        </p:txBody>
      </p:sp>
      <p:sp>
        <p:nvSpPr>
          <p:cNvPr id="6" name="Shape 4"/>
          <p:cNvSpPr/>
          <p:nvPr/>
        </p:nvSpPr>
        <p:spPr>
          <a:xfrm>
            <a:off x="768096" y="1572768"/>
            <a:ext cx="3380232" cy="3858768"/>
          </a:xfrm>
          <a:prstGeom prst="roundRect">
            <a:avLst>
              <a:gd name="adj" fmla="val 1082"/>
            </a:avLst>
          </a:prstGeom>
          <a:solidFill>
            <a:srgbClr val="FFFCF7"/>
          </a:solidFill>
          <a:ln w="13970">
            <a:solidFill>
              <a:srgbClr val="446E78"/>
            </a:solidFill>
            <a:prstDash val="solid"/>
          </a:ln>
        </p:spPr>
      </p:sp>
      <p:sp>
        <p:nvSpPr>
          <p:cNvPr id="7" name="Text 5"/>
          <p:cNvSpPr/>
          <p:nvPr/>
        </p:nvSpPr>
        <p:spPr>
          <a:xfrm>
            <a:off x="1042416" y="2029968"/>
            <a:ext cx="2831592" cy="2834640"/>
          </a:xfrm>
          <a:prstGeom prst="rect">
            <a:avLst/>
          </a:prstGeom>
          <a:noFill/>
          <a:ln/>
        </p:spPr>
        <p:txBody>
          <a:bodyPr wrap="square" lIns="0" tIns="0" rIns="0" bIns="0" rtlCol="0" anchor="ctr">
            <a:normAutofit/>
          </a:bodyPr>
          <a:lstStyle/>
          <a:p>
            <a:pPr algn="ctr" indent="0" marL="0">
              <a:buNone/>
            </a:pPr>
            <a:r>
              <a:rPr lang="en-US" sz="2400" b="1" dirty="0">
                <a:solidFill>
                  <a:srgbClr val="29241F"/>
                </a:solidFill>
                <a:latin typeface="Noto Serif CJK SC" pitchFamily="34" charset="0"/>
                <a:ea typeface="Noto Serif CJK SC" pitchFamily="34" charset="-122"/>
                <a:cs typeface="Noto Serif CJK SC" pitchFamily="34" charset="-120"/>
              </a:rPr>
              <a:t>哪些其实在看同一种写法？</a:t>
            </a:r>
            <a:endParaRPr lang="en-US" sz="2400" dirty="0"/>
          </a:p>
        </p:txBody>
      </p:sp>
      <p:sp>
        <p:nvSpPr>
          <p:cNvPr id="8" name="Shape 6"/>
          <p:cNvSpPr/>
          <p:nvPr/>
        </p:nvSpPr>
        <p:spPr>
          <a:xfrm>
            <a:off x="4404360" y="1572768"/>
            <a:ext cx="3380232" cy="3858768"/>
          </a:xfrm>
          <a:prstGeom prst="roundRect">
            <a:avLst>
              <a:gd name="adj" fmla="val 1082"/>
            </a:avLst>
          </a:prstGeom>
          <a:solidFill>
            <a:srgbClr val="FFFCF7"/>
          </a:solidFill>
          <a:ln w="13970">
            <a:solidFill>
              <a:srgbClr val="725260"/>
            </a:solidFill>
            <a:prstDash val="solid"/>
          </a:ln>
        </p:spPr>
      </p:sp>
      <p:sp>
        <p:nvSpPr>
          <p:cNvPr id="9" name="Text 7"/>
          <p:cNvSpPr/>
          <p:nvPr/>
        </p:nvSpPr>
        <p:spPr>
          <a:xfrm>
            <a:off x="4678680" y="2029968"/>
            <a:ext cx="2831592" cy="2834640"/>
          </a:xfrm>
          <a:prstGeom prst="rect">
            <a:avLst/>
          </a:prstGeom>
          <a:noFill/>
          <a:ln/>
        </p:spPr>
        <p:txBody>
          <a:bodyPr wrap="square" lIns="0" tIns="0" rIns="0" bIns="0" rtlCol="0" anchor="ctr">
            <a:normAutofit/>
          </a:bodyPr>
          <a:lstStyle/>
          <a:p>
            <a:pPr algn="ctr" indent="0" marL="0">
              <a:buNone/>
            </a:pPr>
            <a:r>
              <a:rPr lang="en-US" sz="2400" b="1" dirty="0">
                <a:solidFill>
                  <a:srgbClr val="29241F"/>
                </a:solidFill>
                <a:latin typeface="Noto Serif CJK SC" pitchFamily="34" charset="0"/>
                <a:ea typeface="Noto Serif CJK SC" pitchFamily="34" charset="-122"/>
                <a:cs typeface="Noto Serif CJK SC" pitchFamily="34" charset="-120"/>
              </a:rPr>
              <a:t>哪些材料还混在一起？</a:t>
            </a:r>
            <a:endParaRPr lang="en-US" sz="2400" dirty="0"/>
          </a:p>
        </p:txBody>
      </p:sp>
      <p:sp>
        <p:nvSpPr>
          <p:cNvPr id="10" name="Shape 8"/>
          <p:cNvSpPr/>
          <p:nvPr/>
        </p:nvSpPr>
        <p:spPr>
          <a:xfrm>
            <a:off x="8040624" y="1572768"/>
            <a:ext cx="3380232" cy="3858768"/>
          </a:xfrm>
          <a:prstGeom prst="roundRect">
            <a:avLst>
              <a:gd name="adj" fmla="val 1082"/>
            </a:avLst>
          </a:prstGeom>
          <a:solidFill>
            <a:srgbClr val="FFFCF7"/>
          </a:solidFill>
          <a:ln w="13970">
            <a:solidFill>
              <a:srgbClr val="A67F4A"/>
            </a:solidFill>
            <a:prstDash val="solid"/>
          </a:ln>
        </p:spPr>
      </p:sp>
      <p:sp>
        <p:nvSpPr>
          <p:cNvPr id="11" name="Text 9"/>
          <p:cNvSpPr/>
          <p:nvPr/>
        </p:nvSpPr>
        <p:spPr>
          <a:xfrm>
            <a:off x="8314944" y="2029968"/>
            <a:ext cx="2831592" cy="2834640"/>
          </a:xfrm>
          <a:prstGeom prst="rect">
            <a:avLst/>
          </a:prstGeom>
          <a:noFill/>
          <a:ln/>
        </p:spPr>
        <p:txBody>
          <a:bodyPr wrap="square" lIns="0" tIns="0" rIns="0" bIns="0" rtlCol="0" anchor="ctr">
            <a:normAutofit/>
          </a:bodyPr>
          <a:lstStyle/>
          <a:p>
            <a:pPr algn="ctr" indent="0" marL="0">
              <a:buNone/>
            </a:pPr>
            <a:r>
              <a:rPr lang="en-US" sz="2700" b="1" dirty="0">
                <a:solidFill>
                  <a:srgbClr val="29241F"/>
                </a:solidFill>
                <a:latin typeface="Noto Serif CJK SC" pitchFamily="34" charset="0"/>
                <a:ea typeface="Noto Serif CJK SC" pitchFamily="34" charset="-122"/>
                <a:cs typeface="Noto Serif CJK SC" pitchFamily="34" charset="-120"/>
              </a:rPr>
              <a:t>只用原诗说明。</a:t>
            </a:r>
            <a:endParaRPr lang="en-US" sz="27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51483F"/>
          </a:solidFill>
          <a:ln w="12700">
            <a:solidFill>
              <a:srgbClr val="51483F"/>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51483F"/>
                </a:solidFill>
                <a:latin typeface="Noto Sans CJK SC" pitchFamily="34" charset="0"/>
                <a:ea typeface="Noto Sans CJK SC" pitchFamily="34" charset="-122"/>
                <a:cs typeface="Noto Sans CJK SC" pitchFamily="34" charset="-120"/>
              </a:rPr>
              <a:t>全文</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79</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400" b="1" dirty="0">
                <a:solidFill>
                  <a:srgbClr val="29241F"/>
                </a:solidFill>
                <a:latin typeface="Noto Serif CJK SC" pitchFamily="34" charset="0"/>
                <a:ea typeface="Noto Serif CJK SC" pitchFamily="34" charset="-122"/>
                <a:cs typeface="Noto Serif CJK SC" pitchFamily="34" charset="-120"/>
              </a:rPr>
              <a:t>四种写法，从原诗里生长出来</a:t>
            </a:r>
            <a:endParaRPr lang="en-US" sz="3400" dirty="0"/>
          </a:p>
        </p:txBody>
      </p:sp>
      <p:sp>
        <p:nvSpPr>
          <p:cNvPr id="6" name="Shape 4"/>
          <p:cNvSpPr/>
          <p:nvPr/>
        </p:nvSpPr>
        <p:spPr>
          <a:xfrm>
            <a:off x="804672" y="1508760"/>
            <a:ext cx="5010912" cy="1481328"/>
          </a:xfrm>
          <a:prstGeom prst="roundRect">
            <a:avLst>
              <a:gd name="adj" fmla="val 2469"/>
            </a:avLst>
          </a:prstGeom>
          <a:solidFill>
            <a:srgbClr val="FFFCF7"/>
          </a:solidFill>
          <a:ln w="13335">
            <a:solidFill>
              <a:srgbClr val="A67F4A"/>
            </a:solidFill>
            <a:prstDash val="solid"/>
          </a:ln>
        </p:spPr>
      </p:sp>
      <p:sp>
        <p:nvSpPr>
          <p:cNvPr id="7" name="Text 5"/>
          <p:cNvSpPr/>
          <p:nvPr/>
        </p:nvSpPr>
        <p:spPr>
          <a:xfrm>
            <a:off x="1060704" y="1783080"/>
            <a:ext cx="4498848" cy="932688"/>
          </a:xfrm>
          <a:prstGeom prst="rect">
            <a:avLst/>
          </a:prstGeom>
          <a:noFill/>
          <a:ln/>
        </p:spPr>
        <p:txBody>
          <a:bodyPr wrap="square" lIns="0" tIns="0" rIns="0" bIns="0" rtlCol="0" anchor="ctr">
            <a:normAutofit/>
          </a:bodyPr>
          <a:lstStyle/>
          <a:p>
            <a:pPr algn="ctr" indent="0" marL="0">
              <a:buNone/>
            </a:pPr>
            <a:r>
              <a:rPr lang="en-US" sz="2500" b="1" dirty="0">
                <a:solidFill>
                  <a:srgbClr val="29241F"/>
                </a:solidFill>
                <a:latin typeface="Noto Serif CJK SC" pitchFamily="34" charset="0"/>
                <a:ea typeface="Noto Serif CJK SC" pitchFamily="34" charset="-122"/>
                <a:cs typeface="Noto Serif CJK SC" pitchFamily="34" charset="-120"/>
              </a:rPr>
              <a:t>赋：铺陈直叙，六章叙事推进</a:t>
            </a:r>
            <a:endParaRPr lang="en-US" sz="2500" dirty="0"/>
          </a:p>
        </p:txBody>
      </p:sp>
      <p:sp>
        <p:nvSpPr>
          <p:cNvPr id="8" name="Shape 6"/>
          <p:cNvSpPr/>
          <p:nvPr/>
        </p:nvSpPr>
        <p:spPr>
          <a:xfrm>
            <a:off x="6382512" y="1508760"/>
            <a:ext cx="5010912" cy="1481328"/>
          </a:xfrm>
          <a:prstGeom prst="roundRect">
            <a:avLst>
              <a:gd name="adj" fmla="val 2469"/>
            </a:avLst>
          </a:prstGeom>
          <a:solidFill>
            <a:srgbClr val="FFFCF7"/>
          </a:solidFill>
          <a:ln w="13335">
            <a:solidFill>
              <a:srgbClr val="657653"/>
            </a:solidFill>
            <a:prstDash val="solid"/>
          </a:ln>
        </p:spPr>
      </p:sp>
      <p:sp>
        <p:nvSpPr>
          <p:cNvPr id="9" name="Text 7"/>
          <p:cNvSpPr/>
          <p:nvPr/>
        </p:nvSpPr>
        <p:spPr>
          <a:xfrm>
            <a:off x="6638544" y="1783080"/>
            <a:ext cx="4498848" cy="932688"/>
          </a:xfrm>
          <a:prstGeom prst="rect">
            <a:avLst/>
          </a:prstGeom>
          <a:noFill/>
          <a:ln/>
        </p:spPr>
        <p:txBody>
          <a:bodyPr wrap="square" lIns="0" tIns="0" rIns="0" bIns="0" rtlCol="0" anchor="ctr">
            <a:normAutofit/>
          </a:bodyPr>
          <a:lstStyle/>
          <a:p>
            <a:pPr algn="ctr" indent="0" marL="0">
              <a:buNone/>
            </a:pPr>
            <a:r>
              <a:rPr lang="en-US" sz="2500" b="1" dirty="0">
                <a:solidFill>
                  <a:srgbClr val="29241F"/>
                </a:solidFill>
                <a:latin typeface="Noto Serif CJK SC" pitchFamily="34" charset="0"/>
                <a:ea typeface="Noto Serif CJK SC" pitchFamily="34" charset="-122"/>
                <a:cs typeface="Noto Serif CJK SC" pitchFamily="34" charset="-120"/>
              </a:rPr>
              <a:t>比、兴：桑叶起兴与前后对照</a:t>
            </a:r>
            <a:endParaRPr lang="en-US" sz="2500" dirty="0"/>
          </a:p>
        </p:txBody>
      </p:sp>
      <p:sp>
        <p:nvSpPr>
          <p:cNvPr id="10" name="Shape 8"/>
          <p:cNvSpPr/>
          <p:nvPr/>
        </p:nvSpPr>
        <p:spPr>
          <a:xfrm>
            <a:off x="804672" y="3383280"/>
            <a:ext cx="5010912" cy="1481328"/>
          </a:xfrm>
          <a:prstGeom prst="roundRect">
            <a:avLst>
              <a:gd name="adj" fmla="val 2469"/>
            </a:avLst>
          </a:prstGeom>
          <a:solidFill>
            <a:srgbClr val="FFFCF7"/>
          </a:solidFill>
          <a:ln w="13335">
            <a:solidFill>
              <a:srgbClr val="446E78"/>
            </a:solidFill>
            <a:prstDash val="solid"/>
          </a:ln>
        </p:spPr>
      </p:sp>
      <p:sp>
        <p:nvSpPr>
          <p:cNvPr id="11" name="Text 9"/>
          <p:cNvSpPr/>
          <p:nvPr/>
        </p:nvSpPr>
        <p:spPr>
          <a:xfrm>
            <a:off x="1060704" y="3657600"/>
            <a:ext cx="4498848" cy="932688"/>
          </a:xfrm>
          <a:prstGeom prst="rect">
            <a:avLst/>
          </a:prstGeom>
          <a:noFill/>
          <a:ln/>
        </p:spPr>
        <p:txBody>
          <a:bodyPr wrap="square" lIns="0" tIns="0" rIns="0" bIns="0" rtlCol="0" anchor="ctr">
            <a:normAutofit/>
          </a:bodyPr>
          <a:lstStyle/>
          <a:p>
            <a:pPr algn="ctr" indent="0" marL="0">
              <a:buNone/>
            </a:pPr>
            <a:r>
              <a:rPr lang="en-US" sz="2500" b="1" dirty="0">
                <a:solidFill>
                  <a:srgbClr val="29241F"/>
                </a:solidFill>
                <a:latin typeface="Noto Serif CJK SC" pitchFamily="34" charset="0"/>
                <a:ea typeface="Noto Serif CJK SC" pitchFamily="34" charset="-122"/>
                <a:cs typeface="Noto Serif CJK SC" pitchFamily="34" charset="-120"/>
              </a:rPr>
              <a:t>词句复现、回环与反折</a:t>
            </a:r>
            <a:endParaRPr lang="en-US" sz="2500" dirty="0"/>
          </a:p>
        </p:txBody>
      </p:sp>
      <p:sp>
        <p:nvSpPr>
          <p:cNvPr id="12" name="Shape 10"/>
          <p:cNvSpPr/>
          <p:nvPr/>
        </p:nvSpPr>
        <p:spPr>
          <a:xfrm>
            <a:off x="6382512" y="3383280"/>
            <a:ext cx="5010912" cy="1481328"/>
          </a:xfrm>
          <a:prstGeom prst="roundRect">
            <a:avLst>
              <a:gd name="adj" fmla="val 2469"/>
            </a:avLst>
          </a:prstGeom>
          <a:solidFill>
            <a:srgbClr val="FFFCF7"/>
          </a:solidFill>
          <a:ln w="13335">
            <a:solidFill>
              <a:srgbClr val="725260"/>
            </a:solidFill>
            <a:prstDash val="solid"/>
          </a:ln>
        </p:spPr>
      </p:sp>
      <p:sp>
        <p:nvSpPr>
          <p:cNvPr id="13" name="Text 11"/>
          <p:cNvSpPr/>
          <p:nvPr/>
        </p:nvSpPr>
        <p:spPr>
          <a:xfrm>
            <a:off x="6638544" y="3657600"/>
            <a:ext cx="4498848" cy="932688"/>
          </a:xfrm>
          <a:prstGeom prst="rect">
            <a:avLst/>
          </a:prstGeom>
          <a:noFill/>
          <a:ln/>
        </p:spPr>
        <p:txBody>
          <a:bodyPr wrap="square" lIns="0" tIns="0" rIns="0" bIns="0" rtlCol="0" anchor="ctr">
            <a:normAutofit/>
          </a:bodyPr>
          <a:lstStyle/>
          <a:p>
            <a:pPr algn="ctr" indent="0" marL="0">
              <a:buNone/>
            </a:pPr>
            <a:r>
              <a:rPr lang="en-US" sz="2500" b="1" dirty="0">
                <a:solidFill>
                  <a:srgbClr val="29241F"/>
                </a:solidFill>
                <a:latin typeface="Noto Serif CJK SC" pitchFamily="34" charset="0"/>
                <a:ea typeface="Noto Serif CJK SC" pitchFamily="34" charset="-122"/>
                <a:cs typeface="Noto Serif CJK SC" pitchFamily="34" charset="-120"/>
              </a:rPr>
              <a:t>四言节奏、叠词与声音</a:t>
            </a:r>
            <a:endParaRPr lang="en-US" sz="2500" dirty="0"/>
          </a:p>
        </p:txBody>
      </p:sp>
      <p:sp>
        <p:nvSpPr>
          <p:cNvPr id="14" name="Text 12"/>
          <p:cNvSpPr/>
          <p:nvPr/>
        </p:nvSpPr>
        <p:spPr>
          <a:xfrm>
            <a:off x="914400" y="5440680"/>
            <a:ext cx="10360152" cy="658368"/>
          </a:xfrm>
          <a:prstGeom prst="rect">
            <a:avLst/>
          </a:prstGeom>
          <a:noFill/>
          <a:ln/>
        </p:spPr>
        <p:txBody>
          <a:bodyPr wrap="square" lIns="0" tIns="0" rIns="0" bIns="0" rtlCol="0" anchor="ctr"/>
          <a:lstStyle/>
          <a:p>
            <a:pPr algn="ctr" indent="0" marL="0">
              <a:buNone/>
            </a:pPr>
            <a:r>
              <a:rPr lang="en-US" sz="2300" b="1" dirty="0">
                <a:solidFill>
                  <a:srgbClr val="725260"/>
                </a:solidFill>
                <a:latin typeface="Noto Serif CJK SC" pitchFamily="34" charset="0"/>
                <a:ea typeface="Noto Serif CJK SC" pitchFamily="34" charset="-122"/>
                <a:cs typeface="Noto Serif CJK SC" pitchFamily="34" charset="-120"/>
              </a:rPr>
              <a:t>每一类都要带一处原诗，也要说它怎样改变故事或声音。</a:t>
            </a:r>
            <a:endParaRPr lang="en-US" sz="23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5EFE4"/>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51483F"/>
          </a:solidFill>
          <a:ln w="12700">
            <a:solidFill>
              <a:srgbClr val="51483F"/>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51483F"/>
                </a:solidFill>
                <a:latin typeface="Noto Sans CJK SC" pitchFamily="34" charset="0"/>
                <a:ea typeface="Noto Sans CJK SC" pitchFamily="34" charset="-122"/>
                <a:cs typeface="Noto Sans CJK SC" pitchFamily="34" charset="-120"/>
              </a:rPr>
              <a:t>全文</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7B7167"/>
                </a:solidFill>
                <a:latin typeface="Noto Sans CJK SC" pitchFamily="34" charset="0"/>
                <a:ea typeface="Noto Sans CJK SC" pitchFamily="34" charset="-122"/>
                <a:cs typeface="Noto Sans CJK SC" pitchFamily="34" charset="-120"/>
              </a:rPr>
              <a:t>80</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400" b="1" dirty="0">
                <a:solidFill>
                  <a:srgbClr val="29241F"/>
                </a:solidFill>
                <a:latin typeface="Noto Serif CJK SC" pitchFamily="34" charset="0"/>
                <a:ea typeface="Noto Serif CJK SC" pitchFamily="34" charset="-122"/>
                <a:cs typeface="Noto Serif CJK SC" pitchFamily="34" charset="-120"/>
              </a:rPr>
              <a:t>四类都先留下一个原诗例子</a:t>
            </a:r>
            <a:endParaRPr lang="en-US" sz="3400" dirty="0"/>
          </a:p>
        </p:txBody>
      </p:sp>
      <p:sp>
        <p:nvSpPr>
          <p:cNvPr id="6" name="Shape 4"/>
          <p:cNvSpPr/>
          <p:nvPr/>
        </p:nvSpPr>
        <p:spPr>
          <a:xfrm>
            <a:off x="804672" y="1691640"/>
            <a:ext cx="2468880" cy="1417320"/>
          </a:xfrm>
          <a:prstGeom prst="roundRect">
            <a:avLst>
              <a:gd name="adj" fmla="val 2581"/>
            </a:avLst>
          </a:prstGeom>
          <a:solidFill>
            <a:srgbClr val="FFFCF7"/>
          </a:solidFill>
          <a:ln w="13335">
            <a:solidFill>
              <a:srgbClr val="A67F4A"/>
            </a:solidFill>
            <a:prstDash val="solid"/>
          </a:ln>
        </p:spPr>
      </p:sp>
      <p:sp>
        <p:nvSpPr>
          <p:cNvPr id="7" name="Text 5"/>
          <p:cNvSpPr/>
          <p:nvPr/>
        </p:nvSpPr>
        <p:spPr>
          <a:xfrm>
            <a:off x="987552" y="2057400"/>
            <a:ext cx="2103120" cy="594360"/>
          </a:xfrm>
          <a:prstGeom prst="rect">
            <a:avLst/>
          </a:prstGeom>
          <a:noFill/>
          <a:ln/>
        </p:spPr>
        <p:txBody>
          <a:bodyPr wrap="square" lIns="0" tIns="0" rIns="0" bIns="0" rtlCol="0" anchor="ctr">
            <a:normAutofit/>
          </a:bodyPr>
          <a:lstStyle/>
          <a:p>
            <a:pPr algn="ctr" indent="0" marL="0">
              <a:buNone/>
            </a:pPr>
            <a:r>
              <a:rPr lang="en-US" sz="2200" b="1" dirty="0">
                <a:solidFill>
                  <a:srgbClr val="29241F"/>
                </a:solidFill>
                <a:latin typeface="Noto Serif CJK SC" pitchFamily="34" charset="0"/>
                <a:ea typeface="Noto Serif CJK SC" pitchFamily="34" charset="-122"/>
                <a:cs typeface="Noto Serif CJK SC" pitchFamily="34" charset="-120"/>
              </a:rPr>
              <a:t>赋与叙事</a:t>
            </a:r>
            <a:endParaRPr lang="en-US" sz="2200" dirty="0"/>
          </a:p>
        </p:txBody>
      </p:sp>
      <p:sp>
        <p:nvSpPr>
          <p:cNvPr id="8" name="Shape 6"/>
          <p:cNvSpPr/>
          <p:nvPr/>
        </p:nvSpPr>
        <p:spPr>
          <a:xfrm>
            <a:off x="3621024" y="1691640"/>
            <a:ext cx="2468880" cy="1417320"/>
          </a:xfrm>
          <a:prstGeom prst="roundRect">
            <a:avLst>
              <a:gd name="adj" fmla="val 2581"/>
            </a:avLst>
          </a:prstGeom>
          <a:solidFill>
            <a:srgbClr val="FFFCF7"/>
          </a:solidFill>
          <a:ln w="13335">
            <a:solidFill>
              <a:srgbClr val="657653"/>
            </a:solidFill>
            <a:prstDash val="solid"/>
          </a:ln>
        </p:spPr>
      </p:sp>
      <p:sp>
        <p:nvSpPr>
          <p:cNvPr id="9" name="Text 7"/>
          <p:cNvSpPr/>
          <p:nvPr/>
        </p:nvSpPr>
        <p:spPr>
          <a:xfrm>
            <a:off x="3803904" y="2057400"/>
            <a:ext cx="2103120" cy="594360"/>
          </a:xfrm>
          <a:prstGeom prst="rect">
            <a:avLst/>
          </a:prstGeom>
          <a:noFill/>
          <a:ln/>
        </p:spPr>
        <p:txBody>
          <a:bodyPr wrap="square" lIns="0" tIns="0" rIns="0" bIns="0" rtlCol="0" anchor="ctr">
            <a:normAutofit/>
          </a:bodyPr>
          <a:lstStyle/>
          <a:p>
            <a:pPr algn="ctr" indent="0" marL="0">
              <a:buNone/>
            </a:pPr>
            <a:r>
              <a:rPr lang="en-US" sz="2200" b="1" dirty="0">
                <a:solidFill>
                  <a:srgbClr val="29241F"/>
                </a:solidFill>
                <a:latin typeface="Noto Serif CJK SC" pitchFamily="34" charset="0"/>
                <a:ea typeface="Noto Serif CJK SC" pitchFamily="34" charset="-122"/>
                <a:cs typeface="Noto Serif CJK SC" pitchFamily="34" charset="-120"/>
              </a:rPr>
              <a:t>比兴与对照</a:t>
            </a:r>
            <a:endParaRPr lang="en-US" sz="2200" dirty="0"/>
          </a:p>
        </p:txBody>
      </p:sp>
      <p:sp>
        <p:nvSpPr>
          <p:cNvPr id="10" name="Shape 8"/>
          <p:cNvSpPr/>
          <p:nvPr/>
        </p:nvSpPr>
        <p:spPr>
          <a:xfrm>
            <a:off x="6437376" y="1691640"/>
            <a:ext cx="2468880" cy="1417320"/>
          </a:xfrm>
          <a:prstGeom prst="roundRect">
            <a:avLst>
              <a:gd name="adj" fmla="val 2581"/>
            </a:avLst>
          </a:prstGeom>
          <a:solidFill>
            <a:srgbClr val="FFFCF7"/>
          </a:solidFill>
          <a:ln w="13335">
            <a:solidFill>
              <a:srgbClr val="446E78"/>
            </a:solidFill>
            <a:prstDash val="solid"/>
          </a:ln>
        </p:spPr>
      </p:sp>
      <p:sp>
        <p:nvSpPr>
          <p:cNvPr id="11" name="Text 9"/>
          <p:cNvSpPr/>
          <p:nvPr/>
        </p:nvSpPr>
        <p:spPr>
          <a:xfrm>
            <a:off x="6620256" y="2057400"/>
            <a:ext cx="2103120" cy="594360"/>
          </a:xfrm>
          <a:prstGeom prst="rect">
            <a:avLst/>
          </a:prstGeom>
          <a:noFill/>
          <a:ln/>
        </p:spPr>
        <p:txBody>
          <a:bodyPr wrap="square" lIns="0" tIns="0" rIns="0" bIns="0" rtlCol="0" anchor="ctr">
            <a:normAutofit/>
          </a:bodyPr>
          <a:lstStyle/>
          <a:p>
            <a:pPr algn="ctr" indent="0" marL="0">
              <a:buNone/>
            </a:pPr>
            <a:r>
              <a:rPr lang="en-US" sz="2200" b="1" dirty="0">
                <a:solidFill>
                  <a:srgbClr val="29241F"/>
                </a:solidFill>
                <a:latin typeface="Noto Serif CJK SC" pitchFamily="34" charset="0"/>
                <a:ea typeface="Noto Serif CJK SC" pitchFamily="34" charset="-122"/>
                <a:cs typeface="Noto Serif CJK SC" pitchFamily="34" charset="-120"/>
              </a:rPr>
              <a:t>复现与反折</a:t>
            </a:r>
            <a:endParaRPr lang="en-US" sz="2200" dirty="0"/>
          </a:p>
        </p:txBody>
      </p:sp>
      <p:sp>
        <p:nvSpPr>
          <p:cNvPr id="12" name="Shape 10"/>
          <p:cNvSpPr/>
          <p:nvPr/>
        </p:nvSpPr>
        <p:spPr>
          <a:xfrm>
            <a:off x="9253728" y="1691640"/>
            <a:ext cx="2468880" cy="1417320"/>
          </a:xfrm>
          <a:prstGeom prst="roundRect">
            <a:avLst>
              <a:gd name="adj" fmla="val 2581"/>
            </a:avLst>
          </a:prstGeom>
          <a:solidFill>
            <a:srgbClr val="FFFCF7"/>
          </a:solidFill>
          <a:ln w="13335">
            <a:solidFill>
              <a:srgbClr val="725260"/>
            </a:solidFill>
            <a:prstDash val="solid"/>
          </a:ln>
        </p:spPr>
      </p:sp>
      <p:sp>
        <p:nvSpPr>
          <p:cNvPr id="13" name="Text 11"/>
          <p:cNvSpPr/>
          <p:nvPr/>
        </p:nvSpPr>
        <p:spPr>
          <a:xfrm>
            <a:off x="9436608" y="2057400"/>
            <a:ext cx="2103120" cy="594360"/>
          </a:xfrm>
          <a:prstGeom prst="rect">
            <a:avLst/>
          </a:prstGeom>
          <a:noFill/>
          <a:ln/>
        </p:spPr>
        <p:txBody>
          <a:bodyPr wrap="square" lIns="0" tIns="0" rIns="0" bIns="0" rtlCol="0" anchor="ctr">
            <a:normAutofit/>
          </a:bodyPr>
          <a:lstStyle/>
          <a:p>
            <a:pPr algn="ctr" indent="0" marL="0">
              <a:buNone/>
            </a:pPr>
            <a:r>
              <a:rPr lang="en-US" sz="2200" b="1" dirty="0">
                <a:solidFill>
                  <a:srgbClr val="29241F"/>
                </a:solidFill>
                <a:latin typeface="Noto Serif CJK SC" pitchFamily="34" charset="0"/>
                <a:ea typeface="Noto Serif CJK SC" pitchFamily="34" charset="-122"/>
                <a:cs typeface="Noto Serif CJK SC" pitchFamily="34" charset="-120"/>
              </a:rPr>
              <a:t>节奏与声音</a:t>
            </a:r>
            <a:endParaRPr lang="en-US" sz="2200" dirty="0"/>
          </a:p>
        </p:txBody>
      </p:sp>
      <p:sp>
        <p:nvSpPr>
          <p:cNvPr id="14" name="Text 12"/>
          <p:cNvSpPr/>
          <p:nvPr/>
        </p:nvSpPr>
        <p:spPr>
          <a:xfrm>
            <a:off x="1005840" y="3977640"/>
            <a:ext cx="10149840" cy="457200"/>
          </a:xfrm>
          <a:prstGeom prst="rect">
            <a:avLst/>
          </a:prstGeom>
          <a:noFill/>
          <a:ln/>
        </p:spPr>
        <p:txBody>
          <a:bodyPr wrap="square" lIns="0" tIns="0" rIns="0" bIns="0" rtlCol="0" anchor="ctr"/>
          <a:lstStyle/>
          <a:p>
            <a:pPr algn="ctr" indent="0" marL="0">
              <a:buNone/>
            </a:pPr>
            <a:r>
              <a:rPr lang="en-US" sz="2700" b="1" dirty="0">
                <a:solidFill>
                  <a:srgbClr val="725260"/>
                </a:solidFill>
                <a:latin typeface="Noto Serif CJK SC" pitchFamily="34" charset="0"/>
                <a:ea typeface="Noto Serif CJK SC" pitchFamily="34" charset="-122"/>
                <a:cs typeface="Noto Serif CJK SC" pitchFamily="34" charset="-120"/>
              </a:rPr>
              <a:t>然后自选两类写深：</a:t>
            </a:r>
            <a:endParaRPr lang="en-US" sz="2700" dirty="0"/>
          </a:p>
        </p:txBody>
      </p:sp>
      <p:sp>
        <p:nvSpPr>
          <p:cNvPr id="15" name="Text 13"/>
          <p:cNvSpPr/>
          <p:nvPr/>
        </p:nvSpPr>
        <p:spPr>
          <a:xfrm>
            <a:off x="914400" y="4709160"/>
            <a:ext cx="10360152" cy="658368"/>
          </a:xfrm>
          <a:prstGeom prst="rect">
            <a:avLst/>
          </a:prstGeom>
          <a:noFill/>
          <a:ln/>
        </p:spPr>
        <p:txBody>
          <a:bodyPr wrap="square" lIns="0" tIns="0" rIns="0" bIns="0" rtlCol="0" anchor="ctr"/>
          <a:lstStyle/>
          <a:p>
            <a:pPr algn="ctr" indent="0" marL="0">
              <a:buNone/>
            </a:pPr>
            <a:r>
              <a:rPr lang="en-US" sz="2400" b="1" dirty="0">
                <a:solidFill>
                  <a:srgbClr val="29241F"/>
                </a:solidFill>
                <a:latin typeface="Noto Serif CJK SC" pitchFamily="34" charset="0"/>
                <a:ea typeface="Noto Serif CJK SC" pitchFamily="34" charset="-122"/>
                <a:cs typeface="Noto Serif CJK SC" pitchFamily="34" charset="-120"/>
              </a:rPr>
              <a:t>原诗｜写法｜它怎样改变人物故事或声音</a:t>
            </a:r>
            <a:endParaRPr lang="en-US" sz="24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28231F"/>
        </a:solidFill>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51483F"/>
          </a:solidFill>
          <a:ln w="12700">
            <a:solidFill>
              <a:srgbClr val="51483F"/>
            </a:solidFill>
            <a:prstDash val="solid"/>
          </a:ln>
        </p:spPr>
      </p:sp>
      <p:sp>
        <p:nvSpPr>
          <p:cNvPr id="3" name="Text 1"/>
          <p:cNvSpPr/>
          <p:nvPr/>
        </p:nvSpPr>
        <p:spPr>
          <a:xfrm>
            <a:off x="429768" y="292608"/>
            <a:ext cx="1143000" cy="256032"/>
          </a:xfrm>
          <a:prstGeom prst="rect">
            <a:avLst/>
          </a:prstGeom>
          <a:noFill/>
          <a:ln/>
        </p:spPr>
        <p:txBody>
          <a:bodyPr wrap="square" lIns="0" tIns="0" rIns="0" bIns="0" rtlCol="0" anchor="ctr"/>
          <a:lstStyle/>
          <a:p>
            <a:pPr indent="0" marL="0">
              <a:buNone/>
            </a:pPr>
            <a:r>
              <a:rPr lang="en-US" sz="1550" b="1" dirty="0">
                <a:solidFill>
                  <a:srgbClr val="DED0BC"/>
                </a:solidFill>
                <a:latin typeface="Noto Sans CJK SC" pitchFamily="34" charset="0"/>
                <a:ea typeface="Noto Sans CJK SC" pitchFamily="34" charset="-122"/>
                <a:cs typeface="Noto Sans CJK SC" pitchFamily="34" charset="-120"/>
              </a:rPr>
              <a:t>全文</a:t>
            </a:r>
            <a:endParaRPr lang="en-US" sz="1550" dirty="0"/>
          </a:p>
        </p:txBody>
      </p:sp>
      <p:sp>
        <p:nvSpPr>
          <p:cNvPr id="4" name="Text 2"/>
          <p:cNvSpPr/>
          <p:nvPr/>
        </p:nvSpPr>
        <p:spPr>
          <a:xfrm>
            <a:off x="10927080" y="292608"/>
            <a:ext cx="640080" cy="256032"/>
          </a:xfrm>
          <a:prstGeom prst="rect">
            <a:avLst/>
          </a:prstGeom>
          <a:noFill/>
          <a:ln/>
        </p:spPr>
        <p:txBody>
          <a:bodyPr wrap="square" lIns="0" tIns="0" rIns="0" bIns="0" rtlCol="0" anchor="ctr"/>
          <a:lstStyle/>
          <a:p>
            <a:pPr algn="r" indent="0" marL="0">
              <a:buNone/>
            </a:pPr>
            <a:r>
              <a:rPr lang="en-US" sz="1450" b="1" dirty="0">
                <a:solidFill>
                  <a:srgbClr val="C5B39B"/>
                </a:solidFill>
                <a:latin typeface="Noto Sans CJK SC" pitchFamily="34" charset="0"/>
                <a:ea typeface="Noto Sans CJK SC" pitchFamily="34" charset="-122"/>
                <a:cs typeface="Noto Sans CJK SC" pitchFamily="34" charset="-120"/>
              </a:rPr>
              <a:t>81</a:t>
            </a:r>
            <a:endParaRPr lang="en-US" sz="1450" dirty="0"/>
          </a:p>
        </p:txBody>
      </p:sp>
      <p:sp>
        <p:nvSpPr>
          <p:cNvPr id="5" name="Text 3"/>
          <p:cNvSpPr/>
          <p:nvPr/>
        </p:nvSpPr>
        <p:spPr>
          <a:xfrm>
            <a:off x="749808" y="658368"/>
            <a:ext cx="10698480" cy="621792"/>
          </a:xfrm>
          <a:prstGeom prst="rect">
            <a:avLst/>
          </a:prstGeom>
          <a:noFill/>
          <a:ln/>
        </p:spPr>
        <p:txBody>
          <a:bodyPr wrap="square" lIns="0" tIns="0" rIns="0" bIns="0" rtlCol="0" anchor="ctr"/>
          <a:lstStyle/>
          <a:p>
            <a:pPr algn="l" indent="0" marL="0">
              <a:buNone/>
            </a:pPr>
            <a:r>
              <a:rPr lang="en-US" sz="3700" b="1" dirty="0">
                <a:solidFill>
                  <a:srgbClr val="FFFDFC"/>
                </a:solidFill>
                <a:latin typeface="Noto Serif CJK SC" pitchFamily="34" charset="0"/>
                <a:ea typeface="Noto Serif CJK SC" pitchFamily="34" charset="-122"/>
                <a:cs typeface="Noto Serif CJK SC" pitchFamily="34" charset="-120"/>
              </a:rPr>
              <a:t>读完《氓》</a:t>
            </a:r>
            <a:endParaRPr lang="en-US" sz="3700" dirty="0"/>
          </a:p>
        </p:txBody>
      </p:sp>
      <p:sp>
        <p:nvSpPr>
          <p:cNvPr id="6" name="Text 4"/>
          <p:cNvSpPr/>
          <p:nvPr/>
        </p:nvSpPr>
        <p:spPr>
          <a:xfrm>
            <a:off x="960120" y="1554480"/>
            <a:ext cx="10195560" cy="656173"/>
          </a:xfrm>
          <a:prstGeom prst="rect">
            <a:avLst/>
          </a:prstGeom>
          <a:noFill/>
          <a:ln/>
        </p:spPr>
        <p:txBody>
          <a:bodyPr wrap="square" lIns="0" tIns="0" rIns="0" bIns="0" rtlCol="0" anchor="ctr">
            <a:normAutofit/>
          </a:bodyPr>
          <a:lstStyle/>
          <a:p>
            <a:pPr algn="ctr" indent="0" marL="0">
              <a:buNone/>
            </a:pPr>
            <a:r>
              <a:rPr lang="en-US" sz="3000" dirty="0">
                <a:solidFill>
                  <a:srgbClr val="FFFDFC"/>
                </a:solidFill>
                <a:latin typeface="Noto Serif CJK SC" pitchFamily="34" charset="0"/>
                <a:ea typeface="Noto Serif CJK SC" pitchFamily="34" charset="-122"/>
                <a:cs typeface="Noto Serif CJK SC" pitchFamily="34" charset="-120"/>
              </a:rPr>
              <a:t>一处改变最大的理解</a:t>
            </a:r>
            <a:endParaRPr lang="en-US" sz="3000" dirty="0"/>
          </a:p>
        </p:txBody>
      </p:sp>
      <p:sp>
        <p:nvSpPr>
          <p:cNvPr id="7" name="Text 5"/>
          <p:cNvSpPr/>
          <p:nvPr/>
        </p:nvSpPr>
        <p:spPr>
          <a:xfrm>
            <a:off x="960120" y="2395728"/>
            <a:ext cx="10195560" cy="656173"/>
          </a:xfrm>
          <a:prstGeom prst="rect">
            <a:avLst/>
          </a:prstGeom>
          <a:noFill/>
          <a:ln/>
        </p:spPr>
        <p:txBody>
          <a:bodyPr wrap="square" lIns="0" tIns="0" rIns="0" bIns="0" rtlCol="0" anchor="ctr">
            <a:normAutofit/>
          </a:bodyPr>
          <a:lstStyle/>
          <a:p>
            <a:pPr algn="ctr" indent="0" marL="0">
              <a:buNone/>
            </a:pPr>
            <a:r>
              <a:rPr lang="en-US" sz="3000" dirty="0">
                <a:solidFill>
                  <a:srgbClr val="FFFDFC"/>
                </a:solidFill>
                <a:latin typeface="Noto Serif CJK SC" pitchFamily="34" charset="0"/>
                <a:ea typeface="Noto Serif CJK SC" pitchFamily="34" charset="-122"/>
                <a:cs typeface="Noto Serif CJK SC" pitchFamily="34" charset="-120"/>
              </a:rPr>
              <a:t>一处最想带走的语言发现</a:t>
            </a:r>
            <a:endParaRPr lang="en-US" sz="3000" dirty="0"/>
          </a:p>
        </p:txBody>
      </p:sp>
      <p:sp>
        <p:nvSpPr>
          <p:cNvPr id="8" name="Text 6"/>
          <p:cNvSpPr/>
          <p:nvPr/>
        </p:nvSpPr>
        <p:spPr>
          <a:xfrm>
            <a:off x="960120" y="3236976"/>
            <a:ext cx="10195560" cy="656173"/>
          </a:xfrm>
          <a:prstGeom prst="rect">
            <a:avLst/>
          </a:prstGeom>
          <a:noFill/>
          <a:ln/>
        </p:spPr>
        <p:txBody>
          <a:bodyPr wrap="square" lIns="0" tIns="0" rIns="0" bIns="0" rtlCol="0" anchor="ctr">
            <a:normAutofit/>
          </a:bodyPr>
          <a:lstStyle/>
          <a:p>
            <a:pPr algn="ctr" indent="0" marL="0">
              <a:buNone/>
            </a:pPr>
            <a:r>
              <a:rPr lang="en-US" sz="3000" dirty="0">
                <a:solidFill>
                  <a:srgbClr val="FFFDFC"/>
                </a:solidFill>
                <a:latin typeface="Noto Serif CJK SC" pitchFamily="34" charset="0"/>
                <a:ea typeface="Noto Serif CJK SC" pitchFamily="34" charset="-122"/>
                <a:cs typeface="Noto Serif CJK SC" pitchFamily="34" charset="-120"/>
              </a:rPr>
              <a:t>一个仍愿意追问的问题</a:t>
            </a:r>
            <a:endParaRPr lang="en-US" sz="3000" dirty="0"/>
          </a:p>
        </p:txBody>
      </p:sp>
      <p:sp>
        <p:nvSpPr>
          <p:cNvPr id="9" name="Text 7"/>
          <p:cNvSpPr/>
          <p:nvPr/>
        </p:nvSpPr>
        <p:spPr>
          <a:xfrm>
            <a:off x="960120" y="4078224"/>
            <a:ext cx="10195560" cy="656173"/>
          </a:xfrm>
          <a:prstGeom prst="rect">
            <a:avLst/>
          </a:prstGeom>
          <a:noFill/>
          <a:ln/>
        </p:spPr>
        <p:txBody>
          <a:bodyPr wrap="square" lIns="0" tIns="0" rIns="0" bIns="0" rtlCol="0" anchor="ctr">
            <a:normAutofit/>
          </a:bodyPr>
          <a:lstStyle/>
          <a:p>
            <a:pPr algn="ctr" indent="0" marL="0">
              <a:buNone/>
            </a:pPr>
            <a:r>
              <a:rPr lang="en-US" sz="2800" b="1" dirty="0">
                <a:solidFill>
                  <a:srgbClr val="EFE3CF"/>
                </a:solidFill>
                <a:latin typeface="Noto Serif CJK SC" pitchFamily="34" charset="0"/>
                <a:ea typeface="Noto Serif CJK SC" pitchFamily="34" charset="-122"/>
                <a:cs typeface="Noto Serif CJK SC" pitchFamily="34" charset="-120"/>
              </a:rPr>
              <a:t>从“氓之蚩蚩”读到“亦已焉哉”</a:t>
            </a:r>
            <a:endParaRPr lang="en-US" sz="2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oto Serif CJK S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oto Sans CJK S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81</Slides>
  <Notes>81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81</vt:i4>
      </vt:variant>
    </vt:vector>
  </HeadingPairs>
  <TitlesOfParts>
    <vt:vector size="8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vector>
  </TitlesOfParts>
  <Company>语文备课系统</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《氓》V6.6逐页功能重构课堂课件</dc:title>
  <dc:subject>《诗经·卫风·氓》逐页功能重构；81个可审查物理状态；无插图候选</dc:subject>
  <dc:creator>语文备课系统</dc:creator>
  <cp:lastModifiedBy>语文备课系统</cp:lastModifiedBy>
  <cp:revision>1</cp:revision>
  <dcterms:created xsi:type="dcterms:W3CDTF">2026-08-15T13:05:54Z</dcterms:created>
  <dcterms:modified xsi:type="dcterms:W3CDTF">2026-08-15T13:05:54Z</dcterms:modified>
</cp:coreProperties>
</file>
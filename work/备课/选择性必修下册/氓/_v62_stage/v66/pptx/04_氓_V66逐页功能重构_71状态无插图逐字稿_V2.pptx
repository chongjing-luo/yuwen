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notesMaster" Target="notesMasters/notesMaster1.xml"/><Relationship Id="rId74" Type="http://schemas.openxmlformats.org/officeDocument/2006/relationships/presProps" Target="presProps.xml"/><Relationship Id="rId75" Type="http://schemas.openxmlformats.org/officeDocument/2006/relationships/viewProps" Target="viewProps.xml"/><Relationship Id="rId76" Type="http://schemas.openxmlformats.org/officeDocument/2006/relationships/theme" Target="theme/theme1.xml"/><Relationship Id="rId7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【V6.6物理状态】O01-A｜300秒
【状态功能】
让每个人从自己的阅读经历中先得到至少一条可说材料，并尽量扩大爱情与婚姻文学的篇目和主题范围。
【该状态学生可见文字】
我们还记得哪些爱情与婚姻故事？｜从小学想到高中：课文、小说、整本书……｜篇名｜用一句话唤回故事｜它写到爱情或婚姻中的什么？｜先写你真正记得的一篇；想起新的，再添下去。
【V6.6逻辑页】O01｜逻辑页1｜5分钟
【前页输入】
学生尚未看到教师或同伴提供的任何标准篇目。
【唯一困难】
少数快想者容易垄断导入，抽象问题又会使多数学生尚未开口便退出。
【唯一功能】
让每个人从自己的阅读经历中先得到至少一条可说材料，并尽量扩大爱情与婚姻文学的篇目和主题范围。
【文学对象】
学生小学至高中语文课文、小说与整本书中的爱情、婚姻故事
【信息状态】
公共篇目和教师分类全部未知；首答态只显示三个自然落笔处。
【学生主动作】
检索篇名和一句故事；写它谈到爱情或婚姻中的什么
【参与路径】
全员个人静写；任何公共声音出现前封存个人首答。
【可见产物】
时间封存的个人文学回忆单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O02同桌轮说和公共增量
【正常反例】
想不起、无新增、已经准确、不同意或暂时沉默均有诚实完成路径，不要求伪造改变。
【主视觉职责】
一张真正可以落笔的文学记忆纸
【插图资格】
禁止：图像会预列作品或主题。
【第一人称接收】
我从自己的阅读经历中想起了作品、故事和一个朴素主题；这些不是老师替我列出的。
【故事回接】
页面结束前由一句自然复述回到谁做了什么、人物处境怎样变化以及故事推进到哪里。
【删除损失】
多数学生失去独立检索时间，公共发言被快想者占据。
【相邻反证】
O02负责表达和扩展，不能替代O01不受同伴影响的个人检索。
【失败信号】
大量答案来自邻座刚说的篇名；主题栏复制教师抽象词；固定样本有效材料率低于90%
【教师逐字稿】
今天先不急着翻到新课。请从小学一直想到高中：语文课文、小说、整本书里，哪些作品写过爱情，哪些写过婚姻？先写篇名，再用一句平常话把故事唤回来；最后写它谈到爱情或婚姻中的什么。这里不需要分析得很深，也没有三篇规定答案。真正记得什么，就先写什么。现在安静两分半。（教师不报篇名，退到后排巡视。）一时想不起，可以翻本班读过的篇目目录；只记得情节，也先留下情节。时间到，我会请大家把纸翻面一瞬，封住这一刻真正想起的内容，然后再与同学说。
【真实场景】
屏幕只留下此刻要面对的原诗、问题或学生真实作品；教师说完邀请后退开，让阅读、表达和等待真实发生。
（教师承接前页）
（学生先独立形成）
（同伴限定倾听）
（教师据真实材料校准）
（学生亲自修订）
（自然切页）
【时间盒】
说明三个落点：45秒；个人静默检索：165秒；补写和时间封存：60秒；转场：30秒
【现场分支】
暂时没有答案：允许先圈出最确定的一处原词，用不完整但真实的话开口；没有新增也可如实保留。
判断越过原诗：请指出依据；找不到相应原词时，把断言降低为问题、可能或文本未写。
【听者任务】
此页没有听者任务；每个人先保护自己的文学记忆。
【证据位置】
O01文学回忆单；公共作品出现前的时间封存照片或翻面状态
【自然切页句】
每个人手里先有了一点自己的文学记忆。现在说给身边的人听，也听听自己没有想到的故事。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【V6.6物理状态】O02-A｜480秒
【状态功能】
分别实现每个人低压开口和全班文学版图的广度，让作品与朴素主题从学生话语中相遇。
【该状态学生可见文字】
一间教室，能想起多少种爱情与婚姻？｜《　　　　　　》写的是　　　　　　　　　　　　　　。｜听见一篇自己没有想到的，就把它添进自己的清单。
【V6.6逻辑页】O02｜逻辑页2｜8分钟
【前页输入】
每人已有一份公共声音出现前封存的文学回忆单。
【唯一困难】
学生容易看见“全班学生真正记得的爱情与婚姻文学作品及其朴素主题”，却不能把它准确接回人物和前后故事。
【唯一功能】
分别实现每个人低压开口和全班文学版图的广度，让作品与朴素主题从学生话语中相遇。
【文学对象】
全班学生真正记得的爱情与婚姻文学作品及其朴素主题
【信息状态】
教师不预填篇目和分类；课堂只逐步暴露同伴真实作品。
【学生主动作】
同桌和四人组内每人说一篇；公共阶段只贡献一条增量并补记新作品
【参与路径】
个人材料→同桌并行→四人全员轮说→每组一个公共增量→教师后置记录。
【可见产物】
黑板文学长卷和个人新增栏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O03教师引用并揭题；S04回投
【正常反例】
想不起、无新增、已经准确、不同意或暂时沉默均有诚实完成路径，不要求伪造改变。
【主视觉职责】
一句自然表达入口；真正主视觉为现场黑板长卷
【插图资格】
禁止：现场学生作品是主视觉。
【第一人称接收】
我完整说过一篇，也从同学那里补到自己没有想到的作品或主题。
【故事回接】
页面结束前由一句自然复述回到谁做了什么、人物处境怎样变化以及故事推进到哪里。
【删除损失】
失去全员声音或公共文学广度。
【相邻反证】
O01只能证明个人检索，O03只负责教师归纳；本页不可由两者代替。
【失败信号】
组长包办；四人未轮说便形成公共答案；公共材料少于8部作品或5个主题方向；教师提前分类
【教师逐字稿】
先和同桌互相说：‘《什么》写的是怎样的爱情或婚姻故事。’说的人可以看自己的纸，听的人只在没听清时问一句；一分钟后交换。（等待。）现在前后四个人依次说一圈，每个人都说完以前不选代表、不替别人总结。四个人说完，只留下两三条彼此不同的作品或主题。接下来每组只向全班带来一条增量：黑板上没有的篇目，或者同一篇不同的朴素主题。请先说篇名，再说那句自然话。我只把你们真正说出的篇名和关键词写到黑板上，此刻不分类。听见自己没想到的，请添进个人清单。若本组没有新增，可以如实说‘我们先听记’，不制造差异。
【真实场景】
屏幕只留下此刻要面对的原诗、问题或学生真实作品；教师说完邀请后退开，让阅读、表达和等待真实发生。
（教师承接前页）
（学生先独立形成）
（同伴限定倾听）
（教师据真实材料校准）
（学生亲自修订）
（自然切页）
【时间盒】
同桌互说：95秒；四人依次轮说：150秒；公共增量和板书：190秒；个人补记：45秒
【现场分支】
暂时没有答案：允许先圈出最确定的一处原词，用不完整但真实的话开口；没有新增也可如实保留。
判断越过原诗：请指出依据；找不到相应原词时，把断言降低为问题、可能或文本未写。
【听者任务】
听清发言依据的是哪一句诗、给人物故事增加了什么；只补遗漏或提出一处证据追问。
【证据位置】
O01新增栏；黑板篇名＋学生主题长卷
【自然切页句】
先别擦掉这面黑板。我们沿着大家真正说出的故事，去听一位更早的女子怎样讲自己的相识与后来。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【V6.6物理状态】O03-A｜180秒
【状态功能】
教师用现场文学长卷完成后置归纳，再从众多旧作聚焦到一位先秦女子的声音，完成题名、正音和出处。
【该状态学生可见文字】
氓｜méng｜《诗经·卫风》
【V6.6逻辑页】O03｜逻辑页3｜3分钟
【前页输入】
学生已经完成前页任务，手中保留与“《诗经·卫风·氓》的题名、出处与第一句”有关的原词或初稿。
【唯一困难】
学生容易看见“《诗经·卫风·氓》的题名、出处与第一句”，却不能把它准确接回人物和前后故事。
【唯一功能】
教师用现场文学长卷完成后置归纳，再从众多旧作聚焦到一位先秦女子的声音，完成题名、正音和出处。
【文学对象】
《诗经·卫风·氓》的题名、出处与第一句
【信息状态】
归纳时投影熄暗，不以预制PPT覆盖现场；揭题时只暴露题名、读音和出处。
【学生主动作】
核对教师是否准确引用本班材料；读准méng并定位首句
【参与路径】
个人先形成；需要交流时并行同桌或四人轮说；全班只公开少量有差异材料。
【可见产物】
主题谱照片和题名旁注音
【教师作用】
准确释词、引用真实回答、追问原词、后置归纳并守住解释边界。
【真实等待】
逐字稿内有首答等待、限定反馈和本人修订的明确时间。
【反馈与本人修订】
学生只纠正教师对现场篇名和主题的事实误记；教师当场改写。
【首次后用】
O04文化定位和O05起读
【正常反例】
想不起、无新增、已经准确、不同意或暂时沉默均有诚实完成路径，不要求伪造改变。
【主视觉职责】
先由黑板长卷主导，再切换为题名和留白
【插图资格】
禁止：人物图会提前规定讲述者和悲剧主题。
【第一人称接收】
我看见本班文学回忆被准确保存，也知道新故事叫《氓》、读méng、出自《诗经·卫风》。
【故事回接】
页面结束前由一句自然复述回到谁做了什么、人物处境怎样变化以及故事推进到哪里。
【删除损失】
导入成为篇目堆积，揭题与现场发言断裂。
【相邻反证】
只有本页把导入的真实公共作品接到新文本；独立抽象转场页已经删除。
【失败信号】
学生只能复述活动手续，不能复述诗意；首答前已经看见完成关系或答案；产物在后页没有真实消费者
【教师逐字稿】
请先把目光留在黑板上。（投影熄暗。）刚才大家提到《____》，写的是____；《____》旁边留下的是____；还有《____》，写到____。我只沿着你们真正留下的词来整理：今天我们想起了相遇、等待、阻隔、相守、失信、团圆或离散中的若干方向。有没有哪篇记错、漏掉？有就当场改。（修正并拍照。）今天再听一个新的故事：一位女子从相识讲到婚后的后来。（切题名页，停两秒。）题目只有一个字——氓。这个字在这里读méng，收在《诗经·卫风》里。请在题名旁写下读音，找到第一句‘氓之蚩蚩’。
【真实场景】
屏幕只留下此刻要面对的原诗、问题或学生真实作品；教师说完邀请后退开，让阅读、表达和等待真实发生。
（教师承接前页）
（学生先独立形成）
（同伴限定倾听）
（教师据真实材料校准）
（学生亲自修订）
（自然切页）
【时间盒】
黑板引用和纠错：100秒；拍照、揭题与正音：50秒；定位首句：30秒
【现场分支】
暂时没有答案：允许先圈出最确定的一处原词，用不完整但真实的话开口；没有新增也可如实保留。
判断越过原诗：请指出依据；找不到相应原词时，把断言降低为问题、可能或文本未写。
【听者任务】
核对教师是否准确引用本班篇目和主题；随后读准题名并定位首句。
【证据位置】
黑板主题谱照片；教材题名旁注音
【自然切页句】
先给这首诗一个最小的来处，再让她不被打断地把六章说完。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【V6.6物理状态】O04-A｜180秒
【状态功能】
在不打断初听的前提下，给学生阅读《氓》所需的最低文化坐标，并只点名后文会亲自遇见的赋、比、兴。
【该状态学生可见文字】
《诗经》｜我国第一部诗歌总集｜305篇｜西周初年至春秋中叶｜风　雅　颂｜《氓》在《卫风》里｜赋、比、兴——先记住名字，后面会真正遇见。
【V6.6逻辑页】O04｜逻辑页4｜3分钟
【前页输入】
学生已经知道题名、读音和《诗经·卫风》出处，但没有系统文化坐标。
【唯一困难】
没有最低文化坐标，学生会把《氓》当作孤立古诗；背景过多又会压过讲述者的声音。
【唯一功能】
在不打断初听的前提下，给学生阅读《氓》所需的最低文化坐标，并只点名后文会亲自遇见的赋、比、兴。
【文学对象】
《诗经》最低文化坐标及《氓》的归属
【信息状态】
只揭示最低事实和术语名称；比兴定义及本诗例子保持未知。
【学生主动作】
听取必要文化微讲；在题下注记诗经—卫风—氓的归属
【参与路径】
教师必要微讲；全员完成一个最低成本的归属批注。
【可见产物】
题名旁的归属批注
【教师作用】
准确说明第一部诗歌总集、305篇、大致年代、风雅颂和篇目归属；不展开无关百科。
【真实等待】
微讲后留35秒完成批注并巡视真实错项。
【反馈与本人修订】
学生只修正归属批注；更完整知识在S05A合书检索后修复。
【首次后用】
C303B命名兴；S05A合书检索
【正常反例】
已有相关知识者不额外抄写；有不同教材表述时以本课教材和课程常用表述校准。
【主视觉职责】
诗经—卫风—氓的简洁归属关系
【插图资格】
禁止：古籍装饰不能增加当前理解。
【第一人称接收】
我知道《氓》在《诗经·卫风》中，也知道赋、比、兴要等到原诗里再理解。
【故事回接】
微讲立即结束，回到女子第一人称六章讲述。
【删除损失】
初读失去作品身份，结尾检索变成第一次讲授。
【相邻反证】
题名页无法同时承担文化坐标；结尾检索不能作为第一次讲授。
【失败信号】
背景微讲超过三分钟；学生抄百科表格；提前讲完比兴答案
【教师逐字稿】
翻开课文前，只给《氓》一个最小的来处。《诗经》是我国第一部诗歌总集，现存三百零五篇，作品大致产生于西周初年至春秋中叶。传统上分为风、雅、颂；《氓》在十五国风的《卫风》中。古人还用赋、比、兴谈《诗经》的写法。今天此刻只记住这三个名字，不背定义；读到第三章时，我们会亲自听见‘兴’怎样发生。请在题名旁只留下‘诗经—卫风—氓’这条归属，不抄整页。
【真实场景】
屏幕只留下此刻要面对的原诗、问题或学生真实作品；教师说完邀请后退开，让阅读、表达和等待真实发生。
（教师承接前页）
（学生先独立形成）
（同伴限定倾听）
（教师据真实材料校准）
（学生亲自修订）
（自然切页）
【时间盒】
最低文化坐标微讲：115秒；学生归属批注：35秒；回到讲述者：30秒
【现场分支】
暂时没有答案：允许先圈出最确定的一处原词，用不完整但真实的话开口；没有新增也可如实保留。
判断越过原诗：请指出依据；找不到相应原词时，把断言降低为问题、可能或文本未写。
【听者任务】
听清作品身份和归属；赋、比、兴只记名字，不提前抄定义。
【证据位置】
教材题名旁的‘诗经—卫风—氓’归属批注
【自然切页句】
来处已经清楚。现在不再介绍，让她从第一句讲到最后一句。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【V6.6物理状态】O05-B1｜65秒
【状态功能】
让第一章以可供后排阅读的完整画面进入，朗读不被解释打断。
【该状态学生可见文字】
她自己说｜第一章｜氓之蚩蚩，抱布贸丝。匪来贸丝，来即我谋。｜送子涉淇，至于顿丘。匪我愆期，子无良媒。｜将子无怒，秋以为期。
【V6.6逻辑页】O05｜逻辑页5｜3分钟
【前页输入】
学生知道作品来处，但尚未收到人物主题和三问框架。
【唯一困难】
学生容易看见“《氓》第一至第三章的完整声音”，却不能把它准确接回人物和前后故事。
【唯一功能】
不中断地接收第一至三章，让初见、等待、迁嫁和劝告先作为声音发生。
【文学对象】
《氓》第一至第三章的完整声音
【信息状态】
只暴露原诗声音；主题、章意和知识解释保持未知。
【学生主动作】
眼随声走；只在真实停顿处留点或问号
【参与路径】
个人先形成；需要交流时并行同桌或四人轮说；全班只公开少量有差异材料。
【可见产物】
教材停点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O06无声接续
【正常反例】
想不起、无新增、已经准确、不同意或暂时沉默均有诚实完成路径，不要求伪造改变。
【主视觉职责】
第一至三章原诗
【插图资格】
无
【第一人称接收】
我刚才面对“《氓》第一至第三章的完整声音”，留下了教材停点；我能用原词说清自己新增或修正的理解。
【故事回接】
页面结束前由一句自然复述回到谁做了什么、人物处境怎样变化以及故事推进到哪里。
【删除损失】
删除会失去开放接收
【相邻反证】
相邻页不同时处理“学生容易看见“《氓》第一至第三章的完整声音”，却不能把它准确接回人物和前后故事。”；合并会挤掉必要首答、校准或故事回接。
【失败信号】
学生只能复述活动手续，不能复述诗意；首答前已经看见完成关系或答案；产物在后页没有真实消费者
【教师逐字稿】
这一遍，眼睛跟着原诗，耳朵听她把话说下去。哪一句让你停了一下，就在教材旁点一个点，或画一个问号；没有停顿处，也只管继续听。现在从‘氓之蚩蚩’开始。
氓之蚩蚩，抱布贸丝。匪来贸丝，来即我谋。送子涉淇，至于顿丘。匪我愆期，子无良媒。将子无怒，秋以为期。
乘彼垝垣，以望复关。不见复关，泣涕涟涟。既见复关，载笑载言。尔卜尔筮，体无咎言。以尔车来，以我贿迁。
桑之未落，其叶沃若。于嗟鸠兮，无食桑葚！于嗟女兮，无与士耽！士之耽兮，犹可说也。女之耽兮，不可说也！
【真实场景】
教师站到侧后方连续朗读，屏幕只显示原诗；光点只停在当前行开头，不逐字追光。第三章末无声切页，不停讲。
（示意学生看教材与屏幕）
（连续朗读前三章）
（光点停在当前行首）
（无声切入O06）
【时间盒】
说明听读方式：20秒；连续朗读前三章：150秒；无声切页：10秒
【现场分支】
学生举手解释：以手势请他把问题留在原句旁，朗读继续。
走神：光点停在当前行首，学生从光点处重新进入，不公开点名。
【听者任务】
一直听到第三章末；只在自己的教材留下停顿记号，不讨论。
【证据位置】
教材第一至第三章原句旁
【自然切页句】
（无声切页，朗读不断。）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【V6.6物理状态】O05-B2｜60秒
【状态功能】
让第二章以可供后排阅读的完整画面接续，保持女子讲述的声音。
【该状态学生可见文字】
她自己说｜第二章｜乘彼垝垣，以望复关。不见复关，泣涕涟涟。｜既见复关，载笑载言。尔卜尔筮，体无咎言。｜以尔车来，以我贿迁。
【V6.6逻辑页】O05｜逻辑页5｜3分钟
【前页输入】
学生知道作品来处，但尚未收到人物主题和三问框架。
【唯一困难】
学生容易看见“《氓》第一至第三章的完整声音”，却不能把它准确接回人物和前后故事。
【唯一功能】
不中断地接收第一至三章，让初见、等待、迁嫁和劝告先作为声音发生。
【文学对象】
《氓》第一至第三章的完整声音
【信息状态】
只暴露原诗声音；主题、章意和知识解释保持未知。
【学生主动作】
眼随声走；只在真实停顿处留点或问号
【参与路径】
个人先形成；需要交流时并行同桌或四人轮说；全班只公开少量有差异材料。
【可见产物】
教材停点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O06无声接续
【正常反例】
想不起、无新增、已经准确、不同意或暂时沉默均有诚实完成路径，不要求伪造改变。
【主视觉职责】
第一至三章原诗
【插图资格】
无
【第一人称接收】
我刚才面对“《氓》第一至第三章的完整声音”，留下了教材停点；我能用原词说清自己新增或修正的理解。
【故事回接】
页面结束前由一句自然复述回到谁做了什么、人物处境怎样变化以及故事推进到哪里。
【删除损失】
删除会失去开放接收
【相邻反证】
相邻页不同时处理“学生容易看见“《氓》第一至第三章的完整声音”，却不能把它准确接回人物和前后故事。”；合并会挤掉必要首答、校准或故事回接。
【失败信号】
学生只能复述活动手续，不能复述诗意；首答前已经看见完成关系或答案；产物在后页没有真实消费者
【教师逐字稿】
这一遍，眼睛跟着原诗，耳朵听她把话说下去。哪一句让你停了一下，就在教材旁点一个点，或画一个问号；没有停顿处，也只管继续听。现在从‘氓之蚩蚩’开始。
氓之蚩蚩，抱布贸丝。匪来贸丝，来即我谋。送子涉淇，至于顿丘。匪我愆期，子无良媒。将子无怒，秋以为期。
乘彼垝垣，以望复关。不见复关，泣涕涟涟。既见复关，载笑载言。尔卜尔筮，体无咎言。以尔车来，以我贿迁。
桑之未落，其叶沃若。于嗟鸠兮，无食桑葚！于嗟女兮，无与士耽！士之耽兮，犹可说也。女之耽兮，不可说也！
【真实场景】
教师站到侧后方连续朗读，屏幕只显示原诗；光点只停在当前行开头，不逐字追光。第三章末无声切页，不停讲。
（示意学生看教材与屏幕）
（连续朗读前三章）
（光点停在当前行首）
（无声切入O06）
【时间盒】
说明听读方式：20秒；连续朗读前三章：150秒；无声切页：10秒
【现场分支】
学生举手解释：以手势请他把问题留在原句旁，朗读继续。
走神：光点停在当前行首，学生从光点处重新进入，不公开点名。
【听者任务】
一直听到第三章末；只在自己的教材留下停顿记号，不讨论。
【证据位置】
教材第一至第三章原句旁
【自然切页句】
（无声切页，朗读不断。）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【V6.6物理状态】O05-B3｜55秒
【状态功能】
让第三章的桑叶与劝告完整落下，并无声接入后半首。
【该状态学生可见文字】
她自己说｜第三章｜桑之未落，其叶沃若。于嗟鸠兮，无食桑葚！｜于嗟女兮，无与士耽！士之耽兮，犹可说也。｜女之耽兮，不可说也！
【V6.6逻辑页】O05｜逻辑页5｜3分钟
【前页输入】
学生知道作品来处，但尚未收到人物主题和三问框架。
【唯一困难】
学生容易看见“《氓》第一至第三章的完整声音”，却不能把它准确接回人物和前后故事。
【唯一功能】
不中断地接收第一至三章，让初见、等待、迁嫁和劝告先作为声音发生。
【文学对象】
《氓》第一至第三章的完整声音
【信息状态】
只暴露原诗声音；主题、章意和知识解释保持未知。
【学生主动作】
眼随声走；只在真实停顿处留点或问号
【参与路径】
个人先形成；需要交流时并行同桌或四人轮说；全班只公开少量有差异材料。
【可见产物】
教材停点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O06无声接续
【正常反例】
想不起、无新增、已经准确、不同意或暂时沉默均有诚实完成路径，不要求伪造改变。
【主视觉职责】
第一至三章原诗
【插图资格】
无
【第一人称接收】
我刚才面对“《氓》第一至第三章的完整声音”，留下了教材停点；我能用原词说清自己新增或修正的理解。
【故事回接】
页面结束前由一句自然复述回到谁做了什么、人物处境怎样变化以及故事推进到哪里。
【删除损失】
删除会失去开放接收
【相邻反证】
相邻页不同时处理“学生容易看见“《氓》第一至第三章的完整声音”，却不能把它准确接回人物和前后故事。”；合并会挤掉必要首答、校准或故事回接。
【失败信号】
学生只能复述活动手续，不能复述诗意；首答前已经看见完成关系或答案；产物在后页没有真实消费者
【教师逐字稿】
这一遍，眼睛跟着原诗，耳朵听她把话说下去。哪一句让你停了一下，就在教材旁点一个点，或画一个问号；没有停顿处，也只管继续听。现在从‘氓之蚩蚩’开始。
氓之蚩蚩，抱布贸丝。匪来贸丝，来即我谋。送子涉淇，至于顿丘。匪我愆期，子无良媒。将子无怒，秋以为期。
乘彼垝垣，以望复关。不见复关，泣涕涟涟。既见复关，载笑载言。尔卜尔筮，体无咎言。以尔车来，以我贿迁。
桑之未落，其叶沃若。于嗟鸠兮，无食桑葚！于嗟女兮，无与士耽！士之耽兮，犹可说也。女之耽兮，不可说也！
【真实场景】
教师站到侧后方连续朗读，屏幕只显示原诗；光点只停在当前行开头，不逐字追光。第三章末无声切页，不停讲。
（示意学生看教材与屏幕）
（连续朗读前三章）
（光点停在当前行首）
（无声切入O06）
【时间盒】
说明听读方式：20秒；连续朗读前三章：150秒；无声切页：10秒
【现场分支】
学生举手解释：以手势请他把问题留在原句旁，朗读继续。
走神：光点停在当前行首，学生从光点处重新进入，不公开点名。
【听者任务】
一直听到第三章末；只在自己的教材留下停顿记号，不讨论。
【证据位置】
教材第一至第三章原句旁
【自然切页句】
（无声切页，朗读不断。）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【V6.6物理状态】O06-B4｜50秒
【状态功能】
让第四章的多年贫困、渡水与责任判断完整进入。
【该状态学生可见文字】
她自己说｜第四章｜桑之落矣，其黄而陨。自我徂尔，三岁食贫。｜淇水汤汤，渐车帷裳。女也不爽，士贰其行。｜士也罔极，二三其德。
【V6.6逻辑页】O06｜逻辑页6｜3分钟
【前页输入】
前三章已经连续响过，朗读不因换页停止。
【唯一困难】
学生容易看见“《氓》第四至第六章的完整声音及全诗结尾”，却不能把它准确接回人物和前后故事。
【唯一功能】
无缝接收第四至六章并让末句落下。
【文学对象】
《氓》第四至第六章的完整声音及全诗结尾
【信息状态】
只继续暴露原诗，末句后保持十五秒无解释静默。
【学生主动作】
继续听读；末句后确认停点
【参与路径】
个人先形成；需要交流时并行同桌或四人轮说；全班只公开少量有差异材料。
【可见产物】
教材停点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O07取回
【正常反例】
想不起、无新增、已经准确、不同意或暂时沉默均有诚实完成路径，不要求伪造改变。
【主视觉职责】
第四至六章原诗
【插图资格】
无
【第一人称接收】
我刚才面对“《氓》第四至第六章的完整声音及全诗结尾”，留下了教材停点；我能用原词说清自己新增或修正的理解。
【故事回接】
页面结束前由一句自然复述回到谁做了什么、人物处境怎样变化以及故事推进到哪里。
【删除损失】
删除会把全诗压成婚前故事
【相邻反证】
相邻页不同时处理“学生容易看见“《氓》第四至第六章的完整声音及全诗结尾”，却不能把它准确接回人物和前后故事。”；合并会挤掉必要首答、校准或故事回接。
【失败信号】
学生只能复述活动手续，不能复述诗意；首答前已经看见完成关系或答案；产物在后页没有真实消费者
【教师逐字稿】
桑之落矣，其黄而陨。自我徂尔，三岁食贫。淇水汤汤，渐车帷裳。女也不爽，士贰其行。士也罔极，二三其德。
三岁为妇，靡室劳矣。夙兴夜寐，靡有朝矣。言既遂矣，至于暴矣。兄弟不知，咥其笑矣。静言思之，躬自悼矣。
及尔偕老，老使我怨。淇则有岸，隰则有泮。总角之宴，言笑晏晏。信誓旦旦，不思其反。反是不思，亦已焉哉！
（末句后静默十五秒。）现在看一眼自己留下的那个点或问号。没有找到，也先保留空白。
【真实场景】
教师保持O05的站位和声音，不在换页后重新说明任务；末句读完放下手，守住静默十五秒，再轻声提示确认停顿处。
（连续朗读第四至第六章）
（末句后静默15秒）
（学生确认停顿处）
（切入O07）
【时间盒】
连续朗读后三章：145秒；末句后静默：15秒；确认停顿处：20秒
【现场分支】
立即评论或发笑：教师不训斥，以停顿和手势守住十五秒，评论留到O07。
没有记号：允许空白，不追问情绪，不让学生借同桌的句子冒充自己的第一印象。
【听者任务】
一直听到末句；静默以后才确认个人停顿处。
【证据位置】
教材第四至第六章原句旁
【自然切页句】
哪一句把你留了下来？把第一次听见的《氓》，留在纸上。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【V6.6物理状态】O06-B5｜50秒
【状态功能】
让第五章的日复一日、外部笑声与内心悲悼完整进入。
【该状态学生可见文字】
她自己说｜第五章｜三岁为妇，靡室劳矣。夙兴夜寐，靡有朝矣。｜言既遂矣，至于暴矣。兄弟不知，咥其笑矣。｜静言思之，躬自悼矣。
【V6.6逻辑页】O06｜逻辑页6｜3分钟
【前页输入】
前三章已经连续响过，朗读不因换页停止。
【唯一困难】
学生容易看见“《氓》第四至第六章的完整声音及全诗结尾”，却不能把它准确接回人物和前后故事。
【唯一功能】
无缝接收第四至六章并让末句落下。
【文学对象】
《氓》第四至第六章的完整声音及全诗结尾
【信息状态】
只继续暴露原诗，末句后保持十五秒无解释静默。
【学生主动作】
继续听读；末句后确认停点
【参与路径】
个人先形成；需要交流时并行同桌或四人轮说；全班只公开少量有差异材料。
【可见产物】
教材停点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O07取回
【正常反例】
想不起、无新增、已经准确、不同意或暂时沉默均有诚实完成路径，不要求伪造改变。
【主视觉职责】
第四至六章原诗
【插图资格】
无
【第一人称接收】
我刚才面对“《氓》第四至第六章的完整声音及全诗结尾”，留下了教材停点；我能用原词说清自己新增或修正的理解。
【故事回接】
页面结束前由一句自然复述回到谁做了什么、人物处境怎样变化以及故事推进到哪里。
【删除损失】
删除会把全诗压成婚前故事
【相邻反证】
相邻页不同时处理“学生容易看见“《氓》第四至第六章的完整声音及全诗结尾”，却不能把它准确接回人物和前后故事。”；合并会挤掉必要首答、校准或故事回接。
【失败信号】
学生只能复述活动手续，不能复述诗意；首答前已经看见完成关系或答案；产物在后页没有真实消费者
【教师逐字稿】
桑之落矣，其黄而陨。自我徂尔，三岁食贫。淇水汤汤，渐车帷裳。女也不爽，士贰其行。士也罔极，二三其德。
三岁为妇，靡室劳矣。夙兴夜寐，靡有朝矣。言既遂矣，至于暴矣。兄弟不知，咥其笑矣。静言思之，躬自悼矣。
及尔偕老，老使我怨。淇则有岸，隰则有泮。总角之宴，言笑晏晏。信誓旦旦，不思其反。反是不思，亦已焉哉！
（末句后静默十五秒。）现在看一眼自己留下的那个点或问号。没有找到，也先保留空白。
【真实场景】
教师保持O05的站位和声音，不在换页后重新说明任务；末句读完放下手，守住静默十五秒，再轻声提示确认停顿处。
（连续朗读第四至第六章）
（末句后静默15秒）
（学生确认停顿处）
（切入O07）
【时间盒】
连续朗读后三章：145秒；末句后静默：15秒；确认停顿处：20秒
【现场分支】
立即评论或发笑：教师不训斥，以停顿和手势守住十五秒，评论留到O07。
没有记号：允许空白，不追问情绪，不让学生借同桌的句子冒充自己的第一印象。
【听者任务】
一直听到末句；静默以后才确认个人停顿处。
【证据位置】
教材第四至第六章原句旁
【自然切页句】
哪一句把你留了下来？把第一次听见的《氓》，留在纸上。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【V6.6物理状态】O06-B6｜80秒
【状态功能】
让第六章回望旧愿并使末句真正落下，随后守住无解释静默。
【该状态学生可见文字】
她自己说｜第六章｜及尔偕老，老使我怨。淇则有岸，隰则有泮。｜总角之宴，言笑晏晏。信誓旦旦，不思其反。｜反是不思，亦已焉哉！
【V6.6逻辑页】O06｜逻辑页6｜3分钟
【前页输入】
前三章已经连续响过，朗读不因换页停止。
【唯一困难】
学生容易看见“《氓》第四至第六章的完整声音及全诗结尾”，却不能把它准确接回人物和前后故事。
【唯一功能】
无缝接收第四至六章并让末句落下。
【文学对象】
《氓》第四至第六章的完整声音及全诗结尾
【信息状态】
只继续暴露原诗，末句后保持十五秒无解释静默。
【学生主动作】
继续听读；末句后确认停点
【参与路径】
个人先形成；需要交流时并行同桌或四人轮说；全班只公开少量有差异材料。
【可见产物】
教材停点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O07取回
【正常反例】
想不起、无新增、已经准确、不同意或暂时沉默均有诚实完成路径，不要求伪造改变。
【主视觉职责】
第四至六章原诗
【插图资格】
无
【第一人称接收】
我刚才面对“《氓》第四至第六章的完整声音及全诗结尾”，留下了教材停点；我能用原词说清自己新增或修正的理解。
【故事回接】
页面结束前由一句自然复述回到谁做了什么、人物处境怎样变化以及故事推进到哪里。
【删除损失】
删除会把全诗压成婚前故事
【相邻反证】
相邻页不同时处理“学生容易看见“《氓》第四至第六章的完整声音及全诗结尾”，却不能把它准确接回人物和前后故事。”；合并会挤掉必要首答、校准或故事回接。
【失败信号】
学生只能复述活动手续，不能复述诗意；首答前已经看见完成关系或答案；产物在后页没有真实消费者
【教师逐字稿】
桑之落矣，其黄而陨。自我徂尔，三岁食贫。淇水汤汤，渐车帷裳。女也不爽，士贰其行。士也罔极，二三其德。
三岁为妇，靡室劳矣。夙兴夜寐，靡有朝矣。言既遂矣，至于暴矣。兄弟不知，咥其笑矣。静言思之，躬自悼矣。
及尔偕老，老使我怨。淇则有岸，隰则有泮。总角之宴，言笑晏晏。信誓旦旦，不思其反。反是不思，亦已焉哉！
（末句后静默十五秒。）现在看一眼自己留下的那个点或问号。没有找到，也先保留空白。
【真实场景】
教师保持O05的站位和声音，不在换页后重新说明任务；末句读完放下手，守住静默十五秒，再轻声提示确认停顿处。
（连续朗读第四至第六章）
（末句后静默15秒）
（学生确认停顿处）
（切入O07）
【时间盒】
连续朗读后三章：145秒；末句后静默：15秒；确认停顿处：20秒
【现场分支】
立即评论或发笑：教师不训斥，以停顿和手势守住十五秒，评论留到O07。
没有记号：允许空白，不追问情绪，不让学生借同桌的句子冒充自己的第一印象。
【听者任务】
一直听到末句；静默以后才确认个人停顿处。
【证据位置】
教材第四至第六章原句旁
【自然切页句】
哪一句把你留了下来？把第一次听见的《氓》，留在纸上。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【V6.6物理状态】O07-A｜240秒
【状态功能】
保存每个人第一次真正听见的句子，不让三问覆盖个人起点。
【该状态学生可见文字】
把第一次听见的《氓》留在纸上｜“　　　　　　　　　　　　　　　　　　　　　　　”｜我看见……｜我听见……｜我想问……
【V6.6逻辑页】O07｜逻辑页7｜4分钟
【前页输入】
学生已经完成前页任务，手中保留与“学生在六章完整声音中的个人停顿句、画面、声音或问题”有关的原词或初稿。
【唯一困难】
学生容易看见“学生在六章完整声音中的个人停顿句、画面、声音或问题”，却不能把它准确接回人物和前后故事。
【唯一功能】
保存每个人第一次真正听见的句子，不让三问覆盖个人起点。
【文学对象】
学生在六章完整声音中的个人停顿句、画面、声音或问题
【信息状态】
首答前只给原诗、必要字面和一个自然问题；解释、分类、关系与代表答案在学生首稿后出现。
【学生主动作】
抄下一句；接写我看见、听见或想问
【参与路径】
个人先形成；需要交流时并行同桌或四人轮说；全班只公开少量有差异材料。
【可见产物】
个人初听卡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O08引用
【正常反例】
暂时没有停点可以写‘尚未找到’，先听同桌后仍可保留，不复制他人句子。
【主视觉职责】
一句原诗与个人留白
【插图资格】
无
【第一人称接收】
我刚才面对“学生在六章完整声音中的个人停顿句、画面、声音或问题”，留下了个人初听卡；我能用原词说清自己新增或修正的理解。
【故事回接】
页面结束前由一句自然复述回到谁做了什么、人物处境怎样变化以及故事推进到哪里。
【删除损失】
删除会失去真实接收起点
【相邻反证】
相邻页不同时处理“学生容易看见“学生在六章完整声音中的个人停顿句、画面、声音或问题”，却不能把它准确接回人物和前后故事。”；合并会挤掉必要首答、校准或故事回接。
【失败信号】
学生只能复述活动手续，不能复述诗意；首答前已经看见完成关系或答案；产物在后页没有真实消费者
【教师逐字稿】
现在才发《氓》初听卡。请接过来，不必翻面。如果有一句把你留了下来，就把它完整抄下，再接一句自然话：‘我看见……’‘我听见……’或者‘我想问……’。不要猜老师最喜欢哪一句。暂时没有找到，也可以写‘尚未找到’，先听同桌说完，再决定要不要补。（静默书写五十五秒。）现在两个人各说一次。听的人不评价深不深，只补记一个自己原先没有注意到的地方。（交换完成后，教师读出两三份停在不同诗句的文字。）这些话先留在黑板右侧，下一页我们从这里继续。
【真实场景】
完整听读结束后，教师才发03B《氓》初听卡；屏幕为大面积留白。交流后，教师只读真实文字并抄两三个关键词在黑板右侧，不作主题归纳。
（发下03B《氓》初听卡）
（个人静默书写）
（同桌各说一次）
（听者补记不同之处）
（读出两三份真实文字并留在黑板右侧）
【时间盒】
发下初听卡：14秒；个人书写：73秒；同桌交换与补记：93秒；教师读出真实文字并保留：60秒
【现场分支】
尚未找到：先听同桌；仍没有就保留‘尚未找到’，不复制同桌句子。
只写情绪词：追问‘是哪一句的哪个画面或声音让你这样写’，有依据再补，不直接替写。
两人完全相同：允许相同；听者可补记‘我们停在同一句，但理由不同/相同’，不制造差异。
【听者任务】
复述自己听见的一个不同注意点；不替同伴解释全诗。
【证据位置】
O07初听卡；黑板右侧的真实初听关键词
【自然切页句】
六章已经完整地响过，大家停下的地方也留在这里。现在我们把这首诗慢慢读懂。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【V6.6物理状态】O08-A｜120秒
【状态功能】
把三问变成读后生成的全文导航：先讲经历，再看生活，最后追原因。
【该状态学生可见文字】
读懂六章，我们要回答什么？｜她经历了什么？｜她婚后的不幸，在生活中是什么样子？｜这场婚姻为什么走到这一步？
【V6.6逻辑页】O08｜逻辑页8｜2分钟
【前页输入】
全诗已经完整听过，个人初见也已保存。
【唯一困难】
学生容易看见“在完整听读和学生初听文字之后出现的经历、不幸表现与婚姻原因三个问题”，却不能把它准确接回人物和前后故事。
【唯一功能】
把三问变成读后生成的全文导航：先讲经历，再看生活，最后追原因。
【文学对象】
在完整听读和学生初听文字之后出现的经历、不幸表现与婚姻原因三个问题
【信息状态】
三问此刻首次出现；不显示标准答案和原因框架。
【学生主动作】
保存三问；暂不抢答
【参与路径】
个人先形成；需要交流时并行同桌或四人轮说；全班只公开少量有差异材料。
【可见产物】
三问书签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六章积证并由S02—S04回收
【正常反例】
想不起、无新增、已经准确、不同意或暂时沉默均有诚实完成路径，不要求伪造改变。
【主视觉职责】
三个自然问题
【插图资格】
无
【第一人称接收】
我刚才面对“在完整听读和学生初听文字之后出现的经历、不幸表现与婚姻原因三个问题”，留下了三问书签；我能用原词说清自己新增或修正的理解。
【故事回接】
页面结束前由一句自然复述回到谁做了什么、人物处境怎样变化以及故事推进到哪里。
【删除损失】
删除后细读缺少共同方向
【相邻反证】
相邻页不同时处理“学生容易看见“在完整听读和学生初听文字之后出现的经历、不幸表现与婚姻原因三个问题”，却不能把它准确接回人物和前后故事。”；合并会挤掉必要首答、校准或故事回接。
【失败信号】
学生只能复述活动手续，不能复述诗意；首答前已经看见完成关系或答案；产物在后页没有真实消费者
【教师逐字稿】
刚才，有同学停在‘____’，写下‘____’；也有同学在‘____’旁留下一个问题：‘____？’这些是我们第一次听见她时真正停下来的地方。（教师只引用O07黑板右侧的真实文字，不补造。）六章已经完整地响过。接下来慢慢读懂它，我们始终回来回答三个问题：她经历了什么？她婚后的不幸，在生活中是什么样子？这场婚姻为什么走到这一步？现在才发三问阅读书签，请接过来，把三问留好。第一问跟着事情走；第二问要看她具体过着怎样的日子；第三问要等事实一件件出现以后再判断。此刻不急着给答案。
【真实场景】
开始时屏幕仍停在O07，教师指向黑板右侧真实初听文字并读出两三份；引用完成后才切出三问页，并在此刻首次发下03C三问阅读书签。
（指向并引用真实初听文字）
（切出三问页）
（首次发下03C三问阅读书签）
（学生保存三问）
【时间盒】
引用真实初听文字：35秒；呈现并读出三问：35秒；发书签并保存三问：35秒；说明后续取回：15秒
【现场分支】
初听文字都集中在一处：如实引用同一处的不同说法，不假称全班已经覆盖三问。
抢答原因：请学生把原话写在第三问旁，标‘初步判断’，不当场确认。
追问为何现在才发：回应‘先让整首诗自己说完，再用问题慢慢读懂它。’
【听者任务】
核对教师引用确实来自刚才的同学文字，并保存三问的稳定措辞。
【证据位置】
O07初听文字；O08现场首次发下的03C三问阅读书签
【自然切页句】
问题已经留下。再带上这首诗最低限度的身份，我们就从第一章慢慢读起。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【V6.6物理状态】C101-A｜300秒
【状态功能】
让第一章完整进入，并确认女子怎样用第一人称讲两个人的行动。
【该状态学生可见文字】
第一章｜他做了什么？她又做了什么？｜氓之蚩蚩，抱布贸丝。｜匪来贸丝，来即我谋。｜送子涉淇，至于顿丘。｜匪我愆期，子无良媒。｜将子无怒，秋以为期。
【V6.6逻辑页】C101｜逻辑页9｜5分钟
【前页输入】
学生已经完成前页任务，手中保留与“氓之蚩蚩，抱布贸丝。匪来贸丝，来即我谋。送子涉淇，至于顿丘。匪我愆期，子无良媒。将子无怒，秋以为期。”有关的原词或初稿。
【唯一困难】
学生容易看见“氓之蚩蚩，抱布贸丝。匪来贸丝，来即我谋。送子涉淇，至于顿丘。匪我愆期，子无良媒。将子无怒，秋以为期。”，却不能把它准确接回人物和前后故事。
【唯一功能】
让第一章完整进入，并确认女子怎样用第一人称讲两个人的行动。
【文学对象】
氓之蚩蚩，抱布贸丝。匪来贸丝，来即我谋。送子涉淇，至于顿丘。匪我愆期，子无良媒。将子无怒，秋以为期。
【信息状态】
首答前只给原诗、必要字面和一个自然问题；解释、分类、关系与代表答案在学生首稿后出现。
【学生主动作】
完整读章；圈男子动作、划女子动作
【参与路径】
个人先形成；需要交流时并行同桌或四人轮说；全班只公开少量有差异材料。
【可见产物】
第一章行动初稿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C102—C104
【正常反例】
想不起、无新增、已经准确、不同意或暂时沉默均有诚实完成路径，不要求伪造改变。
【主视觉职责】
整章原诗与圈划
【插图资格】
无
【第一人称接收】
我刚才面对“氓之蚩蚩，抱布贸丝。匪来贸丝，来即我谋。送子涉淇，至于顿丘。匪我愆期，子无良媒。将子无怒，秋以为期。”，留下了第一章行动初稿；我能用原词说清自己新增或修正的理解。
【故事回接】
页面结束前由一句自然复述回到谁做了什么、人物处境怎样变化以及故事推进到哪里。
【删除损失】
删除会使逐句讲解没有整章轮廓
【相邻反证】
相邻页不同时处理“学生容易看见“氓之蚩蚩，抱布贸丝。匪来贸丝，来即我谋。送子涉淇，至于顿丘。匪我愆期，子无良媒。将子无怒，秋以为期。”，却不能把它准确接回人物和前后故事。”；合并会挤掉必要首答、校准或故事回接。
【失败信号】
学生只能复述活动手续，不能复述诗意；首答前已经看见完成关系或答案；产物在后页没有真实消费者
【教师逐字稿】
我们已经知道，《氓》是一位女子回头讲自己的婚姻。现在不急着把第一章拆开，请翻到第一章。先听我把这一章完整读一遍，眼睛只跟着诗句走。随后请你自己再读一遍：男子做的事，用圈轻轻标出来；女子做的事，用线划出来。遇到不懂的词，先留一个问号，不要让一个词拦住整章。现在听读。（教师完整读完，停三秒。）轮到你们自己读。读完后，同桌只互相问一件事：‘这一处是谁做的？’不要替对方翻译，也不要给人物贴标签。（巡视并等待。）请看回自己的诗句。如果刚才标错了主体，就改回来；如果同桌找到了你漏掉的动作，回诗补一处。我们先听两位同学各说一个自己最确定的动作。（引用现场原话。）第一章已经有了一个很粗的轮廓：有人来，有人送，两个人还谈到了婚事。那些问号先留着，接下来让原词自己把故事说清。
【真实场景】
承接O09，教师只发03A第一章初读卡；屏幕呈现整章原诗。教师读时站在屏幕侧面，学生圈划时退到后排，不在诗句上预做颜色答案。
（发03A第一章初读卡）
（教师完整读章后静默三秒）
（学生独立读并圈划）
（同桌只核对主体）
（引用两条现场动作后收束）
【时间盒】
承接、发卡与教师完整听读：69秒；学生完整朗读并圈划：94秒；同桌核对行动主体：56秒；回诗修订与两条现场分享：56秒；教师引用原话收束并转场：25秒
【现场分支】
生词阻断：请学生先留问号并把整章读完；词义按C102—C104所在原句解决。
主体混淆：只追问‘诗中是谁在用“我”说话、她把谁称作“子”’，让学生自行回诗改画。
直接评价男子：回应‘这个判断先放在诗边，眼下只把本章写出的动作找准。’
【听者任务】
同桌发言时，只检查行动主体；全班分享时，核对自己是否漏掉同一原词。
【证据位置】
03A第一章初读卡及教材第一章旁批
【自然切页句】
先看第一处：诗让我们先看见他做什么，女子随后又告诉我们什么？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【V6.6物理状态】C102-B0｜150秒
【状态功能】
只面对两句原诗，形成第一句所见与第二句所知的个人首答。
【该状态学生可见文字】
贸丝，还是来谋？｜氓之蚩蚩，抱布贸丝。｜匪来贸丝，来即我谋。｜第一句让我们看见什么？｜第二句又告诉了我们什么？
【V6.6逻辑页】C102｜逻辑页10｜5分钟
【前页输入】
学生已经完成前页任务，手中保留与“氓之蚩蚩，抱布贸丝。匪来贸丝，来即我谋。”有关的原词或初稿。
【唯一困难】
学生容易看见“氓之蚩蚩，抱布贸丝。匪来贸丝，来即我谋。”，却不能把它准确接回人物和前后故事。
【唯一功能】
从重复的‘贸丝’和‘匪—谋’读出叙事转弯，并守住初见证据边界。
【文学对象】
氓之蚩蚩，抱布贸丝。匪来贸丝，来即我谋。
【信息状态】
首答只给两句和两个问题；叙事转弯、来意、人格和预谋判断都不预填。
【学生主动作】
自然口译；圈转折字并说叙事次序
【参与路径】
个人先形成；需要交流时并行同桌或四人轮说；全班只公开少量有差异材料。
【可见产物】
叙事转弯句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C105与C503
【正常反例】
想不起、无新增、已经准确、不同意或暂时沉默均有诚实完成路径，不要求伪造改变。
【主视觉职责】
原词转弯
【插图资格】
I01待A/B
【第一人称接收】
我刚才面对“氓之蚩蚩，抱布贸丝。匪来贸丝，来即我谋。”，留下了叙事转弯句；我能用原词说清自己新增或修正的理解。
【故事回接】
页面结束前由一句自然复述回到谁做了什么、人物处境怎样变化以及故事推进到哪里。
【删除损失】
删除会压平初次接近的叙述方式
【相邻反证】
相邻页不同时处理“学生容易看见“氓之蚩蚩，抱布贸丝。匪来贸丝，来即我谋。”，却不能把它准确接回人物和前后故事。”；合并会挤掉必要首答、校准或故事回接。
【失败信号】
屏幕标出‘表面动作／真实来意’答案；学生看图猜人格；教师在首答前解释匪—谋关系
【教师逐字稿】
请看第一章开头两句。先不要等我翻译，把它们在细读单上说成一句自然话；如果一时说不完整，先写‘谁做了什么’。再圈出一个让意思转过去的字。现在安静七十秒。（教师退到过道巡视，不在屏幕上显示释义。）好，请同桌两人分着读：一位读诗先让我们看见的动作，一位读女子随后说明的来意，再交换。谁愿意先说自己的自然话？（等待，引用学生真实表达。）我们把几个词校准一下：‘氓’在这里指诗中的男主人公；‘蚩蚩’是忠厚的样子，是眼前的出场印象；‘贸’是交易、交换；‘匪’是不是；‘即’是靠近；‘谋’在这里是商量婚事。请回到自己刚才那句话，只改一处你认为还不准确的地方；原来已经准确，就在旁边补出托住它的原词。（等待修订。）现在再读：‘氓之蚩蚩，抱布贸丝。匪来贸丝，来即我谋。’哪一个字让话转弯？是‘匪’。诗先让我们看见抱布贸丝，女子随后说明来意是商量婚事。此刻，我们可以说到这里；不能只凭这两句就断言他的一生，也不能把后来全部结局提前倒回来。故事刚开始，他来了。接下来，诗不先写她的心情，只写她把他送了多远。
【真实场景】
C101圈划完成后，教师发03B第一章细读单。屏幕只显示两句原诗和三个问题；释义始终只由教师在学生尝试后口头给出，学生写在教材对应词旁。
（发03B细读单）
（静默等待个人自然口译）
（两人分句朗读）
（引用真实学生表达后再定点释义）
（学生亲自修订并回读）
【时间盒】
承接、发单与读题：25秒；个人自然口译并圈转折字：58秒；双人分读与互相核对：42秒；学生分享及教师定点释义：79秒；个人修订和边界处理：54秒；回诗重读、故事回接与转场：42秒
【现场分支】
逐词堆叠：只问‘这两句里谁先做了什么，女子随后说明什么’，让学生重新组织成自然话。
直接写成装老实欺骗：追问哪几个字足以证明完整人格和预谋；证据不足就降为‘出场看起来忠厚，来意由贸丝转到谋婚’。
原译已经准确：不强迫换色或改错，允许保留，并补一处原词证据或解释边界。
【听者任务】
分读时听清动作与来意是否分开；全班分享时核对自己的‘匪’是否真正承担了转折。
【证据位置】
03B第一章细读单C102区域及教材词旁批注
【自然切页句】
来意已经说清。接下来，诗不写一句‘她很投入’，只让三个动词把一段路铺开。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【V6.6物理状态】C102-B1｜65秒
【状态功能】
观察学生真正圈出的转折处和不同口译。
【该状态学生可见文字】
哪一个字，让话转了方向？｜氓之蚩蚩，抱布贸丝。｜匪来贸丝，来即我谋。｜看一眼黑板上大家圈出的地方。
【V6.6逻辑页】C102｜逻辑页10｜5分钟
【前页输入】
学生已经完成前页任务，手中保留与“氓之蚩蚩，抱布贸丝。匪来贸丝，来即我谋。”有关的原词或初稿。
【唯一困难】
学生容易看见“氓之蚩蚩，抱布贸丝。匪来贸丝，来即我谋。”，却不能把它准确接回人物和前后故事。
【唯一功能】
从重复的‘贸丝’和‘匪—谋’读出叙事转弯，并守住初见证据边界。
【文学对象】
氓之蚩蚩，抱布贸丝。匪来贸丝，来即我谋。
【信息状态】
首答只给两句和两个问题；叙事转弯、来意、人格和预谋判断都不预填。
【学生主动作】
自然口译；圈转折字并说叙事次序
【参与路径】
个人先形成；需要交流时并行同桌或四人轮说；全班只公开少量有差异材料。
【可见产物】
叙事转弯句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C105与C503
【正常反例】
想不起、无新增、已经准确、不同意或暂时沉默均有诚实完成路径，不要求伪造改变。
【主视觉职责】
原词转弯
【插图资格】
I01待A/B
【第一人称接收】
我刚才面对“氓之蚩蚩，抱布贸丝。匪来贸丝，来即我谋。”，留下了叙事转弯句；我能用原词说清自己新增或修正的理解。
【故事回接】
页面结束前由一句自然复述回到谁做了什么、人物处境怎样变化以及故事推进到哪里。
【删除损失】
删除会压平初次接近的叙述方式
【相邻反证】
相邻页不同时处理“学生容易看见“氓之蚩蚩，抱布贸丝。匪来贸丝，来即我谋。”，却不能把它准确接回人物和前后故事。”；合并会挤掉必要首答、校准或故事回接。
【失败信号】
屏幕标出‘表面动作／真实来意’答案；学生看图猜人格；教师在首答前解释匪—谋关系
【教师逐字稿】
请看第一章开头两句。先不要等我翻译，把它们在细读单上说成一句自然话；如果一时说不完整，先写‘谁做了什么’。再圈出一个让意思转过去的字。现在安静七十秒。（教师退到过道巡视，不在屏幕上显示释义。）好，请同桌两人分着读：一位读诗先让我们看见的动作，一位读女子随后说明的来意，再交换。谁愿意先说自己的自然话？（等待，引用学生真实表达。）我们把几个词校准一下：‘氓’在这里指诗中的男主人公；‘蚩蚩’是忠厚的样子，是眼前的出场印象；‘贸’是交易、交换；‘匪’是不是；‘即’是靠近；‘谋’在这里是商量婚事。请回到自己刚才那句话，只改一处你认为还不准确的地方；原来已经准确，就在旁边补出托住它的原词。（等待修订。）现在再读：‘氓之蚩蚩，抱布贸丝。匪来贸丝，来即我谋。’哪一个字让话转弯？是‘匪’。诗先让我们看见抱布贸丝，女子随后说明来意是商量婚事。此刻，我们可以说到这里；不能只凭这两句就断言他的一生，也不能把后来全部结局提前倒回来。故事刚开始，他来了。接下来，诗不先写她的心情，只写她把他送了多远。
【真实场景】
C101圈划完成后，教师发03B第一章细读单。屏幕只显示两句原诗和三个问题；释义始终只由教师在学生尝试后口头给出，学生写在教材对应词旁。
（发03B细读单）
（静默等待个人自然口译）
（两人分句朗读）
（引用真实学生表达后再定点释义）
（学生亲自修订并回读）
【时间盒】
承接、发单与读题：25秒；个人自然口译并圈转折字：58秒；双人分读与互相核对：42秒；学生分享及教师定点释义：79秒；个人修订和边界处理：54秒；回诗重读、故事回接与转场：42秒
【现场分支】
逐词堆叠：只问‘这两句里谁先做了什么，女子随后说明什么’，让学生重新组织成自然话。
直接写成装老实欺骗：追问哪几个字足以证明完整人格和预谋；证据不足就降为‘出场看起来忠厚，来意由贸丝转到谋婚’。
原译已经准确：不强迫换色或改错，允许保留，并补一处原词证据或解释边界。
【听者任务】
分读时听清动作与来意是否分开；全班分享时核对自己的‘匪’是否真正承担了转折。
【证据位置】
03B第一章细读单C102区域及教材词旁批注
【自然切页句】
来意已经说清。接下来，诗不写一句‘她很投入’，只让三个动词把一段路铺开。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【V6.6物理状态】C102-B2｜85秒
【状态功能】
准确收束叙事转弯、自然口译和证据边界。
【该状态学生可见文字】
先看见：抱布贸丝｜一个“匪”字，转过话头｜女子告诉我们：不是来换丝，是来谈婚事。｜至于他的为人和后来，此刻还不能断定。
【V6.6逻辑页】C102｜逻辑页10｜5分钟
【前页输入】
学生已经完成前页任务，手中保留与“氓之蚩蚩，抱布贸丝。匪来贸丝，来即我谋。”有关的原词或初稿。
【唯一困难】
学生容易看见“氓之蚩蚩，抱布贸丝。匪来贸丝，来即我谋。”，却不能把它准确接回人物和前后故事。
【唯一功能】
从重复的‘贸丝’和‘匪—谋’读出叙事转弯，并守住初见证据边界。
【文学对象】
氓之蚩蚩，抱布贸丝。匪来贸丝，来即我谋。
【信息状态】
首答只给两句和两个问题；叙事转弯、来意、人格和预谋判断都不预填。
【学生主动作】
自然口译；圈转折字并说叙事次序
【参与路径】
个人先形成；需要交流时并行同桌或四人轮说；全班只公开少量有差异材料。
【可见产物】
叙事转弯句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C105与C503
【正常反例】
想不起、无新增、已经准确、不同意或暂时沉默均有诚实完成路径，不要求伪造改变。
【主视觉职责】
原词转弯
【插图资格】
I01待A/B
【第一人称接收】
我刚才面对“氓之蚩蚩，抱布贸丝。匪来贸丝，来即我谋。”，留下了叙事转弯句；我能用原词说清自己新增或修正的理解。
【故事回接】
页面结束前由一句自然复述回到谁做了什么、人物处境怎样变化以及故事推进到哪里。
【删除损失】
删除会压平初次接近的叙述方式
【相邻反证】
相邻页不同时处理“学生容易看见“氓之蚩蚩，抱布贸丝。匪来贸丝，来即我谋。”，却不能把它准确接回人物和前后故事。”；合并会挤掉必要首答、校准或故事回接。
【失败信号】
屏幕标出‘表面动作／真实来意’答案；学生看图猜人格；教师在首答前解释匪—谋关系
【教师逐字稿】
请看第一章开头两句。先不要等我翻译，把它们在细读单上说成一句自然话；如果一时说不完整，先写‘谁做了什么’。再圈出一个让意思转过去的字。现在安静七十秒。（教师退到过道巡视，不在屏幕上显示释义。）好，请同桌两人分着读：一位读诗先让我们看见的动作，一位读女子随后说明的来意，再交换。谁愿意先说自己的自然话？（等待，引用学生真实表达。）我们把几个词校准一下：‘氓’在这里指诗中的男主人公；‘蚩蚩’是忠厚的样子，是眼前的出场印象；‘贸’是交易、交换；‘匪’是不是；‘即’是靠近；‘谋’在这里是商量婚事。请回到自己刚才那句话，只改一处你认为还不准确的地方；原来已经准确，就在旁边补出托住它的原词。（等待修订。）现在再读：‘氓之蚩蚩，抱布贸丝。匪来贸丝，来即我谋。’哪一个字让话转弯？是‘匪’。诗先让我们看见抱布贸丝，女子随后说明来意是商量婚事。此刻，我们可以说到这里；不能只凭这两句就断言他的一生，也不能把后来全部结局提前倒回来。故事刚开始，他来了。接下来，诗不先写她的心情，只写她把他送了多远。
【真实场景】
C101圈划完成后，教师发03B第一章细读单。屏幕只显示两句原诗和三个问题；释义始终只由教师在学生尝试后口头给出，学生写在教材对应词旁。
（发03B细读单）
（静默等待个人自然口译）
（两人分句朗读）
（引用真实学生表达后再定点释义）
（学生亲自修订并回读）
【时间盒】
承接、发单与读题：25秒；个人自然口译并圈转折字：58秒；双人分读与互相核对：42秒；学生分享及教师定点释义：79秒；个人修订和边界处理：54秒；回诗重读、故事回接与转场：42秒
【现场分支】
逐词堆叠：只问‘这两句里谁先做了什么，女子随后说明什么’，让学生重新组织成自然话。
直接写成装老实欺骗：追问哪几个字足以证明完整人格和预谋；证据不足就降为‘出场看起来忠厚，来意由贸丝转到谋婚’。
原译已经准确：不强迫换色或改错，允许保留，并补一处原词证据或解释边界。
【听者任务】
分读时听清动作与来意是否分开；全班分享时核对自己的‘匪’是否真正承担了转折。
【证据位置】
03B第一章细读单C102区域及教材词旁批注
【自然切页句】
来意已经说清。接下来，诗不写一句‘她很投入’，只让三个动词把一段路铺开。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【V6.6物理状态】C103-B0｜105秒
【状态功能】
保留完整原句和未经连线的动词，让学生自己生成路径。
【该状态学生可见文字】
她把他送了多远？｜送子涉淇，至于顿丘。｜送　　涉　　至｜沿着三个动词，自己画出这段路。
【V6.6逻辑页】C103｜逻辑页11｜4分钟
【前页输入】
学生已经完成前页任务，手中保留与“送子涉淇，至于顿丘。”有关的原词或初稿。
【唯一困难】
学生容易看见“送子涉淇，至于顿丘。”，却不能把它准确接回人物和前后故事。
【唯一功能】
让‘送—涉—至’成为身体可感的空间长度，看见女子主动投入。
【文学对象】
送子涉淇，至于顿丘。
【信息状态】
首答前只给原诗、必要字面和一个自然问题；解释、分类、关系与代表答案在学生首稿后出现。
【学生主动作】
用指尖或笔迹连三个动词；说成一句自然话
【参与路径】
个人先形成；需要交流时并行同桌或四人轮说；全班只公开少量有差异材料。
【可见产物】
送行线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C105
【正常反例】
想不起、无新增、已经准确、不同意或暂时沉默均有诚实完成路径，不要求伪造改变。
【主视觉职责】
三个原词之间的空间
【插图资格】
I02待A/B
【第一人称接收】
我刚才面对“送子涉淇，至于顿丘。”，留下了送行线；我能用原词说清自己新增或修正的理解。
【故事回接】
页面结束前由一句自然复述回到谁做了什么、人物处境怎样变化以及故事推进到哪里。
【删除损失】
删除会把远送压成‘她送他’
【相邻反证】
相邻页不同时处理“学生容易看见“送子涉淇，至于顿丘。”，却不能把它准确接回人物和前后故事。”；合并会挤掉必要首答、校准或故事回接。
【失败信号】
学生只能复述活动手续，不能复述诗意；首答前已经看见完成关系或答案；产物在后页没有真实消费者
【教师逐字稿】
来意说清以后，女子怎样回应？请只看这一句：‘送子涉淇，至于顿丘。’先别急着写‘她很爱他’，让三个动词自己走起来。请在细读单上找到‘送、涉、至’，用手指先走一遍，再用一条笔迹把它们接起来；补上是谁在行动。屏幕没有箭头，方向和距离也不要凭空画，只保存诗中真正写出的次序。（教师巡视并等待。）同桌互相说一遍这段路，听者只检查三个动作有没有少一个。（等待。）我们校准三个词：‘涉’是渡过，‘淇’是淇水，‘顿丘’是地名。诗没有告诉我们精确里程，却让‘送—涉—至’连续发生。谁愿意用一句平常话，把这段路说出来？（引用两种现场说法。）你们可能说‘她送他渡过淇水，一直送到顿丘’，也可能用别的自然话；只要三个动作和人物不丢，就让自己的句子保留下来。回到原诗，再读一次。女子的投入，诗没有先写成一个标签，而是写成一段越过淇水的送行。她一直送到顿丘，婚事却没有当场定下。下面两句，是她怎样把话继续说下去。
【真实场景】
屏幕把三个原词分开放置但不连线。教师先用手悬空示范‘手指可以移动’，不替学生画路线；学生落笔时教师走入过道。
（指向原句而不预画箭头）
（学生手指预走后落笔）
（同桌互说并只查漏动作）
（定点解释三个词）
（引用现场自然话并回读）
【时间盒】
承接原句与说明低虚构行线：24秒；个人手指移动和笔迹连线：48秒；同桌互说并核对三个动作：36秒；教师定点释义和文本边界：52秒；学生自然话分享与个人修订：44秒；回诗重读、故事回接与转场：36秒
【现场分支】
画成精确地图：请删去诗中没有的村落、方向和里程，只保留渡淇、至顿丘的行动次序。
只写她很爱他：先让学生读出送、涉、至并说清路，再允许把投入作为有依据的印象留下。
不愿画线：允许只用手指依次点三个词，随后把动作说成一句话；不以绘画能力评价。
【听者任务】
只听人物主体和送、涉、至三个动作是否齐全，不评价画得是否好看。
【证据位置】
03B第一章细读单C103区域
【自然切页句】
她一直送到顿丘，婚事却没有当场定下。接下来，看她怎样把话继续说下去。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【V6.6物理状态】C103-B1｜60秒
【状态功能】
同桌对照路径，听清动作主体和到达位置。
【该状态学生可见文字】
把你画的这段路，指给同桌看。｜送子涉淇，至于顿丘。｜谁在送？经过哪里？到达哪里？
【V6.6逻辑页】C103｜逻辑页11｜4分钟
【前页输入】
学生已经完成前页任务，手中保留与“送子涉淇，至于顿丘。”有关的原词或初稿。
【唯一困难】
学生容易看见“送子涉淇，至于顿丘。”，却不能把它准确接回人物和前后故事。
【唯一功能】
让‘送—涉—至’成为身体可感的空间长度，看见女子主动投入。
【文学对象】
送子涉淇，至于顿丘。
【信息状态】
首答前只给原诗、必要字面和一个自然问题；解释、分类、关系与代表答案在学生首稿后出现。
【学生主动作】
用指尖或笔迹连三个动词；说成一句自然话
【参与路径】
个人先形成；需要交流时并行同桌或四人轮说；全班只公开少量有差异材料。
【可见产物】
送行线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C105
【正常反例】
想不起、无新增、已经准确、不同意或暂时沉默均有诚实完成路径，不要求伪造改变。
【主视觉职责】
三个原词之间的空间
【插图资格】
I02待A/B
【第一人称接收】
我刚才面对“送子涉淇，至于顿丘。”，留下了送行线；我能用原词说清自己新增或修正的理解。
【故事回接】
页面结束前由一句自然复述回到谁做了什么、人物处境怎样变化以及故事推进到哪里。
【删除损失】
删除会把远送压成‘她送他’
【相邻反证】
相邻页不同时处理“学生容易看见“送子涉淇，至于顿丘。”，却不能把它准确接回人物和前后故事。”；合并会挤掉必要首答、校准或故事回接。
【失败信号】
学生只能复述活动手续，不能复述诗意；首答前已经看见完成关系或答案；产物在后页没有真实消费者
【教师逐字稿】
来意说清以后，女子怎样回应？请只看这一句：‘送子涉淇，至于顿丘。’先别急着写‘她很爱他’，让三个动词自己走起来。请在细读单上找到‘送、涉、至’，用手指先走一遍，再用一条笔迹把它们接起来；补上是谁在行动。屏幕没有箭头，方向和距离也不要凭空画，只保存诗中真正写出的次序。（教师巡视并等待。）同桌互相说一遍这段路，听者只检查三个动作有没有少一个。（等待。）我们校准三个词：‘涉’是渡过，‘淇’是淇水，‘顿丘’是地名。诗没有告诉我们精确里程，却让‘送—涉—至’连续发生。谁愿意用一句平常话，把这段路说出来？（引用两种现场说法。）你们可能说‘她送他渡过淇水，一直送到顿丘’，也可能用别的自然话；只要三个动作和人物不丢，就让自己的句子保留下来。回到原诗，再读一次。女子的投入，诗没有先写成一个标签，而是写成一段越过淇水的送行。她一直送到顿丘，婚事却没有当场定下。下面两句，是她怎样把话继续说下去。
【真实场景】
屏幕把三个原词分开放置但不连线。教师先用手悬空示范‘手指可以移动’，不替学生画路线；学生落笔时教师走入过道。
（指向原句而不预画箭头）
（学生手指预走后落笔）
（同桌互说并只查漏动作）
（定点解释三个词）
（引用现场自然话并回读）
【时间盒】
承接原句与说明低虚构行线：24秒；个人手指移动和笔迹连线：48秒；同桌互说并核对三个动作：36秒；教师定点释义和文本边界：52秒；学生自然话分享与个人修订：44秒；回诗重读、故事回接与转场：36秒
【现场分支】
画成精确地图：请删去诗中没有的村落、方向和里程，只保留渡淇、至顿丘的行动次序。
只写她很爱他：先让学生读出送、涉、至并说清路，再允许把投入作为有依据的印象留下。
不愿画线：允许只用手指依次点三个词，随后把动作说成一句话；不以绘画能力评价。
【听者任务】
只听人物主体和送、涉、至三个动作是否齐全，不评价画得是否好看。
【证据位置】
03B第一章细读单C103区域
【自然切页句】
她一直送到顿丘，婚事却没有当场定下。接下来，看她怎样把话继续说下去。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【V6.6物理状态】C103-B2｜75秒
【状态功能】
用原词准确收束女子远送的空间长度。
【该状态学生可见文字】
送　→　涉淇　→　至于顿丘｜她送他渡过淇水，一直送到顿丘。｜这份投入，先由三个动作说出来。
【V6.6逻辑页】C103｜逻辑页11｜4分钟
【前页输入】
学生已经完成前页任务，手中保留与“送子涉淇，至于顿丘。”有关的原词或初稿。
【唯一困难】
学生容易看见“送子涉淇，至于顿丘。”，却不能把它准确接回人物和前后故事。
【唯一功能】
让‘送—涉—至’成为身体可感的空间长度，看见女子主动投入。
【文学对象】
送子涉淇，至于顿丘。
【信息状态】
首答前只给原诗、必要字面和一个自然问题；解释、分类、关系与代表答案在学生首稿后出现。
【学生主动作】
用指尖或笔迹连三个动词；说成一句自然话
【参与路径】
个人先形成；需要交流时并行同桌或四人轮说；全班只公开少量有差异材料。
【可见产物】
送行线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C105
【正常反例】
想不起、无新增、已经准确、不同意或暂时沉默均有诚实完成路径，不要求伪造改变。
【主视觉职责】
三个原词之间的空间
【插图资格】
I02待A/B
【第一人称接收】
我刚才面对“送子涉淇，至于顿丘。”，留下了送行线；我能用原词说清自己新增或修正的理解。
【故事回接】
页面结束前由一句自然复述回到谁做了什么、人物处境怎样变化以及故事推进到哪里。
【删除损失】
删除会把远送压成‘她送他’
【相邻反证】
相邻页不同时处理“学生容易看见“送子涉淇，至于顿丘。”，却不能把它准确接回人物和前后故事。”；合并会挤掉必要首答、校准或故事回接。
【失败信号】
学生只能复述活动手续，不能复述诗意；首答前已经看见完成关系或答案；产物在后页没有真实消费者
【教师逐字稿】
来意说清以后，女子怎样回应？请只看这一句：‘送子涉淇，至于顿丘。’先别急着写‘她很爱他’，让三个动词自己走起来。请在细读单上找到‘送、涉、至’，用手指先走一遍，再用一条笔迹把它们接起来；补上是谁在行动。屏幕没有箭头，方向和距离也不要凭空画，只保存诗中真正写出的次序。（教师巡视并等待。）同桌互相说一遍这段路，听者只检查三个动作有没有少一个。（等待。）我们校准三个词：‘涉’是渡过，‘淇’是淇水，‘顿丘’是地名。诗没有告诉我们精确里程，却让‘送—涉—至’连续发生。谁愿意用一句平常话，把这段路说出来？（引用两种现场说法。）你们可能说‘她送他渡过淇水，一直送到顿丘’，也可能用别的自然话；只要三个动作和人物不丢，就让自己的句子保留下来。回到原诗，再读一次。女子的投入，诗没有先写成一个标签，而是写成一段越过淇水的送行。她一直送到顿丘，婚事却没有当场定下。下面两句，是她怎样把话继续说下去。
【真实场景】
屏幕把三个原词分开放置但不连线。教师先用手悬空示范‘手指可以移动’，不替学生画路线；学生落笔时教师走入过道。
（指向原句而不预画箭头）
（学生手指预走后落笔）
（同桌互说并只查漏动作）
（定点解释三个词）
（引用现场自然话并回读）
【时间盒】
承接原句与说明低虚构行线：24秒；个人手指移动和笔迹连线：48秒；同桌互说并核对三个动作：36秒；教师定点释义和文本边界：52秒；学生自然话分享与个人修订：44秒；回诗重读、故事回接与转场：36秒
【现场分支】
画成精确地图：请删去诗中没有的村落、方向和里程，只保留渡淇、至顿丘的行动次序。
只写她很爱他：先让学生读出送、涉、至并说清路，再允许把投入作为有依据的印象留下。
不愿画线：允许只用手指依次点三个词，随后把动作说成一句话；不以绘画能力评价。
【听者任务】
只听人物主体和送、涉、至三个动作是否齐全，不评价画得是否好看。
【证据位置】
03B第一章细读单C103区域
【自然切页句】
她一直送到顿丘，婚事却没有当场定下。接下来，看她怎样把话继续说下去。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【V6.6物理状态】C104-B0｜135秒
【状态功能】
先把四小句口译成一番连续的话。
【该状态学生可见文字】
把这几句当作她说的一番话｜匪我愆期，子无良媒。｜将子无怒，秋以为期。｜先把她的话完整说成今天的语言。
【V6.6逻辑页】C104｜逻辑页12｜5分钟
【前页输入】
学生已经完成前页任务，手中保留与“匪我愆期，子无良媒。将子无怒，秋以为期。”有关的原词或初稿。
【唯一困难】
学生容易看见“匪我愆期，子无良媒。将子无怒，秋以为期。”，却不能把它准确接回人物和前后故事。
【唯一功能】
把四小句读成说明条件、安抚和另约的一轮完整话语。
【文学对象】
匪我愆期，子无良媒。将子无怒，秋以为期。
【信息状态】
首答只给完整话语和自然问题；三类功能不做成三个已完成色块。
【学生主动作】
完整自然口译；同桌听一处含义是否清楚
【参与路径】
个人先形成；需要交流时并行同桌或四人轮说；全班只公开少量有差异材料。
【可见产物】
对话与声音标记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C105与C503
【正常反例】
想不起、无新增、已经准确、不同意或暂时沉默均有诚实完成路径，不要求伪造改变。
【主视觉职责】
完整话语而非四条注释
【插图资格】
无
【第一人称接收】
我刚才面对“匪我愆期，子无良媒。将子无怒，秋以为期。”，留下了对话与声音标记；我能用原词说清自己新增或修正的理解。
【故事回接】
页面结束前由一句自然复述回到谁做了什么、人物处境怎样变化以及故事推进到哪里。
【删除损失】
删除会失去女子怎样主动推进婚事
【相邻反证】
相邻页不同时处理“学生容易看见“匪我愆期，子无良媒。将子无怒，秋以为期。”，却不能把它准确接回人物和前后故事。”；合并会挤掉必要首答、校准或故事回接。
【失败信号】
学生只能复述活动手续，不能复述诗意；首答前已经看见完成关系或答案；产物在后页没有真实消费者
【教师逐字稿】
她送到顿丘，为什么婚期没有立刻定下？请把下面两句连起来读：‘匪我愆期，子无良媒。将子无怒，秋以为期。’先自己把整轮话说成自然话，再用自己的词写一写：这四小句，各在做什么？哪些意思可以合在一起？屏幕和细读单都没有替你分好。现在安静九十秒。（教师巡视，保持屏幕无译文、无分类词。）请两人一组，一位朗读女子的话，一位做听者。第一遍读完，听者只说哪一处意思没有听清；读者只改一个地方，再读一次，然后交换。（等待读听轮换。）谁愿意先读出自己的分法和自然话？（引用不同分法，追问托住它的原词，不先给分类。）现在校准词义：‘愆期’是拖延婚期；‘良媒’是合适的媒人；‘将’这里读qiāng，是愿、请；‘无’同‘毋’，不要；‘以……为期’是把……定作婚期。请回到自己刚才的口译和分法，改准一处；原本准确就保留。听过大家的说法以后，我们可以把这轮话暂且收成三层：她先解释婚期为什么不能立刻定下，接着安抚对方，最后把婚期约在秋天。这个归纳放在你们说过以后；如果你的措辞更贴近原句，可以保留自己的话。再看‘将子无怒’：它至少让我们知道，女子在安抚对方，或预期对方会怒。这个细节值得留到全文后重看；但这一句没有写愤怒的程度，更没有写具体伤害，不能把后文提前画进来。请在‘无怒’旁留一个小问号。最后把两句再读一次，让听者真正听见这轮话怎样把婚事继续推向秋天。第一章的所有句子已经读过，现在让它重新成为一段完整的话。
【真实场景】
屏幕完整并列两句。教师先静默等待自然口译；读听轮换时站到教室侧后方，等学生完成第一遍和反馈后才解释词义。
（完整连读两句）
（静默等待个人自然口译）
（双人读听轮换并只改一处）
（学生分享后教师定点释义）
（在无怒旁留问号并再次合读）
【时间盒】
承接、完整连读与交代问题：25秒；个人自然口译：64秒；双人读听轮换、反馈和改读：61秒；学生分享与教师定点释义：75秒；个人修订及无怒边界：46秒；再次合读、故事回接与转场：29秒
【现场分支】
读成拒婚：请学生把‘秋以为期’接回前句，重说婚事是结束了还是另有约定。
无怒等同婚前暴力：确认这是一处值得追问的信号，同时要求把说法降到诗句能证明的‘安抚或预期愤怒’，具体程度留待后文。
第二遍没有变化：只要三层已经听清，可以诚实保留第一遍，不为完成程序制造修改。
暂时不愿朗读：允许先做听者，在对方读完后指出自己实际听清的一层；第二轮再选择是否朗读。
【听者任务】
在教师归纳前，只指出哪一处意思听清或没听清，并回到相应原词；不拿预设分类给同伴判分。
【证据位置】
03B第一章细读单C104区域及教材‘无怒’旁问号
【自然切页句】
来、送、解释、安抚、约期都已经发生。现在把局部提示收起来，听一听第一章能不能重新成为一段故事。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【V6.6物理状态】C104-B1｜70秒
【状态功能】
同桌只听一处意思或语气是否清楚。
【该状态学生可见文字】
再听一遍她的话｜哪里是在解释？｜哪里是在安抚？｜哪里是在重新约定？
【V6.6逻辑页】C104｜逻辑页12｜5分钟
【前页输入】
学生已经完成前页任务，手中保留与“匪我愆期，子无良媒。将子无怒，秋以为期。”有关的原词或初稿。
【唯一困难】
学生容易看见“匪我愆期，子无良媒。将子无怒，秋以为期。”，却不能把它准确接回人物和前后故事。
【唯一功能】
把四小句读成说明条件、安抚和另约的一轮完整话语。
【文学对象】
匪我愆期，子无良媒。将子无怒，秋以为期。
【信息状态】
首答只给完整话语和自然问题；三类功能不做成三个已完成色块。
【学生主动作】
完整自然口译；同桌听一处含义是否清楚
【参与路径】
个人先形成；需要交流时并行同桌或四人轮说；全班只公开少量有差异材料。
【可见产物】
对话与声音标记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C105与C503
【正常反例】
想不起、无新增、已经准确、不同意或暂时沉默均有诚实完成路径，不要求伪造改变。
【主视觉职责】
完整话语而非四条注释
【插图资格】
无
【第一人称接收】
我刚才面对“匪我愆期，子无良媒。将子无怒，秋以为期。”，留下了对话与声音标记；我能用原词说清自己新增或修正的理解。
【故事回接】
页面结束前由一句自然复述回到谁做了什么、人物处境怎样变化以及故事推进到哪里。
【删除损失】
删除会失去女子怎样主动推进婚事
【相邻反证】
相邻页不同时处理“学生容易看见“匪我愆期，子无良媒。将子无怒，秋以为期。”，却不能把它准确接回人物和前后故事。”；合并会挤掉必要首答、校准或故事回接。
【失败信号】
学生只能复述活动手续，不能复述诗意；首答前已经看见完成关系或答案；产物在后页没有真实消费者
【教师逐字稿】
她送到顿丘，为什么婚期没有立刻定下？请把下面两句连起来读：‘匪我愆期，子无良媒。将子无怒，秋以为期。’先自己把整轮话说成自然话，再用自己的词写一写：这四小句，各在做什么？哪些意思可以合在一起？屏幕和细读单都没有替你分好。现在安静九十秒。（教师巡视，保持屏幕无译文、无分类词。）请两人一组，一位朗读女子的话，一位做听者。第一遍读完，听者只说哪一处意思没有听清；读者只改一个地方，再读一次，然后交换。（等待读听轮换。）谁愿意先读出自己的分法和自然话？（引用不同分法，追问托住它的原词，不先给分类。）现在校准词义：‘愆期’是拖延婚期；‘良媒’是合适的媒人；‘将’这里读qiāng，是愿、请；‘无’同‘毋’，不要；‘以……为期’是把……定作婚期。请回到自己刚才的口译和分法，改准一处；原本准确就保留。听过大家的说法以后，我们可以把这轮话暂且收成三层：她先解释婚期为什么不能立刻定下，接着安抚对方，最后把婚期约在秋天。这个归纳放在你们说过以后；如果你的措辞更贴近原句，可以保留自己的话。再看‘将子无怒’：它至少让我们知道，女子在安抚对方，或预期对方会怒。这个细节值得留到全文后重看；但这一句没有写愤怒的程度，更没有写具体伤害，不能把后文提前画进来。请在‘无怒’旁留一个小问号。最后把两句再读一次，让听者真正听见这轮话怎样把婚事继续推向秋天。第一章的所有句子已经读过，现在让它重新成为一段完整的话。
【真实场景】
屏幕完整并列两句。教师先静默等待自然口译；读听轮换时站到教室侧后方，等学生完成第一遍和反馈后才解释词义。
（完整连读两句）
（静默等待个人自然口译）
（双人读听轮换并只改一处）
（学生分享后教师定点释义）
（在无怒旁留问号并再次合读）
【时间盒】
承接、完整连读与交代问题：25秒；个人自然口译：64秒；双人读听轮换、反馈和改读：61秒；学生分享与教师定点释义：75秒；个人修订及无怒边界：46秒；再次合读、故事回接与转场：29秒
【现场分支】
读成拒婚：请学生把‘秋以为期’接回前句，重说婚事是结束了还是另有约定。
无怒等同婚前暴力：确认这是一处值得追问的信号，同时要求把说法降到诗句能证明的‘安抚或预期愤怒’，具体程度留待后文。
第二遍没有变化：只要三层已经听清，可以诚实保留第一遍，不为完成程序制造修改。
暂时不愿朗读：允许先做听者，在对方读完后指出自己实际听清的一层；第二轮再选择是否朗读。
【听者任务】
在教师归纳前，只指出哪一处意思听清或没听清，并回到相应原词；不拿预设分类给同伴判分。
【证据位置】
03B第一章细读单C104区域及教材‘无怒’旁问号
【自然切页句】
来、送、解释、安抚、约期都已经发生。现在把局部提示收起来，听一听第一章能不能重新成为一段故事。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【V6.6物理状态】C104-B2｜95秒
【状态功能】
准确收束解释婚期、请其勿怒和另约秋期。
【该状态学生可见文字】
不是我故意拖延婚期，是你没有请来合适的媒人。｜请你不要生气。｜就把婚期定在秋天吧。｜她没有把婚事推开，而是在解释、安抚、重新约定。
【V6.6逻辑页】C104｜逻辑页12｜5分钟
【前页输入】
学生已经完成前页任务，手中保留与“匪我愆期，子无良媒。将子无怒，秋以为期。”有关的原词或初稿。
【唯一困难】
学生容易看见“匪我愆期，子无良媒。将子无怒，秋以为期。”，却不能把它准确接回人物和前后故事。
【唯一功能】
把四小句读成说明条件、安抚和另约的一轮完整话语。
【文学对象】
匪我愆期，子无良媒。将子无怒，秋以为期。
【信息状态】
首答只给完整话语和自然问题；三类功能不做成三个已完成色块。
【学生主动作】
完整自然口译；同桌听一处含义是否清楚
【参与路径】
个人先形成；需要交流时并行同桌或四人轮说；全班只公开少量有差异材料。
【可见产物】
对话与声音标记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C105与C503
【正常反例】
想不起、无新增、已经准确、不同意或暂时沉默均有诚实完成路径，不要求伪造改变。
【主视觉职责】
完整话语而非四条注释
【插图资格】
无
【第一人称接收】
我刚才面对“匪我愆期，子无良媒。将子无怒，秋以为期。”，留下了对话与声音标记；我能用原词说清自己新增或修正的理解。
【故事回接】
页面结束前由一句自然复述回到谁做了什么、人物处境怎样变化以及故事推进到哪里。
【删除损失】
删除会失去女子怎样主动推进婚事
【相邻反证】
相邻页不同时处理“学生容易看见“匪我愆期，子无良媒。将子无怒，秋以为期。”，却不能把它准确接回人物和前后故事。”；合并会挤掉必要首答、校准或故事回接。
【失败信号】
学生只能复述活动手续，不能复述诗意；首答前已经看见完成关系或答案；产物在后页没有真实消费者
【教师逐字稿】
她送到顿丘，为什么婚期没有立刻定下？请把下面两句连起来读：‘匪我愆期，子无良媒。将子无怒，秋以为期。’先自己把整轮话说成自然话，再用自己的词写一写：这四小句，各在做什么？哪些意思可以合在一起？屏幕和细读单都没有替你分好。现在安静九十秒。（教师巡视，保持屏幕无译文、无分类词。）请两人一组，一位朗读女子的话，一位做听者。第一遍读完，听者只说哪一处意思没有听清；读者只改一个地方，再读一次，然后交换。（等待读听轮换。）谁愿意先读出自己的分法和自然话？（引用不同分法，追问托住它的原词，不先给分类。）现在校准词义：‘愆期’是拖延婚期；‘良媒’是合适的媒人；‘将’这里读qiāng，是愿、请；‘无’同‘毋’，不要；‘以……为期’是把……定作婚期。请回到自己刚才的口译和分法，改准一处；原本准确就保留。听过大家的说法以后，我们可以把这轮话暂且收成三层：她先解释婚期为什么不能立刻定下，接着安抚对方，最后把婚期约在秋天。这个归纳放在你们说过以后；如果你的措辞更贴近原句，可以保留自己的话。再看‘将子无怒’：它至少让我们知道，女子在安抚对方，或预期对方会怒。这个细节值得留到全文后重看；但这一句没有写愤怒的程度，更没有写具体伤害，不能把后文提前画进来。请在‘无怒’旁留一个小问号。最后把两句再读一次，让听者真正听见这轮话怎样把婚事继续推向秋天。第一章的所有句子已经读过，现在让它重新成为一段完整的话。
【真实场景】
屏幕完整并列两句。教师先静默等待自然口译；读听轮换时站到教室侧后方，等学生完成第一遍和反馈后才解释词义。
（完整连读两句）
（静默等待个人自然口译）
（双人读听轮换并只改一处）
（学生分享后教师定点释义）
（在无怒旁留问号并再次合读）
【时间盒】
承接、完整连读与交代问题：25秒；个人自然口译：64秒；双人读听轮换、反馈和改读：61秒；学生分享与教师定点释义：75秒；个人修订及无怒边界：46秒；再次合读、故事回接与转场：29秒
【现场分支】
读成拒婚：请学生把‘秋以为期’接回前句，重说婚事是结束了还是另有约定。
无怒等同婚前暴力：确认这是一处值得追问的信号，同时要求把说法降到诗句能证明的‘安抚或预期愤怒’，具体程度留待后文。
第二遍没有变化：只要三层已经听清，可以诚实保留第一遍，不为完成程序制造修改。
暂时不愿朗读：允许先做听者，在对方读完后指出自己实际听清的一层；第二轮再选择是否朗读。
【听者任务】
在教师归纳前，只指出哪一处意思听清或没听清，并回到相应原词；不拿预设分类给同伴判分。
【证据位置】
03B第一章细读单C104区域及教材‘无怒’旁问号
【自然切页句】
来、送、解释、安抚、约期都已经发生。现在把局部提示收起来，听一听第一章能不能重新成为一段故事。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【V6.6物理状态】C105-A｜300秒
【状态功能】
示范怎样把局部词句重新讲成人物、动作和结果连贯的一章。
【该状态学生可见文字】
他怎样来，她怎样送，两个人怎样约？｜氓之蚩蚩，抱布贸丝。｜匪来贸丝，来即我谋。｜送子涉淇，至于顿丘。｜匪我愆期，子无良媒。｜将子无怒，秋以为期。
【V6.6逻辑页】C105｜逻辑页13｜5分钟
【前页输入】
学生已经完成前页任务，手中保留与“氓之蚩蚩，抱布贸丝。匪来贸丝，来即我谋。送子涉淇，至于顿丘。匪我愆期，子无良媒。将子无怒，秋以为期。”有关的原词或初稿。
【唯一困难】
学生容易看见“氓之蚩蚩，抱布贸丝。匪来贸丝，来即我谋。送子涉淇，至于顿丘。匪我愆期，子无良媒。将子无怒，秋以为期。”，却不能把它准确接回人物和前后故事。
【唯一功能】
示范怎样把局部词句重新讲成人物、动作和结果连贯的一章。
【文学对象】
氓之蚩蚩，抱布贸丝。匪来贸丝，来即我谋。送子涉淇，至于顿丘。匪我愆期，子无良媒。将子无怒，秋以为期。
【信息状态】
首答前只给原诗、必要字面和一个自然问题；解释、分类、关系与代表答案在学生首稿后出现。
【学生主动作】
合书讲来—送—约；真实断点处返诗补说
【参与路径】
个人先形成；需要交流时并行同桌或四人轮说；全班只公开少量有差异材料。
【可见产物】
第一章章意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C201
【正常反例】
想不起、无新增、已经准确、不同意或暂时沉默均有诚实完成路径，不要求伪造改变。
【主视觉职责】
第一次完整章意示范
【插图资格】
无
【第一人称接收】
我刚才面对“氓之蚩蚩，抱布贸丝。匪来贸丝，来即我谋。送子涉淇，至于顿丘。匪我愆期，子无良媒。将子无怒，秋以为期。”，留下了第一章章意；我能用原词说清自己新增或修正的理解。
【故事回接】
页面结束前由一句自然复述回到谁做了什么、人物处境怎样变化以及故事推进到哪里。
【删除损失】
删除后前四页仍是碎片
【相邻反证】
相邻页不同时处理“学生容易看见“氓之蚩蚩，抱布贸丝。匪来贸丝，来即我谋。送子涉淇，至于顿丘。匪我愆期，子无良媒。将子无怒，秋以为期。”，却不能把它准确接回人物和前后故事。”；合并会挤掉必要首答、校准或故事回接。
【失败信号】
学生只能复述活动手续，不能复述诗意；首答前已经看见完成关系或答案；产物在后页没有真实消费者
【教师逐字稿】
第一章每一句都已经读过。请先只看屏幕和教材，完整读一遍第一章。（教师领起第一句，随后让学生连续读完。）读完了，请把教材合上，把03A初读卡和03B细读单一起翻到背面，压在桌角；同桌互相看一眼，确认桌面上不再露出原诗。（等待纸面支架全部撤去。）请看我这里。（教师按B键熄暗屏幕。）现在用三十秒把这一章讲给同桌听。只讲三件事：他怎样来，她怎样送，婚事怎样暂缓又约定。听者不要接管故事，只在对方说完后补一个真正遗漏的地方；如果已经完整，就如实说‘我没有找到遗漏’。两人交换。（教师巡视，等待双方完成。）请讲述者暂时只打开教材，找到刚才遗漏的那一句；找到后立即合书，再补说一次，03A和03B仍保持背面朝上。现在把03B翻回来，只在六章故事轨道第一格写下自己的自然话，不需要模仿屏幕，也不要抄活动名称；03A仍扣住。（等待书写。）谁愿意读出自己的第一章一句话？（引用两条现场章意，在黑板保留不同措辞，并只修正事实断点。）我们共同说到的是：男子带着贸丝的动作来商量婚事；女子送他渡过淇水，说明媒妁条件，安抚对方，最后把婚期约在秋天。这个整理来自你们已经讲出的事件，不是要替换每个人的句子。请把第一格留好，下一章还会接着生长。至于‘蚩蚩’、贸丝与谋婚、‘无怒’这些早期细节，不在这里另设一份以后无人读取的个人标记；第五章出现明确的婚后事实时，我们会共同翻回原句。第一章的约定已经落在秋天；第二章，等待开始了。
【真实场景】
屏幕先显示整章原诗；完整重读后学生合上教材，并把03A初读卡、03B细读单同时翻到背面，由同桌确认桌面无原诗；教师再按B键熄暗屏幕。检索完成后只按脚本逐项恢复必要材料。
（完整重读第一章）
（合上教材并将03A、03B同时翻到背面）
（同桌确认桌面不露原诗）
（按B键熄暗屏幕）
（学生在全部支架撤去后旁白）
（听者只补一处或诚实确认完整）
（只开教材定位后立即合书补说）
（只翻回03B写故事轨道，03A仍扣住）
【时间盒】
完整重读第一章：45秒；交代旁白与听者边界：30秒；两人轮流三十秒旁白：75秒；听者补缺、回诗与补说：55秒；写自然章意与故事轨道第一格：50秒；引用学生章意、保存第一格并转场：45秒
【现场分支】
完全空白：允许先说最清楚的一段，再开书只找它前面和后面各发生了什么，不抄整章。
听者直接代讲：立即改问‘你只找到哪一个断点’，把回诗和补说权还给原讲述者。
没有遗漏：允许诚实确认完整；原讲述者在章意旁补一个支撑原词，不制造修改。
用后来结局定性：请暂时只保留第一章能证明的事实和印象；第五章C503出现后来事实时再共同回看固定原词。
【听者任务】
只核对来、送、婚事暂缓与约定三处是否连成故事；全班听章意时比较措辞，不抄教师统一答案。
【证据位置】
03B第一章细读单C105区域和六章故事轨道第一格
【自然切页句】
第一格先留在这里。下一章，约定之后的日子从等待复关开始。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【V6.6物理状态】C201-A｜300秒
【状态功能】
从秋期进入登垣等待，使‘乘—望’成为具体站位与视线。
【该状态学生可见文字】
第二章｜她站到哪里？目光投向哪里？｜乘彼垝垣，以望复关。｜不见复关，泣涕涟涟。｜既见复关，载笑载言。｜尔卜尔筮，体无咎言。｜以尔车来，以我贿迁。
【V6.6逻辑页】C201｜逻辑页14｜5分钟
【前页输入】
学生已经完成前页任务，手中保留与“乘彼垝垣，以望复关。不见复关，泣涕涟涟。既见复关，载笑载言。尔卜尔筮，体无咎言。以尔车来，以我贿迁。”有关的原词或初稿。
【唯一困难】
学生容易看见“乘彼垝垣，以望复关。不见复关，泣涕涟涟。既见复关，载笑载言。尔卜尔筮，体无咎言。以尔车来，以我贿迁。”，却不能把它准确接回人物和前后故事。
【唯一功能】
从秋期进入登垣等待，使‘乘—望’成为具体站位与视线。
【文学对象】
乘彼垝垣，以望复关。不见复关，泣涕涟涟。既见复关，载笑载言。尔卜尔筮，体无咎言。以尔车来，以我贿迁。
【信息状态】
首答前只给原诗、必要字面和一个自然问题；解释、分类、关系与代表答案在学生首稿后出现。
【学生主动作】
整章读；留下三个动作和一道视线
【参与路径】
个人先形成；需要交流时并行同桌或四人轮说；全班只公开少量有差异材料。
【可见产物】
动作与视线初稿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C202
【正常反例】
想不起、无新增、已经准确、不同意或暂时沉默均有诚实完成路径，不要求伪造改变。
【主视觉职责】
垝垣到复关的视线
【插图资格】
I03待A/B
【第一人称接收】
我刚才面对“乘彼垝垣，以望复关。不见复关，泣涕涟涟。既见复关，载笑载言。尔卜尔筮，体无咎言。以尔车来，以我贿迁。”，留下了动作与视线初稿；我能用原词说清自己新增或修正的理解。
【故事回接】
页面结束前由一句自然复述回到谁做了什么、人物处境怎样变化以及故事推进到哪里。
【删除损失】
删除会让哭笑失去等待空间
【相邻反证】
相邻页不同时处理“学生容易看见“乘彼垝垣，以望复关。不见复关，泣涕涟涟。既见复关，载笑载言。尔卜尔筮，体无咎言。以尔车来，以我贿迁。”，却不能把它准确接回人物和前后故事。”；合并会挤掉必要首答、校准或故事回接。
【失败信号】
学生只能复述活动手续，不能复述诗意；首答前已经看见完成关系或答案；产物在后页没有真实消费者
【教师逐字稿】
第一章的婚期已经约在秋天。请先看一眼故事轨道第一格，不添新内容。第二章会把故事带到哪里？现在不要拿新的学习卡，只看屏幕和教材，听我把五句完整读一遍；眼睛跟着诗句走。（教师完整读章，末句后停两秒。）请你们自己完整读一遍。读完以后我才发03A；在卡上写三个你最确定的人物动作，按先后排开。一时只找到一两个，也照实留下。（读后发卡，静默书写。）请两位同学各读一个自己写下的原词；听的人只核对它是不是人物真正做的事。（引用现场原词，不补整章答案。）现在看03A上的首句：‘乘彼垝垣，以望复关。’借教材注释把它说成一句自然话，再只画一道目光：人站在哪里，望向哪里？不要画行走路线。（等待。）同桌互看，只问：人物站在哪里？线指向哪里？若画成已经走到复关，回到‘乘’和‘望’改回来。我们再校准四个词：‘乘’是登上，‘垝垣’是残破的墙，‘以’是来、用来；‘复关’是男子所住的地方，诗中借地名指向他。请沿自己画的目光重读首句。约定以后，她登上残墙，向复关望去。接下来，同一个方向上的不见与既见，会让她发生什么变化？
【真实场景】
屏幕只呈现完整第二章和开放动作提示。教师范读、学生整读结束后才发03A；动作、自然话和视线全部写在03A，教材只供阅读和注释定位。
（打开第一章故事轨道第一格）
（教师完整读第二章）
（学生完整朗读）
（读后发03A）
（学生在03A写动作、口译并画目光）
（同桌核对站位与方向）
（教师后置校词并回读）
【时间盒】
承接第一格与教师完整读章：38秒；学生完整朗读：38秒；读后发03A并写三个动作：58秒；引用动作初稿：29秒；首句自然口译和画目光：58秒；同桌核对、教师校词与故事回接：79秒
【现场分支】
只找到一两个动作：允许保留，不要求为凑够三个而抄词；同桌发言后再回诗补一个。
先写情绪词：若是泣、笑等实际动作可以保留；若只写伤心、高兴，追问原诗中人物做了什么。
画成行走路线：请用手分别按住‘乘’和‘望’，把人物留在垝垣上，只留下朝复关的目光。
不会画：允许只写‘垝垣 —望→ 复关’，不评价绘画能力。
【听者任务】
初稿只核对是否为原诗人物动作；视线只核对站位、方向和‘望’的原词依据。
【证据位置】
03A第二章初读与视线卡
【自然切页句】
目光落向复关。现在把‘不见’和‘既见’放在一起，看这两句怎样突然转过去，又能不能被耳朵听出来。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【V6.6物理状态】C202-A｜300秒
【状态功能】
用正面对照读清条件变化怎样触发泣涕与笑言。
【该状态学生可见文字】
两个“见”字，怎样牵动她的哭与笑？｜不见复关，泣涕涟涟。｜既见复关，载笑载言。
【V6.6逻辑页】C202｜逻辑页15｜5分钟
【前页输入】
学生已经完成前页任务，手中保留与“不见复关，泣涕涟涟。既见复关，载笑载言。”有关的原词或初稿。
【唯一困难】
学生容易看见“不见复关，泣涕涟涟。既见复关，载笑载言。”，却不能把它准确接回人物和前后故事。
【唯一功能】
用正面对照读清条件变化怎样触发泣涕与笑言。
【文学对象】
不见复关，泣涕涟涟。既见复关，载笑载言。
【信息状态】
首答前只给原诗、必要字面和一个自然问题；解释、分类、关系与代表答案在学生首稿后出现。
【学生主动作】
对齐四组原词；试读并说听见的转轴
【参与路径】
个人先形成；需要交流时并行同桌或四人轮说；全班只公开少量有差异材料。
【可见产物】
条件—动作对照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C206
【正常反例】
想不起、无新增、已经准确、不同意或暂时沉默均有诚实完成路径，不要求伪造改变。
【主视觉职责】
两组正面对照
【插图资格】
无
【第一人称接收】
我刚才面对“不见复关，泣涕涟涟。既见复关，载笑载言。”，留下了条件—动作对照；我能用原词说清自己新增或修正的理解。
【故事回接】
页面结束前由一句自然复述回到谁做了什么、人物处境怎样变化以及故事推进到哪里。
【删除损失】
删除会丢失第二章最强情态转折
【相邻反证】
相邻页不同时处理“学生容易看见“不见复关，泣涕涟涟。既见复关，载笑载言。”，却不能把它准确接回人物和前后故事。”；合并会挤掉必要首答、校准或故事回接。
【失败信号】
学生只能复述活动手续，不能复述诗意；首答前已经看见完成关系或答案；产物在后页没有真实消费者
【教师逐字稿】
请看同一个方向上的两句：‘不见复关，泣涕涟涟。既见复关，载笑载言。’先把每句说成自己的自然话，再在原诗里圈出彼此照应的词。不要先写伤心和高兴；先写没看见什么、已经看见什么，她实际做了什么。（静默等待。）请同桌一人读上句、一人读下句，只问：什么变化触发了她？她的动作怎样变？谁愿意读出自己圈的两组词？（引用现场原词。）我们校准：泣涕是哭泣流泪，涟涟是泪流不断；既是已经，两个载加强语气。若你的自然话只有情绪，请补上触发和动作。现在不再另开一张朗读程序页。每个人只在诗边标一处：你想让声音从哪里转过去？可以改变停顿、重音或语速，只选一处，旁边写托住它的原词。（等待轻声试读。）两人一组，第一位连读两句，第二位闭眼，只说‘我在____附近听见了变化’，或诚实说‘没有听出来’；读的人据此只改一处，再读一遍。然后交换，让每个人都读一次、听一次、改一次。（等待。）请一组愿意的同学呈现第二遍，听者只报原词。（引用真实声音。）两种读法可以不同，只要原词站得住，耳朵也真能听见。她由不见而泣、既见而笑，这一下转折已经从纸面进入声音。下面，婚事还要经过占问，并真正走向迁移。
【真实场景】
C201完成后才发03B。屏幕始终保留两句原诗，上半先服务圈词，下半只用一句话开启盲听；教师不示范标准读法，不切换独立程序页。
（发03B）
（学生自然口译并圈原词）
（双人上下对读）
（教师引用原词后校词）
（每人标一处声音变化）
（双方各完成一次盲听、反馈和改读）
（引用一组真实声音）
【时间盒】
承接视线与个人自然口译圈词：63秒；双人对读和触发互问：44秒；学生分享、教师定点释义与修订：53秒；个人单点朗读设计和轻声试读：34秒；双方盲听、反馈和各自改读：69秒；真实声音分享、故事回接与转场：37秒
【现场分支】
只贴情绪标签：追问哪一个变化触发、人物实际做了什么，使说法回到不见/既见和泣涕/笑言。
圈满所有词：只保留能与下句某词形成关系的两三处，并说清为什么相照应。
模仿教师：教师拒绝先示范，只问想突出哪个原词，允许不同声音方案。
没有听出来：如实记录，读者只改一处再读；第二遍仍不明显就留问号，不追加第三轮。
【听者任务】
先核对触发条件和人物动作；闭眼后只定位声音变化附近的原词，或如实报告未听出。
【证据位置】
03B C202区和教材原词、朗读标记
【自然切页句】
见与不见的变化已经能被耳朵听见。下面把两句连起来：一次占问之后，婚事又怎样走向了实际迁移？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【V6.6物理状态】C204-A｜360秒
【状态功能】
准确理解本次卜筮，并沿‘以尔/以我’读清占问到迁嫁的因序。
【该状态学生可见文字】
卜筮以后，婚事怎样走到迁移？｜尔卜尔筮，体无咎言。｜以尔车来，以我贿迁。｜谁来？用什么来？谁迁？带着什么迁？
【V6.6逻辑页】C204｜逻辑页16｜6分钟
【前页输入】
学生已经完成前页任务，手中保留与“尔卜尔筮，体无咎言。以尔车来，以我贿迁。”有关的原词或初稿。
【唯一困难】
学生容易看见“尔卜尔筮，体无咎言。以尔车来，以我贿迁。”，却不能把它准确接回人物和前后故事。
【唯一功能】
准确理解本次卜筮，并沿‘以尔/以我’读清占问到迁嫁的因序。
【文学对象】
尔卜尔筮，体无咎言。以尔车来，以我贿迁。
【信息状态】
首答只对齐尔／我、车／贿、来／迁；完整因序由学生口译和现场板书后置形成。
【学生主动作】
区分双方主体、物件与动作；口头连接因序
【参与路径】
个人先形成；需要交流时并行同桌或四人轮说；全班只公开少量有差异材料。
【可见产物】
两句因序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C206
【正常反例】
想不起、无新增、已经准确、不同意或暂时沉默均有诚实完成路径，不要求伪造改变。
【主视觉职责】
三节点因序
【插图资格】
仅抽象因序示意
【第一人称接收】
我刚才面对“尔卜尔筮，体无咎言。以尔车来，以我贿迁。”，留下了两句因序；我能用原词说清自己新增或修正的理解。
【故事回接】
页面结束前由一句自然复述回到谁做了什么、人物处境怎样变化以及故事推进到哪里。
【删除损失】
删除会把无咎—车来—贿迁压成泛泛成婚
【相邻反证】
相邻页不同时处理“学生容易看见“尔卜尔筮，体无咎言。以尔车来，以我贿迁。”，却不能把它准确接回人物和前后故事。”；合并会挤掉必要首答、校准或故事回接。
【失败信号】
默认画面出现卜筮→无咎→车来→贿迁完成流程；文化微讲扩展成占卜史；主体混淆未修订
【教师逐字稿】
第二章最后两句要连起来读：‘尔卜尔筮，体无咎言。以尔车来，以我贿迁。’第一句有四项不能靠猜的知识：卜，是用龟甲占问；筮，是用蓍草占卦；体，是显示的兆象；咎言，是不祥之语。支架到这里为止，完整意思请你自己组织。先按谁做什么、结果怎样，把第一句说成自然话，再写：这次占问得到什么结果？（等待。）同桌只核对四项有没有错位。谁愿意读自己的句子？（引用后校准。）如果你写了‘一定幸福、保证以后’，圈起来；原句只写这次没有不祥。没有越界的同学不必制造错误，只在无咎言旁补‘这次’。接着看第二句。不要先说‘他们结婚了’，请沿‘以尔’和‘以我’分成两边，在03B写清每边是谁、带着什么、做什么。（等待。）现在校准：贿是财物，这里指嫁妆；迁是迁往男子家。同桌一人指‘以尔’一侧，一人指‘以我’一侧，只检查主体、物件、动作有没有放错；不需要交换表演。最后一起合读原句，再把两句连成一句自然的故事话：占问写了什么，接着发生什么？（引用两条现场表达。）这次占问无不祥，婚事继续；车来、财物迁，女子的生活位置也随之改变。第二章已经走到迁移，现在撤去局部支架，看整章能不能重新成为一段故事。
【真实场景】
屏幕同时显示两句。四项文化词卡只提供必要知识；第二句下方保留两条完全开放的主体—物件—动作栏。学生先写，教师后置时间边界和贿、迁释义。
（连读两句）
（教师给四项最小文化支架）
（学生独立口译占问）
（同桌核对名物）
（教师后置时间边界）
（学生拆分以尔/以我双方动作）
（同桌有界核对并合句）
（回到占问—迁移因序）
【时间盒】
连读两句与最小文化支架：41秒；个人占问口译和结果：56秒；同桌名物核对、分享与时间限定：64秒；个人拆分以尔和以我：56秒；同桌对应核对与教师校词：60秒；两句合回故事、个人修订与转场：83秒
【现场分支】
无法组织占问句：只提供‘你—卜筮—兆象—无不祥’四个位置，不念完成句。
直接推出幸福：只问原句写的是哪一次、有没有写后来生活，把说法降回当次结果。
压成他们结婚：追问以尔和以我各是谁的动作，车和贿在哪一边，先拆开再合。
嫁妆归属错位：请按住‘以我’，把贿移回这一侧，不直接报完整译文。
【听者任务】
占问部分只核对四项名物；迁移部分只核对两侧主体、物件和动作；都不提前讨论后来婚姻。
【证据位置】
03B C204区
【自然切页句】
占问无不祥，车来、财物迁，第二章已经走到实际迁移。现在收起局部提示，把等待到迁移完整讲一次。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【V6.6物理状态】C206-A｜360秒
【状态功能】
把第一、二章接成‘约定怎样成为等待与迁移’，避免第二次复制章末模板。
【该状态学生可见文字】
从“秋以为期”到“以我贿迁”｜将子无怒，秋以为期。｜乘彼垝垣，以望复关。｜以尔车来，以我贿迁。｜前一章的哪件事，使后一章的等待成为必然？
【V6.6逻辑页】C206｜逻辑页17｜6分钟
【前页输入】
学生已经完成前页任务，手中保留与“乘彼垝垣，以望复关。不见复关，泣涕涟涟。既见复关，载笑载言。尔卜尔筮，体无咎言。以尔车来，以我贿迁。”有关的原词或初稿。
【唯一困难】
学生容易看见“乘彼垝垣，以望复关。不见复关，泣涕涟涟。既见复关，载笑载言。尔卜尔筮，体无咎言。以尔车来，以我贿迁。”，却不能把它准确接回人物和前后故事。
【唯一功能】
把第一、二章接成‘约定怎样成为等待与迁移’，避免第二次复制章末模板。
【文学对象】
乘彼垝垣，以望复关。不见复关，泣涕涟涟。既见复关，载笑载言。尔卜尔筮，体无咎言。以尔车来，以我贿迁。
【信息状态】
不显示来—送—约／等—见—迁完成章意；学生接力后教师才板书。
【学生主动作】
每人先写两章各发生什么；同桌接力后各自补出章间因果
【参与路径】
个人先形成；需要交流时并行同桌或四人轮说；全班只公开少量有差异材料。
【可见产物】
个人两章自然概括和秋期因果句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C301
【正常反例】
想不起、无新增、已经准确、不同意或暂时沉默均有诚实完成路径，不要求伪造改变。
【主视觉职责】
章间铰链
【插图资格】
无
【第一人称接收】
我刚才面对“乘彼垝垣，以望复关。不见复关，泣涕涟涟。既见复关，载笑载言。尔卜尔筮，体无咎言。以尔车来，以我贿迁。”，留下了个人两章自然概括和秋期因果句；我能用原词说清自己新增或修正的理解。
【故事回接】
页面结束前由一句自然复述回到谁做了什么、人物处境怎样变化以及故事推进到哪里。
【删除损失】
删除会失去跨章因果
【相邻反证】
相邻页不同时处理“学生容易看见“乘彼垝垣，以望复关。不见复关，泣涕涟涟。既见复关，载笑载言。尔卜尔筮，体无咎言。以尔车来，以我贿迁。”，却不能把它准确接回人物和前后故事。”；合并会挤掉必要首答、校准或故事回接。
【失败信号】
学生只能复述活动手续，不能复述诗意；首答前已经看见完成关系或答案；产物在后页没有真实消费者
【教师逐字稿】
先把教材摊开，目光从第一章末的‘秋以为期’移到第二章。每个人先写两小句：第一章发生了什么；第二章发生了什么。不要分工。（等待并巡视。）现在同桌接力，一人先讲第一章，另一人接第二章；交换角色，再讲一次。两个人都讲过两章以后，各自补一句：第一章的哪件事，使第二章的等待成为必然？请两组公开不同连接。教师最后沿原诗板书：他抱布来谋婚，她远送并约定秋期；约定使她登垣等待，由不见到既见，卜筮无咎后车来贿迁。请每个人把这条因果补进自己的两章概括，不抄同桌整句。
【真实场景】
屏幕只留下此刻要面对的原诗、问题或学生真实作品；教师说完邀请后退开，让阅读、表达和等待真实发生。
（教师承接前页）
（学生先独立形成）
（同伴限定倾听）
（教师据真实材料校准）
（学生亲自修订）
（自然切页）
【时间盒】
个人两章概括：90秒；同桌交换角色接力：120秒；个人章间因果：55秒；公开两组和教师板书：65秒；本人修订：30秒
【现场分支】
暂时没有答案：允许先圈出最确定的一处原词，用不完整但真实的话开口；没有新增也可如实保留。
判断越过原诗：请指出依据；找不到相应原词时，把断言降低为问题、可能或文本未写。
【听者任务】
听清发言依据的是哪一句诗、给人物故事增加了什么；只补遗漏或提出一处证据追问。
【证据位置】
每个人的第一、二章自然概括和秋期因果句
【自然切页句】
故事已经走到迁嫁。第三章却没有立刻写婚后的日子，眼前先出现了一树桑叶。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【V6.6物理状态】C301-A｜240秒
【状态功能】
发现迁嫁之后诗没有立即写婚后事件，而先转入物象和劝告。
【该状态学生可见文字】
第三章｜迁嫁以后，诗里忽然出现了什么？｜桑之未落，其叶沃若。｜于嗟鸠兮，无食桑葚！｜于嗟女兮，无与士耽！｜士之耽兮，犹可说也。｜女之耽兮，不可说也！
【V6.6逻辑页】C301｜逻辑页18｜4分钟
【前页输入】
学生已经完成前页任务，手中保留与“桑之未落，其叶沃若。于嗟鸠兮，无食桑葚。于嗟女兮，无与士耽。士之耽兮，犹可说也。女之耽兮，不可说也。”有关的原词或初稿。
【唯一困难】
学生容易看见“桑之未落，其叶沃若。于嗟鸠兮，无食桑葚。于嗟女兮，无与士耽。士之耽兮，犹可说也。女之耽兮，不可说也。”，却不能把它准确接回人物和前后故事。
【唯一功能】
发现迁嫁之后诗没有立即写婚后事件，而先转入物象和劝告。
【文学对象】
桑之未落，其叶沃若。于嗟鸠兮，无食桑葚。于嗟女兮，无与士耽。士之耽兮，犹可说也。女之耽兮，不可说也。
【信息状态】
标题不先说故事停驻、比兴和回望；学生从整章发现物象与声音转向。
【学生主动作】
完整读章；留下物象和换声句
【参与路径】
个人先形成；需要交流时并行同桌或四人轮说；全班只公开少量有差异材料。
【可见产物】
换声初稿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C302—C303
【正常反例】
想不起、无新增、已经准确、不同意或暂时沉默均有诚实完成路径，不要求伪造改变。
【主视觉职责】
第三章完整换声
【插图资格】
无
【第一人称接收】
我刚才面对“桑之未落，其叶沃若。于嗟鸠兮，无食桑葚。于嗟女兮，无与士耽。士之耽兮，犹可说也。女之耽兮，不可说也。”，留下了换声初稿；我能用原词说清自己新增或修正的理解。
【故事回接】
页面结束前由一句自然复述回到谁做了什么、人物处境怎样变化以及故事推进到哪里。
【删除损失】
删除会把比兴变成教师答案
【相邻反证】
相邻页不同时处理“学生容易看见“桑之未落，其叶沃若。于嗟鸠兮，无食桑葚。于嗟女兮，无与士耽。士之耽兮，犹可说也。女之耽兮，不可说也。”，却不能把它准确接回人物和前后故事。”；合并会挤掉必要首答、校准或故事回接。
【失败信号】
学生只能复述活动手续，不能复述诗意；首答前已经看见完成关系或答案；产物在后页没有真实消费者
【教师逐字稿】
第二章最后，车来了，财物迁了，女子的生活也换了地方。请从故事轨道把前两格连着说一遍，然后只看第三章。先不要问桑叶象征什么，也不要找手法；让五句诗完整地响一遍。读到你自己觉得说话方式变了，可以轻轻停半拍；没有这种感觉，就照原来的节奏读完。（教师范读后，全班个人低声再读。）现在才落笔：迁嫁以后，眼前最先出现了什么？哪一句开始不像叙事，像是在劝告？每一项都抄回一个原词或原句。没有听出转折，可以留问号。同桌只检查你写的是不是这五句里的东西，不替你解释。（等待核对与修订。）我们先保留两件事：桑叶先进入眼前，声音随后改变。它为什么这样写，先不急着回答。
【真实场景】
屏幕只显示第三章全文和两个读后问题；教师范读时站在侧面，学生低声读和落笔时退到后排，不在屏幕上染色提示答案。
（连说前两章故事轨道）
（教师完整范读）
（学生个人完整低声读）
（读后才写两项初稿）
（同桌只核对来源）
（学生亲自修订）
【时间盒】
恢复前两章故事位置：35秒；教师范读与学生完整低声读：85秒；个人读后生成：55秒；同桌来源核对和修订：40秒；引用初稿并转场：25秒
【现场分支】
没有听出变化：声音栏诚实留问号，只写最先看见的物象；C303再用两句对读帮助耳朵发现。
先报比兴：把术语暂放纸边，追问初读时先看见哪一物、从哪句开始听见劝告。
写活动词：将‘朗读、圈词’改成诗中真实出现的物象或一句原诗。
【听者任务】
只核对同伴所写物象和转折句是否来自第三章，不评判解释深浅。
【证据位置】
03C C301区
【自然切页句】
先不越过这片桑叶。它还没有落，叶子正是‘沃若’。这个词究竟让你看见什么？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【V6.6物理状态】C302-A｜240秒
【状态功能】
从‘沃若’形成色泽、质地和生命感，再留下可由后文检验的联想。
【该状态学生可见文字】
桑之未落，其叶沃若。｜这片桑叶，是什么颜色、光泽和状态？
【V6.6逻辑页】C302｜逻辑页19｜4分钟
【前页输入】
学生已经完成前页任务，手中保留与“桑之未落，其叶沃若。”有关的原词或初稿。
【唯一困难】
学生容易看见“桑之未落，其叶沃若。”，却不能把它准确接回人物和前后故事。
【唯一功能】
从‘沃若’形成色泽、质地和生命感，再留下可由后文检验的联想。
【文学对象】
桑之未落，其叶沃若。
【信息状态】
首答无青桑图、无‘生命感’提示；学生从沃若形成感官词后才允许校准。
【学生主动作】
写两个感官词；留下一种可能
【参与路径】
个人先形成；需要交流时并行同桌或四人轮说；全班只公开少量有差异材料。
【可见产物】
桑叶假设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C402真修订
【正常反例】
想不起、无新增、已经准确、不同意或暂时沉默均有诚实完成路径，不要求伪造改变。
【主视觉职责】
青润桑叶与原词
【插图资格】
I04a待A/B
【第一人称接收】
我刚才面对“桑之未落，其叶沃若。”，留下了桑叶假设；我能用原词说清自己新增或修正的理解。
【故事回接】
页面结束前由一句自然复述回到谁做了什么、人物处境怎样变化以及故事推进到哪里。
【删除损失】
删除会退回标准象征义
【相邻反证】
相邻页不同时处理“学生容易看见“桑之未落，其叶沃若。”，却不能把它准确接回人物和前后故事。”；合并会挤掉必要首答、校准或故事回接。
【失败信号】
学生只能复述活动手续，不能复述诗意；首答前已经看见完成关系或答案；产物在后页没有真实消费者
【教师逐字稿】
把这句先说成自然话。‘沃若’是润泽的样子。现在先不写象征，不让一个熟悉答案盖住眼前的叶子。请静静看这行诗十秒，想一想它的色泽、质地和生命状态；在纸上写两个能被‘沃若’托住的词。（静默十秒后继续等待。）有了感觉，才允许联想：它可能让你想到怎样的青春、情感或关系状态？请留下两种可能，每一种旁边都写出刚才哪个词托住它。同桌只问一句：‘你的联想从沃若的哪一种感觉生出来？’不替对方选择。（等待。）如果你写的是‘桑叶就是爱情’，请把话放轻，改成‘可能让我想到……’；找不到依据，也可以删去联想，保留感官词和问号。第四章还有‘黄而陨’，我们会带着今天的两种想法回来筛选。
【真实场景】
屏幕只放大原句、沃若词义和两个开放问题；教师说完后真正静默，学生纸上有两项假设位，屏幕不显示范例。
（个人自然口译）
（静默观察十秒）
（写两个感官词）
（写两项可能联想）
（同桌只追问依据）
（学生改弱或保留问号）
【时间盒】
个人口译与词义校准：44秒；静默观察和感官词：43秒；两项假设独立生成：63秒；同桌依据追问：43秒；个人修订和转场：47秒
【现场分支】
只写固定象征：将‘就是’改成‘可能让我想到’，再补一项不同层次的可能或诚实问号。
无感官依据：先删去联想，只保留沃若所能托住的颜色、质地或生命状态。
没有联想：允许只写感官词和问号，第四章对照黄而陨后再生成。
【听者任务】
只追问联想的感官依据，不判断谁的象征义更像标准答案。
【证据位置】
03C C302区桑叶假设卡
【自然切页句】
桑叶的意思先不封口。下一句，一声‘于嗟’落在斑鸠身上；再一声，又落到了谁身上？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【V6.6物理状态】C303A-A｜180秒
【状态功能】
先隔离‘于嗟女兮，无与士耽’，保存没有桑叶和斑鸠时的真实听读首答。
【该状态学生可见文字】
于嗟女兮，无与士耽！｜这一声劝告，怎样落下？
【V6.6逻辑页】C303A｜逻辑页20｜3分钟
【前页输入】
学生已经完成前页任务，手中保留与“桑之未落，其叶沃若。于嗟鸠兮，无食桑葚！于嗟女兮，无与士耽！”有关的原词或初稿。
【唯一困难】
学生容易看见“桑之未落，其叶沃若。于嗟鸠兮，无食桑葚！于嗟女兮，无与士耽！”，却不能把它准确接回人物和前后故事。
【唯一功能】
先隔离‘于嗟女兮，无与士耽’，保存没有桑叶和斑鸠时的真实听读首答。
【文学对象】
桑之未落，其叶沃若。于嗟鸠兮，无食桑葚！于嗟女兮，无与士耽！
【信息状态】
物理画面绝不显示桑叶、斑鸠、由物及人、比兴名称或比较答案。
【学生主动作】
只读暴露的一句；写声音怎样落下
【参与路径】
个人先形成；需要交流时并行同桌或四人轮说；全班只公开少量有差异材料。
【可见产物】
隔离句首答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C303B恢复句群后比较
【正常反例】
想不起、无新增、已经准确、不同意或暂时沉默均有诚实完成路径，不要求伪造改变。
【主视觉职责】
唯一暴露的劝女原句和大面积暗色留白
【插图资格】
无
【第一人称接收】
我先只听了劝女一句，留下了还没有前两句帮助时的声音判断。
【故事回接】
页面结束前由一句自然复述回到谁做了什么、人物处境怎样变化以及故事推进到哪里。
【删除损失】
无法获得有无前两句的真实差异。
【相邻反证】
C303B必须读取这份首答；合成一张静态页会污染比较。
【失败信号】
画面出现被遮前两句；教师先说由物及人；首答未封存便进入校准
【教师逐字稿】
请用一张空白纸盖住教材前两句，屏幕也只留下这一句：‘于嗟女兮，无与士耽！’先读一遍，不解释。请在纸上写：只听这一句，这声劝告怎样落下？可以写急、重、近、直接，也可以用自己的词；但要说清是哪个声音让你这样听。（教师退开，等待首答。）请两位同学只读自己的句子，不评价深浅。先把这份首答留住，不改。下一页我们恢复前两句，看声音会不会改变。
【真实场景】
屏幕只留下此刻要面对的原诗、问题或学生真实作品；教师说完邀请后退开，让阅读、表达和等待真实发生。
（教师承接前页）
（学生先独立形成）
（同伴限定倾听）
（教师据真实材料校准）
（学生亲自修订）
（自然切页）
【时间盒】
遮句和单句朗读：35秒；个人首答：75秒；两份公开：45秒；封存与转场：25秒
【现场分支】
暂时没有答案：允许先圈出最确定的一处原词，用不完整但真实的话开口；没有新增也可如实保留。
判断越过原诗：请指出依据；找不到相应原词时，把断言降低为问题、可能或文本未写。
【听者任务】
听清发言依据的是哪一句诗、给人物故事增加了什么；只补遗漏或提出一处证据追问。
【证据位置】
C303A隔离句首答纸条
【自然切页句】
现在把纸移开，让桑叶和斑鸠重新回来。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【V6.6物理状态】C303B-B1｜185秒
【状态功能】
恢复三句但不命名结构，让学生形成有依据修订。
【该状态学生可见文字】
桑叶、斑鸠和女子重新连起来以后｜桑之未落，其叶沃若。｜于嗟鸠兮，无食桑葚！｜于嗟女兮，无与士耽！｜你又多听见了什么？
【V6.6逻辑页】C303B｜逻辑页21｜5分钟
【前页输入】
学生已经完成前页任务，手中保留与“桑之未落，其叶沃若。于嗟鸠兮，无食桑葚！于嗟女兮，无与士耽！”有关的原词或初稿。
【唯一困难】
学生容易看见“桑之未落，其叶沃若。于嗟鸠兮，无食桑葚！于嗟女兮，无与士耽！”，却不能把它准确接回人物和前后故事。
【唯一功能】
恢复完整句群，让学生比较声音增加了什么，再后置命名由物起声、由物及人的兴与比。
【文学对象】
桑之未落，其叶沃若。于嗟鸠兮，无食桑葚！于嗟女兮，无与士耽！
【信息状态】
先恢复原句但不显示桑→鸠→女箭头和比兴定义；学生比较后教师命名。
【学生主动作】
恢复并连读三句；比较前后首答并用原词修订
【参与路径】
个人先形成；需要交流时并行同桌或四人轮说；全班只公开少量有差异材料。
【可见产物】
由物及人的比较修订句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C305处境对照；S06艺术收纳
【正常反例】
想不起、无新增、已经准确、不同意或暂时沉默均有诚实完成路径，不要求伪造改变。
【主视觉职责】
桑—鸠—女三句的连续声音，不预画完成箭头
【插图资格】
无
【第一人称接收】
我比较了前两句有无时的声音差异，再理解比兴怎样从桑、鸠来到女子。
【故事回接】
页面结束前由一句自然复述回到谁做了什么、人物处境怎样变化以及故事推进到哪里。
【删除损失】
比兴仍是没有经历的术语。
【相邻反证】
C303A提供无前句基线，C305讨论男女处境；本页独自承担恢复、比较和命名。
【失败信号】
首屏画出完成箭头；教师在比较前给比兴定义；学生只抄术语未修订首答
【教师逐字稿】
现在移开纸，恢复前两句。请把‘桑之未落’‘于嗟鸠兮’‘于嗟女兮’连起来读。打开刚才的首答，在下面续一句：前两句回来以后，我又听见了____，因为原诗中的____。（等待。）请两位同学读前后两句，听者只判断他有没有回到原词。现在校准三个字词：‘于嗟’读xū jiē，是感叹词；‘无’同‘毋’，是不要；‘耽’是沉溺。再看声音怎样走：眼前的桑叶引来斑鸠，劝斑鸠的话又把声音送到女子身边。由眼前物象起声、引出所咏，是‘兴’；物与人的处境互相映照，又含着‘比’。这不是先背来的定义，是刚才有无前两句的差异。最后再读三句。它也像经历以后的一次回望：婚事已经迁嫁，后来的声音却回来提醒自己和后来的人。
【真实场景】
屏幕只留下此刻要面对的原诗、问题或学生真实作品；教师说完邀请后退开，让阅读、表达和等待真实发生。
（教师承接前页）
（学生先独立形成）
（同伴限定倾听）
（教师据真实材料校准）
（学生亲自修订）
（自然切页）
【时间盒】
恢复句群和连读：50秒；前后比较和个人修订：85秒；公开两份与原词追问：65秒；释词、命名比兴和重读：100秒
【现场分支】
暂时没有答案：允许先圈出最确定的一处原词，用不完整但真实的话开口；没有新增也可如实保留。
判断越过原诗：请指出依据；找不到相应原词时，把断言降低为问题、可能或文本未写。
【听者任务】
听清发言依据的是哪一句诗、给人物故事增加了什么；只补遗漏或提出一处证据追问。
【证据位置】
C303A首答下方的C303B有依据修订句
【自然切页句】
声音已经由物来到人。接下来，同一个‘耽’落在男女身上，脱身处境却并不相同。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【V6.6物理状态】C303B-B2｜115秒
【状态功能】
准确命名桑—鸠—女的声音路径及比、兴。
【该状态学生可见文字】
桑叶在眼前｜劝告先落到斑鸠｜声音又来到女子身边｜由眼前物象起声、引出所咏，是“兴”；物与人的处境互相映照，又含着“比”。
【V6.6逻辑页】C303B｜逻辑页21｜5分钟
【前页输入】
学生已经完成前页任务，手中保留与“桑之未落，其叶沃若。于嗟鸠兮，无食桑葚！于嗟女兮，无与士耽！”有关的原词或初稿。
【唯一困难】
学生容易看见“桑之未落，其叶沃若。于嗟鸠兮，无食桑葚！于嗟女兮，无与士耽！”，却不能把它准确接回人物和前后故事。
【唯一功能】
恢复完整句群，让学生比较声音增加了什么，再后置命名由物起声、由物及人的兴与比。
【文学对象】
桑之未落，其叶沃若。于嗟鸠兮，无食桑葚！于嗟女兮，无与士耽！
【信息状态】
先恢复原句但不显示桑→鸠→女箭头和比兴定义；学生比较后教师命名。
【学生主动作】
恢复并连读三句；比较前后首答并用原词修订
【参与路径】
个人先形成；需要交流时并行同桌或四人轮说；全班只公开少量有差异材料。
【可见产物】
由物及人的比较修订句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C305处境对照；S06艺术收纳
【正常反例】
想不起、无新增、已经准确、不同意或暂时沉默均有诚实完成路径，不要求伪造改变。
【主视觉职责】
桑—鸠—女三句的连续声音，不预画完成箭头
【插图资格】
无
【第一人称接收】
我比较了前两句有无时的声音差异，再理解比兴怎样从桑、鸠来到女子。
【故事回接】
页面结束前由一句自然复述回到谁做了什么、人物处境怎样变化以及故事推进到哪里。
【删除损失】
比兴仍是没有经历的术语。
【相邻反证】
C303A提供无前句基线，C305讨论男女处境；本页独自承担恢复、比较和命名。
【失败信号】
首屏画出完成箭头；教师在比较前给比兴定义；学生只抄术语未修订首答
【教师逐字稿】
现在移开纸，恢复前两句。请把‘桑之未落’‘于嗟鸠兮’‘于嗟女兮’连起来读。打开刚才的首答，在下面续一句：前两句回来以后，我又听见了____，因为原诗中的____。（等待。）请两位同学读前后两句，听者只判断他有没有回到原词。现在校准三个字词：‘于嗟’读xū jiē，是感叹词；‘无’同‘毋’，是不要；‘耽’是沉溺。再看声音怎样走：眼前的桑叶引来斑鸠，劝斑鸠的话又把声音送到女子身边。由眼前物象起声、引出所咏，是‘兴’；物与人的处境互相映照，又含着‘比’。这不是先背来的定义，是刚才有无前两句的差异。最后再读三句。它也像经历以后的一次回望：婚事已经迁嫁，后来的声音却回来提醒自己和后来的人。
【真实场景】
屏幕只留下此刻要面对的原诗、问题或学生真实作品；教师说完邀请后退开，让阅读、表达和等待真实发生。
（教师承接前页）
（学生先独立形成）
（同伴限定倾听）
（教师据真实材料校准）
（学生亲自修订）
（自然切页）
【时间盒】
恢复句群和连读：50秒；前后比较和个人修订：85秒；公开两份与原词追问：65秒；释词、命名比兴和重读：100秒
【现场分支】
暂时没有答案：允许先圈出最确定的一处原词，用不完整但真实的话开口；没有新增也可如实保留。
判断越过原诗：请指出依据；找不到相应原词时，把断言降低为问题、可能或文本未写。
【听者任务】
听清发言依据的是哪一句诗、给人物故事增加了什么；只补遗漏或提出一处证据追问。
【证据位置】
C303A首答下方的C303B有依据修订句
【自然切页句】
声音已经由物来到人。接下来，同一个‘耽’落在男女身上，脱身处境却并不相同。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【V6.6物理状态】C305-A｜300秒
【状态功能】
从相同‘耽/说’和不同‘士/女、可/不可’读出处境不对等。
【该状态学生可见文字】
同一个“耽”，哪些词改变了脱身处境？｜士之耽兮，犹可说也。｜女之耽兮，不可说也！
【V6.6逻辑页】C305｜逻辑页22｜5分钟
【前页输入】
学生已经完成前页任务，手中保留与“士之耽兮，犹可说也。女之耽兮，不可说也！”有关的原词或初稿。
【唯一困难】
学生容易看见“士之耽兮，犹可说也。女之耽兮，不可说也！”，却不能把它准确接回人物和前后故事。
【唯一功能】
从相同‘耽/说’和不同‘士/女、可/不可’读出处境不对等。
【文学对象】
士之耽兮，犹可说也。女之耽兮，不可说也！
【信息状态】
首答前只给原诗、必要字面和一个自然问题；解释、分类、关系与代表答案在学生首稿后出现。
【学生主动作】
写一条只陈述诗中处境的对照句
【参与路径】
个人先形成；需要交流时并行同桌或四人轮说；全班只公开少量有差异材料。
【可见产物】
处境判断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第四、五章验证并由S03回收
【正常反例】
想不起、无新增、已经准确、不同意或暂时沉默均有诚实完成路径，不要求伪造改变。
【主视觉职责】
两句并排
【插图资格】
无
【第一人称接收】
我刚才面对“士之耽兮，犹可说也。女之耽兮，不可说也！”，留下了处境判断；我能用原词说清自己新增或修正的理解。
【故事回接】
页面结束前由一句自然复述回到谁做了什么、人物处境怎样变化以及故事推进到哪里。
【删除损失】
删除会把劝女归为天性论
【相邻反证】
相邻页不同时处理“学生容易看见“士之耽兮，犹可说也。女之耽兮，不可说也！”，却不能把它准确接回人物和前后故事。”；合并会挤掉必要首答、校准或故事回接。
【失败信号】
学生只能复述活动手续，不能复述诗意；首答前已经看见完成关系或答案；产物在后页没有真实消费者
【教师逐字稿】
最后两句要并在一起读。‘说’在这里读tuō，同‘脱’，是摆脱、脱身。先各自口译，再圈出完全相同的词，框住真正改变结果的词。（等待。）请用一句现代话，只说诗中明写的处境差异，不解释为什么。原因写成‘后文待证’。（等待生成。）交换看同桌的句子，只做一件事：若看见‘女性天生、她活该、因为她沉溺所以他才……’这样的越界词，把那个词轻轻圈出来，不替对方重写。作者自己删改，回到士/女、犹可/不可。（等待修订。）这两句写明：同样沉溺，男子尚可脱身，女子却更难脱身。它没有写女性天生如何；更不能把女子的投入变成男子后来失信或粗暴的原因。为什么难，第四、第五章会让婚后的日子一件件出现。
【真实场景】
屏幕两句左右或上下正面对举，只给说的通假义；原因栏在学习单保持空白，教师站在两句中线位置主持对照。
（个人口译）
（圈同词框异词）
（写无归因处境句）
（同桌只圈越界词）
（作者亲自删改）
（连读校验并保存待证）
【时间盒】
个人口译与通假义：58秒；同异词圈框：50秒；无归因处境句生成：63秒；同桌越界词核查：46秒；作者修订与教师边界校准：58秒；连读和转场：25秒
【现场分支】
性别本质化：圈出‘天生’，改回诗中明写的士/女、可/不可处境差异。
受伤者归责：立即删去女子投入导致男子伤害的因果，把造成伤害与退出困难分开。
追问原因：把问题登记为后文待证；不凭第三章补造婚后结构。
【听者任务】
只检查同伴是否准确陈述处境差异、是否加入无证归因；不提供完整改写句。
【证据位置】
03C C305区
【自然切页句】
五句诗已经逐句走过。现在撤去局部提示，把桑叶、两声劝告和脱身差异讲回女子的一段回望。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【V6.6物理状态】C306-A｜240秒
【状态功能】
让每个人把第三章的物象、由物及人的劝告、男女处境差异和经历后回望重新讲成一段。
【该状态学生可见文字】
迁嫁以后，为什么先有这一树桑叶？｜桑之未落，其叶沃若。｜于嗟鸠兮，无食桑葚！｜于嗟女兮，无与士耽！｜士之耽兮，犹可说也。女之耽兮，不可说也！｜把第三章讲回她的一生。
【V6.6逻辑页】C306｜逻辑页23｜4分钟
【前页输入】
学生已经体验由物及人的比兴，并读出处境不等。
【唯一困难】
学生容易看见“桑之未落，其叶沃若。于嗟鸠兮，无食桑葚。于嗟女兮，无与士耽。士之耽兮，犹可说也。女之耽兮，不可说也。”，却不能把它准确接回人物和前后故事。
【唯一功能】
让每个人把第三章的物象、由物及人的劝告、男女处境差异和经历后回望重新讲成一段。
【文学对象】
桑之未落，其叶沃若。于嗟鸠兮，无食桑葚。于嗟女兮，无与士耽。士之耽兮，犹可说也。女之耽兮，不可说也。
【信息状态】
不预填完整章意；学生首答后教师只补真实断点。
【学生主动作】
每人写第三章自然章意；合书口述后在断点返诗修订
【参与路径】
全员个人写→全员低声自述→抽样一份→全员返诗修订。
【可见产物】
个人第三章自然章意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C401进入桑叶落下；C606六章检索
【正常反例】
想不起、无新增、已经准确、不同意或暂时沉默均有诚实完成路径，不要求伪造改变。
【主视觉职责】
第三章完整原诗和一条开放叙事入口
【插图资格】
无
【第一人称接收】
我能把比兴和处境差异放回迁嫁后的回望，而不只记一个术语。
【故事回接】
页面结束前由一句自然复述回到谁做了什么、人物处境怎样变化以及故事推进到哪里。
【删除损失】
第三章仍是比兴术语和两句性别对照，不能接回故事。
【相邻反证】
C303B命名写法，C305辨处境；本页独自完成第三章个人重建。
【失败信号】
只有公开一人形成章意；学生只写‘用了比兴’；无法从迁嫁接到第四章桑落
【教师逐字稿】
请把第三章完整读一遍。现在每个人用三四句自然话写清：迁嫁以后，诗为什么先让桑叶出现；劝告怎样从斑鸠来到女子；同一个‘耽’怎样写出不同的脱身处境；这更像当时旁边人的话，还是经历后的回望。（等待。）合上书，低声把这段讲给自己听。讲到真正断开的地方，立刻打开书找到那一句，再合书补完。请一位同学讲，其他人只指出他漏了哪一步；每个人最后都要在自己的文字上亲自补回。
【真实场景】
屏幕只留下此刻要面对的原诗、问题或学生真实作品；教师说完邀请后退开，让阅读、表达和等待真实发生。
（教师承接前页）
（学生先独立形成）
（同伴限定倾听）
（教师据真实材料校准）
（学生亲自修订）
（自然切页）
【时间盒】
完整重读：35秒；个人自然章意：95秒；合书低声口述和返诗：55秒；公开一份和个人修订：55秒
【现场分支】
暂时没有答案：允许先圈出最确定的一处原词，用不完整但真实的话开口；没有新增也可如实保留。
判断越过原诗：请指出依据；找不到相应原词时，把断言降低为问题、可能或文本未写。
【听者任务】
听清发言依据的是哪一句诗、给人物故事增加了什么；只补遗漏或提出一处证据追问。
【证据位置】
每个人的第三章自然章意及返诗修订痕迹
【自然切页句】
这份回望还只是警告。第四章，桑叶真正落下，婚后的生活也随之出现。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【V6.6物理状态】C401-A｜240秒
【状态功能】
先找到重现的桑，再区分生活事实和责任判断。
【该状态学生可见文字】
第四章｜桑叶落下以后，诗写了哪些生活？｜桑之落矣，其黄而陨。｜自我徂尔，三岁食贫。｜淇水汤汤，渐车帷裳。｜女也不爽，士贰其行。｜士也罔极，二三其德。｜完整读完，再留下：｜桑叶的新样子｜一句你听来像在判断的话
【V6.6逻辑页】C401｜逻辑页24｜4分钟
【前页输入】
学生已经完成前页任务，手中保留与“桑之落矣，其黄而陨。自我徂尔，三岁食贫。淇水汤汤，渐车帷裳。女也不爽，士贰其行。士也罔极，二三其德。”有关的原词或初稿。
【唯一困难】
学生容易看见“桑之落矣，其黄而陨。自我徂尔，三岁食贫。淇水汤汤，渐车帷裳。女也不爽，士贰其行。士也罔极，二三其德。”，却不能把它准确接回人物和前后故事。
【唯一功能】
先找到重现的桑，再区分生活事实和责任判断。
【文学对象】
桑之落矣，其黄而陨。自我徂尔，三岁食贫。淇水汤汤，渐车帷裳。女也不爽，士贰其行。士也罔极，二三其德。
【信息状态】
首答前只给原诗、必要字面和一个自然问题；解释、分类、关系与代表答案在学生首稿后出现。
【学生主动作】
整章读；圈物象、画事实、框判断
【参与路径】
个人先形成；需要交流时并行同桌或四人轮说；全班只公开少量有差异材料。
【可见产物】
章内三区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C402—C404_405
【正常反例】
想不起、无新增、已经准确、不同意或暂时沉默均有诚实完成路径，不要求伪造改变。
【主视觉职责】
完整第四章三区
【插图资格】
无
【第一人称接收】
我刚才面对“桑之落矣，其黄而陨。自我徂尔，三岁食贫。淇水汤汤，渐车帷裳。女也不爽，士贰其行。士也罔极，二三其德。”，留下了章内三区；我能用原词说清自己新增或修正的理解。
【故事回接】
页面结束前由一句自然复述回到谁做了什么、人物处境怎样变化以及故事推进到哪里。
【删除损失】
删除会失去事实与判断的边界
【相邻反证】
相邻页不同时处理“学生容易看见“桑之落矣，其黄而陨。自我徂尔，三岁食贫。淇水汤汤，渐车帷裳。女也不爽，士贰其行。士也罔极，二三其德。”，却不能把它准确接回人物和前后故事。”；合并会挤掉必要首答、校准或故事回接。
【失败信号】
学生只能复述活动手续，不能复述诗意；首答前已经看见完成关系或答案；产物在后页没有真实消费者
【教师逐字稿】
第三章最后，我们留下两件还不能封口的东西：一张‘沃若’桑叶的双假设卡，一个‘为什么女子更难脱身’的问号。请先把它们放在手边，不急着打开答案。现在让第四章五句诗完整地响一遍。第一遍只听它写了哪些生活；第二遍再留意，女子是否一直都在讲事情，还是有一句开始说她对这段关系的看法。（教师范读，学生再完整低声读。）现在才落笔：桑叶有了什么新样子？抄下原词。再抄一句你听来不像只在讲事情、而像在判断的话。暂时听不出来，就把问号留在这里。同桌只核对是不是第四章里的原词原句，不替对方解释。（等待核对和修订。）我们先把大家找到的句子留在纸上，不急着裁定。接下来从那片桑叶重新读起，让这五句自己告诉我们，她经历了什么，又怎样说起两个人。
【真实场景】
屏幕只呈现第四章全文和两个读后入口；教师范读时站到侧面，学生落笔前不染色、不画分区。
（取回第三章桑叶卡和待证问号）
（教师完整范读）
（学生个人完整低声读）
（读后才写状态与判断初稿）
（同桌只核对原句来源）
（学生亲自修订）
【时间盒】
恢复第三章两份待证材料：30秒；教师范读和学生完整朗读：85秒；个人生成两项初稿：55秒；同桌来源核对和修订：40秒；引用现场原句并转场：30秒
【现场分支】
只写悲伤或变心：把抽象词收回，先抄桑叶新状态和你认为声音变硬的完整原句。
判断起点不同：允许暂存两个位置，不由教师投票裁决；C404比较‘不爽/贰’时再修。
直接归因女子沉溺：先停止因果判断，本页只登记经历与判断的先后，不把第三章的耽变成伤害责任。
【听者任务】
只检查同伴是否抄自第四章、是否写成原词原句，不评判解释深浅。
【证据位置】
04D C401区
【自然切页句】
先回到那片桑叶。第三章它‘沃若’，这一章却‘黄而陨’；你原来的两种想法，经得住这一落吗？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【V6.6物理状态】C402-A｜300秒
【状态功能】
用后文真正检验前文的桑叶解释，经历后文改变前文。
【该状态学生可见文字】
桑之未落，其叶沃若。｜桑之落矣，其黄而陨。｜未落／落　沃若／黄而陨｜翻回你原来的两种想法：｜保留、改写，还是撤回？为什么？
【V6.6逻辑页】C402｜逻辑页25｜5分钟
【前页输入】
学生已经完成前页任务，手中保留与“桑之未落，其叶沃若。桑之落矣，其黄而陨。”有关的原词或初稿。
【唯一困难】
学生容易看见“桑之未落，其叶沃若。桑之落矣，其黄而陨。”，却不能把它准确接回人物和前后故事。
【唯一功能】
用后文真正检验前文的桑叶解释，经历后文改变前文。
【文学对象】
桑之未落，其叶沃若。桑之落矣，其黄而陨。
【信息状态】
首答前只给原诗、必要字面和一个自然问题；解释、分类、关系与代表答案在学生首稿后出现。
【学生主动作】
保留、改写或撤回旧假设；补新依据
【参与路径】
个人先形成；需要交流时并行同桌或四人轮说；全班只公开少量有差异材料。
【可见产物】
桑叶解释修订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C406与S06
【正常反例】
想不起、无新增、已经准确、不同意或暂时沉默均有诚实完成路径，不要求伪造改变。
【主视觉职责】
同枝前后状态
【插图资格】
I04c待A/B
【第一人称接收】
我刚才面对“桑之未落，其叶沃若。桑之落矣，其黄而陨。”，留下了桑叶解释修订；我能用原词说清自己新增或修正的理解。
【故事回接】
页面结束前由一句自然复述回到谁做了什么、人物处境怎样变化以及故事推进到哪里。
【删除损失】
删除会让意象理解仍是猜答案
【相邻反证】
相邻页不同时处理“学生容易看见“桑之未落，其叶沃若。桑之落矣，其黄而陨。”，却不能把它准确接回人物和前后故事。”；合并会挤掉必要首答、校准或故事回接。
【失败信号】
学生只能复述活动手续，不能复述诗意；首答前已经看见完成关系或答案；产物在后页没有真实消费者
【教师逐字稿】
请把第三章的桑叶卡真正翻回来，不要另起一张新纸。左边读‘桑之未落，其叶沃若’，右边读‘桑之落矣，其黄而陨’。‘陨’是坠落。两句用同样的节拍各读两遍，圈出相互顶住的词：未落与落，沃若与黄而陨。（等待对读。）现在看你原来的两种可能。第四章来了以后，每一种是保留、改写，还是撤回？请直接在旧稿上动笔，旁边补第四章的一处原词，或者补一句位置说明：前一句在迁嫁后的劝告开端，后一句在婚后回顾开端。（等待个人修订。）同桌只追问：新句究竟改变了你哪一处？若没有改变，也要说它怎样加强了你的解释。不同答案可以并存，但‘桑叶就是……’这样一锤定音的话要放轻。我们此刻可以说，桑叶荣枯让人联想到青春、情感或关系状态的变化，也把叙事从婚前带到婚后；究竟偏重哪一层，要让全文语境托住。
【真实场景】
屏幕左右只放两句和最低词义；学生桌面必须打开第三章原卡，用另一颜色在原稿上修订，教师不投影成品解释。
（打开第三章旧桑叶卡）
（两句同节拍对读）
（圈两组状态词）
（学生在旧稿上双色修订）
（同桌只追问新句造成的改变）
（学生补证或降低判断强度）
【时间盒】
恢复旧稿与两句对读：54秒；圈状态词并校准陨：46秒；个人保留改写撤回：83秒；同桌追问语境依据：54秒；学生再修与教师后置归纳：63秒
【现场分支】
只等标准答案：请先比较自己两项旧稿受到新句怎样影响；教师不替你选青春、爱情或关系中的一个。
两项完全一样：把第二项改到不同层次，或诚实撤回，只保留一项有前后句支撑的解释。
没有修改：允许保留，但必须补写黄而陨怎样加强或限制旧解释，不为形式制造改动。
【听者任务】
只追问新句与章内位置怎样影响旧解，不投票选唯一象征义。
【证据位置】
03C旧桑叶卡双色修订＋04D C402区
【自然切页句】
桑叶由盛转衰，诗也从劝告走进日子。接下来的两句，一句压着多年，一句忽然把淇水推到眼前。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【V6.6物理状态】C403-A｜300秒
【状态功能】
让多年生活与当下渡水片刻同时存在。
【该状态学生可见文字】
三岁食贫｜淇水汤汤｜自我徂尔，三岁食贫。｜淇水汤汤，渐车帷裳。｜这两句里的时间，一样长吗？
【V6.6逻辑页】C403｜逻辑页26｜5分钟
【前页输入】
学生已经完成前页任务，手中保留与“自我徂尔，三岁食贫。淇水汤汤，渐车帷裳。”有关的原词或初稿。
【唯一困难】
学生容易看见“自我徂尔，三岁食贫。淇水汤汤，渐车帷裳。”，却不能把它准确接回人物和前后故事。
【唯一功能】
让多年生活与当下渡水片刻同时存在。
【文学对象】
自我徂尔，三岁食贫。淇水汤汤，渐车帷裳。
【信息状态】
首答不显示‘多年／片刻’完成答案；教师在学生读写以后命名两种时间尺度。
【学生主动作】
听长时与展开的声音；写双时间旁白
【参与路径】
个人先形成；需要交流时并行同桌或四人轮说；全班只公开少量有差异材料。
【可见产物】
双时间旁白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C404_405与S02
【正常反例】
想不起、无新增、已经准确、不同意或暂时沉默均有诚实完成路径，不要求伪造改变。
【主视觉职责】
多年与片刻并置
【插图资格】
I05待A/B
【第一人称接收】
我刚才面对“自我徂尔，三岁食贫。淇水汤汤，渐车帷裳。”，留下了双时间旁白；我能用原词说清自己新增或修正的理解。
【故事回接】
页面结束前由一句自然复述回到谁做了什么、人物处境怎样变化以及故事推进到哪里。
【删除损失】
删除会让责任判断缺少婚后事实
【相邻反证】
相邻页不同时处理“学生容易看见“自我徂尔，三岁食贫。淇水汤汤，渐车帷裳。”，却不能把它准确接回人物和前后故事。”；合并会挤掉必要首答、校准或故事回接。
【失败信号】
学生只能复述活动手续，不能复述诗意；首答前已经看见完成关系或答案；产物在后页没有真实消费者
【教师逐字稿】
先把两句说准。‘徂’是往，‘食贫’是过贫苦生活；‘汤汤’读shāng shāng，写水势浩大；‘渐’读jiān，是浸湿；帷裳是车旁的帷幔。现在不急着分析。左半教室读第一句，把‘三岁’读得能让人感到日子很长；右半教室读第二句，让‘汤汤’有水势，但不要喊。交换一次，其余人闭眼听：哪一句像把多年压在四字里，哪一句把一个瞬间推到眼前？（等待两轮朗读和听者落笔。）请每人写两句第三人称旁白：一句只说多年里发生什么，一句只说淇水这一刻看见什么。写完同桌只圈一个诗中找不到的词，比如离开、归家、被赶走、向东向西；作者自己决定删除或改弱。（等待修订。）我们可以看见长期食贫，也可以看见浩荡淇水浸湿车帷；诗没有告诉我们这次渡水的方向，更没有在这里写完她是否离开。事实站稳以后，下一句才开始辨明责任。
【真实场景】
屏幕左右显示多年与一刻两句；两半教室交替朗读，学生写旁白时屏幕仍保留原句和最低词义作为边界。
（个人自然口译）
（教师定点校音释义）
（左右半班分部朗读）
（交换声音角色）
（个人写双镜头旁白）
（同桌只圈越界词）
（作者亲自修订）
【时间盒】
个人口译和定点释义：61秒；两轮分部朗读与闭眼听：64秒；个人双镜头旁白：61秒；同桌越界词核查：39秒；作者修订、分享与转场：75秒
【现场分支】
把三岁只算三年：按教材语境校准为多年，不把诗中概数锁成精确年限。
补写归家离开：圈出无原句依据的方向或结局词，改回淇水、水势和车帷被浸的事实。
不愿变化朗读：允许准确平读，并承担闭眼听者任务；体验不强制表演。
【听者任务】
听辨长期压缩与瞬间展开；核查旁白是否越过原句补写方向、动机或结局。
【证据位置】
04D C403区
【自然切页句】
多年食贫，淇水浸帷，这是她讲出的经历。紧接着，她不再只讲发生了什么，而开始说：谁没有差错，谁的行为变了。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【V6.6物理状态】C404_405-B0｜180秒
【状态功能】
在完整三句中先写四词短义并标清人物主体。
【该状态学生可见文字】
女也不爽，士贰其行。｜士也罔极，二三其德。｜不爽　贰行　罔极　二三其德｜先写准每个词，再标出它在说谁。
【V6.6逻辑页】C404_405｜逻辑页27｜7分钟
【前页输入】
学生已经完成前页任务，手中保留与“女也不爽，士贰其行。士也罔极，二三其德。”有关的原词或初稿。
【唯一困难】
学生容易看见“女也不爽，士贰其行。士也罔极，二三其德。”，却不能把它准确接回人物和前后故事。
【唯一功能】
把四组词连成逐步加重的责任证据链。
【文学对象】
女也不爽，士贰其行。士也罔极，二三其德。
【信息状态】
首答前只给原诗、必要字面和一个自然问题；解释、分类、关系与代表答案在学生首稿后出现。
【学生主动作】
排序着色四组词；用自然话说清责任
【参与路径】
个人先形成；需要交流时并行同桌或四人轮说；全班只公开少量有差异材料。
【可见产物】
责任证据链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C406与S03
【正常反例】
想不起、无新增、已经准确、不同意或暂时沉默均有诚实完成路径，不要求伪造改变。
【主视觉职责】
四词递进链
【插图资格】
无
【第一人称接收】
我刚才面对“女也不爽，士贰其行。士也罔极，二三其德。”，留下了责任证据链；我能用原词说清自己新增或修正的理解。
【故事回接】
页面结束前由一句自然复述回到谁做了什么、人物处境怎样变化以及故事推进到哪里。
【删除损失】
拆页会把同一判断切碎并重复核查
【相邻反证】
相邻页不同时处理“学生容易看见“女也不爽，士贰其行。士也罔极，二三其德。”，却不能把它准确接回人物和前后故事。”；合并会挤掉必要首答、校准或故事回接。
【失败信号】
学生只能复述活动手续，不能复述诗意；首答前已经看见完成关系或答案；产物在后页没有真实消费者
【教师逐字稿】
把两句连读，不要先抄现成释义。请在四个词下面各写一个你此刻能确定的短义；不确定就留问号。再用一深一浅两种颜色标出：哪一个词在说女子，哪些词在说男子。（教师巡视，不报答案，等待首答。）我们听两份。现在逐词校准：‘爽’在这里是差错，‘贰其行’是行为前后不一，‘罔极’是没有准则，‘二三其德’是品行反复无常。请把自己原来的短义改准；原来准确就保留。词义清楚以后，再问一个更重要的问题：这两句怎样由‘女子有没有差错’走到‘男子的行为和品行怎样变化’？请在原词之间自己画出关系，不必照某一种箭头。谁愿意到黑板上画？全班若不同意，只能用上下句调整。最后用一句平常话说清责任：食贫和渡水写她承受的生活，‘贰、罔极、二三其德’才直接指向男子的失信与反复。请再读两句，让词义、语势和责任判断一起落稳。
【真实场景】
屏幕只保留此刻要读的原诗、问题或学生现场作品；教师在说完邀请后退到侧面，把阅读、书写和沉默真实还给学生。
（学生先写四个短义并标主体）
（教师等待后抽取两份首答）
（教师逐词校准而不替写责任句）
（学生亲自画关系并公开质询）
（教师守住责任边界）
（全班连读收束）
【时间盒】
连读与个人短义首答：105秒；公开两份首答与逐词校准：115秒；个人画关系与黑板质询：120秒；责任边界、重读与转场：80秒
【现场分支】
暂时没有答案：允许先回到原句圈出最确定的一处，再用不完整但真实的话开口。
判断越过原诗：请说出依据；找不到相应原词时，把断言降为问题或可能。
【听者任务】
听清发言引用了哪一句诗、给人物故事增加了什么；只补遗漏，不替发言者重写答案。
【证据位置】
教材四词短义、主体标记和学生自画关系
【自然切页句】
桑叶、生活事实和责任判断已经齐了。下一页，只把这三层讲回一个完整故事。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【V6.6物理状态】C404_405-B1｜105秒
【状态功能】
公开两份真实首答，用上下句比较词义和主体分歧。
【该状态学生可见文字】
哪些词在说女子？哪些词在说男子？｜看看黑板上两份真实标法。｜只用上下句提出修正。
【V6.6逻辑页】C404_405｜逻辑页27｜7分钟
【前页输入】
学生已经完成前页任务，手中保留与“女也不爽，士贰其行。士也罔极，二三其德。”有关的原词或初稿。
【唯一困难】
学生容易看见“女也不爽，士贰其行。士也罔极，二三其德。”，却不能把它准确接回人物和前后故事。
【唯一功能】
把四组词连成逐步加重的责任证据链。
【文学对象】
女也不爽，士贰其行。士也罔极，二三其德。
【信息状态】
首答前只给原诗、必要字面和一个自然问题；解释、分类、关系与代表答案在学生首稿后出现。
【学生主动作】
排序着色四组词；用自然话说清责任
【参与路径】
个人先形成；需要交流时并行同桌或四人轮说；全班只公开少量有差异材料。
【可见产物】
责任证据链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C406与S03
【正常反例】
想不起、无新增、已经准确、不同意或暂时沉默均有诚实完成路径，不要求伪造改变。
【主视觉职责】
四词递进链
【插图资格】
无
【第一人称接收】
我刚才面对“女也不爽，士贰其行。士也罔极，二三其德。”，留下了责任证据链；我能用原词说清自己新增或修正的理解。
【故事回接】
页面结束前由一句自然复述回到谁做了什么、人物处境怎样变化以及故事推进到哪里。
【删除损失】
拆页会把同一判断切碎并重复核查
【相邻反证】
相邻页不同时处理“学生容易看见“女也不爽，士贰其行。士也罔极，二三其德。”，却不能把它准确接回人物和前后故事。”；合并会挤掉必要首答、校准或故事回接。
【失败信号】
学生只能复述活动手续，不能复述诗意；首答前已经看见完成关系或答案；产物在后页没有真实消费者
【教师逐字稿】
把两句连读，不要先抄现成释义。请在四个词下面各写一个你此刻能确定的短义；不确定就留问号。再用一深一浅两种颜色标出：哪一个词在说女子，哪些词在说男子。（教师巡视，不报答案，等待首答。）我们听两份。现在逐词校准：‘爽’在这里是差错，‘贰其行’是行为前后不一，‘罔极’是没有准则，‘二三其德’是品行反复无常。请把自己原来的短义改准；原来准确就保留。词义清楚以后，再问一个更重要的问题：这两句怎样由‘女子有没有差错’走到‘男子的行为和品行怎样变化’？请在原词之间自己画出关系，不必照某一种箭头。谁愿意到黑板上画？全班若不同意，只能用上下句调整。最后用一句平常话说清责任：食贫和渡水写她承受的生活，‘贰、罔极、二三其德’才直接指向男子的失信与反复。请再读两句，让词义、语势和责任判断一起落稳。
【真实场景】
屏幕只保留此刻要读的原诗、问题或学生现场作品；教师在说完邀请后退到侧面，把阅读、书写和沉默真实还给学生。
（学生先写四个短义并标主体）
（教师等待后抽取两份首答）
（教师逐词校准而不替写责任句）
（学生亲自画关系并公开质询）
（教师守住责任边界）
（全班连读收束）
【时间盒】
连读与个人短义首答：105秒；公开两份首答与逐词校准：115秒；个人画关系与黑板质询：120秒；责任边界、重读与转场：80秒
【现场分支】
暂时没有答案：允许先回到原句圈出最确定的一处，再用不完整但真实的话开口。
判断越过原诗：请说出依据；找不到相应原词时，把断言降为问题或可能。
【听者任务】
听清发言引用了哪一句诗、给人物故事增加了什么；只补遗漏，不替发言者重写答案。
【证据位置】
教材四词短义、主体标记和学生自画关系
【自然切页句】
桑叶、生活事实和责任判断已经齐了。下一页，只把这三层讲回一个完整故事。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【V6.6物理状态】C404_405-B2｜135秒
【状态功能】
校准四词并由学生亲自画出责任语意的加重。
【该状态学生可见文字】
女子没有差错。｜男子行为前后不一。｜他的行为没有准则，品行反复无常。｜责任判断怎样一步步加重？
【V6.6逻辑页】C404_405｜逻辑页27｜7分钟
【前页输入】
学生已经完成前页任务，手中保留与“女也不爽，士贰其行。士也罔极，二三其德。”有关的原词或初稿。
【唯一困难】
学生容易看见“女也不爽，士贰其行。士也罔极，二三其德。”，却不能把它准确接回人物和前后故事。
【唯一功能】
把四组词连成逐步加重的责任证据链。
【文学对象】
女也不爽，士贰其行。士也罔极，二三其德。
【信息状态】
首答前只给原诗、必要字面和一个自然问题；解释、分类、关系与代表答案在学生首稿后出现。
【学生主动作】
排序着色四组词；用自然话说清责任
【参与路径】
个人先形成；需要交流时并行同桌或四人轮说；全班只公开少量有差异材料。
【可见产物】
责任证据链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C406与S03
【正常反例】
想不起、无新增、已经准确、不同意或暂时沉默均有诚实完成路径，不要求伪造改变。
【主视觉职责】
四词递进链
【插图资格】
无
【第一人称接收】
我刚才面对“女也不爽，士贰其行。士也罔极，二三其德。”，留下了责任证据链；我能用原词说清自己新增或修正的理解。
【故事回接】
页面结束前由一句自然复述回到谁做了什么、人物处境怎样变化以及故事推进到哪里。
【删除损失】
拆页会把同一判断切碎并重复核查
【相邻反证】
相邻页不同时处理“学生容易看见“女也不爽，士贰其行。士也罔极，二三其德。”，却不能把它准确接回人物和前后故事。”；合并会挤掉必要首答、校准或故事回接。
【失败信号】
学生只能复述活动手续，不能复述诗意；首答前已经看见完成关系或答案；产物在后页没有真实消费者
【教师逐字稿】
把两句连读，不要先抄现成释义。请在四个词下面各写一个你此刻能确定的短义；不确定就留问号。再用一深一浅两种颜色标出：哪一个词在说女子，哪些词在说男子。（教师巡视，不报答案，等待首答。）我们听两份。现在逐词校准：‘爽’在这里是差错，‘贰其行’是行为前后不一，‘罔极’是没有准则，‘二三其德’是品行反复无常。请把自己原来的短义改准；原来准确就保留。词义清楚以后，再问一个更重要的问题：这两句怎样由‘女子有没有差错’走到‘男子的行为和品行怎样变化’？请在原词之间自己画出关系，不必照某一种箭头。谁愿意到黑板上画？全班若不同意，只能用上下句调整。最后用一句平常话说清责任：食贫和渡水写她承受的生活，‘贰、罔极、二三其德’才直接指向男子的失信与反复。请再读两句，让词义、语势和责任判断一起落稳。
【真实场景】
屏幕只保留此刻要读的原诗、问题或学生现场作品；教师在说完邀请后退到侧面，把阅读、书写和沉默真实还给学生。
（学生先写四个短义并标主体）
（教师等待后抽取两份首答）
（教师逐词校准而不替写责任句）
（学生亲自画关系并公开质询）
（教师守住责任边界）
（全班连读收束）
【时间盒】
连读与个人短义首答：105秒；公开两份首答与逐词校准：115秒；个人画关系与黑板质询：120秒；责任边界、重读与转场：80秒
【现场分支】
暂时没有答案：允许先回到原句圈出最确定的一处，再用不完整但真实的话开口。
判断越过原诗：请说出依据；找不到相应原词时，把断言降为问题或可能。
【听者任务】
听清发言引用了哪一句诗、给人物故事增加了什么；只补遗漏，不替发言者重写答案。
【证据位置】
教材四词短义、主体标记和学生自画关系
【自然切页句】
桑叶、生活事实和责任判断已经齐了。下一页，只把这三层讲回一个完整故事。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【V6.6物理状态】C406-A｜360秒
【状态功能】
在教师三层板书模型后，独立完成第四章章意。
【该状态学生可见文字】
桑叶落下以后，发生了什么？｜桑之落矣，其黄而陨。｜自我徂尔，三岁食贫。｜淇水汤汤，渐车帷裳。｜女也不爽，士贰其行。｜士也罔极，二三其德。
【V6.6逻辑页】C406｜逻辑页28｜6分钟
【前页输入】
学生已经完成前页任务，手中保留与“桑之落矣，其黄而陨。自我徂尔，三岁食贫。淇水汤汤，渐车帷裳。女也不爽，士贰其行。士也罔极，二三其德。”有关的原词或初稿。
【唯一困难】
学生容易看见“桑之落矣，其黄而陨。自我徂尔，三岁食贫。淇水汤汤，渐车帷裳。女也不爽，士贰其行。士也罔极，二三其德。”，却不能把它准确接回人物和前后故事。
【唯一功能】
在教师三层板书模型后，独立完成第四章章意。
【文学对象】
桑之落矣，其黄而陨。自我徂尔，三岁食贫。淇水汤汤，渐车帷裳。女也不爽，士贰其行。士也罔极，二三其德。
【信息状态】
首屏不预填物象／生活／责任三卡；三层由学生复述后的现场板书形成。
【学生主动作】
每人写第四章自然章意；合书口述并在断点返诗修订
【参与路径】
个人先形成；需要交流时并行同桌或四人轮说；全班只公开少量有差异材料。
【可见产物】
个人第四章自然章意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C501与S03
【正常反例】
想不起、无新增、已经准确、不同意或暂时沉默均有诚实完成路径，不要求伪造改变。
【主视觉职责】
三层板书
【插图资格】
无
【第一人称接收】
我刚才面对“桑之落矣，其黄而陨。自我徂尔，三岁食贫。淇水汤汤，渐车帷裳。女也不爽，士贰其行。士也罔极，二三其德。”，留下了个人第四章自然章意；我能用原词说清自己新增或修正的理解。
【故事回接】
页面结束前由一句自然复述回到谁做了什么、人物处境怎样变化以及故事推进到哪里。
【删除损失】
删除会使第四章三层关系散开
【相邻反证】
相邻页不同时处理“学生容易看见“桑之落矣，其黄而陨。自我徂尔，三岁食贫。淇水汤汤，渐车帷裳。女也不爽，士贰其行。士也罔极，二三其德。”，却不能把它准确接回人物和前后故事。”；合并会挤掉必要首答、校准或故事回接。
【失败信号】
只有随机一人形成章意；学生只抄三层标题；个人文字没有任何原词或责任边界
【教师逐字稿】
请把第四章再读一遍。每个人先用三四句自然话写清：桑叶发生了什么变化；她嫁过去以后经历了怎样的生活和渡水片刻；诗怎样分清两个人的行为与责任。（等待，不给三层标题。）现在合上书，低声讲给自己听四十五秒。真正断开的地方立刻返诗，找到原句以后合书补完。请一位同学讲，其他人只指出应该回到哪一句。教师根据真实材料在黑板后置写出三个短语：桑叶变化、婚后生活、责任判断。每个人再看自己的章意，补一处原词或改一处责任表述。
【真实场景】
屏幕只留下此刻要面对的原诗、问题或学生真实作品；教师说完邀请后退开，让阅读、表达和等待真实发生。
（教师承接前页）
（学生先独立形成）
（同伴限定倾听）
（教师据真实材料校准）
（学生亲自修订）
（自然切页）
【时间盒】
完整重读：40秒；个人第四章自然章意：125秒；合书低声口述和返诗：65秒；公开一份和定位断点：60秒；教师后置板书和本人修订：70秒
【现场分支】
暂时没有答案：允许先圈出最确定的一处原词，用不完整但真实的话开口；没有新增也可如实保留。
判断越过原诗：请指出依据；找不到相应原词时，把断言降低为问题、可能或文本未写。
【听者任务】
听清发言依据的是哪一句诗、给人物故事增加了什么；只补遗漏或提出一处证据追问。
【证据位置】
每个人的第四章自然章意、原词补证和责任修订
【自然切页句】
第四章已经把生活事实和责任说清。第五章会把三岁拆成每一天，又让屋外的笑声传进来。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【V6.6物理状态】C501-A｜240秒
【状态功能】
完整听见第五章，并定位动作和声音的主体。
【该状态学生可见文字】
第五章｜谁在忙碌，谁的声音从外面传来？｜三岁为妇，靡室劳矣。｜夙兴夜寐，靡有朝矣。｜言既遂矣，至于暴矣。｜兄弟不知，咥其笑矣。｜静言思之，躬自悼矣。｜完整读完，再留下：｜一个反复的生活动作｜声音转向内心的原句
【V6.6逻辑页】C501｜逻辑页29｜4分钟
【前页输入】
学生已经完成前页任务，手中保留与“三岁为妇，靡室劳矣。夙兴夜寐，靡有朝矣。言既遂矣，至于暴矣。兄弟不知，咥其笑矣。静言思之，躬自悼矣。”有关的原词或初稿。
【唯一困难】
学生容易看见“三岁为妇，靡室劳矣。夙兴夜寐，靡有朝矣。言既遂矣，至于暴矣。兄弟不知，咥其笑矣。静言思之，躬自悼矣。”，却不能把它准确接回人物和前后故事。
【唯一功能】
完整听见第五章，并定位动作和声音的主体。
【文学对象】
三岁为妇，靡室劳矣。夙兴夜寐，靡有朝矣。言既遂矣，至于暴矣。兄弟不知，咥其笑矣。静言思之，躬自悼矣。
【信息状态】
首答前只给原诗、必要字面和一个自然问题；解释、分类、关系与代表答案在学生首稿后出现。
【学生主动作】
整章读；标主体、动作和声音来源
【参与路径】
个人先形成；需要交流时并行同桌或四人轮说；全班只公开少量有差异材料。
【可见产物】
空间声音初稿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C502—C504
【正常反例】
想不起、无新增、已经准确、不同意或暂时沉默均有诚实完成路径，不要求伪造改变。
【主视觉职责】
第五章完整声场
【插图资格】
无
【第一人称接收】
我刚才面对“三岁为妇，靡室劳矣。夙兴夜寐，靡有朝矣。言既遂矣，至于暴矣。兄弟不知，咥其笑矣。静言思之，躬自悼矣。”，留下了空间声音初稿；我能用原词说清自己新增或修正的理解。
【故事回接】
页面结束前由一句自然复述回到谁做了什么、人物处境怎样变化以及故事推进到哪里。
【删除损失】
删除会让不幸仍是标签
【相邻反证】
相邻页不同时处理“学生容易看见“三岁为妇，靡室劳矣。夙兴夜寐，靡有朝矣。言既遂矣，至于暴矣。兄弟不知，咥其笑矣。静言思之，躬自悼矣。”，却不能把它准确接回人物和前后故事。”；合并会挤掉必要首答、校准或故事回接。
【失败信号】
学生只能复述活动手续，不能复述诗意；首答前已经看见完成关系或答案；产物在后页没有真实消费者
【教师逐字稿】
第四章说到男子的行为反复无常。第五章不先讲一个抽象结论，而是把门推开，让我们看见日子怎样过。请让五句诗完整响一遍；读的时候先不圈‘苦’‘惨’这些词，只听谁在做事，谁的声音从外面传来，什么时候声音收进女子心里。（教师范读，学生低声完整再读。）现在才落笔：抄一个会在生活中反复发生的动作；再抄一处你觉得声音已经转入她内心的原句。不确定可以留问号。同桌只核对是否来自第五章，不替对方讲答案。（等待修订。）我们先保留一条大致路径：日常劳作在前，男子和家人的声音进入，最后只剩她静下来思量。每一步究竟怎样写，继续往下走。
【真实场景】
屏幕只显示第五章全文与两个读后入口；教师不预先染色人物，不投影生活处境分类。
（读取第四章故事轨道第四格）
（教师完整范读）
（学生完整低声读）
（读后才写两项初稿）
（同桌只核对原句来源）
（学生亲自修订）
【时间盒】
承接第四格：25秒；教师和学生完整读章：90秒；个人生成两项初稿：60秒；同桌来源核对和修订：40秒；引用现场原句与转场：25秒
【现场分支】
只写很辛苦：请改回诗中人物实际做的动作，例如起、寐，或抄一整句。
把兄弟理解成所有家人：本页只保留诗中明确的兄弟，不扩大到所有家人。
提前补写身体暴力：先回到‘暴’这一字；具体伤害方式诗中没有写，C503会守住边界。
【听者任务】
只核对动作和转折句是否来自第五章，不评价情绪是否深刻。
【证据位置】
05E C501区
【自然切页句】
先不走向兄弟的笑声。前两句只写一天从什么时候开始、什么时候结束，却说这一天重复了许多年。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【V6.6物理状态】C502-A｜300秒
【状态功能】
把夙兴—夜寐拉成一天首尾，再叠入三岁与靡有朝的多年重复。
【该状态学生可见文字】
三岁为妇，靡室劳矣。｜夙兴夜寐，靡有朝矣。｜靡：没有　室劳：家务劳动｜夙：早　兴：起身　夜寐：晚睡　朝：一日｜一天从哪里开始，到哪里结束？｜哪个字让它不只发生一天？
【V6.6逻辑页】C502｜逻辑页30｜5分钟
【前页输入】
学生已经完成前页任务，手中保留与“三岁为妇，靡室劳矣。夙兴夜寐，靡有朝矣。”有关的原词或初稿。
【唯一困难】
学生容易看见“三岁为妇，靡室劳矣。夙兴夜寐，靡有朝矣。”，却不能把它准确接回人物和前后故事。
【唯一功能】
把夙兴—夜寐拉成一天首尾，再叠入三岁与靡有朝的多年重复。
【文学对象】
三岁为妇，靡室劳矣。夙兴夜寐，靡有朝矣。
【信息状态】
首答前只给原诗、必要字面和一个自然问题；解释、分类、关系与代表答案在学生首稿后出现。
【学生主动作】
完成嵌套时间线；口头概括日常
【参与路径】
个人先形成；需要交流时并行同桌或四人轮说；全班只公开少量有差异材料。
【可见产物】
嵌套时间线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C505与S02
【正常反例】
想不起、无新增、已经准确、不同意或暂时沉默均有诚实完成路径，不要求伪造改变。
【主视觉职责】
一天叠入多年
【插图资格】
I06须重审
【第一人称接收】
我刚才面对“三岁为妇，靡室劳矣。夙兴夜寐，靡有朝矣。”，留下了嵌套时间线；我能用原词说清自己新增或修正的理解。
【故事回接】
页面结束前由一句自然复述回到谁做了什么、人物处境怎样变化以及故事推进到哪里。
【删除损失】
删除会失去日常劳作的时间结构
【相邻反证】
相邻页不同时处理“学生容易看见“三岁为妇，靡室劳矣。夙兴夜寐，靡有朝矣。”，却不能把它准确接回人物和前后故事。”；合并会挤掉必要首答、校准或故事回接。
【失败信号】
学生只能复述活动手续，不能复述诗意；首答前已经看见完成关系或答案；产物在后页没有真实消费者
【教师逐字稿】
先借注释把两句说成自然话。三岁是多年；靡是没有；室劳是家务劳动；夙是早，兴是起身，夜寐是晚睡，朝在这里是一日。现在请两位同学分站教室前后：一位从‘夙兴’开始，一位在另一端接‘夜寐’；全班不齐读，只在两句末尾低声接出‘靡’。交换一次。听的人闭眼：一天从哪里开始，到哪里结束？哪个字让这种日子不只发生一天？（完成声场与等待。）现在每人写一句第三人称旁白，要同时有一天和多年，不添加具体家务清单。若写成‘贤妻无怨无悔、勤劳是她的美德’，同桌可以圈出美化劳苦或替人物补心情的词，作者自己改回长期家务、早起晚睡、没有一天例外的事实。（等待修订。）诗写她承担多年家务与时间负担；赞许一个人的勤勉，不能让不均衡的劳动从画面里消失。
【真实场景】
屏幕左右拉开夙兴与夜寐；两位学生在教室两端读，全班只在靡处低声回响，随后个人写生活旁白。
（个人借注释口译）
（教师定点校词）
（两位学生分站早晚两端）
（全班只接两声靡）
（交换两端朗读）
（个人写生活旁白）
（同桌圈美化或补写词）
（作者亲自修订）
【时间盒】
口译与词义校准：64秒；两轮空间声场与闭眼听：72秒；个人生活旁白：61秒；同桌用词核查：39秒；作者修订、分享和转场：64秒
【现场分支】
赞美贤惠盖过负担：允许保留赞许，但另写清劳动是否长期集中、时间是否有休止。
虚构具体家务：删去诗中未写的做饭、洗衣等清单，回到室劳、夙兴、夜寐。
不愿走位：留在座位用手指向早晚两端朗读，并承担闭眼听者任务。
【听者任务】
听早晚跨度和靡的无例外感；核查生活旁白是否美化劳苦或虚构细节。
【证据位置】
05E C502区
【自然切页句】
多年这样生活以后，下一句忽然写‘既遂’和‘至于暴’。一个人的愿望满足了，另一个人的日子却走向哪里？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【V6.6物理状态】C503-A｜360秒
【状态功能】
读清既遂—至暴的变化，并有限回看婚前警讯而不倒推预谋。
【该状态学生可见文字】
后来再看开头，哪些细节值得留意？｜抱布贸丝　来即我谋　将子无怒｜后来再看，值得留意｜只凭当时，不能断定
【V6.6逻辑页】C503｜逻辑页31｜6分钟
【前页输入】
学生已经完成前页任务，手中保留与“言既遂矣，至于暴矣。氓之蚩蚩，抱布贸丝。匪来贸丝，来即我谋。将子无怒，秋以为期。”有关的原词或初稿。
【唯一困难】
学生容易看见“言既遂矣，至于暴矣。氓之蚩蚩，抱布贸丝。匪来贸丝，来即我谋。将子无怒，秋以为期。”，却不能把它准确接回人物和前后故事。
【唯一功能】
读清既遂—至暴的变化，并有限回看婚前警讯而不倒推预谋。
【文学对象】
言既遂矣，至于暴矣。氓之蚩蚩，抱布贸丝。匪来贸丝，来即我谋。将子无怒，秋以为期。
【信息状态】
首答前只给原诗、必要字面和一个自然问题；解释、分类、关系与代表答案在学生首稿后出现。
【学生主动作】
任选一处婚前细节；写现在能说明与仍不能说明
【参与路径】
个人先形成；需要交流时并行同桌或四人轮说；全班只公开少量有差异材料。
【可见产物】
有限回看双行句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C505与S03
【正常反例】
想不起、无新增、已经准确、不同意或暂时沉默均有诚实完成路径，不要求伪造改变。
【主视觉职责】
今昔证据边界
【插图资格】
无
【第一人称接收】
我刚才面对“言既遂矣，至于暴矣。氓之蚩蚩，抱布贸丝。匪来贸丝，来即我谋。将子无怒，秋以为期。”，留下了有限回看双行句；我能用原词说清自己新增或修正的理解。
【故事回接】
页面结束前由一句自然复述回到谁做了什么、人物处境怎样变化以及故事推进到哪里。
【删除损失】
删除会失去审慎与证据边界
【相邻反证】
相邻页不同时处理“学生容易看见“言既遂矣，至于暴矣。氓之蚩蚩，抱布贸丝。匪来贸丝，来即我谋。将子无怒，秋以为期。”，却不能把它准确接回人物和前后故事。”；合并会挤掉必要首答、校准或故事回接。
【失败信号】
学生只能复述活动手续，不能复述诗意；首答前已经看见完成关系或答案；产物在后页没有真实消费者
【教师逐字稿】
先读‘言既遂矣，至于暴矣’。‘言’是助词，‘遂’是如愿，‘暴’是粗暴；这句明写婚事如愿以后，他的行为走到了粗暴。现在翻回第一章，从‘抱布贸丝、来即我谋、将子无怒’中选一处，在纸上写两行：后来再看，这处值得留意什么；只凭当时，又不能断定什么。（等待首答。）请三位同学各读一处，听众只追问判断由哪个原词和哪条后来事实托住。后来的‘贰其行、二三其德、至于暴矣’会使早期细节成为需要认真观察的信息，提醒承诺要由长期行动核验；但它们不能证明男子从一开始就有已证实的预谋，也不能要求女子为没有预知未来负责。恋爱中的强烈投入可能使人忽略不协调信息，这值得我们学会审慎；但‘恋爱脑’不能成为责怪受伤者的标签。请把自己的两行改得更准确。
【真实场景】
屏幕只留下此刻要面对的原诗、问题或学生真实作品；教师说完邀请后退开，让阅读、表达和等待真实发生。
（教师承接前页）
（学生先独立形成）
（同伴限定倾听）
（教师据真实材料校准）
（学生亲自修订）
（自然切页）
【时间盒】
本句释义和翻回开头：65秒；个人双行首答：105秒；三份公开和证据追问：85秒；边界校准和本人修订：105秒
【现场分支】
暂时没有答案：允许先圈出最确定的一处原词，用不完整但真实的话开口；没有新增也可如实保留。
判断越过原诗：请指出依据；找不到相应原词时，把断言降低为问题、可能或文本未写。
【听者任务】
听清发言依据的是哪一句诗、给人物故事增加了什么；只补遗漏或提出一处证据追问。
【证据位置】
第一、五章之间的‘值得留意／不能断定’双行句
【自然切页句】
男子的变化已经写明。第五章还有另一重孤立：外面的笑声散去以后，她只能独自思量。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【V6.6物理状态】C504-A｜300秒
【状态功能】
用全课唯一声场体验外部笑声退去后女子独自思量。
【该状态学生可见文字】
笑声散去以后……｜兄弟不知，咥其笑矣。｜静言思之，躬自悼矣。｜外面的声音退去以后，空间里只剩下谁？
【V6.6逻辑页】C504｜逻辑页32｜5分钟
【前页输入】
学生已经完成前页任务，手中保留与“兄弟不知，咥其笑矣。静言思之，躬自悼矣。”有关的原词或初稿。
【唯一困难】
学生容易看见“兄弟不知，咥其笑矣。静言思之，躬自悼矣。”，却不能把它准确接回人物和前后故事。
【唯一功能】
用全课唯一声场体验外部笑声退去后女子独自思量。
【文学对象】
兄弟不知，咥其笑矣。静言思之，躬自悼矣。
【信息状态】
屏幕中间只保留空白；三秒沉默、站位和声场程序全部进入备注，不写在前台。
【学生主动作】
听外声—沉默—内声；静写第三人称处境
【参与路径】
个人先形成；需要交流时并行同桌或四人轮说；全班只公开少量有差异材料。
【可见产物】
声音层次与处境句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C505、S02与S03
【正常反例】
想不起、无新增、已经准确、不同意或暂时沉默均有诚实完成路径，不要求伪造改变。
【主视觉职责】
声场与留白
【插图资格】
I07须重审
【第一人称接收】
我刚才面对“兄弟不知，咥其笑矣。静言思之，躬自悼矣。”，留下了声音层次与处境句；我能用原词说清自己新增或修正的理解。
【故事回接】
页面结束前由一句自然复述回到谁做了什么、人物处境怎样变化以及故事推进到哪里。
【删除损失】
删除会失去社会孤立的声音经验
【相邻反证】
相邻页不同时处理“学生容易看见“兄弟不知，咥其笑矣。静言思之，躬自悼矣。”，却不能把它准确接回人物和前后故事。”；合并会挤掉必要首答、校准或故事回接。
【失败信号】
画面写出‘三秒沉默’；外声表演成夸张嘲笑；要求学生披露家庭经历
【教师逐字稿】
先把字音和词义说准：咥读xì，是笑的样子；躬是自身；悼是悲伤。现在全课只做这一次声场。教室两侧克制地低读‘兄弟不知，咥其笑矣’，不是表演嘲笑；声音完全退去后，真正沉默三秒，再由中间一位同学读‘静言思之，躬自悼矣’。其余人闭眼听，不忙着判断。（完成声场与静默。）请睁眼，只在纸上画三格：外声——沉默——内声，再用第三人称写一句：此刻的她处在怎样的位置？不交换，不审稿，也不要求讲自己的家庭。诗只写兄弟不了解而笑，随后她静思、自悼；我们可以由此看见理解和托举的缺席，却不能虚构她怎样求助、所有家人怎样拒绝。最重的一笔，不是更响的控诉，而是笑声过去，只剩一个人面对自己的悲伤。
【真实场景】
屏幕只保留此刻要读的原诗、问题或学生现场作品；教师在说完邀请后退到侧面，把阅读、书写和沉默真实还给学生。
（教师承接前页）
（学生完成主动作）
（公开少量真实材料）
（教师据原诗归纳）
（自然切页）
【时间盒】
完整课堂过程：300秒
【现场分支】
暂时没有答案：允许先回到原句圈出最确定的一处，再用不完整但真实的话开口。
判断越过原诗：请说出依据；找不到相应原词时，把断言降为问题或可能。
【听者任务】
听清发言引用了哪一句诗、给人物故事增加了什么；只补遗漏，不替发言者重写答案。
【证据位置】
教材第五章旁的外声—沉默—内声三格
【自然切页句】
把这间屋子里的时间、声音和人物留下。下一页，我们用一小段生活把许多年写出来。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【V6.6物理状态】C505-A｜240秒
【状态功能】
把第五章转译成不虚构的生活片段，直接供全文第二问使用。
【该状态学生可见文字】
一间屋子里的许多年｜夙兴夜寐｜既遂至暴｜兄弟不知｜躬自悼矣｜只写诗里有的日子，不替她增添诗外的遭遇。
【V6.6逻辑页】C505｜逻辑页33｜4分钟
【前页输入】
学生已经完成前页任务，手中保留与“三岁为妇，靡室劳矣。夙兴夜寐，靡有朝矣。言既遂矣，至于暴矣。兄弟不知，咥其笑矣。静言思之，躬自悼矣。”有关的原词或初稿。
【唯一困难】
学生容易看见“三岁为妇，靡室劳矣。夙兴夜寐，靡有朝矣。言既遂矣，至于暴矣。兄弟不知，咥其笑矣。静言思之，躬自悼矣。”，却不能把它准确接回人物和前后故事。
【唯一功能】
把第五章转译成不虚构的生活片段，直接供全文第二问使用。
【文学对象】
三岁为妇，靡室劳矣。夙兴夜寐，靡有朝矣。言既遂矣，至于暴矣。兄弟不知，咥其笑矣。静言思之，躬自悼矣。
【信息状态】
首答前只给原诗、必要字面和一个自然问题；解释、分类、关系与代表答案在学生首稿后出现。
【学生主动作】
合书写40—60字生活片段；匿名猜回原句
【参与路径】
个人先形成；需要交流时并行同桌或四人轮说；全班只公开少量有差异材料。
【可见产物】
第五章生活片段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S02直接展读
【正常反例】
想不起、无新增、已经准确、不同意或暂时沉默均有诚实完成路径，不要求伪造改变。
【主视觉职责】
学生文字
【插图资格】
无
【第一人称接收】
我刚才面对“三岁为妇，靡室劳矣。夙兴夜寐，靡有朝矣。言既遂矣，至于暴矣。兄弟不知，咥其笑矣。静言思之，躬自悼矣。”，留下了第五章生活片段；我能用原词说清自己新增或修正的理解。
【故事回接】
页面结束前由一句自然复述回到谁做了什么、人物处境怎样变化以及故事推进到哪里。
【删除损失】
删除会使全文活动重新从零写
【相邻反证】
相邻页不同时处理“学生容易看见“三岁为妇，靡室劳矣。夙兴夜寐，靡有朝矣。言既遂矣，至于暴矣。兄弟不知，咥其笑矣。静言思之，躬自悼矣。”，却不能把它准确接回人物和前后故事。”；合并会挤掉必要首答、校准或故事回接。
【失败信号】
学生只能复述活动手续，不能复述诗意；首答前已经看见完成关系或答案；产物在后页没有真实消费者
【教师逐字稿】
第五章已经不用再做一次同构的章末互审。请看四个原句锚点：夙兴夜寐、靡有朝矣；言既遂矣、至于暴矣；兄弟不知、咥其笑矣；静言思之、躬自悼矣。现在合上书，用第三人称写四十到六十字，题目就是‘一间屋子里的许多年’。写她每天怎样过，男子怎样变化，外面的笑声退去后她怎样独自思量；不要添具体家务清单、具体伤害方式或诗中没有的求助过程。教师安静巡视，不让同桌互相改。时间到后只匿名投影两份，我读给大家听，请全班说它能回到哪一句诗；暂时不评价辞藻高低。这段生活文字不是另一个装饰性任务，它会在全文第二问直接展出，用来把‘不幸’从标签还原成可观察的日常。
【真实场景】
屏幕只保留此刻要读的原诗、问题或学生现场作品；教师在说完邀请后退到侧面，把阅读、书写和沉默真实还给学生。
（教师承接前页）
（学生完成主动作）
（公开少量真实材料）
（教师据原诗归纳）
（自然切页）
【时间盒】
完整课堂过程：240秒
【现场分支】
暂时没有答案：允许先回到原句圈出最确定的一处，再用不完整但真实的话开口。
判断越过原诗：请说出依据；找不到相应原词时，把断言降为问题或可能。
【听者任务】
听清发言引用了哪一句诗、给人物故事增加了什么；只补遗漏，不替发言者重写答案。
【证据位置】
第五章生活片段卡
【自然切页句】
生活已经写到最深处。第六章不再增加新的日常事件，她开始重新看旧愿、旧事和誓言。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【V6.6物理状态】C601-A｜240秒
【状态功能】
发现末章不再新增生活事件，而在重新评价旧愿、旧事和誓言。
【该状态学生可见文字】
第六章｜她把哪些旧事重新放回眼前？｜及尔偕老，老使我怨。｜淇则有岸，隰则有泮。｜总角之宴，言笑晏晏。｜信誓旦旦，不思其反。｜反是不思，亦已焉哉。｜完整读完，再留下：｜一处回到过去的原句｜一处真正收束全诗的原句
【V6.6逻辑页】C601｜逻辑页34｜4分钟
【前页输入】
学生已经完成前页任务，手中保留与“及尔偕老，老使我怨。淇则有岸，隰则有泮。总角之宴，言笑晏晏。信誓旦旦，不思其反。反是不思，亦已焉哉。”有关的原词或初稿。
【唯一困难】
学生容易看见“及尔偕老，老使我怨。淇则有岸，隰则有泮。总角之宴，言笑晏晏。信誓旦旦，不思其反。反是不思，亦已焉哉。”，却不能把它准确接回人物和前后故事。
【唯一功能】
发现末章不再新增生活事件，而在重新评价旧愿、旧事和誓言。
【文学对象】
及尔偕老，老使我怨。淇则有岸，隰则有泮。总角之宴，言笑晏晏。信誓旦旦，不思其反。反是不思，亦已焉哉。
【信息状态】
首答前只给原诗、必要字面和一个自然问题；解释、分类、关系与代表答案在学生首稿后出现。
【学生主动作】
整章读；标旧事与可能收束句
【参与路径】
个人先形成；需要交流时并行同桌或四人轮说；全班只公开少量有差异材料。
【可见产物】
回望初稿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C602—C605
【正常反例】
想不起、无新增、已经准确、不同意或暂时沉默均有诚实完成路径，不要求伪造改变。
【主视觉职责】
第六章完整回望
【插图资格】
无
【第一人称接收】
我刚才面对“及尔偕老，老使我怨。淇则有岸，隰则有泮。总角之宴，言笑晏晏。信誓旦旦，不思其反。反是不思，亦已焉哉。”，留下了回望初稿；我能用原词说清自己新增或修正的理解。
【故事回接】
页面结束前由一句自然复述回到谁做了什么、人物处境怎样变化以及故事推进到哪里。
【删除损失】
删除会使末章被拆成名句
【相邻反证】
相邻页不同时处理“学生容易看见“及尔偕老，老使我怨。淇则有岸，隰则有泮。总角之宴，言笑晏晏。信誓旦旦，不思其反。反是不思，亦已焉哉。”，却不能把它准确接回人物和前后故事。”；合并会挤掉必要首答、校准或故事回接。
【失败信号】
学生只能复述活动手续，不能复述诗意；首答前已经看见完成关系或答案；产物在后页没有真实消费者
【教师逐字稿】
第五章最后，她静下来，只能独自思量。第六章会不会立刻斩断过去？请先不要只等最后一句，让五句完整地走一次。读时听一听：她把哪些旧事重新放回眼前，哪一句才真正把全诗收住。（教师完整范读，学生再低声完整读。）现在才落笔：抄一处回到过去的原句，再抄一处真正收束全诗的原句；在末句旁只留一个你最初听见的声音词，听不准就留问号。同桌只核对是不是原句、时间是否真的回到过去，不替对方命名情绪。（等待。）我们先不把末句叫成觉醒或离开。女子要先重新经过偕老、边界、少年言笑和誓言，结尾才会到来。
【真实场景】
屏幕只呈现第六章全文和两个读后入口；教师不突出末句，学生落笔前不染色时间层。
（读取第五格）
（教师完整范读）
（学生完整低声读）
（读后才摘过去句和收束句）
（同桌只核对来源与时间）
（学生亲自修订）
【时间盒】
承接第五格：25秒；教师和学生完整读章：90秒；个人两项初稿：60秒；同桌来源核对和修订：40秒；引用原句与转场：25秒
【现场分支】
只等亦已焉哉：先抄一处更早的旧事句，让停止之前的核验过程保留下来。
直接写已经离开：退回原句，只写收束声音；是否实际离开待C605区分。
情绪词互相不同：保留疲惫、怨、清醒等不同初听，不以投票选唯一。
【听者任务】
只核对原句和时间位置，不替同伴给末句定性。
【证据位置】
06F C601区
【自然切页句】
先看第一个回环：同一个‘老’字，一边是愿望，一边为什么成了怨？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【V6.6物理状态】C602-A｜240秒
【状态功能】
从同一‘老’字读出旧愿怎样折成现实怨意。
【该状态学生可见文字】
及尔偕老，老使我怨。｜第一个‘老’——｜第二个‘老’——｜同一个字，为什么折了回来？
【V6.6逻辑页】C602｜逻辑页35｜4分钟
【前页输入】
学生已经完成前页任务，手中保留与“及尔偕老，老使我怨。”有关的原词或初稿。
【唯一困难】
学生容易看见“及尔偕老，老使我怨。”，却不能把它准确接回人物和前后故事。
【唯一功能】
从同一‘老’字读出旧愿怎样折成现实怨意。
【文学对象】
及尔偕老，老使我怨。
【信息状态】
首答前只给原诗、必要字面和一个自然问题；解释、分类、关系与代表答案在学生首稿后出现。
【学生主动作】
接读两个老；写旧愿与现实双行
【参与路径】
个人先形成；需要交流时并行同桌或四人轮说；全班只公开少量有差异材料。
【可见产物】
同词反折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C606_S01与S06
【正常反例】
想不起、无新增、已经准确、不同意或暂时沉默均有诚实完成路径，不要求伪造改变。
【主视觉职责】
同词复现
【插图资格】
无
【第一人称接收】
我刚才面对“及尔偕老，老使我怨。”，留下了同词反折；我能用原词说清自己新增或修正的理解。
【故事回接】
页面结束前由一句自然复述回到谁做了什么、人物处境怎样变化以及故事推进到哪里。
【删除损失】
删除会失去末章时间折返
【相邻反证】
相邻页不同时处理“学生容易看见“及尔偕老，老使我怨。”，却不能把它准确接回人物和前后故事。”；合并会挤掉必要首答、校准或故事回接。
【失败信号】
学生只能复述活动手续，不能复述诗意；首答前已经看见完成关系或答案；产物在后页没有真实消费者
【教师逐字稿】
请一组同学接读：前半句读‘及尔偕老’，后半句接‘老使我怨’。同一个‘老’字出现两次，先不要听我解释。每个人写两小行：第一次读到‘老’，你看见怎样的将来；第二次再读到‘老’，眼前的生活变成了什么？（教师等待个人落笔。）请两位同学读自己的两行，听众只指出他是否让两个‘老’落在了不同的时间里。现在听教师示范一次：前半句把声音送向共同的将来，后半句却让同一个字折回已经发生的怨与生活。请根据刚才听见的差别，自定一处停顿，再读。这里不急着只记一个‘反讽’标签；最要紧的是，一个字重新出现，旧愿便在后来现实中改变了声音。第六章正从这里开始检验过去。
【真实场景】
屏幕只保留此刻要读的原诗、问题或学生现场作品；教师在说完邀请后退到侧面，把阅读、书写和沉默真实还给学生。
（一组接读两个‘老’）
（学生双行静写）
（两份公开并辨时间）
（教师后置朗读示范）
（学生自定停顿重读）
（回接第六章）
【时间盒】
接读与个人双行首答：85秒；两份公开与时间辨认：60秒；教师示范和学生重读：65秒；文学归纳与转场：30秒
【现场分支】
暂时没有答案：允许先回到原句圈出最确定的一处，再用不完整但真实的话开口。
判断越过原诗：请说出依据；找不到相应原词时，把断言降为问题或可能。
【听者任务】
听清发言引用了哪一句诗、给人物故事增加了什么；只补遗漏，不替发言者重写答案。
【证据位置】
教材第六章旁的两个‘老’字双行批注
【自然切页句】
旧愿折回现实以后，诗忽然写淇水有岸、湿地有边。先把地貌看清，再谈它怎样接住前后文。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【V6.6物理状态】C603-A｜300秒
【状态功能】
先看清有界地貌，再形成能接前后文的一种或两种解释。
【该状态学生可见文字】
淇则有岸，隰则有泮。｜这两处地貌有什么共同点？｜放在前后句之间，它可能接住什么？
【V6.6逻辑页】C603｜逻辑页36｜5分钟
【前页输入】
学生已经完成前页任务，手中保留与“淇则有岸，隰则有泮。”有关的原词或初稿。
【唯一困难】
学生容易看见“淇则有岸，隰则有泮。”，却不能把它准确接回人物和前后故事。
【唯一功能】
先看清有界地貌，再形成能接前后文的一种或两种解释。
【文学对象】
淇则有岸，隰则有泮。
【信息状态】
首答前只给原诗、必要字面和一个自然问题；解释、分类、关系与代表答案在学生首稿后出现。
【学生主动作】
选择或并列解释；写前后文依据
【参与路径】
个人先形成；需要交流时并行同桌或四人轮说；全班只公开少量有差异材料。
【可见产物】
有依据解释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C606_S01与S06
【正常反例】
想不起、无新增、已经准确、不同意或暂时沉默均有诚实完成路径，不要求伪造改变。
【主视觉职责】
无人地貌与多解
【插图资格】
I09待A/B
【第一人称接收】
我刚才面对“淇则有岸，隰则有泮。”，留下了有依据解释；我能用原词说清自己新增或修正的理解。
【故事回接】
页面结束前由一句自然复述回到谁做了什么、人物处境怎样变化以及故事推进到哪里。
【删除损失】
删除会把自然图景变现代口号
【相邻反证】
相邻页不同时处理“学生容易看见“淇则有岸，隰则有泮。”，却不能把它准确接回人物和前后故事。”；合并会挤掉必要首答、校准或故事回接。
【失败信号】
学生只能复述活动手续，不能复述诗意；首答前已经看见完成关系或答案；产物在后页没有真实消费者
【教师逐字稿】
先把字面说准：隰读xí，是低湿的地方；泮读pàn，同畔，是边、岸。淇水有岸，低湿地有边。请先独立写一种可能：诗为什么在偕老与怨之后忽然说自然有界？你的解释要接回前一句或后面的回忆。（等待首解。）四人组轮流只读自己的解释和所接原句；听到不同想法，再补第二种。组内不要投票，把两种解释分别问清：它靠哪个词，怎样接前后文？最后每个人给更能说服自己的一个轻轻加圈，也可以并列，但要写保留理由。（等待。）教材允许两种理解：可反衬男子心意无常、没有限制；也可反衬女子若偕老将产生无边怨苦。它们不是随意猜测，都要经过全章语境。这里不要直接改写成现代口号‘做人要有边界’；先让诗自己的怨、反与信誓说话。
【真实场景】
屏幕只显示原句、词义和开放问题；学生先个人写，四人组交流时屏幕不出现两种成品解释，教师最后才归纳。
（个人字面口译）
（教师校音释义）
（个人写第一种解释）
（四人轮读证据）
（每人补第二种解释）
（个人排序或并列）
（教师后置多解）
【时间盒】
口译与词义：46秒；个人第一种解释：63秒；四人证据轮读：71秒；个人补解和排序：58秒；公开两种衔接：29秒；教师后置归纳：33秒
【现场分支】
直接写现代边界：追问原句在偕老、怨和后文誓言之间怎样衔接，先恢复诗内意义。
只有一种解释：先保留，听见同伴或教师后再补第二种，不要求假装认同。
用人数判对错：取消表决，只比较各自接哪一句、靠哪个词。
【听者任务】
只追问解释的前后文落点和原词，不替全班选唯一答案。
【证据位置】
06F C603区
【自然切页句】
自然边界之后，时间突然退回少年。她为什么在最痛的时候，还把当初的言笑和信誓完整地记起？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【V6.6物理状态】C604-A｜300秒
【状态功能】
同时保存旧日确有欢乐誓言和后来行为应受核验。
【该状态学生可见文字】
总角之宴｜言笑晏晏｜信誓旦旦｜不思其反｜至于暴矣｜二三其德｜把这些原词放进两处：她记得的旧日｜后来核验出的事实。
【V6.6逻辑页】C604｜逻辑页37｜5分钟
【前页输入】
学生已经完成前页任务，手中保留与“总角之宴，言笑晏晏。信誓旦旦，不思其反。”有关的原词或初稿。
【唯一困难】
学生容易看见“总角之宴，言笑晏晏。信誓旦旦，不思其反。”，却不能把它准确接回人物和前后故事。
【唯一功能】
同时保存旧日确有欢乐誓言和后来行为应受核验。
【文学对象】
总角之宴，言笑晏晏。信誓旦旦，不思其反。
【信息状态】
六张原词卡为同一中性色，不用颜色暗示分类；落点和双真相结论不预填。
【学生主动作】
完成旧日事实与后来事实双栏；讨论两个极端答案
【参与路径】
个人先形成；需要交流时并行同桌或四人轮说；全班只公开少量有差异材料。
【可见产物】
双真相句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C605与S03
【正常反例】
想不起、无新增、已经准确、不同意或暂时沉默均有诚实完成路径，不要求伪造改变。
【主视觉职责】
双栏事实
【插图资格】
I08待A/B
【第一人称接收】
我刚才面对“总角之宴，言笑晏晏。信誓旦旦，不思其反。”，留下了双真相句；我能用原词说清自己新增或修正的理解。
【故事回接】
页面结束前由一句自然复述回到谁做了什么、人物处境怎样变化以及故事推进到哪里。
【删除损失】
删除会扁平化人物记忆
【相邻反证】
相邻页不同时处理“学生容易看见“总角之宴，言笑晏晏。信誓旦旦，不思其反。”，却不能把它准确接回人物和前后故事。”；合并会挤掉必要首答、校准或故事回接。
【失败信号】
学生只能复述活动手续，不能复述诗意；首答前已经看见完成关系或答案；产物在后页没有真实消费者
【教师逐字稿】
先把词说准：总角是少年时代；宴是欢乐；晏晏是和悦的样子；旦旦是诚恳的样子；反是违背。屏幕上的六张原词卡还没有分组。请在纸上画两处：‘她记得的旧日’和‘后来核验出的事实’，把原词抄到你认为合适的位置；若一张卡让你犹豫，就暂放在中间并写一个问号。（教师等待个人首排。）现在同桌只挑一张彼此放置不同的卡，说清各自依据；不急着让一方服从。请两位同学把有分歧的卡放到黑板。我们回到第六章和前文校准：女子确实记得少年时的欢乐与当初的信誓，后来也确实看见违誓、粗暴和反复。请各自修订。最后写一句能同时容纳两件真的话：过去的欢乐不必全判作假，后来行为也不能因此免责。共同记忆可以解释为何难以割舍，却不能替失信免责；正因为她记得‘信誓旦旦’，‘反’才如此清楚。
【真实场景】
屏幕只保留此刻要读的原诗、问题或学生现场作品；教师在说完邀请后退到侧面，把阅读、书写和沉默真实还给学生。
（教师只校词，不分组）
（学生独立放置六张原词卡）
（教师等待）
（同桌比较一张分歧卡）
（公开分歧并返诗校准）
（个人修订并写双真相句）
【时间盒】
词义校准和个人首排：100秒；同桌比较一张分歧卡：55秒；公开分歧与返诗校准：75秒；个人修订、归纳和转场：70秒
【现场分支】
暂时没有答案：允许先回到原句圈出最确定的一处，再用不完整但真实的话开口。
判断越过原诗：请说出依据；找不到相应原词时，把断言降为问题或可能。
【听者任务】
听清发言引用了哪一句诗、给人物故事增加了什么；只补遗漏，不替发言者重写答案。
【证据位置】
六张原词卡的个人首排、修订与双真相句
【自然切页句】
旧日和后来都被保存下来。现在读最后两句，看她怎样让判断真正停住。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【V6.6物理状态】C605-A｜300秒
【状态功能】
读清反—不思—已的收束，并区分停止判断与实际离开。
【该状态学生可见文字】
反是不思，亦已焉哉｜信誓旦旦，不思其反。｜反是不思，亦已焉哉！｜诗写到了哪里？又停在了哪里？
【V6.6逻辑页】C605｜逻辑页38｜5分钟
【前页输入】
学生已经完成前页任务，手中保留与“信誓旦旦，不思其反。反是不思，亦已焉哉。”有关的原词或初稿。
【唯一困难】
学生容易看见“信誓旦旦，不思其反。反是不思，亦已焉哉。”，却不能把它准确接回人物和前后故事。
【唯一功能】
读清反—不思—已的收束，并区分停止判断与实际离开。
【文学对象】
信誓旦旦，不思其反。反是不思，亦已焉哉。
【信息状态】
首答前只给原诗、必要字面和一个自然问题；解释、分类、关系与代表答案在学生首稿后出现。
【学生主动作】
选择停顿与声线；写诗写到与没有写到
【参与路径】
个人先形成；需要交流时并行同桌或四人轮说；全班只公开少量有差异材料。
【可见产物】
停止判断边界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C606_S01、S03与S08
【正常反例】
想不起、无新增、已经准确、不同意或暂时沉默均有诚实完成路径，不要求伪造改变。
【主视觉职责】
末句与静默
【插图资格】
无
【第一人称接收】
我刚才面对“信誓旦旦，不思其反。反是不思，亦已焉哉。”，留下了停止判断边界；我能用原词说清自己新增或修正的理解。
【故事回接】
页面结束前由一句自然复述回到谁做了什么、人物处境怎样变化以及故事推进到哪里。
【删除损失】
删除会把末句变成觉醒出走标签
【相邻反证】
相邻页不同时处理“学生容易看见“信誓旦旦，不思其反。反是不思，亦已焉哉。”，却不能把它准确接回人物和前后故事。”；合并会挤掉必要首答、校准或故事回接。
【失败信号】
学生只能复述活动手续，不能复述诗意；首答前已经看见完成关系或答案；产物在后页没有真实消费者
【教师逐字稿】
把最后两句连读。‘反’是违背，‘是’指这件事，‘已’是停止、了结；‘焉哉’连用，让声音在末尾收住。请先用自己的话翻译末句，再在纸上写两行：到‘亦已焉哉’，诗明确写出了女子怎样的判断；至于她后来怎样生活、去了哪里，诗有没有继续叙述？屏幕只有两个问题，没有替你填答案。（教师等待个人完成。）请听两份，若发言越过原诗，听者只问：‘这一步写在哪个词里？’现在教师校准：末句写到她对这段关系作出停止的判断；诗没有交代后来实际怎样行动、去了哪里。两种朗读都可以成立：一种决绝，一种疲惫而清醒；但都不能靠声音补写诗中没有的情节。请选择自己的停顿，再读末句。让‘亦已焉哉’停在证据边界上，而不是被我们续写成一个现成结局。
【真实场景】
屏幕只保留此刻要读的原诗、问题或学生现场作品；教师在说完邀请后退到侧面，把阅读、书写和沉默真实还给学生。
（连读末两句并定点释词）
（学生自然口译和边界双行首答）
（教师沉默等待）
（公开两份并追问原词）
（教师后置校准写到/未写到）
（学生自选声线重读）
【时间盒】
连读、释词和自然口译：70秒；个人边界双行首答：75秒；公开两份与原词追问：65秒；后置校准、自选朗读和转场：90秒
【现场分支】
暂时没有答案：允许先回到原句圈出最确定的一处，再用不完整但真实的话开口。
判断越过原诗：请说出依据；找不到相应原词时，把断言降为问题或可能。
【听者任务】
听清发言引用了哪一句诗、给人物故事增加了什么；只补遗漏，不替发言者重写答案。
【证据位置】
教材末句旁的写到/未写到双行与自选停顿
【自然切页句】
末句已经停住。现在回看六章，只让各章的人物、动作和转折在黑板上重新相接。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【V6.6物理状态】C606_S01-B0｜440秒
【状态功能】
每个人在公共答案前独立写事件、关键句自然义和章间变化。
【该状态学生可见文字】
她的一生，怎样走到“亦已焉哉”？｜第一章　第二章　第三章　第四章　第五章　第六章｜每章留下：一件事｜一句诗的自然意思｜与前一章相比发生了什么变化
【V6.6逻辑页】C606_S01｜逻辑页39｜15分钟
【前页输入】
学生已经完成前页任务，手中保留与“及尔偕老，老使我怨。淇则有岸，隰则有泮。总角之宴，言笑晏晏。信誓旦旦，不思其反。反是不思，亦已焉哉。”有关的原词或初稿。
【唯一困难】
学生容易看见“及尔偕老，老使我怨。淇则有岸，隰则有泮。总角之宴，言笑晏晏。信誓旦旦，不思其反。反是不思，亦已焉哉。”，却不能把它准确接回人物和前后故事。
【唯一功能】
只进行一次全诗人生统整，让六章成为有转折、有因果的长卷。
【文学对象】
及尔偕老，老使我怨。淇则有岸，隰则有泮。总角之宴，言笑晏晏。信誓旦旦，不思其反。反是不思，亦已焉哉。
【信息状态】
首屏只显示未完成六章时间线；相识、迁嫁、失衡、孤立、止息等章意不预填。
【学生主动作】
每人先独立完成六章小长卷；分组互证后接成公共长卷，再闭卷复述
【参与路径】
个人六章长卷先封存→六组各互证一章→一组一章卡→全班接成长卷→每人闭卷复述并返诗修复。
【可见产物】
时间封存的个人六章长卷和公共人生长卷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S02与S03
【正常反例】
想不起、无新增、已经准确、不同意或暂时沉默均有诚实完成路径，不要求伪造改变。
【主视觉职责】
现场六章长卷
【插图资格】
无
【第一人称接收】
我刚才面对“及尔偕老，老使我怨。淇则有岸，隰则有泮。总角之宴，言笑晏晏。信誓旦旦，不思其反。反是不思，亦已焉哉。”，留下了时间封存的个人六章长卷和公共人生长卷；我能用原词说清自己新增或修正的理解。
【故事回接】
页面结束前由一句自然复述回到谁做了什么、人物处境怎样变化以及故事推进到哪里。
【删除损失】
删除会失去全文第一问，拆页会重复重建
【相邻反证】
相邻页不同时处理“学生容易看见“及尔偕老，老使我怨。淇则有岸，隰则有泮。总角之宴，言笑晏晏。信誓旦旦，不思其反。反是不思，亦已焉哉。”，却不能把它准确接回人物和前后故事。”；合并会挤掉必要首答、校准或故事回接。
【失败信号】
个人纸带在公共答案后补抄；小组代表代替组员形成章意；长卷只有事件没有转折或因果
【教师逐字稿】
现在回答第一个问题：她的一生怎样走到‘亦已焉哉’？每个人先独立完成一条六章小长卷。每章只写三样：发生的一件事；一处关键原句的自然意思；它和前一章相比发生了什么变化。不会的地方先留空，不看同伴。（四分钟后翻面封存并抽取固定分层样本。）现在六组各互证一章：每个人都先读自己这一章的三项，有分歧就返诗；全员说过后，合成一张公共章卡。六张章卡按次序贴成长卷，每组只用一句话接上前一章。听众打开自己的六章小长卷，边听边补一个转折，但不整段抄公共卡。长卷完成后，教师沿原诗作一次朴素串讲：相识议婚、等待迁嫁、桑叶劝告、婚后贫困与失信、日复一日和孤立、回看旧誓并作出止息判断。现在合书三十秒，低声从第一章讲到第六章；断点立刻返诗，只修自己的空项。
【真实场景】
屏幕只留下此刻要面对的原诗、问题或学生真实作品；教师说完邀请后退开，让阅读、表达和等待真实发生。
（教师承接前页）
（学生先独立形成）
（同伴限定倾听）
（教师据真实材料校准）
（学生亲自修订）
（自然切页）
【时间盒】
个人六章小长卷首答：250秒；六组各互证一章：190秒；公共章卡接成长卷：160秒；教师朴素串讲：95秒；个人闭卷复述和返诗修复：145秒；收束：60秒
【现场分支】
暂时没有答案：允许先圈出最确定的一处原词，用不完整但真实的话开口；没有新增也可如实保留。
判断越过原诗：请指出依据；找不到相应原词时，把断言降低为问题、可能或文本未写。
【听者任务】
听清发言依据的是哪一句诗、给人物故事增加了什么；只补遗漏或提出一处证据追问。
【证据位置】
公共答案前封存的个人六章小长卷；公共章卡；个人闭卷返诗修复
【自然切页句】
她的一生已经连成一条路。现在把其中最难熬的日子换成今天的生活语言，回答第二个问题。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【V6.6物理状态】C606_S01-B1｜250秒
【状态功能】
以六张真实章卡形成公共长卷，让听众补转折。
【该状态学生可见文字】
六张章卡，接成她的一生｜看黑板上的真实长卷：每一章怎样接住前一章？｜只补自己原先缺少的一个转折。
【V6.6逻辑页】C606_S01｜逻辑页39｜15分钟
【前页输入】
学生已经完成前页任务，手中保留与“及尔偕老，老使我怨。淇则有岸，隰则有泮。总角之宴，言笑晏晏。信誓旦旦，不思其反。反是不思，亦已焉哉。”有关的原词或初稿。
【唯一困难】
学生容易看见“及尔偕老，老使我怨。淇则有岸，隰则有泮。总角之宴，言笑晏晏。信誓旦旦，不思其反。反是不思，亦已焉哉。”，却不能把它准确接回人物和前后故事。
【唯一功能】
只进行一次全诗人生统整，让六章成为有转折、有因果的长卷。
【文学对象】
及尔偕老，老使我怨。淇则有岸，隰则有泮。总角之宴，言笑晏晏。信誓旦旦，不思其反。反是不思，亦已焉哉。
【信息状态】
首屏只显示未完成六章时间线；相识、迁嫁、失衡、孤立、止息等章意不预填。
【学生主动作】
每人先独立完成六章小长卷；分组互证后接成公共长卷，再闭卷复述
【参与路径】
个人六章长卷先封存→六组各互证一章→一组一章卡→全班接成长卷→每人闭卷复述并返诗修复。
【可见产物】
时间封存的个人六章长卷和公共人生长卷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S02与S03
【正常反例】
想不起、无新增、已经准确、不同意或暂时沉默均有诚实完成路径，不要求伪造改变。
【主视觉职责】
现场六章长卷
【插图资格】
无
【第一人称接收】
我刚才面对“及尔偕老，老使我怨。淇则有岸，隰则有泮。总角之宴，言笑晏晏。信誓旦旦，不思其反。反是不思，亦已焉哉。”，留下了时间封存的个人六章长卷和公共人生长卷；我能用原词说清自己新增或修正的理解。
【故事回接】
页面结束前由一句自然复述回到谁做了什么、人物处境怎样变化以及故事推进到哪里。
【删除损失】
删除会失去全文第一问，拆页会重复重建
【相邻反证】
相邻页不同时处理“学生容易看见“及尔偕老，老使我怨。淇则有岸，隰则有泮。总角之宴，言笑晏晏。信誓旦旦，不思其反。反是不思，亦已焉哉。”，却不能把它准确接回人物和前后故事。”；合并会挤掉必要首答、校准或故事回接。
【失败信号】
个人纸带在公共答案后补抄；小组代表代替组员形成章意；长卷只有事件没有转折或因果
【教师逐字稿】
现在回答第一个问题：她的一生怎样走到‘亦已焉哉’？每个人先独立完成一条六章小长卷。每章只写三样：发生的一件事；一处关键原句的自然意思；它和前一章相比发生了什么变化。不会的地方先留空，不看同伴。（四分钟后翻面封存并抽取固定分层样本。）现在六组各互证一章：每个人都先读自己这一章的三项，有分歧就返诗；全员说过后，合成一张公共章卡。六张章卡按次序贴成长卷，每组只用一句话接上前一章。听众打开自己的六章小长卷，边听边补一个转折，但不整段抄公共卡。长卷完成后，教师沿原诗作一次朴素串讲：相识议婚、等待迁嫁、桑叶劝告、婚后贫困与失信、日复一日和孤立、回看旧誓并作出止息判断。现在合书三十秒，低声从第一章讲到第六章；断点立刻返诗，只修自己的空项。
【真实场景】
屏幕只留下此刻要面对的原诗、问题或学生真实作品；教师说完邀请后退开，让阅读、表达和等待真实发生。
（教师承接前页）
（学生先独立形成）
（同伴限定倾听）
（教师据真实材料校准）
（学生亲自修订）
（自然切页）
【时间盒】
个人六章小长卷首答：250秒；六组各互证一章：190秒；公共章卡接成长卷：160秒；教师朴素串讲：95秒；个人闭卷复述和返诗修复：145秒；收束：60秒
【现场分支】
暂时没有答案：允许先圈出最确定的一处原词，用不完整但真实的话开口；没有新增也可如实保留。
判断越过原诗：请指出依据；找不到相应原词时，把断言降低为问题、可能或文本未写。
【听者任务】
听清发言依据的是哪一句诗、给人物故事增加了什么；只补遗漏或提出一处证据追问。
【证据位置】
公共答案前封存的个人六章小长卷；公共章卡；个人闭卷返诗修复
【自然切页句】
她的一生已经连成一条路。现在把其中最难熬的日子换成今天的生活语言，回答第二个问题。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【V6.6物理状态】C606_S01-B2｜210秒
【状态功能】
教师完成朴素六章串讲，随后每个人闭卷复述并返诗修复。
【该状态学生可见文字】
相识议婚　→　等待迁嫁　→　桑叶劝告｜婚后贫困与失信　→　日复一日与孤立　→　回望旧誓，止息关系｜合上书，从第一章讲到第六章；断在何处，就回哪一句。
【V6.6逻辑页】C606_S01｜逻辑页39｜15分钟
【前页输入】
学生已经完成前页任务，手中保留与“及尔偕老，老使我怨。淇则有岸，隰则有泮。总角之宴，言笑晏晏。信誓旦旦，不思其反。反是不思，亦已焉哉。”有关的原词或初稿。
【唯一困难】
学生容易看见“及尔偕老，老使我怨。淇则有岸，隰则有泮。总角之宴，言笑晏晏。信誓旦旦，不思其反。反是不思，亦已焉哉。”，却不能把它准确接回人物和前后故事。
【唯一功能】
只进行一次全诗人生统整，让六章成为有转折、有因果的长卷。
【文学对象】
及尔偕老，老使我怨。淇则有岸，隰则有泮。总角之宴，言笑晏晏。信誓旦旦，不思其反。反是不思，亦已焉哉。
【信息状态】
首屏只显示未完成六章时间线；相识、迁嫁、失衡、孤立、止息等章意不预填。
【学生主动作】
每人先独立完成六章小长卷；分组互证后接成公共长卷，再闭卷复述
【参与路径】
个人六章长卷先封存→六组各互证一章→一组一章卡→全班接成长卷→每人闭卷复述并返诗修复。
【可见产物】
时间封存的个人六章长卷和公共人生长卷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S02与S03
【正常反例】
想不起、无新增、已经准确、不同意或暂时沉默均有诚实完成路径，不要求伪造改变。
【主视觉职责】
现场六章长卷
【插图资格】
无
【第一人称接收】
我刚才面对“及尔偕老，老使我怨。淇则有岸，隰则有泮。总角之宴，言笑晏晏。信誓旦旦，不思其反。反是不思，亦已焉哉。”，留下了时间封存的个人六章长卷和公共人生长卷；我能用原词说清自己新增或修正的理解。
【故事回接】
页面结束前由一句自然复述回到谁做了什么、人物处境怎样变化以及故事推进到哪里。
【删除损失】
删除会失去全文第一问，拆页会重复重建
【相邻反证】
相邻页不同时处理“学生容易看见“及尔偕老，老使我怨。淇则有岸，隰则有泮。总角之宴，言笑晏晏。信誓旦旦，不思其反。反是不思，亦已焉哉。”，却不能把它准确接回人物和前后故事。”；合并会挤掉必要首答、校准或故事回接。
【失败信号】
个人纸带在公共答案后补抄；小组代表代替组员形成章意；长卷只有事件没有转折或因果
【教师逐字稿】
现在回答第一个问题：她的一生怎样走到‘亦已焉哉’？每个人先独立完成一条六章小长卷。每章只写三样：发生的一件事；一处关键原句的自然意思；它和前一章相比发生了什么变化。不会的地方先留空，不看同伴。（四分钟后翻面封存并抽取固定分层样本。）现在六组各互证一章：每个人都先读自己这一章的三项，有分歧就返诗；全员说过后，合成一张公共章卡。六张章卡按次序贴成长卷，每组只用一句话接上前一章。听众打开自己的六章小长卷，边听边补一个转折，但不整段抄公共卡。长卷完成后，教师沿原诗作一次朴素串讲：相识议婚、等待迁嫁、桑叶劝告、婚后贫困与失信、日复一日和孤立、回看旧誓并作出止息判断。现在合书三十秒，低声从第一章讲到第六章；断点立刻返诗，只修自己的空项。
【真实场景】
屏幕只留下此刻要面对的原诗、问题或学生真实作品；教师说完邀请后退开，让阅读、表达和等待真实发生。
（教师承接前页）
（学生先独立形成）
（同伴限定倾听）
（教师据真实材料校准）
（学生亲自修订）
（自然切页）
【时间盒】
个人六章小长卷首答：250秒；六组各互证一章：190秒；公共章卡接成长卷：160秒；教师朴素串讲：95秒；个人闭卷复述和返诗修复：145秒；收束：60秒
【现场分支】
暂时没有答案：允许先圈出最确定的一处原词，用不完整但真实的话开口；没有新增也可如实保留。
判断越过原诗：请指出依据；找不到相应原词时，把断言降低为问题、可能或文本未写。
【听者任务】
听清发言依据的是哪一句诗、给人物故事增加了什么；只补遗漏或提出一处证据追问。
【证据位置】
公共答案前封存的个人六章小长卷；公共章卡；个人闭卷返诗修复
【自然切页句】
她的一生已经连成一条路。现在把其中最难熬的日子换成今天的生活语言，回答第二个问题。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【V6.6物理状态】S02-B0｜250秒
【状态功能】
每个人先用今天的生活语言形成两句，不显示标准类别。
【该状态学生可见文字】
她婚后的不幸，在生活中是什么样子？｜她每天过着怎样的日子？｜她在伴侣和家人那里遭遇了什么？｜先用今天的生活语言说清楚。
【V6.6逻辑页】S02｜逻辑页40｜12分钟
【前页输入】
学生已经完成前页任务，手中保留与“第四、第五章关于食贫、长期劳作、男子失信粗暴、兄弟不知而笑和女子独自悲悼的原句”有关的原词或初稿。
【唯一困难】
学生容易看见“第四、第五章关于食贫、长期劳作、男子失信粗暴、兄弟不知而笑和女子独自悲悼的原句”，却不能把它准确接回人物和前后故事。
【唯一功能】
用现实生活语言说清婚后不幸的具体表现，再通过交换、猜诗和撤回越界表述返回原诗。
【文学对象】
第四、第五章关于食贫、长期劳作、男子失信粗暴、兄弟不知而笑和女子独自悲悼的原句
【信息状态】
首答不显示标准五类不幸；教师归纳只在学生卡组形成和核验以后出现。
【学生主动作】
每人先写两句现实生活语言；四人合成生活事实卡并与他组交换核验
【参与路径】
全员个人两句→四人全员轮说→一组3—5卡→组间交换→全班少量分歧卡。
【可见产物】
正面生活事实、背面原诗依据的卡组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S03读取失衡事实
【正常反例】
想不起、无新增、已经准确、不同意或暂时沉默均有诚实完成路径，不要求伪造改变。
【主视觉职责】
自然书写入口和学生真实生活事实卡
【插图资格】
无
【第一人称接收】
我能不用古词说清她婚后过着怎样的日子，又能把每一项送回原诗。
【故事回接】
页面结束前由一句自然复述回到谁做了什么、人物处境怎样变化以及故事推进到哪里。
【删除损失】
不幸仍停在辛苦、悲惨等标签。
【相邻反证】
C505只产生一个第五章片段，S03讨论原因；本页独自完成全文第二问的生活化和原诗核验。
【失败信号】
生活语言只是古词同义替换；少数代表包办卡片；出现诗外具体伤害；正反面无法互相核验
【教师逐字稿】
现在回答第二个问题。先不要抄诗中的‘食贫、夙兴夜寐、至暴、咥笑’。请用今天的生活语言写两句：她每天过着怎样的日子；她在伴侣和家人那里遭遇了什么。（等待个人完成。）四人依次读，每个人都说过后，把重复内容合并，形成三到五张互不重复的‘生活事实卡’。正面只写生活语言，背面写能够托住它的原诗。现在与邻组交换，只看正面：你们能猜回哪一句？翻面核验；如果正面添加了诗中没有的具体家务、暴力方式、求助过程，就画一条细线退回，写得更稳。公共阶段只看三四张有分歧的卡。由这些真实卡片，我们可以归纳：长期贫困、每天持续劳作、伴侣行为反复与粗暴、亲人不了解而嘲笑、无人理解时独自承受。每一项都必须能回到原诗。
【真实场景】
屏幕只留下此刻要面对的原诗、问题或学生真实作品；教师说完邀请后退开，让阅读、表达和等待真实发生。
（教师承接前页）
（学生先独立形成）
（同伴限定倾听）
（教师据真实材料校准）
（学生亲自修订）
（自然切页）
【时间盒】
个人现实语言首答：125秒；四人轮说和合成卡：220秒；组间交换猜诗和退回：190秒；公共分歧和教师归纳：185秒
【现场分支】
暂时没有答案：允许先圈出最确定的一处原词，用不完整但真实的话开口；没有新增也可如实保留。
判断越过原诗：请指出依据；找不到相应原词时，把断言降低为问题、可能或文本未写。
【听者任务】
听清发言依据的是哪一句诗、给人物故事增加了什么；只补遗漏或提出一处证据追问。
【证据位置】
S02生活事实卡正反面及个人首答
【自然切页句】
这些日子已经说清。下一步不是再列一次悲惨，而要追问：它为什么会一步步持续到这里？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【V6.6物理状态】S02-B1｜300秒
【状态功能】
四人卡片与邻组交换，正面生活语言和背面原诗依据互相核验。
【该状态学生可见文字】
只看卡片正面：你能猜回哪一句诗？｜翻到背面核验。｜若写出了诗中没有的遭遇，把它退回原作者修订。
【V6.6逻辑页】S02｜逻辑页40｜12分钟
【前页输入】
学生已经完成前页任务，手中保留与“第四、第五章关于食贫、长期劳作、男子失信粗暴、兄弟不知而笑和女子独自悲悼的原句”有关的原词或初稿。
【唯一困难】
学生容易看见“第四、第五章关于食贫、长期劳作、男子失信粗暴、兄弟不知而笑和女子独自悲悼的原句”，却不能把它准确接回人物和前后故事。
【唯一功能】
用现实生活语言说清婚后不幸的具体表现，再通过交换、猜诗和撤回越界表述返回原诗。
【文学对象】
第四、第五章关于食贫、长期劳作、男子失信粗暴、兄弟不知而笑和女子独自悲悼的原句
【信息状态】
首答不显示标准五类不幸；教师归纳只在学生卡组形成和核验以后出现。
【学生主动作】
每人先写两句现实生活语言；四人合成生活事实卡并与他组交换核验
【参与路径】
全员个人两句→四人全员轮说→一组3—5卡→组间交换→全班少量分歧卡。
【可见产物】
正面生活事实、背面原诗依据的卡组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S03读取失衡事实
【正常反例】
想不起、无新增、已经准确、不同意或暂时沉默均有诚实完成路径，不要求伪造改变。
【主视觉职责】
自然书写入口和学生真实生活事实卡
【插图资格】
无
【第一人称接收】
我能不用古词说清她婚后过着怎样的日子，又能把每一项送回原诗。
【故事回接】
页面结束前由一句自然复述回到谁做了什么、人物处境怎样变化以及故事推进到哪里。
【删除损失】
不幸仍停在辛苦、悲惨等标签。
【相邻反证】
C505只产生一个第五章片段，S03讨论原因；本页独自完成全文第二问的生活化和原诗核验。
【失败信号】
生活语言只是古词同义替换；少数代表包办卡片；出现诗外具体伤害；正反面无法互相核验
【教师逐字稿】
现在回答第二个问题。先不要抄诗中的‘食贫、夙兴夜寐、至暴、咥笑’。请用今天的生活语言写两句：她每天过着怎样的日子；她在伴侣和家人那里遭遇了什么。（等待个人完成。）四人依次读，每个人都说过后，把重复内容合并，形成三到五张互不重复的‘生活事实卡’。正面只写生活语言，背面写能够托住它的原诗。现在与邻组交换，只看正面：你们能猜回哪一句？翻面核验；如果正面添加了诗中没有的具体家务、暴力方式、求助过程，就画一条细线退回，写得更稳。公共阶段只看三四张有分歧的卡。由这些真实卡片，我们可以归纳：长期贫困、每天持续劳作、伴侣行为反复与粗暴、亲人不了解而嘲笑、无人理解时独自承受。每一项都必须能回到原诗。
【真实场景】
屏幕只留下此刻要面对的原诗、问题或学生真实作品；教师说完邀请后退开，让阅读、表达和等待真实发生。
（教师承接前页）
（学生先独立形成）
（同伴限定倾听）
（教师据真实材料校准）
（学生亲自修订）
（自然切页）
【时间盒】
个人现实语言首答：125秒；四人轮说和合成卡：220秒；组间交换猜诗和退回：190秒；公共分歧和教师归纳：185秒
【现场分支】
暂时没有答案：允许先圈出最确定的一处原词，用不完整但真实的话开口；没有新增也可如实保留。
判断越过原诗：请指出依据；找不到相应原词时，把断言降低为问题、可能或文本未写。
【听者任务】
听清发言依据的是哪一句诗、给人物故事增加了什么；只补遗漏或提出一处证据追问。
【证据位置】
S02生活事实卡正反面及个人首答
【自然切页句】
这些日子已经说清。下一步不是再列一次悲惨，而要追问：它为什么会一步步持续到这里？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【V6.6物理状态】S02-B2｜170秒
【状态功能】
根据真实卡片后置归纳婚后不幸的生活表现。
【该状态学生可见文字】
长期贫困与持续劳作｜伴侣失信、反复并走向粗暴｜亲人不了解而嘲笑｜无人理解时独自承受｜每一项，都要回到原诗。
【V6.6逻辑页】S02｜逻辑页40｜12分钟
【前页输入】
学生已经完成前页任务，手中保留与“第四、第五章关于食贫、长期劳作、男子失信粗暴、兄弟不知而笑和女子独自悲悼的原句”有关的原词或初稿。
【唯一困难】
学生容易看见“第四、第五章关于食贫、长期劳作、男子失信粗暴、兄弟不知而笑和女子独自悲悼的原句”，却不能把它准确接回人物和前后故事。
【唯一功能】
用现实生活语言说清婚后不幸的具体表现，再通过交换、猜诗和撤回越界表述返回原诗。
【文学对象】
第四、第五章关于食贫、长期劳作、男子失信粗暴、兄弟不知而笑和女子独自悲悼的原句
【信息状态】
首答不显示标准五类不幸；教师归纳只在学生卡组形成和核验以后出现。
【学生主动作】
每人先写两句现实生活语言；四人合成生活事实卡并与他组交换核验
【参与路径】
全员个人两句→四人全员轮说→一组3—5卡→组间交换→全班少量分歧卡。
【可见产物】
正面生活事实、背面原诗依据的卡组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S03读取失衡事实
【正常反例】
想不起、无新增、已经准确、不同意或暂时沉默均有诚实完成路径，不要求伪造改变。
【主视觉职责】
自然书写入口和学生真实生活事实卡
【插图资格】
无
【第一人称接收】
我能不用古词说清她婚后过着怎样的日子，又能把每一项送回原诗。
【故事回接】
页面结束前由一句自然复述回到谁做了什么、人物处境怎样变化以及故事推进到哪里。
【删除损失】
不幸仍停在辛苦、悲惨等标签。
【相邻反证】
C505只产生一个第五章片段，S03讨论原因；本页独自完成全文第二问的生活化和原诗核验。
【失败信号】
生活语言只是古词同义替换；少数代表包办卡片；出现诗外具体伤害；正反面无法互相核验
【教师逐字稿】
现在回答第二个问题。先不要抄诗中的‘食贫、夙兴夜寐、至暴、咥笑’。请用今天的生活语言写两句：她每天过着怎样的日子；她在伴侣和家人那里遭遇了什么。（等待个人完成。）四人依次读，每个人都说过后，把重复内容合并，形成三到五张互不重复的‘生活事实卡’。正面只写生活语言，背面写能够托住它的原诗。现在与邻组交换，只看正面：你们能猜回哪一句？翻面核验；如果正面添加了诗中没有的具体家务、暴力方式、求助过程，就画一条细线退回，写得更稳。公共阶段只看三四张有分歧的卡。由这些真实卡片，我们可以归纳：长期贫困、每天持续劳作、伴侣行为反复与粗暴、亲人不了解而嘲笑、无人理解时独自承受。每一项都必须能回到原诗。
【真实场景】
屏幕只留下此刻要面对的原诗、问题或学生真实作品；教师说完邀请后退开，让阅读、表达和等待真实发生。
（教师承接前页）
（学生先独立形成）
（同伴限定倾听）
（教师据真实材料校准）
（学生亲自修订）
（自然切页）
【时间盒】
个人现实语言首答：125秒；四人轮说和合成卡：220秒；组间交换猜诗和退回：190秒；公共分歧和教师归纳：185秒
【现场分支】
暂时没有答案：允许先圈出最确定的一处原词，用不完整但真实的话开口；没有新增也可如实保留。
判断越过原诗：请指出依据；找不到相应原词时，把断言降低为问题、可能或文本未写。
【听者任务】
听清发言依据的是哪一句诗、给人物故事增加了什么；只补遗漏或提出一处证据追问。
【证据位置】
S02生活事实卡正反面及个人首答
【自然切页句】
这些日子已经说清。下一步不是再列一次悲惨，而要追问：它为什么会一步步持续到这里？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【V6.6物理状态】S03-B0｜320秒
【状态功能】
每个人在未经分类的原句事实前写说明与不能说明。
【该状态学生可见文字】
这场婚姻为什么走到这一步？｜这组事实说明了什么？｜它不能被说成什么？｜先独立写下，再把证据放回她的一生。
【V6.6逻辑页】S03｜逻辑页41｜15分钟
【前页输入】
学生已经完成前页任务，手中保留与“全诗中的婚前细节、婚后失信粗暴、女子长期投入与劳作、共同记忆、支持缺失及文本未写边界”有关的原词或初稿。
【唯一困难】
学生容易看见“全诗中的婚前细节、婚后失信粗暴、女子长期投入与劳作、共同记忆、支持缺失及文本未写边界”，却不能把它准确接回人物和前后故事。
【唯一功能】
沿人生长卷区分直接责任、使失衡持续的条件、支持缺失和女子的回应，形成不归责受伤者的有界原因结构。
【文学对象】
全诗中的婚前细节、婚后失信粗暴、女子长期投入与劳作、共同记忆、支持缺失及文本未写边界
【信息状态】
首答不显示警讯、沉没成本、责任、托举等预制分类；类别名称在学生制卡后用于质询。
【学生主动作】
每人写事实说明与不能说明；小组放置证据卡并接受他组原因类型质询
【参与路径】
个人双行封存→五组全员轮说→一组一卡→轮换质询→原组修订→教师后置归纳。
【可见产物】
事实—作用—边界卡和经质询修订的原因长卷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S04由悲剧反推共同生活支点
【正常反例】
想不起、无新增、已经准确、不同意或暂时沉默均有诚实完成路径，不要求伪造改变。
【主视觉职责】
未完成的人生长卷与学生原因证据卡
【插图资格】
无
【第一人称接收】
我能区分谁应为伤害负责、哪些条件使失衡持续、哪些只是女子的回应，并用原诗校正因果强度。
【故事回接】
页面结束前由一句自然复述回到谁做了什么、人物处境怎样变化以及故事推进到哪里。
【删除损失】
三问第三问缺少整体、有界和不归责的解释。
【相邻反证】
S02只说明生活表现，S04转向建设性讨论；本页独自承担原因结构和伦理边界。
【失败信号】
把女子投入、等待或劳作写成男子伤害的原因；把止息判断列为婚姻破裂原因；公共结构由教师在首答前给出；卡片在公共答案后补抄
【教师逐字稿】
现在回答第三个问题。五组各领取一组尚未分类的原句：开头的抱布、来谋与‘将子无怒’；婚后的‘贰其行、二三其德、至于暴矣’；长期劳作和食贫；兄弟笑与独自悲；第六章的旧誓、回望和‘亦已焉哉’。每个人先写两行：这组事实说明了什么；它又不能被说成什么。（等待并封存。）组内每人读完以后，形成一张‘事实—作用—边界’卡，沿刚才的人生长卷放置。现在每组移到右边一张卡，用不同颜色的小签判断：这是男子伤害的直接责任，是使失衡继续的条件，是支持缺失，还是女子对处境的回应？若你认为箭头过强，写‘依据不足’。原组回来，只能用原诗修订。最后教师沿真实卡片归纳：男子失信、反复和粗暴承担直接责任；劳动、权力和情感投入长期失衡，使关系继续恶化；过去欢乐和已有投入可以解释为何难以割舍，却不是伤害原因；亲人不知和嘲笑使她缺少理解和托举；末章写的是她彻底失望后作出止息判断，是回应，不是婚姻失败的原因。开头细节值得审慎观察，但不能倒推预谋，也不能责怪她没有预知未来。
【真实场景】
屏幕只留下此刻要面对的原诗、问题或学生真实作品；教师说完邀请后退开，让阅读、表达和等待真实发生。
（教师承接前页）
（学生先独立形成）
（同伴限定倾听）
（教师据真实材料校准）
（学生亲自修订）
（自然切页）
【时间盒】
个人事实—作用—边界首答：170秒；组内轮说和制卡：245秒；沿长卷放置：120秒；轮换质询原因类型：160秒；原组返诗修订：95秒；教师后置归纳：110秒
【现场分支】
暂时没有答案：允许先圈出最确定的一处原词，用不完整但真实的话开口；没有新增也可如实保留。
判断越过原诗：请指出依据；找不到相应原词时，把断言降低为问题、可能或文本未写。
【听者任务】
听清发言依据的是哪一句诗、给人物故事增加了什么；只补遗漏或提出一处证据追问。
【证据位置】
公共人生长卷上的事实—作用—边界卡、异色质询签和原组修订
【自然切页句】
悲剧的结构已经看清。现在不再只谈她该避开什么，而要转向未来：一段好的共同生活，最不能缺少什么？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【V6.6物理状态】S03-B1｜400秒
【状态功能】
以现场事实—作用—边界卡和异色质询签形成原因长卷。
【该状态学生可见文字】
沿着她的一生，看看这些事实起了怎样的作用。｜这是直接责任？使失衡持续的条件？支持缺失？还是女子的回应？｜若箭头过强，请写：依据不足。
【V6.6逻辑页】S03｜逻辑页41｜15分钟
【前页输入】
学生已经完成前页任务，手中保留与“全诗中的婚前细节、婚后失信粗暴、女子长期投入与劳作、共同记忆、支持缺失及文本未写边界”有关的原词或初稿。
【唯一困难】
学生容易看见“全诗中的婚前细节、婚后失信粗暴、女子长期投入与劳作、共同记忆、支持缺失及文本未写边界”，却不能把它准确接回人物和前后故事。
【唯一功能】
沿人生长卷区分直接责任、使失衡持续的条件、支持缺失和女子的回应，形成不归责受伤者的有界原因结构。
【文学对象】
全诗中的婚前细节、婚后失信粗暴、女子长期投入与劳作、共同记忆、支持缺失及文本未写边界
【信息状态】
首答不显示警讯、沉没成本、责任、托举等预制分类；类别名称在学生制卡后用于质询。
【学生主动作】
每人写事实说明与不能说明；小组放置证据卡并接受他组原因类型质询
【参与路径】
个人双行封存→五组全员轮说→一组一卡→轮换质询→原组修订→教师后置归纳。
【可见产物】
事实—作用—边界卡和经质询修订的原因长卷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S04由悲剧反推共同生活支点
【正常反例】
想不起、无新增、已经准确、不同意或暂时沉默均有诚实完成路径，不要求伪造改变。
【主视觉职责】
未完成的人生长卷与学生原因证据卡
【插图资格】
无
【第一人称接收】
我能区分谁应为伤害负责、哪些条件使失衡持续、哪些只是女子的回应，并用原诗校正因果强度。
【故事回接】
页面结束前由一句自然复述回到谁做了什么、人物处境怎样变化以及故事推进到哪里。
【删除损失】
三问第三问缺少整体、有界和不归责的解释。
【相邻反证】
S02只说明生活表现，S04转向建设性讨论；本页独自承担原因结构和伦理边界。
【失败信号】
把女子投入、等待或劳作写成男子伤害的原因；把止息判断列为婚姻破裂原因；公共结构由教师在首答前给出；卡片在公共答案后补抄
【教师逐字稿】
现在回答第三个问题。五组各领取一组尚未分类的原句：开头的抱布、来谋与‘将子无怒’；婚后的‘贰其行、二三其德、至于暴矣’；长期劳作和食贫；兄弟笑与独自悲；第六章的旧誓、回望和‘亦已焉哉’。每个人先写两行：这组事实说明了什么；它又不能被说成什么。（等待并封存。）组内每人读完以后，形成一张‘事实—作用—边界’卡，沿刚才的人生长卷放置。现在每组移到右边一张卡，用不同颜色的小签判断：这是男子伤害的直接责任，是使失衡继续的条件，是支持缺失，还是女子对处境的回应？若你认为箭头过强，写‘依据不足’。原组回来，只能用原诗修订。最后教师沿真实卡片归纳：男子失信、反复和粗暴承担直接责任；劳动、权力和情感投入长期失衡，使关系继续恶化；过去欢乐和已有投入可以解释为何难以割舍，却不是伤害原因；亲人不知和嘲笑使她缺少理解和托举；末章写的是她彻底失望后作出止息判断，是回应，不是婚姻失败的原因。开头细节值得审慎观察，但不能倒推预谋，也不能责怪她没有预知未来。
【真实场景】
屏幕只留下此刻要面对的原诗、问题或学生真实作品；教师说完邀请后退开，让阅读、表达和等待真实发生。
（教师承接前页）
（学生先独立形成）
（同伴限定倾听）
（教师据真实材料校准）
（学生亲自修订）
（自然切页）
【时间盒】
个人事实—作用—边界首答：170秒；组内轮说和制卡：245秒；沿长卷放置：120秒；轮换质询原因类型：160秒；原组返诗修订：95秒；教师后置归纳：110秒
【现场分支】
暂时没有答案：允许先圈出最确定的一处原词，用不完整但真实的话开口；没有新增也可如实保留。
判断越过原诗：请指出依据；找不到相应原词时，把断言降低为问题、可能或文本未写。
【听者任务】
听清发言依据的是哪一句诗、给人物故事增加了什么；只补遗漏或提出一处证据追问。
【证据位置】
公共人生长卷上的事实—作用—边界卡、异色质询签和原组修订
【自然切页句】
悲剧的结构已经看清。现在不再只谈她该避开什么，而要转向未来：一段好的共同生活，最不能缺少什么？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【V6.6物理状态】S03-B2｜180秒
【状态功能】
后置形成不归责受伤者的原因结构和婚前审慎边界。
【该状态学生可见文字】
直接责任：失信、反复与粗暴｜失衡持续：劳动、决定与情感投入长期不对等｜支持缺失：不知、嘲笑与独自悲伤｜旧日欢乐与投入解释割舍困难，却不是伤害原因｜“亦已焉哉”是她的回应，不是悲剧的原因。
【V6.6逻辑页】S03｜逻辑页41｜15分钟
【前页输入】
学生已经完成前页任务，手中保留与“全诗中的婚前细节、婚后失信粗暴、女子长期投入与劳作、共同记忆、支持缺失及文本未写边界”有关的原词或初稿。
【唯一困难】
学生容易看见“全诗中的婚前细节、婚后失信粗暴、女子长期投入与劳作、共同记忆、支持缺失及文本未写边界”，却不能把它准确接回人物和前后故事。
【唯一功能】
沿人生长卷区分直接责任、使失衡持续的条件、支持缺失和女子的回应，形成不归责受伤者的有界原因结构。
【文学对象】
全诗中的婚前细节、婚后失信粗暴、女子长期投入与劳作、共同记忆、支持缺失及文本未写边界
【信息状态】
首答不显示警讯、沉没成本、责任、托举等预制分类；类别名称在学生制卡后用于质询。
【学生主动作】
每人写事实说明与不能说明；小组放置证据卡并接受他组原因类型质询
【参与路径】
个人双行封存→五组全员轮说→一组一卡→轮换质询→原组修订→教师后置归纳。
【可见产物】
事实—作用—边界卡和经质询修订的原因长卷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S04由悲剧反推共同生活支点
【正常反例】
想不起、无新增、已经准确、不同意或暂时沉默均有诚实完成路径，不要求伪造改变。
【主视觉职责】
未完成的人生长卷与学生原因证据卡
【插图资格】
无
【第一人称接收】
我能区分谁应为伤害负责、哪些条件使失衡持续、哪些只是女子的回应，并用原诗校正因果强度。
【故事回接】
页面结束前由一句自然复述回到谁做了什么、人物处境怎样变化以及故事推进到哪里。
【删除损失】
三问第三问缺少整体、有界和不归责的解释。
【相邻反证】
S02只说明生活表现，S04转向建设性讨论；本页独自承担原因结构和伦理边界。
【失败信号】
把女子投入、等待或劳作写成男子伤害的原因；把止息判断列为婚姻破裂原因；公共结构由教师在首答前给出；卡片在公共答案后补抄
【教师逐字稿】
现在回答第三个问题。五组各领取一组尚未分类的原句：开头的抱布、来谋与‘将子无怒’；婚后的‘贰其行、二三其德、至于暴矣’；长期劳作和食贫；兄弟笑与独自悲；第六章的旧誓、回望和‘亦已焉哉’。每个人先写两行：这组事实说明了什么；它又不能被说成什么。（等待并封存。）组内每人读完以后，形成一张‘事实—作用—边界’卡，沿刚才的人生长卷放置。现在每组移到右边一张卡，用不同颜色的小签判断：这是男子伤害的直接责任，是使失衡继续的条件，是支持缺失，还是女子对处境的回应？若你认为箭头过强，写‘依据不足’。原组回来，只能用原诗修订。最后教师沿真实卡片归纳：男子失信、反复和粗暴承担直接责任；劳动、权力和情感投入长期失衡，使关系继续恶化；过去欢乐和已有投入可以解释为何难以割舍，却不是伤害原因；亲人不知和嘲笑使她缺少理解和托举；末章写的是她彻底失望后作出止息判断，是回应，不是婚姻失败的原因。开头细节值得审慎观察，但不能倒推预谋，也不能责怪她没有预知未来。
【真实场景】
屏幕只留下此刻要面对的原诗、问题或学生真实作品；教师说完邀请后退开，让阅读、表达和等待真实发生。
（教师承接前页）
（学生先独立形成）
（同伴限定倾听）
（教师据真实材料校准）
（学生亲自修订）
（自然切页）
【时间盒】
个人事实—作用—边界首答：170秒；组内轮说和制卡：245秒；沿长卷放置：120秒；轮换质询原因类型：160秒；原组返诗修订：95秒；教师后置归纳：110秒
【现场分支】
暂时没有答案：允许先圈出最确定的一处原词，用不完整但真实的话开口；没有新增也可如实保留。
判断越过原诗：请指出依据；找不到相应原词时，把断言降低为问题、可能或文本未写。
【听者任务】
听清发言依据的是哪一句诗、给人物故事增加了什么；只补遗漏或提出一处证据追问。
【证据位置】
公共人生长卷上的事实—作用—边界卡、异色质询签和原组修订
【自然切页句】
悲剧的结构已经看清。现在不再只谈她该避开什么，而要转向未来：一段好的共同生活，最不能缺少什么？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【V6.6物理状态】S04-B0｜330秒
【状态功能】
每个人先用一处原诗形成自己的婚姻观。
【该状态学生可见文字】
一段好的共同生活，最不能缺少什么？｜这处悲剧提醒我……｜因此，好的共同生活需要……｜只给未来的自己或朋友留一句话。
【V6.6逻辑页】S04｜逻辑页42｜13分钟
【前页输入】
学生已经完成前页任务，手中保留与“O03保存的本班爱情与婚姻文学主题谱照片、学生开课时的一条朴素主题及《氓》反面证据”有关的原词或初稿。
【唯一困难】
学生容易看见“O03保存的本班爱情与婚姻文学主题谱照片、学生开课时的一条朴素主题及《氓》反面证据”，却不能把它准确接回人物和前后故事。
【唯一功能】
让每个人以一处原诗形成婚姻观，再由全员轮说和冲突质询生成班级共同生活支点。
【文学对象】
O03保存的本班爱情与婚姻文学主题谱照片、学生开课时的一条朴素主题及《氓》反面证据
【信息状态】
首屏不预填好的婚姻结构；教师支点只在学生卡片形成后归纳。
【学生主动作】
每人用一处原诗提出一个关系条件；四人全说后只留一张给未来的卡
【参与路径】
个人返诗→四人全员轮说→全员后才讨论→每组一卡→全班只看同义、冲突和缺项。
【可见产物】
每组一张给未来的共同生活支点卡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S08终课引用；真实试教评估
【正常反例】
想不起、无新增、已经准确、不同意或暂时沉默均有诚实完成路径，不要求伪造改变。
【主视觉职责】
开放问题；随后由真实学生卡形成平衡木
【插图资格】
无
【第一人称接收】
我用一处原诗表达了自己的婚姻观，也听见并参与形成了一张给未来的共同生活条件卡。
【故事回接】
页面结束前由一句自然复述回到谁做了什么、人物处境怎样变化以及故事推进到哪里。
【删除损失】
全文讨论停在悲剧诊断，导入主题谱成为孤儿。
【相邻反证】
S03停在原因，S05转入知识；本页独自完成价值表达、建设性迁移和导入回扣。
【失败信号】
组长代劳；教师提前显示标准支点；讨论评判同学家庭或受伤者；多数学生只旁观公共卡
【教师逐字稿】
现在把书翻在自己最想引用的一处。假如只给未来的自己或朋友留一句话：一段好的共同生活，最不能缺少什么？先用两句话准备：‘这处悲剧提醒我……因此，好的共同生活需要……’不谈自己的家庭，也不猜老师的标准词。（等待。）四个人按座位依次完整说；所有人说过以前不评价、不抢答。说完以后才追问原诗、合并相近或保留分歧。每组只留一张最想送给未来的卡，写原诗依据和一句关系条件。贴到黑板的平衡木周围。全班不逐张朗读，只看同义卡、冲突卡和明显缺项。教师只沿真实卡片归纳：可能有审慎了解、言行长期一致、边界与尊重、劳动和决定公平、共同承担、困难时的理解与支持网络、发现持续伤害后的求助和止损。若现场没有某项，教师明确说这是基于全文事实补充，不冒充学生原话。最后回投开头的爱情婚姻文学主题谱：《氓》为它新添了什么？只补一条新认识。
【真实场景】
屏幕只留下此刻要面对的原诗、问题或学生真实作品；教师说完邀请后退开，让阅读、表达和等待真实发生。
（教师承接前页）
（学生先独立形成）
（同伴限定倾听）
（教师据真实材料校准）
（学生亲自修订）
（自然切页）
【时间盒】
个人返诗准备：100秒；四人全员轮说：220秒；追问、合并和一组一卡：150秒；贴卡和冲突质询：140秒；教师后置归纳：110秒；回投导入主题谱：60秒
【现场分支】
暂时没有答案：允许先圈出最确定的一处原词，用不完整但真实的话开口；没有新增也可如实保留。
判断越过原诗：请指出依据；找不到相应原词时，把断言降低为问题、可能或文本未写。
【听者任务】
听清发言依据的是哪一句诗、给人物故事增加了什么；只补遗漏或提出一处证据追问。
【证据位置】
个人原诗标记；每组唯一‘给未来的卡’；回投主题谱新增项
【自然切页句】
共同生活的支点已经从悲剧和你们的话里长出来。最后，我们把沿途读过的文化、字词和写法收好，再完整读一遍。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【V6.6物理状态】S04-B1｜280秒
【状态功能】
四人全员轮说后形成每组唯一的给未来的卡。
【该状态学生可见文字】
把每组最想送给未来的一句话贴上来。｜先看哪些彼此照应，再看哪些彼此冲突。｜每张卡都要带着一处《氓》的原诗。
【V6.6逻辑页】S04｜逻辑页42｜13分钟
【前页输入】
学生已经完成前页任务，手中保留与“O03保存的本班爱情与婚姻文学主题谱照片、学生开课时的一条朴素主题及《氓》反面证据”有关的原词或初稿。
【唯一困难】
学生容易看见“O03保存的本班爱情与婚姻文学主题谱照片、学生开课时的一条朴素主题及《氓》反面证据”，却不能把它准确接回人物和前后故事。
【唯一功能】
让每个人以一处原诗形成婚姻观，再由全员轮说和冲突质询生成班级共同生活支点。
【文学对象】
O03保存的本班爱情与婚姻文学主题谱照片、学生开课时的一条朴素主题及《氓》反面证据
【信息状态】
首屏不预填好的婚姻结构；教师支点只在学生卡片形成后归纳。
【学生主动作】
每人用一处原诗提出一个关系条件；四人全说后只留一张给未来的卡
【参与路径】
个人返诗→四人全员轮说→全员后才讨论→每组一卡→全班只看同义、冲突和缺项。
【可见产物】
每组一张给未来的共同生活支点卡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S08终课引用；真实试教评估
【正常反例】
想不起、无新增、已经准确、不同意或暂时沉默均有诚实完成路径，不要求伪造改变。
【主视觉职责】
开放问题；随后由真实学生卡形成平衡木
【插图资格】
无
【第一人称接收】
我用一处原诗表达了自己的婚姻观，也听见并参与形成了一张给未来的共同生活条件卡。
【故事回接】
页面结束前由一句自然复述回到谁做了什么、人物处境怎样变化以及故事推进到哪里。
【删除损失】
全文讨论停在悲剧诊断，导入主题谱成为孤儿。
【相邻反证】
S03停在原因，S05转入知识；本页独自完成价值表达、建设性迁移和导入回扣。
【失败信号】
组长代劳；教师提前显示标准支点；讨论评判同学家庭或受伤者；多数学生只旁观公共卡
【教师逐字稿】
现在把书翻在自己最想引用的一处。假如只给未来的自己或朋友留一句话：一段好的共同生活，最不能缺少什么？先用两句话准备：‘这处悲剧提醒我……因此，好的共同生活需要……’不谈自己的家庭，也不猜老师的标准词。（等待。）四个人按座位依次完整说；所有人说过以前不评价、不抢答。说完以后才追问原诗、合并相近或保留分歧。每组只留一张最想送给未来的卡，写原诗依据和一句关系条件。贴到黑板的平衡木周围。全班不逐张朗读，只看同义卡、冲突卡和明显缺项。教师只沿真实卡片归纳：可能有审慎了解、言行长期一致、边界与尊重、劳动和决定公平、共同承担、困难时的理解与支持网络、发现持续伤害后的求助和止损。若现场没有某项，教师明确说这是基于全文事实补充，不冒充学生原话。最后回投开头的爱情婚姻文学主题谱：《氓》为它新添了什么？只补一条新认识。
【真实场景】
屏幕只留下此刻要面对的原诗、问题或学生真实作品；教师说完邀请后退开，让阅读、表达和等待真实发生。
（教师承接前页）
（学生先独立形成）
（同伴限定倾听）
（教师据真实材料校准）
（学生亲自修订）
（自然切页）
【时间盒】
个人返诗准备：100秒；四人全员轮说：220秒；追问、合并和一组一卡：150秒；贴卡和冲突质询：140秒；教师后置归纳：110秒；回投导入主题谱：60秒
【现场分支】
暂时没有答案：允许先圈出最确定的一处原词，用不完整但真实的话开口；没有新增也可如实保留。
判断越过原诗：请指出依据；找不到相应原词时，把断言降低为问题、可能或文本未写。
【听者任务】
听清发言依据的是哪一句诗、给人物故事增加了什么；只补遗漏或提出一处证据追问。
【证据位置】
个人原诗标记；每组唯一‘给未来的卡’；回投主题谱新增项
【自然切页句】
共同生活的支点已经从悲剧和你们的话里长出来。最后，我们把沿途读过的文化、字词和写法收好，再完整读一遍。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【V6.6物理状态】S04-B2｜170秒
【状态功能】
依据真实卡片后置归纳共同生活支点，并回投开头主题谱。
【该状态学生可见文字】
审慎了解，承诺由长期行动核验｜言行一致，彼此尊重边界｜劳动、决定与责任不长期失衡｜困难时有理解、支持与求助通道｜发现持续伤害时，能够止损｜《氓》为开头的文学版图，新添了什么？
【V6.6逻辑页】S04｜逻辑页42｜13分钟
【前页输入】
学生已经完成前页任务，手中保留与“O03保存的本班爱情与婚姻文学主题谱照片、学生开课时的一条朴素主题及《氓》反面证据”有关的原词或初稿。
【唯一困难】
学生容易看见“O03保存的本班爱情与婚姻文学主题谱照片、学生开课时的一条朴素主题及《氓》反面证据”，却不能把它准确接回人物和前后故事。
【唯一功能】
让每个人以一处原诗形成婚姻观，再由全员轮说和冲突质询生成班级共同生活支点。
【文学对象】
O03保存的本班爱情与婚姻文学主题谱照片、学生开课时的一条朴素主题及《氓》反面证据
【信息状态】
首屏不预填好的婚姻结构；教师支点只在学生卡片形成后归纳。
【学生主动作】
每人用一处原诗提出一个关系条件；四人全说后只留一张给未来的卡
【参与路径】
个人返诗→四人全员轮说→全员后才讨论→每组一卡→全班只看同义、冲突和缺项。
【可见产物】
每组一张给未来的共同生活支点卡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S08终课引用；真实试教评估
【正常反例】
想不起、无新增、已经准确、不同意或暂时沉默均有诚实完成路径，不要求伪造改变。
【主视觉职责】
开放问题；随后由真实学生卡形成平衡木
【插图资格】
无
【第一人称接收】
我用一处原诗表达了自己的婚姻观，也听见并参与形成了一张给未来的共同生活条件卡。
【故事回接】
页面结束前由一句自然复述回到谁做了什么、人物处境怎样变化以及故事推进到哪里。
【删除损失】
全文讨论停在悲剧诊断，导入主题谱成为孤儿。
【相邻反证】
S03停在原因，S05转入知识；本页独自完成价值表达、建设性迁移和导入回扣。
【失败信号】
组长代劳；教师提前显示标准支点；讨论评判同学家庭或受伤者；多数学生只旁观公共卡
【教师逐字稿】
现在把书翻在自己最想引用的一处。假如只给未来的自己或朋友留一句话：一段好的共同生活，最不能缺少什么？先用两句话准备：‘这处悲剧提醒我……因此，好的共同生活需要……’不谈自己的家庭，也不猜老师的标准词。（等待。）四个人按座位依次完整说；所有人说过以前不评价、不抢答。说完以后才追问原诗、合并相近或保留分歧。每组只留一张最想送给未来的卡，写原诗依据和一句关系条件。贴到黑板的平衡木周围。全班不逐张朗读，只看同义卡、冲突卡和明显缺项。教师只沿真实卡片归纳：可能有审慎了解、言行长期一致、边界与尊重、劳动和决定公平、共同承担、困难时的理解与支持网络、发现持续伤害后的求助和止损。若现场没有某项，教师明确说这是基于全文事实补充，不冒充学生原话。最后回投开头的爱情婚姻文学主题谱：《氓》为它新添了什么？只补一条新认识。
【真实场景】
屏幕只留下此刻要面对的原诗、问题或学生真实作品；教师说完邀请后退开，让阅读、表达和等待真实发生。
（教师承接前页）
（学生先独立形成）
（同伴限定倾听）
（教师据真实材料校准）
（学生亲自修订）
（自然切页）
【时间盒】
个人返诗准备：100秒；四人全员轮说：220秒；追问、合并和一组一卡：150秒；贴卡和冲突质询：140秒；教师后置归纳：110秒；回投导入主题谱：60秒
【现场分支】
暂时没有答案：允许先圈出最确定的一处原词，用不完整但真实的话开口；没有新增也可如实保留。
判断越过原诗：请指出依据；找不到相应原词时，把断言降低为问题、可能或文本未写。
【听者任务】
听清发言依据的是哪一句诗、给人物故事增加了什么；只补遗漏或提出一处证据追问。
【证据位置】
个人原诗标记；每组唯一‘给未来的卡’；回投主题谱新增项
【自然切页句】
共同生活的支点已经从悲剧和你们的话里长出来。最后，我们把沿途读过的文化、字词和写法收好，再完整读一遍。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【V6.6物理状态】S05A-A｜360秒
【状态功能】
检验开篇文化入口是否真正留下，并修复第一部诗歌总集、305篇、大致年代、风雅颂和篇目归属。
【该状态学生可见文字】
《诗经》，我们真正记住了什么？｜它是什么？｜有多少篇？｜作品大致来自怎样的年代？｜分哪三类？《氓》在哪里？｜先合书写；不确定，可以留空。
【V6.6逻辑页】S05A｜逻辑页43｜6分钟
【前页输入】
学生已经完成前页任务，手中保留与“《诗经》，我们真正记住了什么？”有关的原词或初稿。
【唯一困难】
学生容易看见“《诗经》，我们真正记住了什么？”，却不能把它准确接回人物和前后故事。
【唯一功能】
检验开篇文化入口是否真正留下，并修复第一部诗歌总集、305篇、大致年代、风雅颂和篇目归属。
【文学对象】
《诗经》，我们真正记住了什么？
【信息状态】
首答不显示第一部诗歌总集、305篇、年代、风雅颂和卫风答案；校准在等待以后。
【学生主动作】
合书完成五项文化检索；开书或看课堂批注核对，再合书串说
【参与路径】
个人先形成；需要交流时并行同桌或四人轮说；全班只公开少量有差异材料。
【可见产物】
《诗经》五项文化修复稿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S06艺术收纳和S08终读
【正常反例】
想不起、无新增、已经准确、不同意或暂时沉默均有诚实完成路径，不要求伪造改变。
【主视觉职责】
四个开放检索问题
【插图资格】
无
【第一人称接收】
我刚才面对“《诗经》，我们真正记住了什么？”，留下了《诗经》五项文化修复稿；我能用原词说清自己新增或修正的理解。
【故事回接】
页面结束前由一句自然复述回到谁做了什么、人物处境怎样变化以及故事推进到哪里。
【删除损失】
开篇文化输入未经检索，学生可能把看过冒充记住。
【相邻反证】
相邻页不同时处理“学生容易看见“《诗经》，我们真正记住了什么？”，却不能把它准确接回人物和前后故事。”；合并会挤掉必要首答、校准或故事回接。
【失败信号】
学生只能复述活动手续，不能复述诗意；首答前已经看见完成关系或答案；产物在后页没有真实消费者
【教师逐字稿】
请合上书和文化批注，独立写五项：第一，《诗经》在中国文学史上是什么；第二，现存多少篇；第三，作品大致来自怎样的年代；第四，传统上分哪三类；第五，《氓》收在哪里。不确定可以留空，不偷看同桌。（等待并封存。）现在打开开篇批注或教材核对：我国第一部诗歌总集，三百零五篇，作品大致产生于西周初年至春秋中叶，传统上分风、雅、颂，《氓》在《卫风》中。请本人只修错空项。最后重新合上书，用两句话说给同桌听：先说《诗经》的基本身份，再说《氓》在其中的位置。听者只指出一项事实是否遗漏，不替对方整句重写。
【真实场景】
屏幕只留下此刻要面对的原诗、问题或学生真实作品；教师说完邀请后退开，让阅读、表达和等待真实发生。
（教师承接前页）
（学生先独立形成）
（同伴限定倾听）
（教师据真实材料校准）
（学生亲自修订）
（自然切页）
【时间盒】
合书五项首答：125秒；开书核对和本人修订：115秒；教师准确收束真实错项：55秒；再合书同桌串说：65秒
【现场分支】
暂时没有答案：允许先圈出最确定的一处原词，用不完整但真实的话开口；没有新增也可如实保留。
判断越过原诗：请指出依据；找不到相应原词时，把断言降低为问题、可能或文本未写。
【听者任务】
听清发言依据的是哪一句诗、给人物故事增加了什么；只补遗漏或提出一处证据追问。
【证据位置】
公共答案前封存的五项文化首答、本人修订和再合书串说
【自然切页句】
文化坐标已经重新取回。接下来检查六章的关键字词，哪里还会让我们在完整朗读中断下来。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【V6.6物理状态】S05B-B0｜250秒
【状态功能】
六章六项无答案首答，发现每个人真实错空。
【该状态学生可见文字】
六章关键字词，能不能回到原句？｜愆　筮　说　爽　咥　泮｜每项写：读音｜句中义｜原句。不会，可以留空。
【V6.6逻辑页】S05B｜逻辑页44｜12分钟
【前页输入】
学生已经完成前页任务，手中保留与“把核心字词送回原句”有关的原词或初稿。
【唯一困难】
学生容易看见“把核心字词送回原句”，却不能把它准确接回人物和前后故事。
【唯一功能】
用六章各一项全员最低门槛发现个人基础盲点，再以自选两词作加深，不让抽样词表冒充全诗读通。
【文学对象】
把核心字词送回原句
【信息状态】
首答只给六个目标词和原句任务，不给读音与义；校准后再显示答案。
【学生主动作】
独立完成六章六项音义原句；持教材修复空项，再自选两词加深
【参与路径】
全员六项首答→开书本人修复→教师只讲真实共错→个人两词加深。
【可见产物】
六章字词通关卡和两词加深稿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S08终读提醒
【正常反例】
想不起、无新增、已经准确、不同意或暂时沉默均有诚实完成路径，不要求伪造改变。
【主视觉职责】
六章关键原句与六个最低通关空位
【插图资格】
无
【第一人称接收】
我知道自己在哪一章的哪个词断过，也已经把读音和句中义修回原句。
【故事回接】
页面结束前由一句自然复述回到谁做了什么、人物处境怎样变化以及故事推进到哪里。
【删除损失】
个人未选词盲点无法发现，逐句讲解没有基础语义兜底。
【相邻反证】
逐句细读分散发生，S08只终读；本页独自承担全诗基础语义的个人兜底。
【失败信号】
仍只任选两词；公共答案后补抄被计为首答；词义不回原句；六项没有固定样本审计
【教师逐字稿】
合上书，六章各有一个最低门槛词：第一章‘愆’，第二章‘筮’，第三章‘说’，第四章‘爽’，第五章‘咥’，第六章‘泮’。每项只写三样：读音、在本句中的意思、含有它的原句。不会可以留空，不能先挑会的做。（等待并封存。）现在打开教材逐项核对：愆是拖延、延误；筮是用蓍草占问；说同‘脱’，脱身；爽是差错；咥读xì，笑的样子；泮同‘畔’，边岸。请本人只修自己错空处，并在教材对应句旁圈一个终读提醒。六项修复后，再从全诗自选两个仍不稳的词，写音义原句作加深。教师只讲固定分层样本中的共性错项，不把十几个词再抄成大表。
【真实场景】
屏幕只留下此刻要面对的原诗、问题或学生真实作品；教师说完邀请后退开，让阅读、表达和等待真实发生。
（教师承接前页）
（学生先独立形成）
（同伴限定倾听）
（教师据真实材料校准）
（学生亲自修订）
（自然切页）
【时间盒】
合书六章六项首答：210秒；开书逐项核对和本人修复：245秒；固定样本共错微讲：105秒；自选两词加深：125秒；终读提醒：35秒
【现场分支】
暂时没有答案：允许先圈出最确定的一处原词，用不完整但真实的话开口；没有新增也可如实保留。
判断越过原诗：请指出依据；找不到相应原词时，把断言降低为问题、可能或文本未写。
【听者任务】
听清发言依据的是哪一句诗、给人物故事增加了什么；只补遗漏或提出一处证据追问。
【证据位置】
公共答案前封存的六章字词通关卡；本人修订；两词加深稿
【自然切页句】
字词已经回到六章原句。接下来不再列知识点，而要看这些句子怎样共同写成这首诗。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【V6.6物理状态】S05B-B1｜275秒
【状态功能】
打开教材逐项核对并由本人修复。
【该状态学生可见文字】
打开教材，只修自己错空的地方。｜每修一项，都把它送回所在原句。｜在对应句旁圈一个终读提醒。
【V6.6逻辑页】S05B｜逻辑页44｜12分钟
【前页输入】
学生已经完成前页任务，手中保留与“把核心字词送回原句”有关的原词或初稿。
【唯一困难】
学生容易看见“把核心字词送回原句”，却不能把它准确接回人物和前后故事。
【唯一功能】
用六章各一项全员最低门槛发现个人基础盲点，再以自选两词作加深，不让抽样词表冒充全诗读通。
【文学对象】
把核心字词送回原句
【信息状态】
首答只给六个目标词和原句任务，不给读音与义；校准后再显示答案。
【学生主动作】
独立完成六章六项音义原句；持教材修复空项，再自选两词加深
【参与路径】
全员六项首答→开书本人修复→教师只讲真实共错→个人两词加深。
【可见产物】
六章字词通关卡和两词加深稿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S08终读提醒
【正常反例】
想不起、无新增、已经准确、不同意或暂时沉默均有诚实完成路径，不要求伪造改变。
【主视觉职责】
六章关键原句与六个最低通关空位
【插图资格】
无
【第一人称接收】
我知道自己在哪一章的哪个词断过，也已经把读音和句中义修回原句。
【故事回接】
页面结束前由一句自然复述回到谁做了什么、人物处境怎样变化以及故事推进到哪里。
【删除损失】
个人未选词盲点无法发现，逐句讲解没有基础语义兜底。
【相邻反证】
逐句细读分散发生，S08只终读；本页独自承担全诗基础语义的个人兜底。
【失败信号】
仍只任选两词；公共答案后补抄被计为首答；词义不回原句；六项没有固定样本审计
【教师逐字稿】
合上书，六章各有一个最低门槛词：第一章‘愆’，第二章‘筮’，第三章‘说’，第四章‘爽’，第五章‘咥’，第六章‘泮’。每项只写三样：读音、在本句中的意思、含有它的原句。不会可以留空，不能先挑会的做。（等待并封存。）现在打开教材逐项核对：愆是拖延、延误；筮是用蓍草占问；说同‘脱’，脱身；爽是差错；咥读xì，笑的样子；泮同‘畔’，边岸。请本人只修自己错空处，并在教材对应句旁圈一个终读提醒。六项修复后，再从全诗自选两个仍不稳的词，写音义原句作加深。教师只讲固定分层样本中的共性错项，不把十几个词再抄成大表。
【真实场景】
屏幕只留下此刻要面对的原诗、问题或学生真实作品；教师说完邀请后退开，让阅读、表达和等待真实发生。
（教师承接前页）
（学生先独立形成）
（同伴限定倾听）
（教师据真实材料校准）
（学生亲自修订）
（自然切页）
【时间盒】
合书六章六项首答：210秒；开书逐项核对和本人修复：245秒；固定样本共错微讲：105秒；自选两词加深：125秒；终读提醒：35秒
【现场分支】
暂时没有答案：允许先圈出最确定的一处原词，用不完整但真实的话开口；没有新增也可如实保留。
判断越过原诗：请指出依据；找不到相应原词时，把断言降低为问题、可能或文本未写。
【听者任务】
听清发言依据的是哪一句诗、给人物故事增加了什么；只补遗漏或提出一处证据追问。
【证据位置】
公共答案前封存的六章字词通关卡；本人修订；两词加深稿
【自然切页句】
字词已经回到六章原句。接下来不再列知识点，而要看这些句子怎样共同写成这首诗。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【V6.6物理状态】S05B-B2｜195秒
【状态功能】
校准六项共性错处，再让学生自选两词加深。
【该状态学生可见文字】
愆：延误　筮：用蓍草占问　说：同“脱”｜爽：差错　咥（xì）：笑的样子　泮：同“畔”，边岸｜六项修好以后，再自选两个仍不稳的词。
【V6.6逻辑页】S05B｜逻辑页44｜12分钟
【前页输入】
学生已经完成前页任务，手中保留与“把核心字词送回原句”有关的原词或初稿。
【唯一困难】
学生容易看见“把核心字词送回原句”，却不能把它准确接回人物和前后故事。
【唯一功能】
用六章各一项全员最低门槛发现个人基础盲点，再以自选两词作加深，不让抽样词表冒充全诗读通。
【文学对象】
把核心字词送回原句
【信息状态】
首答只给六个目标词和原句任务，不给读音与义；校准后再显示答案。
【学生主动作】
独立完成六章六项音义原句；持教材修复空项，再自选两词加深
【参与路径】
全员六项首答→开书本人修复→教师只讲真实共错→个人两词加深。
【可见产物】
六章字词通关卡和两词加深稿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S08终读提醒
【正常反例】
想不起、无新增、已经准确、不同意或暂时沉默均有诚实完成路径，不要求伪造改变。
【主视觉职责】
六章关键原句与六个最低通关空位
【插图资格】
无
【第一人称接收】
我知道自己在哪一章的哪个词断过，也已经把读音和句中义修回原句。
【故事回接】
页面结束前由一句自然复述回到谁做了什么、人物处境怎样变化以及故事推进到哪里。
【删除损失】
个人未选词盲点无法发现，逐句讲解没有基础语义兜底。
【相邻反证】
逐句细读分散发生，S08只终读；本页独自承担全诗基础语义的个人兜底。
【失败信号】
仍只任选两词；公共答案后补抄被计为首答；词义不回原句；六项没有固定样本审计
【教师逐字稿】
合上书，六章各有一个最低门槛词：第一章‘愆’，第二章‘筮’，第三章‘说’，第四章‘爽’，第五章‘咥’，第六章‘泮’。每项只写三样：读音、在本句中的意思、含有它的原句。不会可以留空，不能先挑会的做。（等待并封存。）现在打开教材逐项核对：愆是拖延、延误；筮是用蓍草占问；说同‘脱’，脱身；爽是差错；咥读xì，笑的样子；泮同‘畔’，边岸。请本人只修自己错空处，并在教材对应句旁圈一个终读提醒。六项修复后，再从全诗自选两个仍不稳的词，写音义原句作加深。教师只讲固定分层样本中的共性错项，不把十几个词再抄成大表。
【真实场景】
屏幕只留下此刻要面对的原诗、问题或学生真实作品；教师说完邀请后退开，让阅读、表达和等待真实发生。
（教师承接前页）
（学生先独立形成）
（同伴限定倾听）
（教师据真实材料校准）
（学生亲自修订）
（自然切页）
【时间盒】
合书六章六项首答：210秒；开书逐项核对和本人修复：245秒；固定样本共错微讲：105秒；自选两词加深：125秒；终读提醒：35秒
【现场分支】
暂时没有答案：允许先圈出最确定的一处原词，用不完整但真实的话开口；没有新增也可如实保留。
判断越过原诗：请指出依据；找不到相应原词时，把断言降低为问题、可能或文本未写。
【听者任务】
听清发言依据的是哪一句诗、给人物故事增加了什么；只补遗漏或提出一处证据追问。
【证据位置】
公共答案前封存的六章字词通关卡；本人修订；两词加深稿
【自然切页句】
字词已经回到六章原句。接下来不再列知识点，而要看这些句子怎样共同写成这首诗。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【V6.6物理状态】S06-B0｜250秒
【状态功能】
只给已读例句，不给成品术语，让学生自拟分组和作用。
【该状态学生可见文字】
这些已经读过的句子，哪些可以放在一起？｜六章里的事件变化｜桑之未落｜桑之落矣｜鸠｜女｜老｜老　反｜反　淇水再现｜涟涟　汤汤　晏晏　旦旦｜先说共同点，再说它怎样改变故事或声音。
【V6.6逻辑页】S06｜逻辑页45｜12分钟
【前页输入】
学生已经完成前页任务，手中保留与“桑叶沃若/黄而陨、两声于嗟由斑鸠到女子、信誓/反/不思在末章回来的三组原句”有关的原词或初稿。
【唯一困难】
学生容易看见“桑叶沃若/黄而陨、两声于嗟由斑鸠到女子、信誓/反/不思在末章回来的三组原句”，却不能把它准确接回人物和前后故事。
【唯一功能】
把逐句体验收成叙事推进、桑叶比兴与对照、词句复现反折、四言叠词与声音四类知识，并说明写法怎样改变人物故事。
【文学对象】
桑叶沃若/黄而陨、两声于嗟由斑鸠到女子、信誓/反/不思在末章回来的三组原句
【信息状态】
只给知识检索类别，不给代表原句和作用答案；教师术语提升在小组补例以后。
【学生主动作】
观察已读例句并自拟分组；比较黑板分法后由教师命名，再独立完成两类
【参与路径】
个人先形成；需要交流时并行同桌或四人轮说；全班只公开少量有差异材料。
【可见产物】
学生分组、教师后置知识图和个人两类说明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S08带走一处语言发现
【正常反例】
想不起、无新增、已经准确、不同意或暂时沉默均有诚实完成路径，不要求伪造改变。
【主视觉职责】
关系线与原词
【插图资格】
无
【第一人称接收】
我刚才面对“桑叶沃若/黄而陨、两声于嗟由斑鸠到女子、信誓/反/不思在末章回来的三组原句”，留下了学生分组、教师后置知识图和个人两类说明；我能用原词说清自己新增或修正的理解。
【故事回接】
页面结束前由一句自然复述回到谁做了什么、人物处境怎样变化以及故事推进到哪里。
【删除损失】
删除会使知识只散落在活动里
【相邻反证】
相邻页不同时处理“学生容易看见“桑叶沃若/黄而陨、两声于嗟由斑鸠到女子、信誓/反/不思在末章回来的三组原句”，却不能把它准确接回人物和前后故事。”；合并会挤掉必要首答、校准或故事回接。
【失败信号】
学生只能复述活动手续，不能复述诗意；首答前已经看见完成关系或答案；产物在后页没有真实消费者
【教师逐字稿】
先不看术语。屏幕上只有已经读过的材料：六章事件变化；‘桑之未落／桑之落矣’和鸠、女句；两个‘老’、两个‘反’及淇水复现；涟涟、汤汤、晏晏、旦旦。每个人先选两组你认为可以放在一起的材料，写共同点和它们怎样改变故事或声音。（等待。）四组各把一种分法写到黑板，不给标准名称。全班看黑板：哪些分法其实在看同一种写法，哪些仍混在一起？教师此时后置命名：六章叙事推进；桑叶比兴与前后对照；词句复现、回环和反折；四言节奏、叠词与声音。每一类都必须带一处原诗和作用。最后每个人任选两类，合书写‘原诗—写法—它怎样改变人物故事或声音’，开书返诗修正。
【真实场景】
屏幕只留下此刻要面对的原诗、问题或学生真实作品；教师说完邀请后退开，让阅读、表达和等待真实发生。
（教师承接前页）
（学生先独立形成）
（同伴限定倾听）
（教师据真实材料校准）
（学生亲自修订）
（自然切页）
【时间盒】
无术语例句观察和个人分组：190秒；四组黑板分法：150秒；全班比较学生分法：100秒；教师后置命名和准确提升：115秒；个人两类说明和返诗修订：165秒
【现场分支】
暂时没有答案：允许先圈出最确定的一处原词，用不完整但真实的话开口；没有新增也可如实保留。
判断越过原诗：请指出依据；找不到相应原词时，把断言降低为问题、可能或文本未写。
【听者任务】
听清发言依据的是哪一句诗、给人物故事增加了什么；只补遗漏或提出一处证据追问。
【证据位置】
个人无术语分组；黑板学生分法；个人两类‘原诗—写法—作用’修订
【自然切页句】
这些名字已经重新落回她的六章故事。最后不再做一张表，只留一句自己的话，再完整读一遍。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【V6.6物理状态】S06-B1｜250秒
【状态功能】
比较黑板上的学生分法、差异和混杂。
【该状态学生可见文字】
看看黑板上你们自己的分法｜哪些其实在看同一种写法？｜哪些材料还混在一起？｜只用原诗说明。
【V6.6逻辑页】S06｜逻辑页45｜12分钟
【前页输入】
学生已经完成前页任务，手中保留与“桑叶沃若/黄而陨、两声于嗟由斑鸠到女子、信誓/反/不思在末章回来的三组原句”有关的原词或初稿。
【唯一困难】
学生容易看见“桑叶沃若/黄而陨、两声于嗟由斑鸠到女子、信誓/反/不思在末章回来的三组原句”，却不能把它准确接回人物和前后故事。
【唯一功能】
把逐句体验收成叙事推进、桑叶比兴与对照、词句复现反折、四言叠词与声音四类知识，并说明写法怎样改变人物故事。
【文学对象】
桑叶沃若/黄而陨、两声于嗟由斑鸠到女子、信誓/反/不思在末章回来的三组原句
【信息状态】
只给知识检索类别，不给代表原句和作用答案；教师术语提升在小组补例以后。
【学生主动作】
观察已读例句并自拟分组；比较黑板分法后由教师命名，再独立完成两类
【参与路径】
个人先形成；需要交流时并行同桌或四人轮说；全班只公开少量有差异材料。
【可见产物】
学生分组、教师后置知识图和个人两类说明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S08带走一处语言发现
【正常反例】
想不起、无新增、已经准确、不同意或暂时沉默均有诚实完成路径，不要求伪造改变。
【主视觉职责】
关系线与原词
【插图资格】
无
【第一人称接收】
我刚才面对“桑叶沃若/黄而陨、两声于嗟由斑鸠到女子、信誓/反/不思在末章回来的三组原句”，留下了学生分组、教师后置知识图和个人两类说明；我能用原词说清自己新增或修正的理解。
【故事回接】
页面结束前由一句自然复述回到谁做了什么、人物处境怎样变化以及故事推进到哪里。
【删除损失】
删除会使知识只散落在活动里
【相邻反证】
相邻页不同时处理“学生容易看见“桑叶沃若/黄而陨、两声于嗟由斑鸠到女子、信誓/反/不思在末章回来的三组原句”，却不能把它准确接回人物和前后故事。”；合并会挤掉必要首答、校准或故事回接。
【失败信号】
学生只能复述活动手续，不能复述诗意；首答前已经看见完成关系或答案；产物在后页没有真实消费者
【教师逐字稿】
先不看术语。屏幕上只有已经读过的材料：六章事件变化；‘桑之未落／桑之落矣’和鸠、女句；两个‘老’、两个‘反’及淇水复现；涟涟、汤汤、晏晏、旦旦。每个人先选两组你认为可以放在一起的材料，写共同点和它们怎样改变故事或声音。（等待。）四组各把一种分法写到黑板，不给标准名称。全班看黑板：哪些分法其实在看同一种写法，哪些仍混在一起？教师此时后置命名：六章叙事推进；桑叶比兴与前后对照；词句复现、回环和反折；四言节奏、叠词与声音。每一类都必须带一处原诗和作用。最后每个人任选两类，合书写‘原诗—写法—它怎样改变人物故事或声音’，开书返诗修正。
【真实场景】
屏幕只留下此刻要面对的原诗、问题或学生真实作品；教师说完邀请后退开，让阅读、表达和等待真实发生。
（教师承接前页）
（学生先独立形成）
（同伴限定倾听）
（教师据真实材料校准）
（学生亲自修订）
（自然切页）
【时间盒】
无术语例句观察和个人分组：190秒；四组黑板分法：150秒；全班比较学生分法：100秒；教师后置命名和准确提升：115秒；个人两类说明和返诗修订：165秒
【现场分支】
暂时没有答案：允许先圈出最确定的一处原词，用不完整但真实的话开口；没有新增也可如实保留。
判断越过原诗：请指出依据；找不到相应原词时，把断言降低为问题、可能或文本未写。
【听者任务】
听清发言依据的是哪一句诗、给人物故事增加了什么；只补遗漏或提出一处证据追问。
【证据位置】
个人无术语分组；黑板学生分法；个人两类‘原诗—写法—作用’修订
【自然切页句】
这些名字已经重新落回她的六章故事。最后不再做一张表，只留一句自己的话，再完整读一遍。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【V6.6物理状态】S06-B2｜220秒
【状态功能】
后置命名四类写法，学生独立完成两类作用说明。
【该状态学生可见文字】
六章叙事推进｜桑叶比兴与前后对照｜词句复现、回环与反折｜四言节奏、叠词与声音｜任选两类：原诗｜写法｜它怎样改变人物故事或声音
【V6.6逻辑页】S06｜逻辑页45｜12分钟
【前页输入】
学生已经完成前页任务，手中保留与“桑叶沃若/黄而陨、两声于嗟由斑鸠到女子、信誓/反/不思在末章回来的三组原句”有关的原词或初稿。
【唯一困难】
学生容易看见“桑叶沃若/黄而陨、两声于嗟由斑鸠到女子、信誓/反/不思在末章回来的三组原句”，却不能把它准确接回人物和前后故事。
【唯一功能】
把逐句体验收成叙事推进、桑叶比兴与对照、词句复现反折、四言叠词与声音四类知识，并说明写法怎样改变人物故事。
【文学对象】
桑叶沃若/黄而陨、两声于嗟由斑鸠到女子、信誓/反/不思在末章回来的三组原句
【信息状态】
只给知识检索类别，不给代表原句和作用答案；教师术语提升在小组补例以后。
【学生主动作】
观察已读例句并自拟分组；比较黑板分法后由教师命名，再独立完成两类
【参与路径】
个人先形成；需要交流时并行同桌或四人轮说；全班只公开少量有差异材料。
【可见产物】
学生分组、教师后置知识图和个人两类说明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S08带走一处语言发现
【正常反例】
想不起、无新增、已经准确、不同意或暂时沉默均有诚实完成路径，不要求伪造改变。
【主视觉职责】
关系线与原词
【插图资格】
无
【第一人称接收】
我刚才面对“桑叶沃若/黄而陨、两声于嗟由斑鸠到女子、信誓/反/不思在末章回来的三组原句”，留下了学生分组、教师后置知识图和个人两类说明；我能用原词说清自己新增或修正的理解。
【故事回接】
页面结束前由一句自然复述回到谁做了什么、人物处境怎样变化以及故事推进到哪里。
【删除损失】
删除会使知识只散落在活动里
【相邻反证】
相邻页不同时处理“学生容易看见“桑叶沃若/黄而陨、两声于嗟由斑鸠到女子、信誓/反/不思在末章回来的三组原句”，却不能把它准确接回人物和前后故事。”；合并会挤掉必要首答、校准或故事回接。
【失败信号】
学生只能复述活动手续，不能复述诗意；首答前已经看见完成关系或答案；产物在后页没有真实消费者
【教师逐字稿】
先不看术语。屏幕上只有已经读过的材料：六章事件变化；‘桑之未落／桑之落矣’和鸠、女句；两个‘老’、两个‘反’及淇水复现；涟涟、汤汤、晏晏、旦旦。每个人先选两组你认为可以放在一起的材料，写共同点和它们怎样改变故事或声音。（等待。）四组各把一种分法写到黑板，不给标准名称。全班看黑板：哪些分法其实在看同一种写法，哪些仍混在一起？教师此时后置命名：六章叙事推进；桑叶比兴与前后对照；词句复现、回环和反折；四言节奏、叠词与声音。每一类都必须带一处原诗和作用。最后每个人任选两类，合书写‘原诗—写法—它怎样改变人物故事或声音’，开书返诗修正。
【真实场景】
屏幕只留下此刻要面对的原诗、问题或学生真实作品；教师说完邀请后退开，让阅读、表达和等待真实发生。
（教师承接前页）
（学生先独立形成）
（同伴限定倾听）
（教师据真实材料校准）
（学生亲自修订）
（自然切页）
【时间盒】
无术语例句观察和个人分组：190秒；四组黑板分法：150秒；全班比较学生分法：100秒；教师后置命名和准确提升：115秒；个人两类说明和返诗修订：165秒
【现场分支】
暂时没有答案：允许先圈出最确定的一处原词，用不完整但真实的话开口；没有新增也可如实保留。
判断越过原诗：请指出依据；找不到相应原词时，把断言降低为问题、可能或文本未写。
【听者任务】
听清发言依据的是哪一句诗、给人物故事增加了什么；只补遗漏或提出一处证据追问。
【证据位置】
个人无术语分组；黑板学生分法；个人两类‘原诗—写法—作用’修订
【自然切页句】
这些名字已经重新落回她的六章故事。最后不再做一张表，只留一句自己的话，再完整读一遍。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【V6.6物理状态】S08-A｜420秒
【状态功能】
每人只留下一个改变或问题，再让全诗完整响起并安静结束。
【该状态学生可见文字】
读完《氓》｜一处改变最大的理解｜一处最想带走的语言发现｜一个仍愿意追问的问题｜从“氓之蚩蚩”读到“亦已焉哉”
【V6.6逻辑页】S08｜逻辑页46｜7分钟
【前页输入】
学生已经完成前页任务，手中保留与“S01—S04的个人答案、S07知识清单、《氓》全文及学生仍愿保留的真实问题”有关的原词或初稿。
【唯一困难】
学生容易看见“S01—S04的个人答案、S07知识清单、《氓》全文及学生仍愿保留的真实问题”，却不能把它准确接回人物和前后故事。
【唯一功能】
每人只留下一个改变或问题，再让全诗完整响起并安静结束。
【文学对象】
S01—S04的个人答案、S07知识清单、《氓》全文及学生仍愿保留的真实问题
【信息状态】
首答前只给原诗、必要字面和一个自然问题；解释、分类、关系与代表答案在学生首稿后出现。
【学生主动作】
三选一留下真实终课句；至少180秒完整朗读
【参与路径】
个人先形成；需要交流时并行同桌或四人轮说；全班只公开少量有差异材料。
【可见产物】
个人终课句和完整终读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真实试教评估
【正常反例】
没有发生明显改变者可选语言发现或真实问题，不伪造改变。
【主视觉职责】
原诗与留白
【插图资格】
无
【第一人称接收】
我刚才面对“S01—S04的个人答案、S07知识清单、《氓》全文及学生仍愿保留的真实问题”，留下了个人终课句和完整终读；我能用原词说清自己新增或修正的理解。
【故事回接】
页面结束前由一句自然复述回到谁做了什么、人物处境怎样变化以及故事推进到哪里。
【删除损失】
删除会失去个人出口和整体声音
【相邻反证】
相邻页不同时处理“学生容易看见“S01—S04的个人答案、S07知识清单、《氓》全文及学生仍愿保留的真实问题”，却不能把它准确接回人物和前后故事。”；合并会挤掉必要首答、校准或故事回接。
【失败信号】
学生只能复述活动手续，不能复述诗意；首答前已经看见完成关系或答案；产物在后页没有真实消费者
【教师逐字稿】
请把前面的学习材料轻轻合在一起，不再抄写三问答案、关系支点和知识图。最后只做一个选择：写下一处改变最大的理解，或者留下一个你仍愿意追问的问题。可以关于女子、男子、婚姻结构，也可以关于桑叶、叠词、叙事声音；只要是真实的，不必把两项都写满。（教师安静等待。）我请两三位同学读出自己的那一句，听众不评价、不补充，只让不同的声音并排留下。现在翻回全文，先看一眼你刚才在字词检索中圈出的终读提醒。接下来至少三分钟，从‘氓之蚩蚩’连续读到‘亦已焉哉’，中途不切屏、不插问、不总结。读到末句以后，教师和学生一起停住，让沉默真正发生。我们不追加一条口号，也不替这位女子续写诗中没有写出的后来。她的声音落在这里，课也落在这里。
【真实场景】
屏幕只保留此刻要读的原诗、问题或学生现场作品；教师在说完邀请后退到侧面，把阅读、书写和沉默真实还给学生。
（教师承接前页）
（学生完成主动作）
（公开少量真实材料）
（教师据原诗归纳）
（自然切页）
【时间盒】
完整课堂过程：420秒
【现场分支】
暂时没有答案：允许先回到原句圈出最确定的一处，再用不完整但真实的话开口。
判断越过原诗：请说出依据；找不到相应原词时，把断言降为问题或可能。
【听者任务】
听清发言引用了哪一句诗、给人物故事增加了什么；只补遗漏，不替发言者重写答案。
【证据位置】
个人终课一句与完整终读
【自然切页句】
（‘亦已焉哉’落下。教师停顿，不追加口号。）下课。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初见</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01</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800" b="1" dirty="0">
                <a:solidFill>
                  <a:srgbClr val="29241F"/>
                </a:solidFill>
                <a:latin typeface="Noto Serif CJK SC" pitchFamily="34" charset="0"/>
                <a:ea typeface="Noto Serif CJK SC" pitchFamily="34" charset="-122"/>
                <a:cs typeface="Noto Serif CJK SC" pitchFamily="34" charset="-120"/>
              </a:rPr>
              <a:t>我们还记得哪些爱情与婚姻故事？</a:t>
            </a:r>
            <a:endParaRPr lang="en-US" sz="3800" dirty="0"/>
          </a:p>
        </p:txBody>
      </p:sp>
      <p:sp>
        <p:nvSpPr>
          <p:cNvPr id="6" name="Text 4"/>
          <p:cNvSpPr/>
          <p:nvPr/>
        </p:nvSpPr>
        <p:spPr>
          <a:xfrm>
            <a:off x="914400" y="1417320"/>
            <a:ext cx="10360152" cy="658368"/>
          </a:xfrm>
          <a:prstGeom prst="rect">
            <a:avLst/>
          </a:prstGeom>
          <a:noFill/>
          <a:ln/>
        </p:spPr>
        <p:txBody>
          <a:bodyPr wrap="square" lIns="0" tIns="0" rIns="0" bIns="0" rtlCol="0" anchor="ctr"/>
          <a:lstStyle/>
          <a:p>
            <a:pPr algn="ctr" indent="0" marL="0">
              <a:buNone/>
            </a:pPr>
            <a:r>
              <a:rPr lang="en-US" sz="2400" b="1" dirty="0">
                <a:solidFill>
                  <a:srgbClr val="A67F4A"/>
                </a:solidFill>
                <a:latin typeface="Noto Serif CJK SC" pitchFamily="34" charset="0"/>
                <a:ea typeface="Noto Serif CJK SC" pitchFamily="34" charset="-122"/>
                <a:cs typeface="Noto Serif CJK SC" pitchFamily="34" charset="-120"/>
              </a:rPr>
              <a:t>从小学想到高中：课文、小说、整本书……</a:t>
            </a:r>
            <a:endParaRPr lang="en-US" sz="2400" dirty="0"/>
          </a:p>
        </p:txBody>
      </p:sp>
      <p:sp>
        <p:nvSpPr>
          <p:cNvPr id="7" name="Text 5"/>
          <p:cNvSpPr/>
          <p:nvPr/>
        </p:nvSpPr>
        <p:spPr>
          <a:xfrm>
            <a:off x="960120" y="2148840"/>
            <a:ext cx="3108960" cy="411480"/>
          </a:xfrm>
          <a:prstGeom prst="rect">
            <a:avLst/>
          </a:prstGeom>
          <a:noFill/>
          <a:ln/>
        </p:spPr>
        <p:txBody>
          <a:bodyPr wrap="square" lIns="0" tIns="0" rIns="0" bIns="0" rtlCol="0" anchor="ctr"/>
          <a:lstStyle/>
          <a:p>
            <a:pPr indent="0" marL="0">
              <a:buNone/>
            </a:pPr>
            <a:r>
              <a:rPr lang="en-US" sz="2400" b="1" dirty="0">
                <a:solidFill>
                  <a:srgbClr val="51483F"/>
                </a:solidFill>
                <a:latin typeface="Noto Serif CJK SC" pitchFamily="34" charset="0"/>
                <a:ea typeface="Noto Serif CJK SC" pitchFamily="34" charset="-122"/>
                <a:cs typeface="Noto Serif CJK SC" pitchFamily="34" charset="-120"/>
              </a:rPr>
              <a:t>篇名</a:t>
            </a:r>
            <a:endParaRPr lang="en-US" sz="2400" dirty="0"/>
          </a:p>
        </p:txBody>
      </p:sp>
      <p:sp>
        <p:nvSpPr>
          <p:cNvPr id="8" name="Shape 6"/>
          <p:cNvSpPr/>
          <p:nvPr/>
        </p:nvSpPr>
        <p:spPr>
          <a:xfrm>
            <a:off x="3977640" y="2514600"/>
            <a:ext cx="6903720" cy="0"/>
          </a:xfrm>
          <a:prstGeom prst="line">
            <a:avLst/>
          </a:prstGeom>
          <a:noFill/>
          <a:ln w="17780">
            <a:solidFill>
              <a:srgbClr val="DED0BC"/>
            </a:solidFill>
            <a:prstDash val="solid"/>
          </a:ln>
        </p:spPr>
      </p:sp>
      <p:sp>
        <p:nvSpPr>
          <p:cNvPr id="9" name="Text 7"/>
          <p:cNvSpPr/>
          <p:nvPr/>
        </p:nvSpPr>
        <p:spPr>
          <a:xfrm>
            <a:off x="960120" y="3182112"/>
            <a:ext cx="3108960" cy="411480"/>
          </a:xfrm>
          <a:prstGeom prst="rect">
            <a:avLst/>
          </a:prstGeom>
          <a:noFill/>
          <a:ln/>
        </p:spPr>
        <p:txBody>
          <a:bodyPr wrap="square" lIns="0" tIns="0" rIns="0" bIns="0" rtlCol="0" anchor="ctr"/>
          <a:lstStyle/>
          <a:p>
            <a:pPr indent="0" marL="0">
              <a:buNone/>
            </a:pPr>
            <a:r>
              <a:rPr lang="en-US" sz="2400" b="1" dirty="0">
                <a:solidFill>
                  <a:srgbClr val="51483F"/>
                </a:solidFill>
                <a:latin typeface="Noto Serif CJK SC" pitchFamily="34" charset="0"/>
                <a:ea typeface="Noto Serif CJK SC" pitchFamily="34" charset="-122"/>
                <a:cs typeface="Noto Serif CJK SC" pitchFamily="34" charset="-120"/>
              </a:rPr>
              <a:t>用一句话唤回故事</a:t>
            </a:r>
            <a:endParaRPr lang="en-US" sz="2400" dirty="0"/>
          </a:p>
        </p:txBody>
      </p:sp>
      <p:sp>
        <p:nvSpPr>
          <p:cNvPr id="10" name="Shape 8"/>
          <p:cNvSpPr/>
          <p:nvPr/>
        </p:nvSpPr>
        <p:spPr>
          <a:xfrm>
            <a:off x="3977640" y="3547872"/>
            <a:ext cx="6903720" cy="0"/>
          </a:xfrm>
          <a:prstGeom prst="line">
            <a:avLst/>
          </a:prstGeom>
          <a:noFill/>
          <a:ln w="17780">
            <a:solidFill>
              <a:srgbClr val="DED0BC"/>
            </a:solidFill>
            <a:prstDash val="solid"/>
          </a:ln>
        </p:spPr>
      </p:sp>
      <p:sp>
        <p:nvSpPr>
          <p:cNvPr id="11" name="Text 9"/>
          <p:cNvSpPr/>
          <p:nvPr/>
        </p:nvSpPr>
        <p:spPr>
          <a:xfrm>
            <a:off x="960120" y="4215384"/>
            <a:ext cx="3108960" cy="411480"/>
          </a:xfrm>
          <a:prstGeom prst="rect">
            <a:avLst/>
          </a:prstGeom>
          <a:noFill/>
          <a:ln/>
        </p:spPr>
        <p:txBody>
          <a:bodyPr wrap="square" lIns="0" tIns="0" rIns="0" bIns="0" rtlCol="0" anchor="ctr"/>
          <a:lstStyle/>
          <a:p>
            <a:pPr indent="0" marL="0">
              <a:buNone/>
            </a:pPr>
            <a:r>
              <a:rPr lang="en-US" sz="2400" b="1" dirty="0">
                <a:solidFill>
                  <a:srgbClr val="725260"/>
                </a:solidFill>
                <a:latin typeface="Noto Serif CJK SC" pitchFamily="34" charset="0"/>
                <a:ea typeface="Noto Serif CJK SC" pitchFamily="34" charset="-122"/>
                <a:cs typeface="Noto Serif CJK SC" pitchFamily="34" charset="-120"/>
              </a:rPr>
              <a:t>它写到爱情或婚姻中的什么？</a:t>
            </a:r>
            <a:endParaRPr lang="en-US" sz="2400" dirty="0"/>
          </a:p>
        </p:txBody>
      </p:sp>
      <p:sp>
        <p:nvSpPr>
          <p:cNvPr id="12" name="Shape 10"/>
          <p:cNvSpPr/>
          <p:nvPr/>
        </p:nvSpPr>
        <p:spPr>
          <a:xfrm>
            <a:off x="3977640" y="4581144"/>
            <a:ext cx="6903720" cy="0"/>
          </a:xfrm>
          <a:prstGeom prst="line">
            <a:avLst/>
          </a:prstGeom>
          <a:noFill/>
          <a:ln w="17780">
            <a:solidFill>
              <a:srgbClr val="E9DDE2"/>
            </a:solidFill>
            <a:prstDash val="solid"/>
          </a:ln>
        </p:spPr>
      </p:sp>
      <p:sp>
        <p:nvSpPr>
          <p:cNvPr id="13" name="Text 11"/>
          <p:cNvSpPr/>
          <p:nvPr/>
        </p:nvSpPr>
        <p:spPr>
          <a:xfrm>
            <a:off x="914400" y="5715000"/>
            <a:ext cx="10360152" cy="658368"/>
          </a:xfrm>
          <a:prstGeom prst="rect">
            <a:avLst/>
          </a:prstGeom>
          <a:noFill/>
          <a:ln/>
        </p:spPr>
        <p:txBody>
          <a:bodyPr wrap="square" lIns="0" tIns="0" rIns="0" bIns="0" rtlCol="0" anchor="ct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先写你真正记得的一篇；想起新的，再添下去。</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初见</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02</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800" b="1" dirty="0">
                <a:solidFill>
                  <a:srgbClr val="FFFDFC"/>
                </a:solidFill>
                <a:latin typeface="Noto Serif CJK SC" pitchFamily="34" charset="0"/>
                <a:ea typeface="Noto Serif CJK SC" pitchFamily="34" charset="-122"/>
                <a:cs typeface="Noto Serif CJK SC" pitchFamily="34" charset="-120"/>
              </a:rPr>
              <a:t>一间教室，能想起多少种爱情与婚姻？</a:t>
            </a:r>
            <a:endParaRPr lang="en-US" sz="3800" dirty="0"/>
          </a:p>
        </p:txBody>
      </p:sp>
      <p:sp>
        <p:nvSpPr>
          <p:cNvPr id="6" name="Text 4"/>
          <p:cNvSpPr/>
          <p:nvPr/>
        </p:nvSpPr>
        <p:spPr>
          <a:xfrm>
            <a:off x="914400" y="1965960"/>
            <a:ext cx="10332720" cy="777240"/>
          </a:xfrm>
          <a:prstGeom prst="rect">
            <a:avLst/>
          </a:prstGeom>
          <a:noFill/>
          <a:ln/>
        </p:spPr>
        <p:txBody>
          <a:bodyPr wrap="square" lIns="0" tIns="0" rIns="0" bIns="0" rtlCol="0" anchor="ctr"/>
          <a:lstStyle/>
          <a:p>
            <a:pPr algn="ctr" indent="0" marL="0">
              <a:buNone/>
            </a:pPr>
            <a:r>
              <a:rPr lang="en-US" sz="3400" b="1" dirty="0">
                <a:solidFill>
                  <a:srgbClr val="EFE3CF"/>
                </a:solidFill>
                <a:latin typeface="Noto Serif CJK SC" pitchFamily="34" charset="0"/>
                <a:ea typeface="Noto Serif CJK SC" pitchFamily="34" charset="-122"/>
                <a:cs typeface="Noto Serif CJK SC" pitchFamily="34" charset="-120"/>
              </a:rPr>
              <a:t>《　　　　　　》写的是　　　　　　　　　　　　　　。</a:t>
            </a:r>
            <a:endParaRPr lang="en-US" sz="3400" dirty="0"/>
          </a:p>
        </p:txBody>
      </p:sp>
      <p:sp>
        <p:nvSpPr>
          <p:cNvPr id="7" name="Shape 5"/>
          <p:cNvSpPr/>
          <p:nvPr/>
        </p:nvSpPr>
        <p:spPr>
          <a:xfrm>
            <a:off x="1097280" y="3154680"/>
            <a:ext cx="9966960" cy="0"/>
          </a:xfrm>
          <a:prstGeom prst="line">
            <a:avLst/>
          </a:prstGeom>
          <a:noFill/>
          <a:ln w="13970">
            <a:solidFill>
              <a:srgbClr val="C5B39B"/>
            </a:solidFill>
            <a:prstDash val="solid"/>
          </a:ln>
        </p:spPr>
      </p:sp>
      <p:sp>
        <p:nvSpPr>
          <p:cNvPr id="8" name="Text 6"/>
          <p:cNvSpPr/>
          <p:nvPr/>
        </p:nvSpPr>
        <p:spPr>
          <a:xfrm>
            <a:off x="914400" y="4069080"/>
            <a:ext cx="10360152" cy="658368"/>
          </a:xfrm>
          <a:prstGeom prst="rect">
            <a:avLst/>
          </a:prstGeom>
          <a:noFill/>
          <a:ln/>
        </p:spPr>
        <p:txBody>
          <a:bodyPr wrap="square" lIns="0" tIns="0" rIns="0" bIns="0" rtlCol="0" anchor="ctr"/>
          <a:lstStyle/>
          <a:p>
            <a:pPr algn="ctr" indent="0" marL="0">
              <a:buNone/>
            </a:pPr>
            <a:r>
              <a:rPr lang="en-US" sz="2800" b="1" dirty="0">
                <a:solidFill>
                  <a:srgbClr val="DCE9E8"/>
                </a:solidFill>
                <a:latin typeface="Noto Serif CJK SC" pitchFamily="34" charset="0"/>
                <a:ea typeface="Noto Serif CJK SC" pitchFamily="34" charset="-122"/>
                <a:cs typeface="Noto Serif CJK SC" pitchFamily="34" charset="-120"/>
              </a:rPr>
              <a:t>听见一篇自己没有想到的，就把它添进自己的清单。</a:t>
            </a:r>
            <a:endParaRPr lang="en-US"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初见</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03</a:t>
            </a:r>
            <a:endParaRPr lang="en-US" sz="1450" dirty="0"/>
          </a:p>
        </p:txBody>
      </p:sp>
      <p:sp>
        <p:nvSpPr>
          <p:cNvPr id="5" name="Text 3"/>
          <p:cNvSpPr/>
          <p:nvPr/>
        </p:nvSpPr>
        <p:spPr>
          <a:xfrm>
            <a:off x="1371600" y="1737360"/>
            <a:ext cx="9445752" cy="1371600"/>
          </a:xfrm>
          <a:prstGeom prst="rect">
            <a:avLst/>
          </a:prstGeom>
          <a:noFill/>
          <a:ln/>
        </p:spPr>
        <p:txBody>
          <a:bodyPr wrap="square" lIns="0" tIns="0" rIns="0" bIns="0" rtlCol="0" anchor="ctr"/>
          <a:lstStyle/>
          <a:p>
            <a:pPr algn="ctr" indent="0" marL="0">
              <a:buNone/>
            </a:pPr>
            <a:r>
              <a:rPr lang="en-US" sz="8000" b="1" dirty="0">
                <a:solidFill>
                  <a:srgbClr val="FFFDFC"/>
                </a:solidFill>
                <a:latin typeface="Noto Serif CJK SC" pitchFamily="34" charset="0"/>
                <a:ea typeface="Noto Serif CJK SC" pitchFamily="34" charset="-122"/>
                <a:cs typeface="Noto Serif CJK SC" pitchFamily="34" charset="-120"/>
              </a:rPr>
              <a:t>氓</a:t>
            </a:r>
            <a:endParaRPr lang="en-US" sz="8000" dirty="0"/>
          </a:p>
        </p:txBody>
      </p:sp>
      <p:sp>
        <p:nvSpPr>
          <p:cNvPr id="6" name="Text 4"/>
          <p:cNvSpPr/>
          <p:nvPr/>
        </p:nvSpPr>
        <p:spPr>
          <a:xfrm>
            <a:off x="4114800" y="3246120"/>
            <a:ext cx="3959352" cy="411480"/>
          </a:xfrm>
          <a:prstGeom prst="rect">
            <a:avLst/>
          </a:prstGeom>
          <a:noFill/>
          <a:ln/>
        </p:spPr>
        <p:txBody>
          <a:bodyPr wrap="square" lIns="0" tIns="0" rIns="0" bIns="0" rtlCol="0" anchor="ctr"/>
          <a:lstStyle/>
          <a:p>
            <a:pPr algn="ctr" indent="0" marL="0">
              <a:buNone/>
            </a:pPr>
            <a:r>
              <a:rPr lang="en-US" sz="2200" spc="300" kern="0" dirty="0">
                <a:solidFill>
                  <a:srgbClr val="EFE3CF"/>
                </a:solidFill>
                <a:latin typeface="Noto Sans CJK SC" pitchFamily="34" charset="0"/>
                <a:ea typeface="Noto Sans CJK SC" pitchFamily="34" charset="-122"/>
                <a:cs typeface="Noto Sans CJK SC" pitchFamily="34" charset="-120"/>
              </a:rPr>
              <a:t>méng</a:t>
            </a:r>
            <a:endParaRPr lang="en-US" sz="2200" dirty="0"/>
          </a:p>
        </p:txBody>
      </p:sp>
      <p:sp>
        <p:nvSpPr>
          <p:cNvPr id="7" name="Text 5"/>
          <p:cNvSpPr/>
          <p:nvPr/>
        </p:nvSpPr>
        <p:spPr>
          <a:xfrm>
            <a:off x="2926080" y="4206240"/>
            <a:ext cx="6336792" cy="502920"/>
          </a:xfrm>
          <a:prstGeom prst="rect">
            <a:avLst/>
          </a:prstGeom>
          <a:noFill/>
          <a:ln/>
        </p:spPr>
        <p:txBody>
          <a:bodyPr wrap="square" lIns="0" tIns="0" rIns="0" bIns="0" rtlCol="0" anchor="ctr"/>
          <a:lstStyle/>
          <a:p>
            <a:pPr algn="ctr" indent="0" marL="0">
              <a:buNone/>
            </a:pPr>
            <a:r>
              <a:rPr lang="en-US" sz="2800" dirty="0">
                <a:solidFill>
                  <a:srgbClr val="DED0BC"/>
                </a:solidFill>
                <a:latin typeface="Noto Serif CJK SC" pitchFamily="34" charset="0"/>
                <a:ea typeface="Noto Serif CJK SC" pitchFamily="34" charset="-122"/>
                <a:cs typeface="Noto Serif CJK SC" pitchFamily="34" charset="-120"/>
              </a:rPr>
              <a:t>《诗经·卫风》</a:t>
            </a:r>
            <a:endParaRPr lang="en-US"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初见</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04</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《诗经》</a:t>
            </a:r>
            <a:endParaRPr lang="en-US" sz="3400" dirty="0"/>
          </a:p>
        </p:txBody>
      </p:sp>
      <p:sp>
        <p:nvSpPr>
          <p:cNvPr id="6" name="Shape 4"/>
          <p:cNvSpPr/>
          <p:nvPr/>
        </p:nvSpPr>
        <p:spPr>
          <a:xfrm>
            <a:off x="749808" y="1600200"/>
            <a:ext cx="2487168" cy="1234440"/>
          </a:xfrm>
          <a:prstGeom prst="roundRect">
            <a:avLst>
              <a:gd name="adj" fmla="val 2963"/>
            </a:avLst>
          </a:prstGeom>
          <a:solidFill>
            <a:srgbClr val="EFE3CF"/>
          </a:solidFill>
          <a:ln w="13335">
            <a:solidFill>
              <a:srgbClr val="A67F4A"/>
            </a:solidFill>
            <a:prstDash val="solid"/>
          </a:ln>
        </p:spPr>
      </p:sp>
      <p:sp>
        <p:nvSpPr>
          <p:cNvPr id="7" name="Text 5"/>
          <p:cNvSpPr/>
          <p:nvPr/>
        </p:nvSpPr>
        <p:spPr>
          <a:xfrm>
            <a:off x="896112" y="1929384"/>
            <a:ext cx="2194560" cy="585216"/>
          </a:xfrm>
          <a:prstGeom prst="rect">
            <a:avLst/>
          </a:prstGeom>
          <a:noFill/>
          <a:ln/>
        </p:spPr>
        <p:txBody>
          <a:bodyPr wrap="square" lIns="0" tIns="0" rIns="0" bIns="0" rtlCol="0" anchor="ctr">
            <a:normAutofit/>
          </a:bodyP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我国第一部诗歌总集｜305篇</a:t>
            </a:r>
            <a:endParaRPr lang="en-US" sz="2400" dirty="0"/>
          </a:p>
        </p:txBody>
      </p:sp>
      <p:sp>
        <p:nvSpPr>
          <p:cNvPr id="8" name="Shape 6"/>
          <p:cNvSpPr/>
          <p:nvPr/>
        </p:nvSpPr>
        <p:spPr>
          <a:xfrm>
            <a:off x="3584448" y="1600200"/>
            <a:ext cx="2487168" cy="1234440"/>
          </a:xfrm>
          <a:prstGeom prst="roundRect">
            <a:avLst>
              <a:gd name="adj" fmla="val 2963"/>
            </a:avLst>
          </a:prstGeom>
          <a:solidFill>
            <a:srgbClr val="DCE9E8"/>
          </a:solidFill>
          <a:ln w="13335">
            <a:solidFill>
              <a:srgbClr val="446E78"/>
            </a:solidFill>
            <a:prstDash val="solid"/>
          </a:ln>
        </p:spPr>
      </p:sp>
      <p:sp>
        <p:nvSpPr>
          <p:cNvPr id="9" name="Text 7"/>
          <p:cNvSpPr/>
          <p:nvPr/>
        </p:nvSpPr>
        <p:spPr>
          <a:xfrm>
            <a:off x="3730752" y="1929384"/>
            <a:ext cx="2194560" cy="585216"/>
          </a:xfrm>
          <a:prstGeom prst="rect">
            <a:avLst/>
          </a:prstGeom>
          <a:noFill/>
          <a:ln/>
        </p:spPr>
        <p:txBody>
          <a:bodyPr wrap="square" lIns="0" tIns="0" rIns="0" bIns="0" rtlCol="0" anchor="ctr">
            <a:normAutofit/>
          </a:bodyP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西周初年至春秋中叶</a:t>
            </a:r>
            <a:endParaRPr lang="en-US" sz="2400" dirty="0"/>
          </a:p>
        </p:txBody>
      </p:sp>
      <p:sp>
        <p:nvSpPr>
          <p:cNvPr id="10" name="Shape 8"/>
          <p:cNvSpPr/>
          <p:nvPr/>
        </p:nvSpPr>
        <p:spPr>
          <a:xfrm>
            <a:off x="6419088" y="1600200"/>
            <a:ext cx="2487168" cy="1234440"/>
          </a:xfrm>
          <a:prstGeom prst="roundRect">
            <a:avLst>
              <a:gd name="adj" fmla="val 2963"/>
            </a:avLst>
          </a:prstGeom>
          <a:solidFill>
            <a:srgbClr val="E1E7D9"/>
          </a:solidFill>
          <a:ln w="13335">
            <a:solidFill>
              <a:srgbClr val="657653"/>
            </a:solidFill>
            <a:prstDash val="solid"/>
          </a:ln>
        </p:spPr>
      </p:sp>
      <p:sp>
        <p:nvSpPr>
          <p:cNvPr id="11" name="Text 9"/>
          <p:cNvSpPr/>
          <p:nvPr/>
        </p:nvSpPr>
        <p:spPr>
          <a:xfrm>
            <a:off x="6565392" y="1929384"/>
            <a:ext cx="2194560" cy="585216"/>
          </a:xfrm>
          <a:prstGeom prst="rect">
            <a:avLst/>
          </a:prstGeom>
          <a:noFill/>
          <a:ln/>
        </p:spPr>
        <p:txBody>
          <a:bodyPr wrap="square" lIns="0" tIns="0" rIns="0" bIns="0" rtlCol="0" anchor="ctr">
            <a:normAutofit/>
          </a:bodyP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风　雅　颂</a:t>
            </a:r>
            <a:endParaRPr lang="en-US" sz="2400" dirty="0"/>
          </a:p>
        </p:txBody>
      </p:sp>
      <p:sp>
        <p:nvSpPr>
          <p:cNvPr id="12" name="Shape 10"/>
          <p:cNvSpPr/>
          <p:nvPr/>
        </p:nvSpPr>
        <p:spPr>
          <a:xfrm>
            <a:off x="9253728" y="1600200"/>
            <a:ext cx="2487168" cy="1234440"/>
          </a:xfrm>
          <a:prstGeom prst="roundRect">
            <a:avLst>
              <a:gd name="adj" fmla="val 2963"/>
            </a:avLst>
          </a:prstGeom>
          <a:solidFill>
            <a:srgbClr val="E9DDE2"/>
          </a:solidFill>
          <a:ln w="13335">
            <a:solidFill>
              <a:srgbClr val="725260"/>
            </a:solidFill>
            <a:prstDash val="solid"/>
          </a:ln>
        </p:spPr>
      </p:sp>
      <p:sp>
        <p:nvSpPr>
          <p:cNvPr id="13" name="Text 11"/>
          <p:cNvSpPr/>
          <p:nvPr/>
        </p:nvSpPr>
        <p:spPr>
          <a:xfrm>
            <a:off x="9400032" y="1929384"/>
            <a:ext cx="2194560" cy="585216"/>
          </a:xfrm>
          <a:prstGeom prst="rect">
            <a:avLst/>
          </a:prstGeom>
          <a:noFill/>
          <a:ln/>
        </p:spPr>
        <p:txBody>
          <a:bodyPr wrap="square" lIns="0" tIns="0" rIns="0" bIns="0" rtlCol="0" anchor="ctr">
            <a:normAutofit/>
          </a:bodyP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《氓》在《卫风》里</a:t>
            </a:r>
            <a:endParaRPr lang="en-US" sz="2400" dirty="0"/>
          </a:p>
        </p:txBody>
      </p:sp>
      <p:sp>
        <p:nvSpPr>
          <p:cNvPr id="14" name="Text 12"/>
          <p:cNvSpPr/>
          <p:nvPr/>
        </p:nvSpPr>
        <p:spPr>
          <a:xfrm>
            <a:off x="1005840" y="3520440"/>
            <a:ext cx="10149840" cy="594360"/>
          </a:xfrm>
          <a:prstGeom prst="rect">
            <a:avLst/>
          </a:prstGeom>
          <a:noFill/>
          <a:ln/>
        </p:spPr>
        <p:txBody>
          <a:bodyPr wrap="square" lIns="0" tIns="0" rIns="0" bIns="0" rtlCol="0" anchor="ctr"/>
          <a:lstStyle/>
          <a:p>
            <a:pPr algn="ctr" indent="0" marL="0">
              <a:buNone/>
            </a:pPr>
            <a:r>
              <a:rPr lang="en-US" sz="3200" b="1" dirty="0">
                <a:solidFill>
                  <a:srgbClr val="725260"/>
                </a:solidFill>
                <a:latin typeface="Noto Serif CJK SC" pitchFamily="34" charset="0"/>
                <a:ea typeface="Noto Serif CJK SC" pitchFamily="34" charset="-122"/>
                <a:cs typeface="Noto Serif CJK SC" pitchFamily="34" charset="-120"/>
              </a:rPr>
              <a:t>赋、比、兴——先记住名字，后面会真正遇见。</a:t>
            </a:r>
            <a:endParaRPr lang="en-US" sz="3200" dirty="0"/>
          </a:p>
        </p:txBody>
      </p:sp>
      <p:sp>
        <p:nvSpPr>
          <p:cNvPr id="15" name="Text 13"/>
          <p:cNvSpPr/>
          <p:nvPr/>
        </p:nvSpPr>
        <p:spPr>
          <a:xfrm>
            <a:off x="914400" y="4754880"/>
            <a:ext cx="10360152" cy="658368"/>
          </a:xfrm>
          <a:prstGeom prst="rect">
            <a:avLst/>
          </a:prstGeom>
          <a:noFill/>
          <a:ln/>
        </p:spPr>
        <p:txBody>
          <a:bodyPr wrap="square" lIns="0" tIns="0" rIns="0" bIns="0" rtlCol="0" anchor="ctr"/>
          <a:lstStyle/>
          <a:p>
            <a:pPr algn="ctr" indent="0" marL="0">
              <a:buNone/>
            </a:pPr>
            <a:endParaRPr lang="en-US" sz="2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初见</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05</a:t>
            </a:r>
            <a:endParaRPr lang="en-US" sz="1450" dirty="0"/>
          </a:p>
        </p:txBody>
      </p:sp>
      <p:sp>
        <p:nvSpPr>
          <p:cNvPr id="5" name="Text 3"/>
          <p:cNvSpPr/>
          <p:nvPr/>
        </p:nvSpPr>
        <p:spPr>
          <a:xfrm>
            <a:off x="10104120" y="292608"/>
            <a:ext cx="502920" cy="256032"/>
          </a:xfrm>
          <a:prstGeom prst="rect">
            <a:avLst/>
          </a:prstGeom>
          <a:noFill/>
          <a:ln/>
        </p:spPr>
        <p:txBody>
          <a:bodyPr wrap="square" lIns="0" tIns="0" rIns="0" bIns="0" rtlCol="0" anchor="ctr"/>
          <a:lstStyle/>
          <a:p>
            <a:pPr algn="r" indent="0" marL="0">
              <a:buNone/>
            </a:pPr>
            <a:r>
              <a:rPr lang="en-US" sz="1350" b="1" dirty="0">
                <a:solidFill>
                  <a:srgbClr val="C5B39B"/>
                </a:solidFill>
                <a:latin typeface="Noto Sans CJK SC" pitchFamily="34" charset="0"/>
                <a:ea typeface="Noto Sans CJK SC" pitchFamily="34" charset="-122"/>
                <a:cs typeface="Noto Sans CJK SC" pitchFamily="34" charset="-120"/>
              </a:rPr>
              <a:t>B1</a:t>
            </a:r>
            <a:endParaRPr lang="en-US" sz="1350" dirty="0"/>
          </a:p>
        </p:txBody>
      </p:sp>
      <p:sp>
        <p:nvSpPr>
          <p:cNvPr id="6" name="Text 4"/>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100" b="1" dirty="0">
                <a:solidFill>
                  <a:srgbClr val="FFFDFC"/>
                </a:solidFill>
                <a:latin typeface="Noto Serif CJK SC" pitchFamily="34" charset="0"/>
                <a:ea typeface="Noto Serif CJK SC" pitchFamily="34" charset="-122"/>
                <a:cs typeface="Noto Serif CJK SC" pitchFamily="34" charset="-120"/>
              </a:rPr>
              <a:t>她自己说｜第一章</a:t>
            </a:r>
            <a:endParaRPr lang="en-US" sz="3100" dirty="0"/>
          </a:p>
        </p:txBody>
      </p:sp>
      <p:sp>
        <p:nvSpPr>
          <p:cNvPr id="7" name="Shape 5"/>
          <p:cNvSpPr/>
          <p:nvPr/>
        </p:nvSpPr>
        <p:spPr>
          <a:xfrm>
            <a:off x="822960" y="1417320"/>
            <a:ext cx="10561320" cy="4526280"/>
          </a:xfrm>
          <a:prstGeom prst="roundRect">
            <a:avLst>
              <a:gd name="adj" fmla="val 808"/>
            </a:avLst>
          </a:prstGeom>
          <a:solidFill>
            <a:srgbClr val="383129"/>
          </a:solidFill>
          <a:ln w="13970">
            <a:solidFill>
              <a:srgbClr val="A67F4A"/>
            </a:solidFill>
            <a:prstDash val="solid"/>
          </a:ln>
        </p:spPr>
      </p:sp>
      <p:sp>
        <p:nvSpPr>
          <p:cNvPr id="8" name="Text 6"/>
          <p:cNvSpPr/>
          <p:nvPr/>
        </p:nvSpPr>
        <p:spPr>
          <a:xfrm>
            <a:off x="1051560" y="2692908"/>
            <a:ext cx="10104120" cy="539862"/>
          </a:xfrm>
          <a:prstGeom prst="rect">
            <a:avLst/>
          </a:prstGeom>
          <a:noFill/>
          <a:ln/>
        </p:spPr>
        <p:txBody>
          <a:bodyPr wrap="square" lIns="0" tIns="0" rIns="0" bIns="0" rtlCol="0" anchor="ctr"/>
          <a:lstStyle/>
          <a:p>
            <a:pPr algn="ctr" indent="0" marL="0">
              <a:buNone/>
            </a:pPr>
            <a:r>
              <a:rPr lang="en-US" sz="3100" dirty="0">
                <a:solidFill>
                  <a:srgbClr val="FFFDFC"/>
                </a:solidFill>
                <a:latin typeface="Noto Serif CJK SC" pitchFamily="34" charset="0"/>
                <a:ea typeface="Noto Serif CJK SC" pitchFamily="34" charset="-122"/>
                <a:cs typeface="Noto Serif CJK SC" pitchFamily="34" charset="-120"/>
              </a:rPr>
              <a:t>氓之蚩蚩，抱布贸丝。匪来贸丝，来即我谋。</a:t>
            </a:r>
            <a:endParaRPr lang="en-US" sz="3100" dirty="0"/>
          </a:p>
        </p:txBody>
      </p:sp>
      <p:sp>
        <p:nvSpPr>
          <p:cNvPr id="9" name="Text 7"/>
          <p:cNvSpPr/>
          <p:nvPr/>
        </p:nvSpPr>
        <p:spPr>
          <a:xfrm>
            <a:off x="1051560" y="3351276"/>
            <a:ext cx="10104120" cy="539862"/>
          </a:xfrm>
          <a:prstGeom prst="rect">
            <a:avLst/>
          </a:prstGeom>
          <a:noFill/>
          <a:ln/>
        </p:spPr>
        <p:txBody>
          <a:bodyPr wrap="square" lIns="0" tIns="0" rIns="0" bIns="0" rtlCol="0" anchor="ctr"/>
          <a:lstStyle/>
          <a:p>
            <a:pPr algn="ctr" indent="0" marL="0">
              <a:buNone/>
            </a:pPr>
            <a:r>
              <a:rPr lang="en-US" sz="3100" dirty="0">
                <a:solidFill>
                  <a:srgbClr val="FFFDFC"/>
                </a:solidFill>
                <a:latin typeface="Noto Serif CJK SC" pitchFamily="34" charset="0"/>
                <a:ea typeface="Noto Serif CJK SC" pitchFamily="34" charset="-122"/>
                <a:cs typeface="Noto Serif CJK SC" pitchFamily="34" charset="-120"/>
              </a:rPr>
              <a:t>送子涉淇，至于顿丘。匪我愆期，子无良媒。</a:t>
            </a:r>
            <a:endParaRPr lang="en-US" sz="3100" dirty="0"/>
          </a:p>
        </p:txBody>
      </p:sp>
      <p:sp>
        <p:nvSpPr>
          <p:cNvPr id="10" name="Text 8"/>
          <p:cNvSpPr/>
          <p:nvPr/>
        </p:nvSpPr>
        <p:spPr>
          <a:xfrm>
            <a:off x="1051560" y="4009644"/>
            <a:ext cx="10104120" cy="539862"/>
          </a:xfrm>
          <a:prstGeom prst="rect">
            <a:avLst/>
          </a:prstGeom>
          <a:noFill/>
          <a:ln/>
        </p:spPr>
        <p:txBody>
          <a:bodyPr wrap="square" lIns="0" tIns="0" rIns="0" bIns="0" rtlCol="0" anchor="ctr"/>
          <a:lstStyle/>
          <a:p>
            <a:pPr algn="ctr" indent="0" marL="0">
              <a:buNone/>
            </a:pPr>
            <a:r>
              <a:rPr lang="en-US" sz="3100" dirty="0">
                <a:solidFill>
                  <a:srgbClr val="FFFDFC"/>
                </a:solidFill>
                <a:latin typeface="Noto Serif CJK SC" pitchFamily="34" charset="0"/>
                <a:ea typeface="Noto Serif CJK SC" pitchFamily="34" charset="-122"/>
                <a:cs typeface="Noto Serif CJK SC" pitchFamily="34" charset="-120"/>
              </a:rPr>
              <a:t>将子无怒，秋以为期。</a:t>
            </a:r>
            <a:endParaRPr lang="en-US" sz="3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初见</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06</a:t>
            </a:r>
            <a:endParaRPr lang="en-US" sz="1450" dirty="0"/>
          </a:p>
        </p:txBody>
      </p:sp>
      <p:sp>
        <p:nvSpPr>
          <p:cNvPr id="5" name="Text 3"/>
          <p:cNvSpPr/>
          <p:nvPr/>
        </p:nvSpPr>
        <p:spPr>
          <a:xfrm>
            <a:off x="10104120" y="292608"/>
            <a:ext cx="502920" cy="256032"/>
          </a:xfrm>
          <a:prstGeom prst="rect">
            <a:avLst/>
          </a:prstGeom>
          <a:noFill/>
          <a:ln/>
        </p:spPr>
        <p:txBody>
          <a:bodyPr wrap="square" lIns="0" tIns="0" rIns="0" bIns="0" rtlCol="0" anchor="ctr"/>
          <a:lstStyle/>
          <a:p>
            <a:pPr algn="r" indent="0" marL="0">
              <a:buNone/>
            </a:pPr>
            <a:r>
              <a:rPr lang="en-US" sz="1350" b="1" dirty="0">
                <a:solidFill>
                  <a:srgbClr val="C5B39B"/>
                </a:solidFill>
                <a:latin typeface="Noto Sans CJK SC" pitchFamily="34" charset="0"/>
                <a:ea typeface="Noto Sans CJK SC" pitchFamily="34" charset="-122"/>
                <a:cs typeface="Noto Sans CJK SC" pitchFamily="34" charset="-120"/>
              </a:rPr>
              <a:t>B2</a:t>
            </a:r>
            <a:endParaRPr lang="en-US" sz="1350" dirty="0"/>
          </a:p>
        </p:txBody>
      </p:sp>
      <p:sp>
        <p:nvSpPr>
          <p:cNvPr id="6" name="Text 4"/>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100" b="1" dirty="0">
                <a:solidFill>
                  <a:srgbClr val="FFFDFC"/>
                </a:solidFill>
                <a:latin typeface="Noto Serif CJK SC" pitchFamily="34" charset="0"/>
                <a:ea typeface="Noto Serif CJK SC" pitchFamily="34" charset="-122"/>
                <a:cs typeface="Noto Serif CJK SC" pitchFamily="34" charset="-120"/>
              </a:rPr>
              <a:t>她自己说｜第二章</a:t>
            </a:r>
            <a:endParaRPr lang="en-US" sz="3100" dirty="0"/>
          </a:p>
        </p:txBody>
      </p:sp>
      <p:sp>
        <p:nvSpPr>
          <p:cNvPr id="7" name="Shape 5"/>
          <p:cNvSpPr/>
          <p:nvPr/>
        </p:nvSpPr>
        <p:spPr>
          <a:xfrm>
            <a:off x="822960" y="1417320"/>
            <a:ext cx="10561320" cy="4526280"/>
          </a:xfrm>
          <a:prstGeom prst="roundRect">
            <a:avLst>
              <a:gd name="adj" fmla="val 808"/>
            </a:avLst>
          </a:prstGeom>
          <a:solidFill>
            <a:srgbClr val="383129"/>
          </a:solidFill>
          <a:ln w="13970">
            <a:solidFill>
              <a:srgbClr val="A67F4A"/>
            </a:solidFill>
            <a:prstDash val="solid"/>
          </a:ln>
        </p:spPr>
      </p:sp>
      <p:sp>
        <p:nvSpPr>
          <p:cNvPr id="8" name="Text 6"/>
          <p:cNvSpPr/>
          <p:nvPr/>
        </p:nvSpPr>
        <p:spPr>
          <a:xfrm>
            <a:off x="1051560" y="2692908"/>
            <a:ext cx="10104120" cy="539862"/>
          </a:xfrm>
          <a:prstGeom prst="rect">
            <a:avLst/>
          </a:prstGeom>
          <a:noFill/>
          <a:ln/>
        </p:spPr>
        <p:txBody>
          <a:bodyPr wrap="square" lIns="0" tIns="0" rIns="0" bIns="0" rtlCol="0" anchor="ctr"/>
          <a:lstStyle/>
          <a:p>
            <a:pPr algn="ctr" indent="0" marL="0">
              <a:buNone/>
            </a:pPr>
            <a:r>
              <a:rPr lang="en-US" sz="3100" dirty="0">
                <a:solidFill>
                  <a:srgbClr val="FFFDFC"/>
                </a:solidFill>
                <a:latin typeface="Noto Serif CJK SC" pitchFamily="34" charset="0"/>
                <a:ea typeface="Noto Serif CJK SC" pitchFamily="34" charset="-122"/>
                <a:cs typeface="Noto Serif CJK SC" pitchFamily="34" charset="-120"/>
              </a:rPr>
              <a:t>乘彼垝垣，以望复关。不见复关，泣涕涟涟。</a:t>
            </a:r>
            <a:endParaRPr lang="en-US" sz="3100" dirty="0"/>
          </a:p>
        </p:txBody>
      </p:sp>
      <p:sp>
        <p:nvSpPr>
          <p:cNvPr id="9" name="Text 7"/>
          <p:cNvSpPr/>
          <p:nvPr/>
        </p:nvSpPr>
        <p:spPr>
          <a:xfrm>
            <a:off x="1051560" y="3351276"/>
            <a:ext cx="10104120" cy="539862"/>
          </a:xfrm>
          <a:prstGeom prst="rect">
            <a:avLst/>
          </a:prstGeom>
          <a:noFill/>
          <a:ln/>
        </p:spPr>
        <p:txBody>
          <a:bodyPr wrap="square" lIns="0" tIns="0" rIns="0" bIns="0" rtlCol="0" anchor="ctr"/>
          <a:lstStyle/>
          <a:p>
            <a:pPr algn="ctr" indent="0" marL="0">
              <a:buNone/>
            </a:pPr>
            <a:r>
              <a:rPr lang="en-US" sz="3100" dirty="0">
                <a:solidFill>
                  <a:srgbClr val="FFFDFC"/>
                </a:solidFill>
                <a:latin typeface="Noto Serif CJK SC" pitchFamily="34" charset="0"/>
                <a:ea typeface="Noto Serif CJK SC" pitchFamily="34" charset="-122"/>
                <a:cs typeface="Noto Serif CJK SC" pitchFamily="34" charset="-120"/>
              </a:rPr>
              <a:t>既见复关，载笑载言。尔卜尔筮，体无咎言。</a:t>
            </a:r>
            <a:endParaRPr lang="en-US" sz="3100" dirty="0"/>
          </a:p>
        </p:txBody>
      </p:sp>
      <p:sp>
        <p:nvSpPr>
          <p:cNvPr id="10" name="Text 8"/>
          <p:cNvSpPr/>
          <p:nvPr/>
        </p:nvSpPr>
        <p:spPr>
          <a:xfrm>
            <a:off x="1051560" y="4009644"/>
            <a:ext cx="10104120" cy="539862"/>
          </a:xfrm>
          <a:prstGeom prst="rect">
            <a:avLst/>
          </a:prstGeom>
          <a:noFill/>
          <a:ln/>
        </p:spPr>
        <p:txBody>
          <a:bodyPr wrap="square" lIns="0" tIns="0" rIns="0" bIns="0" rtlCol="0" anchor="ctr"/>
          <a:lstStyle/>
          <a:p>
            <a:pPr algn="ctr" indent="0" marL="0">
              <a:buNone/>
            </a:pPr>
            <a:r>
              <a:rPr lang="en-US" sz="3100" dirty="0">
                <a:solidFill>
                  <a:srgbClr val="FFFDFC"/>
                </a:solidFill>
                <a:latin typeface="Noto Serif CJK SC" pitchFamily="34" charset="0"/>
                <a:ea typeface="Noto Serif CJK SC" pitchFamily="34" charset="-122"/>
                <a:cs typeface="Noto Serif CJK SC" pitchFamily="34" charset="-120"/>
              </a:rPr>
              <a:t>以尔车来，以我贿迁。</a:t>
            </a:r>
            <a:endParaRPr lang="en-US" sz="3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初见</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07</a:t>
            </a:r>
            <a:endParaRPr lang="en-US" sz="1450" dirty="0"/>
          </a:p>
        </p:txBody>
      </p:sp>
      <p:sp>
        <p:nvSpPr>
          <p:cNvPr id="5" name="Text 3"/>
          <p:cNvSpPr/>
          <p:nvPr/>
        </p:nvSpPr>
        <p:spPr>
          <a:xfrm>
            <a:off x="10104120" y="292608"/>
            <a:ext cx="502920" cy="256032"/>
          </a:xfrm>
          <a:prstGeom prst="rect">
            <a:avLst/>
          </a:prstGeom>
          <a:noFill/>
          <a:ln/>
        </p:spPr>
        <p:txBody>
          <a:bodyPr wrap="square" lIns="0" tIns="0" rIns="0" bIns="0" rtlCol="0" anchor="ctr"/>
          <a:lstStyle/>
          <a:p>
            <a:pPr algn="r" indent="0" marL="0">
              <a:buNone/>
            </a:pPr>
            <a:r>
              <a:rPr lang="en-US" sz="1350" b="1" dirty="0">
                <a:solidFill>
                  <a:srgbClr val="C5B39B"/>
                </a:solidFill>
                <a:latin typeface="Noto Sans CJK SC" pitchFamily="34" charset="0"/>
                <a:ea typeface="Noto Sans CJK SC" pitchFamily="34" charset="-122"/>
                <a:cs typeface="Noto Sans CJK SC" pitchFamily="34" charset="-120"/>
              </a:rPr>
              <a:t>B3</a:t>
            </a:r>
            <a:endParaRPr lang="en-US" sz="1350" dirty="0"/>
          </a:p>
        </p:txBody>
      </p:sp>
      <p:sp>
        <p:nvSpPr>
          <p:cNvPr id="6" name="Text 4"/>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100" b="1" dirty="0">
                <a:solidFill>
                  <a:srgbClr val="FFFDFC"/>
                </a:solidFill>
                <a:latin typeface="Noto Serif CJK SC" pitchFamily="34" charset="0"/>
                <a:ea typeface="Noto Serif CJK SC" pitchFamily="34" charset="-122"/>
                <a:cs typeface="Noto Serif CJK SC" pitchFamily="34" charset="-120"/>
              </a:rPr>
              <a:t>她自己说｜第三章</a:t>
            </a:r>
            <a:endParaRPr lang="en-US" sz="3100" dirty="0"/>
          </a:p>
        </p:txBody>
      </p:sp>
      <p:sp>
        <p:nvSpPr>
          <p:cNvPr id="7" name="Shape 5"/>
          <p:cNvSpPr/>
          <p:nvPr/>
        </p:nvSpPr>
        <p:spPr>
          <a:xfrm>
            <a:off x="822960" y="1417320"/>
            <a:ext cx="10561320" cy="4526280"/>
          </a:xfrm>
          <a:prstGeom prst="roundRect">
            <a:avLst>
              <a:gd name="adj" fmla="val 808"/>
            </a:avLst>
          </a:prstGeom>
          <a:solidFill>
            <a:srgbClr val="383129"/>
          </a:solidFill>
          <a:ln w="13970">
            <a:solidFill>
              <a:srgbClr val="A67F4A"/>
            </a:solidFill>
            <a:prstDash val="solid"/>
          </a:ln>
        </p:spPr>
      </p:sp>
      <p:sp>
        <p:nvSpPr>
          <p:cNvPr id="8" name="Text 6"/>
          <p:cNvSpPr/>
          <p:nvPr/>
        </p:nvSpPr>
        <p:spPr>
          <a:xfrm>
            <a:off x="1051560" y="2692908"/>
            <a:ext cx="10104120" cy="539862"/>
          </a:xfrm>
          <a:prstGeom prst="rect">
            <a:avLst/>
          </a:prstGeom>
          <a:noFill/>
          <a:ln/>
        </p:spPr>
        <p:txBody>
          <a:bodyPr wrap="square" lIns="0" tIns="0" rIns="0" bIns="0" rtlCol="0" anchor="ctr"/>
          <a:lstStyle/>
          <a:p>
            <a:pPr algn="ctr" indent="0" marL="0">
              <a:buNone/>
            </a:pPr>
            <a:r>
              <a:rPr lang="en-US" sz="3100" dirty="0">
                <a:solidFill>
                  <a:srgbClr val="FFFDFC"/>
                </a:solidFill>
                <a:latin typeface="Noto Serif CJK SC" pitchFamily="34" charset="0"/>
                <a:ea typeface="Noto Serif CJK SC" pitchFamily="34" charset="-122"/>
                <a:cs typeface="Noto Serif CJK SC" pitchFamily="34" charset="-120"/>
              </a:rPr>
              <a:t>桑之未落，其叶沃若。于嗟鸠兮，无食桑葚！</a:t>
            </a:r>
            <a:endParaRPr lang="en-US" sz="3100" dirty="0"/>
          </a:p>
        </p:txBody>
      </p:sp>
      <p:sp>
        <p:nvSpPr>
          <p:cNvPr id="9" name="Text 7"/>
          <p:cNvSpPr/>
          <p:nvPr/>
        </p:nvSpPr>
        <p:spPr>
          <a:xfrm>
            <a:off x="1051560" y="3351276"/>
            <a:ext cx="10104120" cy="539862"/>
          </a:xfrm>
          <a:prstGeom prst="rect">
            <a:avLst/>
          </a:prstGeom>
          <a:noFill/>
          <a:ln/>
        </p:spPr>
        <p:txBody>
          <a:bodyPr wrap="square" lIns="0" tIns="0" rIns="0" bIns="0" rtlCol="0" anchor="ctr"/>
          <a:lstStyle/>
          <a:p>
            <a:pPr algn="ctr" indent="0" marL="0">
              <a:buNone/>
            </a:pPr>
            <a:r>
              <a:rPr lang="en-US" sz="3100" dirty="0">
                <a:solidFill>
                  <a:srgbClr val="FFFDFC"/>
                </a:solidFill>
                <a:latin typeface="Noto Serif CJK SC" pitchFamily="34" charset="0"/>
                <a:ea typeface="Noto Serif CJK SC" pitchFamily="34" charset="-122"/>
                <a:cs typeface="Noto Serif CJK SC" pitchFamily="34" charset="-120"/>
              </a:rPr>
              <a:t>于嗟女兮，无与士耽！士之耽兮，犹可说也。</a:t>
            </a:r>
            <a:endParaRPr lang="en-US" sz="3100" dirty="0"/>
          </a:p>
        </p:txBody>
      </p:sp>
      <p:sp>
        <p:nvSpPr>
          <p:cNvPr id="10" name="Text 8"/>
          <p:cNvSpPr/>
          <p:nvPr/>
        </p:nvSpPr>
        <p:spPr>
          <a:xfrm>
            <a:off x="1051560" y="4009644"/>
            <a:ext cx="10104120" cy="539862"/>
          </a:xfrm>
          <a:prstGeom prst="rect">
            <a:avLst/>
          </a:prstGeom>
          <a:noFill/>
          <a:ln/>
        </p:spPr>
        <p:txBody>
          <a:bodyPr wrap="square" lIns="0" tIns="0" rIns="0" bIns="0" rtlCol="0" anchor="ctr"/>
          <a:lstStyle/>
          <a:p>
            <a:pPr algn="ctr" indent="0" marL="0">
              <a:buNone/>
            </a:pPr>
            <a:r>
              <a:rPr lang="en-US" sz="3100" dirty="0">
                <a:solidFill>
                  <a:srgbClr val="FFFDFC"/>
                </a:solidFill>
                <a:latin typeface="Noto Serif CJK SC" pitchFamily="34" charset="0"/>
                <a:ea typeface="Noto Serif CJK SC" pitchFamily="34" charset="-122"/>
                <a:cs typeface="Noto Serif CJK SC" pitchFamily="34" charset="-120"/>
              </a:rPr>
              <a:t>女之耽兮，不可说也！</a:t>
            </a:r>
            <a:endParaRPr lang="en-US" sz="3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初见</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08</a:t>
            </a:r>
            <a:endParaRPr lang="en-US" sz="1450" dirty="0"/>
          </a:p>
        </p:txBody>
      </p:sp>
      <p:sp>
        <p:nvSpPr>
          <p:cNvPr id="5" name="Text 3"/>
          <p:cNvSpPr/>
          <p:nvPr/>
        </p:nvSpPr>
        <p:spPr>
          <a:xfrm>
            <a:off x="10104120" y="292608"/>
            <a:ext cx="502920" cy="256032"/>
          </a:xfrm>
          <a:prstGeom prst="rect">
            <a:avLst/>
          </a:prstGeom>
          <a:noFill/>
          <a:ln/>
        </p:spPr>
        <p:txBody>
          <a:bodyPr wrap="square" lIns="0" tIns="0" rIns="0" bIns="0" rtlCol="0" anchor="ctr"/>
          <a:lstStyle/>
          <a:p>
            <a:pPr algn="r" indent="0" marL="0">
              <a:buNone/>
            </a:pPr>
            <a:r>
              <a:rPr lang="en-US" sz="1350" b="1" dirty="0">
                <a:solidFill>
                  <a:srgbClr val="C5B39B"/>
                </a:solidFill>
                <a:latin typeface="Noto Sans CJK SC" pitchFamily="34" charset="0"/>
                <a:ea typeface="Noto Sans CJK SC" pitchFamily="34" charset="-122"/>
                <a:cs typeface="Noto Sans CJK SC" pitchFamily="34" charset="-120"/>
              </a:rPr>
              <a:t>B4</a:t>
            </a:r>
            <a:endParaRPr lang="en-US" sz="1350" dirty="0"/>
          </a:p>
        </p:txBody>
      </p:sp>
      <p:sp>
        <p:nvSpPr>
          <p:cNvPr id="6" name="Text 4"/>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100" b="1" dirty="0">
                <a:solidFill>
                  <a:srgbClr val="FFFDFC"/>
                </a:solidFill>
                <a:latin typeface="Noto Serif CJK SC" pitchFamily="34" charset="0"/>
                <a:ea typeface="Noto Serif CJK SC" pitchFamily="34" charset="-122"/>
                <a:cs typeface="Noto Serif CJK SC" pitchFamily="34" charset="-120"/>
              </a:rPr>
              <a:t>她自己说｜第四章</a:t>
            </a:r>
            <a:endParaRPr lang="en-US" sz="3100" dirty="0"/>
          </a:p>
        </p:txBody>
      </p:sp>
      <p:sp>
        <p:nvSpPr>
          <p:cNvPr id="7" name="Shape 5"/>
          <p:cNvSpPr/>
          <p:nvPr/>
        </p:nvSpPr>
        <p:spPr>
          <a:xfrm>
            <a:off x="822960" y="1417320"/>
            <a:ext cx="10561320" cy="4526280"/>
          </a:xfrm>
          <a:prstGeom prst="roundRect">
            <a:avLst>
              <a:gd name="adj" fmla="val 808"/>
            </a:avLst>
          </a:prstGeom>
          <a:solidFill>
            <a:srgbClr val="383129"/>
          </a:solidFill>
          <a:ln w="13970">
            <a:solidFill>
              <a:srgbClr val="725260"/>
            </a:solidFill>
            <a:prstDash val="solid"/>
          </a:ln>
        </p:spPr>
      </p:sp>
      <p:sp>
        <p:nvSpPr>
          <p:cNvPr id="8" name="Text 6"/>
          <p:cNvSpPr/>
          <p:nvPr/>
        </p:nvSpPr>
        <p:spPr>
          <a:xfrm>
            <a:off x="1051560" y="2692908"/>
            <a:ext cx="10104120" cy="539862"/>
          </a:xfrm>
          <a:prstGeom prst="rect">
            <a:avLst/>
          </a:prstGeom>
          <a:noFill/>
          <a:ln/>
        </p:spPr>
        <p:txBody>
          <a:bodyPr wrap="square" lIns="0" tIns="0" rIns="0" bIns="0" rtlCol="0" anchor="ctr"/>
          <a:lstStyle/>
          <a:p>
            <a:pPr algn="ctr" indent="0" marL="0">
              <a:buNone/>
            </a:pPr>
            <a:r>
              <a:rPr lang="en-US" sz="3100" dirty="0">
                <a:solidFill>
                  <a:srgbClr val="FFFDFC"/>
                </a:solidFill>
                <a:latin typeface="Noto Serif CJK SC" pitchFamily="34" charset="0"/>
                <a:ea typeface="Noto Serif CJK SC" pitchFamily="34" charset="-122"/>
                <a:cs typeface="Noto Serif CJK SC" pitchFamily="34" charset="-120"/>
              </a:rPr>
              <a:t>桑之落矣，其黄而陨。自我徂尔，三岁食贫。</a:t>
            </a:r>
            <a:endParaRPr lang="en-US" sz="3100" dirty="0"/>
          </a:p>
        </p:txBody>
      </p:sp>
      <p:sp>
        <p:nvSpPr>
          <p:cNvPr id="9" name="Text 7"/>
          <p:cNvSpPr/>
          <p:nvPr/>
        </p:nvSpPr>
        <p:spPr>
          <a:xfrm>
            <a:off x="1051560" y="3351276"/>
            <a:ext cx="10104120" cy="539862"/>
          </a:xfrm>
          <a:prstGeom prst="rect">
            <a:avLst/>
          </a:prstGeom>
          <a:noFill/>
          <a:ln/>
        </p:spPr>
        <p:txBody>
          <a:bodyPr wrap="square" lIns="0" tIns="0" rIns="0" bIns="0" rtlCol="0" anchor="ctr"/>
          <a:lstStyle/>
          <a:p>
            <a:pPr algn="ctr" indent="0" marL="0">
              <a:buNone/>
            </a:pPr>
            <a:r>
              <a:rPr lang="en-US" sz="3100" dirty="0">
                <a:solidFill>
                  <a:srgbClr val="FFFDFC"/>
                </a:solidFill>
                <a:latin typeface="Noto Serif CJK SC" pitchFamily="34" charset="0"/>
                <a:ea typeface="Noto Serif CJK SC" pitchFamily="34" charset="-122"/>
                <a:cs typeface="Noto Serif CJK SC" pitchFamily="34" charset="-120"/>
              </a:rPr>
              <a:t>淇水汤汤，渐车帷裳。女也不爽，士贰其行。</a:t>
            </a:r>
            <a:endParaRPr lang="en-US" sz="3100" dirty="0"/>
          </a:p>
        </p:txBody>
      </p:sp>
      <p:sp>
        <p:nvSpPr>
          <p:cNvPr id="10" name="Text 8"/>
          <p:cNvSpPr/>
          <p:nvPr/>
        </p:nvSpPr>
        <p:spPr>
          <a:xfrm>
            <a:off x="1051560" y="4009644"/>
            <a:ext cx="10104120" cy="539862"/>
          </a:xfrm>
          <a:prstGeom prst="rect">
            <a:avLst/>
          </a:prstGeom>
          <a:noFill/>
          <a:ln/>
        </p:spPr>
        <p:txBody>
          <a:bodyPr wrap="square" lIns="0" tIns="0" rIns="0" bIns="0" rtlCol="0" anchor="ctr"/>
          <a:lstStyle/>
          <a:p>
            <a:pPr algn="ctr" indent="0" marL="0">
              <a:buNone/>
            </a:pPr>
            <a:r>
              <a:rPr lang="en-US" sz="3100" dirty="0">
                <a:solidFill>
                  <a:srgbClr val="FFFDFC"/>
                </a:solidFill>
                <a:latin typeface="Noto Serif CJK SC" pitchFamily="34" charset="0"/>
                <a:ea typeface="Noto Serif CJK SC" pitchFamily="34" charset="-122"/>
                <a:cs typeface="Noto Serif CJK SC" pitchFamily="34" charset="-120"/>
              </a:rPr>
              <a:t>士也罔极，二三其德。</a:t>
            </a:r>
            <a:endParaRPr lang="en-US" sz="3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初见</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09</a:t>
            </a:r>
            <a:endParaRPr lang="en-US" sz="1450" dirty="0"/>
          </a:p>
        </p:txBody>
      </p:sp>
      <p:sp>
        <p:nvSpPr>
          <p:cNvPr id="5" name="Text 3"/>
          <p:cNvSpPr/>
          <p:nvPr/>
        </p:nvSpPr>
        <p:spPr>
          <a:xfrm>
            <a:off x="10104120" y="292608"/>
            <a:ext cx="502920" cy="256032"/>
          </a:xfrm>
          <a:prstGeom prst="rect">
            <a:avLst/>
          </a:prstGeom>
          <a:noFill/>
          <a:ln/>
        </p:spPr>
        <p:txBody>
          <a:bodyPr wrap="square" lIns="0" tIns="0" rIns="0" bIns="0" rtlCol="0" anchor="ctr"/>
          <a:lstStyle/>
          <a:p>
            <a:pPr algn="r" indent="0" marL="0">
              <a:buNone/>
            </a:pPr>
            <a:r>
              <a:rPr lang="en-US" sz="1350" b="1" dirty="0">
                <a:solidFill>
                  <a:srgbClr val="C5B39B"/>
                </a:solidFill>
                <a:latin typeface="Noto Sans CJK SC" pitchFamily="34" charset="0"/>
                <a:ea typeface="Noto Sans CJK SC" pitchFamily="34" charset="-122"/>
                <a:cs typeface="Noto Sans CJK SC" pitchFamily="34" charset="-120"/>
              </a:rPr>
              <a:t>B5</a:t>
            </a:r>
            <a:endParaRPr lang="en-US" sz="1350" dirty="0"/>
          </a:p>
        </p:txBody>
      </p:sp>
      <p:sp>
        <p:nvSpPr>
          <p:cNvPr id="6" name="Text 4"/>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100" b="1" dirty="0">
                <a:solidFill>
                  <a:srgbClr val="FFFDFC"/>
                </a:solidFill>
                <a:latin typeface="Noto Serif CJK SC" pitchFamily="34" charset="0"/>
                <a:ea typeface="Noto Serif CJK SC" pitchFamily="34" charset="-122"/>
                <a:cs typeface="Noto Serif CJK SC" pitchFamily="34" charset="-120"/>
              </a:rPr>
              <a:t>她自己说｜第五章</a:t>
            </a:r>
            <a:endParaRPr lang="en-US" sz="3100" dirty="0"/>
          </a:p>
        </p:txBody>
      </p:sp>
      <p:sp>
        <p:nvSpPr>
          <p:cNvPr id="7" name="Shape 5"/>
          <p:cNvSpPr/>
          <p:nvPr/>
        </p:nvSpPr>
        <p:spPr>
          <a:xfrm>
            <a:off x="822960" y="1417320"/>
            <a:ext cx="10561320" cy="4526280"/>
          </a:xfrm>
          <a:prstGeom prst="roundRect">
            <a:avLst>
              <a:gd name="adj" fmla="val 808"/>
            </a:avLst>
          </a:prstGeom>
          <a:solidFill>
            <a:srgbClr val="383129"/>
          </a:solidFill>
          <a:ln w="13970">
            <a:solidFill>
              <a:srgbClr val="725260"/>
            </a:solidFill>
            <a:prstDash val="solid"/>
          </a:ln>
        </p:spPr>
      </p:sp>
      <p:sp>
        <p:nvSpPr>
          <p:cNvPr id="8" name="Text 6"/>
          <p:cNvSpPr/>
          <p:nvPr/>
        </p:nvSpPr>
        <p:spPr>
          <a:xfrm>
            <a:off x="1051560" y="2692908"/>
            <a:ext cx="10104120" cy="539862"/>
          </a:xfrm>
          <a:prstGeom prst="rect">
            <a:avLst/>
          </a:prstGeom>
          <a:noFill/>
          <a:ln/>
        </p:spPr>
        <p:txBody>
          <a:bodyPr wrap="square" lIns="0" tIns="0" rIns="0" bIns="0" rtlCol="0" anchor="ctr"/>
          <a:lstStyle/>
          <a:p>
            <a:pPr algn="ctr" indent="0" marL="0">
              <a:buNone/>
            </a:pPr>
            <a:r>
              <a:rPr lang="en-US" sz="3100" dirty="0">
                <a:solidFill>
                  <a:srgbClr val="FFFDFC"/>
                </a:solidFill>
                <a:latin typeface="Noto Serif CJK SC" pitchFamily="34" charset="0"/>
                <a:ea typeface="Noto Serif CJK SC" pitchFamily="34" charset="-122"/>
                <a:cs typeface="Noto Serif CJK SC" pitchFamily="34" charset="-120"/>
              </a:rPr>
              <a:t>三岁为妇，靡室劳矣。夙兴夜寐，靡有朝矣。</a:t>
            </a:r>
            <a:endParaRPr lang="en-US" sz="3100" dirty="0"/>
          </a:p>
        </p:txBody>
      </p:sp>
      <p:sp>
        <p:nvSpPr>
          <p:cNvPr id="9" name="Text 7"/>
          <p:cNvSpPr/>
          <p:nvPr/>
        </p:nvSpPr>
        <p:spPr>
          <a:xfrm>
            <a:off x="1051560" y="3351276"/>
            <a:ext cx="10104120" cy="539862"/>
          </a:xfrm>
          <a:prstGeom prst="rect">
            <a:avLst/>
          </a:prstGeom>
          <a:noFill/>
          <a:ln/>
        </p:spPr>
        <p:txBody>
          <a:bodyPr wrap="square" lIns="0" tIns="0" rIns="0" bIns="0" rtlCol="0" anchor="ctr"/>
          <a:lstStyle/>
          <a:p>
            <a:pPr algn="ctr" indent="0" marL="0">
              <a:buNone/>
            </a:pPr>
            <a:r>
              <a:rPr lang="en-US" sz="3100" dirty="0">
                <a:solidFill>
                  <a:srgbClr val="FFFDFC"/>
                </a:solidFill>
                <a:latin typeface="Noto Serif CJK SC" pitchFamily="34" charset="0"/>
                <a:ea typeface="Noto Serif CJK SC" pitchFamily="34" charset="-122"/>
                <a:cs typeface="Noto Serif CJK SC" pitchFamily="34" charset="-120"/>
              </a:rPr>
              <a:t>言既遂矣，至于暴矣。兄弟不知，咥其笑矣。</a:t>
            </a:r>
            <a:endParaRPr lang="en-US" sz="3100" dirty="0"/>
          </a:p>
        </p:txBody>
      </p:sp>
      <p:sp>
        <p:nvSpPr>
          <p:cNvPr id="10" name="Text 8"/>
          <p:cNvSpPr/>
          <p:nvPr/>
        </p:nvSpPr>
        <p:spPr>
          <a:xfrm>
            <a:off x="1051560" y="4009644"/>
            <a:ext cx="10104120" cy="539862"/>
          </a:xfrm>
          <a:prstGeom prst="rect">
            <a:avLst/>
          </a:prstGeom>
          <a:noFill/>
          <a:ln/>
        </p:spPr>
        <p:txBody>
          <a:bodyPr wrap="square" lIns="0" tIns="0" rIns="0" bIns="0" rtlCol="0" anchor="ctr"/>
          <a:lstStyle/>
          <a:p>
            <a:pPr algn="ctr" indent="0" marL="0">
              <a:buNone/>
            </a:pPr>
            <a:r>
              <a:rPr lang="en-US" sz="3100" dirty="0">
                <a:solidFill>
                  <a:srgbClr val="FFFDFC"/>
                </a:solidFill>
                <a:latin typeface="Noto Serif CJK SC" pitchFamily="34" charset="0"/>
                <a:ea typeface="Noto Serif CJK SC" pitchFamily="34" charset="-122"/>
                <a:cs typeface="Noto Serif CJK SC" pitchFamily="34" charset="-120"/>
              </a:rPr>
              <a:t>静言思之，躬自悼矣。</a:t>
            </a:r>
            <a:endParaRPr lang="en-US" sz="3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初见</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10</a:t>
            </a:r>
            <a:endParaRPr lang="en-US" sz="1450" dirty="0"/>
          </a:p>
        </p:txBody>
      </p:sp>
      <p:sp>
        <p:nvSpPr>
          <p:cNvPr id="5" name="Text 3"/>
          <p:cNvSpPr/>
          <p:nvPr/>
        </p:nvSpPr>
        <p:spPr>
          <a:xfrm>
            <a:off x="10104120" y="292608"/>
            <a:ext cx="502920" cy="256032"/>
          </a:xfrm>
          <a:prstGeom prst="rect">
            <a:avLst/>
          </a:prstGeom>
          <a:noFill/>
          <a:ln/>
        </p:spPr>
        <p:txBody>
          <a:bodyPr wrap="square" lIns="0" tIns="0" rIns="0" bIns="0" rtlCol="0" anchor="ctr"/>
          <a:lstStyle/>
          <a:p>
            <a:pPr algn="r" indent="0" marL="0">
              <a:buNone/>
            </a:pPr>
            <a:r>
              <a:rPr lang="en-US" sz="1350" b="1" dirty="0">
                <a:solidFill>
                  <a:srgbClr val="C5B39B"/>
                </a:solidFill>
                <a:latin typeface="Noto Sans CJK SC" pitchFamily="34" charset="0"/>
                <a:ea typeface="Noto Sans CJK SC" pitchFamily="34" charset="-122"/>
                <a:cs typeface="Noto Sans CJK SC" pitchFamily="34" charset="-120"/>
              </a:rPr>
              <a:t>B6</a:t>
            </a:r>
            <a:endParaRPr lang="en-US" sz="1350" dirty="0"/>
          </a:p>
        </p:txBody>
      </p:sp>
      <p:sp>
        <p:nvSpPr>
          <p:cNvPr id="6" name="Text 4"/>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100" b="1" dirty="0">
                <a:solidFill>
                  <a:srgbClr val="FFFDFC"/>
                </a:solidFill>
                <a:latin typeface="Noto Serif CJK SC" pitchFamily="34" charset="0"/>
                <a:ea typeface="Noto Serif CJK SC" pitchFamily="34" charset="-122"/>
                <a:cs typeface="Noto Serif CJK SC" pitchFamily="34" charset="-120"/>
              </a:rPr>
              <a:t>她自己说｜第六章</a:t>
            </a:r>
            <a:endParaRPr lang="en-US" sz="3100" dirty="0"/>
          </a:p>
        </p:txBody>
      </p:sp>
      <p:sp>
        <p:nvSpPr>
          <p:cNvPr id="7" name="Shape 5"/>
          <p:cNvSpPr/>
          <p:nvPr/>
        </p:nvSpPr>
        <p:spPr>
          <a:xfrm>
            <a:off x="822960" y="1417320"/>
            <a:ext cx="10561320" cy="4526280"/>
          </a:xfrm>
          <a:prstGeom prst="roundRect">
            <a:avLst>
              <a:gd name="adj" fmla="val 808"/>
            </a:avLst>
          </a:prstGeom>
          <a:solidFill>
            <a:srgbClr val="383129"/>
          </a:solidFill>
          <a:ln w="13970">
            <a:solidFill>
              <a:srgbClr val="725260"/>
            </a:solidFill>
            <a:prstDash val="solid"/>
          </a:ln>
        </p:spPr>
      </p:sp>
      <p:sp>
        <p:nvSpPr>
          <p:cNvPr id="8" name="Text 6"/>
          <p:cNvSpPr/>
          <p:nvPr/>
        </p:nvSpPr>
        <p:spPr>
          <a:xfrm>
            <a:off x="1051560" y="2692908"/>
            <a:ext cx="10104120" cy="539862"/>
          </a:xfrm>
          <a:prstGeom prst="rect">
            <a:avLst/>
          </a:prstGeom>
          <a:noFill/>
          <a:ln/>
        </p:spPr>
        <p:txBody>
          <a:bodyPr wrap="square" lIns="0" tIns="0" rIns="0" bIns="0" rtlCol="0" anchor="ctr"/>
          <a:lstStyle/>
          <a:p>
            <a:pPr algn="ctr" indent="0" marL="0">
              <a:buNone/>
            </a:pPr>
            <a:r>
              <a:rPr lang="en-US" sz="3100" dirty="0">
                <a:solidFill>
                  <a:srgbClr val="FFFDFC"/>
                </a:solidFill>
                <a:latin typeface="Noto Serif CJK SC" pitchFamily="34" charset="0"/>
                <a:ea typeface="Noto Serif CJK SC" pitchFamily="34" charset="-122"/>
                <a:cs typeface="Noto Serif CJK SC" pitchFamily="34" charset="-120"/>
              </a:rPr>
              <a:t>及尔偕老，老使我怨。淇则有岸，隰则有泮。</a:t>
            </a:r>
            <a:endParaRPr lang="en-US" sz="3100" dirty="0"/>
          </a:p>
        </p:txBody>
      </p:sp>
      <p:sp>
        <p:nvSpPr>
          <p:cNvPr id="9" name="Text 7"/>
          <p:cNvSpPr/>
          <p:nvPr/>
        </p:nvSpPr>
        <p:spPr>
          <a:xfrm>
            <a:off x="1051560" y="3351276"/>
            <a:ext cx="10104120" cy="539862"/>
          </a:xfrm>
          <a:prstGeom prst="rect">
            <a:avLst/>
          </a:prstGeom>
          <a:noFill/>
          <a:ln/>
        </p:spPr>
        <p:txBody>
          <a:bodyPr wrap="square" lIns="0" tIns="0" rIns="0" bIns="0" rtlCol="0" anchor="ctr"/>
          <a:lstStyle/>
          <a:p>
            <a:pPr algn="ctr" indent="0" marL="0">
              <a:buNone/>
            </a:pPr>
            <a:r>
              <a:rPr lang="en-US" sz="3100" dirty="0">
                <a:solidFill>
                  <a:srgbClr val="FFFDFC"/>
                </a:solidFill>
                <a:latin typeface="Noto Serif CJK SC" pitchFamily="34" charset="0"/>
                <a:ea typeface="Noto Serif CJK SC" pitchFamily="34" charset="-122"/>
                <a:cs typeface="Noto Serif CJK SC" pitchFamily="34" charset="-120"/>
              </a:rPr>
              <a:t>总角之宴，言笑晏晏。信誓旦旦，不思其反。</a:t>
            </a:r>
            <a:endParaRPr lang="en-US" sz="3100" dirty="0"/>
          </a:p>
        </p:txBody>
      </p:sp>
      <p:sp>
        <p:nvSpPr>
          <p:cNvPr id="10" name="Text 8"/>
          <p:cNvSpPr/>
          <p:nvPr/>
        </p:nvSpPr>
        <p:spPr>
          <a:xfrm>
            <a:off x="1051560" y="4009644"/>
            <a:ext cx="10104120" cy="539862"/>
          </a:xfrm>
          <a:prstGeom prst="rect">
            <a:avLst/>
          </a:prstGeom>
          <a:noFill/>
          <a:ln/>
        </p:spPr>
        <p:txBody>
          <a:bodyPr wrap="square" lIns="0" tIns="0" rIns="0" bIns="0" rtlCol="0" anchor="ctr"/>
          <a:lstStyle/>
          <a:p>
            <a:pPr algn="ctr" indent="0" marL="0">
              <a:buNone/>
            </a:pPr>
            <a:r>
              <a:rPr lang="en-US" sz="3100" dirty="0">
                <a:solidFill>
                  <a:srgbClr val="FFFDFC"/>
                </a:solidFill>
                <a:latin typeface="Noto Serif CJK SC" pitchFamily="34" charset="0"/>
                <a:ea typeface="Noto Serif CJK SC" pitchFamily="34" charset="-122"/>
                <a:cs typeface="Noto Serif CJK SC" pitchFamily="34" charset="-120"/>
              </a:rPr>
              <a:t>反是不思，亦已焉哉！</a:t>
            </a:r>
            <a:endParaRPr lang="en-US" sz="3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初见</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11</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29241F"/>
                </a:solidFill>
                <a:latin typeface="Noto Serif CJK SC" pitchFamily="34" charset="0"/>
                <a:ea typeface="Noto Serif CJK SC" pitchFamily="34" charset="-122"/>
                <a:cs typeface="Noto Serif CJK SC" pitchFamily="34" charset="-120"/>
              </a:rPr>
              <a:t>把第一次听见的《氓》留在纸上</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　　　　　　　　　　　　　　　　　　　　　　　”</a:t>
            </a:r>
            <a:endParaRPr lang="en-US" sz="3000" dirty="0"/>
          </a:p>
        </p:txBody>
      </p:sp>
      <p:sp>
        <p:nvSpPr>
          <p:cNvPr id="7" name="Text 5"/>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我看见……</a:t>
            </a:r>
            <a:endParaRPr lang="en-US" sz="3000" dirty="0"/>
          </a:p>
        </p:txBody>
      </p:sp>
      <p:sp>
        <p:nvSpPr>
          <p:cNvPr id="8" name="Text 6"/>
          <p:cNvSpPr/>
          <p:nvPr/>
        </p:nvSpPr>
        <p:spPr>
          <a:xfrm>
            <a:off x="960120" y="3236976"/>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我听见……</a:t>
            </a:r>
            <a:endParaRPr lang="en-US" sz="3000" dirty="0"/>
          </a:p>
        </p:txBody>
      </p:sp>
      <p:sp>
        <p:nvSpPr>
          <p:cNvPr id="9" name="Text 7"/>
          <p:cNvSpPr/>
          <p:nvPr/>
        </p:nvSpPr>
        <p:spPr>
          <a:xfrm>
            <a:off x="960120" y="4078224"/>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725260"/>
                </a:solidFill>
                <a:latin typeface="Noto Serif CJK SC" pitchFamily="34" charset="0"/>
                <a:ea typeface="Noto Serif CJK SC" pitchFamily="34" charset="-122"/>
                <a:cs typeface="Noto Serif CJK SC" pitchFamily="34" charset="-120"/>
              </a:rPr>
              <a:t>我想问……</a:t>
            </a:r>
            <a:endParaRPr lang="en-US"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初见</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12</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29241F"/>
                </a:solidFill>
                <a:latin typeface="Noto Serif CJK SC" pitchFamily="34" charset="0"/>
                <a:ea typeface="Noto Serif CJK SC" pitchFamily="34" charset="-122"/>
                <a:cs typeface="Noto Serif CJK SC" pitchFamily="34" charset="-120"/>
              </a:rPr>
              <a:t>读懂六章，我们要回答什么？</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她经历了什么？</a:t>
            </a:r>
            <a:endParaRPr lang="en-US" sz="3000" dirty="0"/>
          </a:p>
        </p:txBody>
      </p:sp>
      <p:sp>
        <p:nvSpPr>
          <p:cNvPr id="7" name="Text 5"/>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她婚后的不幸，在生活中是什么样子？</a:t>
            </a:r>
            <a:endParaRPr lang="en-US" sz="3000" dirty="0"/>
          </a:p>
        </p:txBody>
      </p:sp>
      <p:sp>
        <p:nvSpPr>
          <p:cNvPr id="8" name="Text 6"/>
          <p:cNvSpPr/>
          <p:nvPr/>
        </p:nvSpPr>
        <p:spPr>
          <a:xfrm>
            <a:off x="960120" y="3236976"/>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725260"/>
                </a:solidFill>
                <a:latin typeface="Noto Serif CJK SC" pitchFamily="34" charset="0"/>
                <a:ea typeface="Noto Serif CJK SC" pitchFamily="34" charset="-122"/>
                <a:cs typeface="Noto Serif CJK SC" pitchFamily="34" charset="-120"/>
              </a:rPr>
              <a:t>这场婚姻为什么走到这一步？</a:t>
            </a:r>
            <a:endParaRPr lang="en-US" sz="2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第一章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13</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第一章｜他做了什么？她又做了什么？</a:t>
            </a:r>
            <a:endParaRPr lang="en-US" sz="3400" dirty="0"/>
          </a:p>
        </p:txBody>
      </p:sp>
      <p:sp>
        <p:nvSpPr>
          <p:cNvPr id="6" name="Shape 4"/>
          <p:cNvSpPr/>
          <p:nvPr/>
        </p:nvSpPr>
        <p:spPr>
          <a:xfrm>
            <a:off x="822960" y="1325880"/>
            <a:ext cx="10561320" cy="4526280"/>
          </a:xfrm>
          <a:prstGeom prst="roundRect">
            <a:avLst>
              <a:gd name="adj" fmla="val 808"/>
            </a:avLst>
          </a:prstGeom>
          <a:solidFill>
            <a:srgbClr val="FFFCF7"/>
          </a:solidFill>
          <a:ln w="13970">
            <a:solidFill>
              <a:srgbClr val="A67F4A"/>
            </a:solidFill>
            <a:prstDash val="solid"/>
          </a:ln>
        </p:spPr>
      </p:sp>
      <p:sp>
        <p:nvSpPr>
          <p:cNvPr id="7" name="Text 5"/>
          <p:cNvSpPr/>
          <p:nvPr/>
        </p:nvSpPr>
        <p:spPr>
          <a:xfrm>
            <a:off x="1051560" y="1943100"/>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氓之蚩蚩，抱布贸丝。</a:t>
            </a:r>
            <a:endParaRPr lang="en-US" sz="3100" dirty="0"/>
          </a:p>
        </p:txBody>
      </p:sp>
      <p:sp>
        <p:nvSpPr>
          <p:cNvPr id="8" name="Text 6"/>
          <p:cNvSpPr/>
          <p:nvPr/>
        </p:nvSpPr>
        <p:spPr>
          <a:xfrm>
            <a:off x="1051560" y="2601468"/>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匪来贸丝，来即我谋。</a:t>
            </a:r>
            <a:endParaRPr lang="en-US" sz="3100" dirty="0"/>
          </a:p>
        </p:txBody>
      </p:sp>
      <p:sp>
        <p:nvSpPr>
          <p:cNvPr id="9" name="Text 7"/>
          <p:cNvSpPr/>
          <p:nvPr/>
        </p:nvSpPr>
        <p:spPr>
          <a:xfrm>
            <a:off x="1051560" y="3259836"/>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送子涉淇，至于顿丘。</a:t>
            </a:r>
            <a:endParaRPr lang="en-US" sz="3100" dirty="0"/>
          </a:p>
        </p:txBody>
      </p:sp>
      <p:sp>
        <p:nvSpPr>
          <p:cNvPr id="10" name="Text 8"/>
          <p:cNvSpPr/>
          <p:nvPr/>
        </p:nvSpPr>
        <p:spPr>
          <a:xfrm>
            <a:off x="1051560" y="3918204"/>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匪我愆期，子无良媒。</a:t>
            </a:r>
            <a:endParaRPr lang="en-US" sz="3100" dirty="0"/>
          </a:p>
        </p:txBody>
      </p:sp>
      <p:sp>
        <p:nvSpPr>
          <p:cNvPr id="11" name="Text 9"/>
          <p:cNvSpPr/>
          <p:nvPr/>
        </p:nvSpPr>
        <p:spPr>
          <a:xfrm>
            <a:off x="1051560" y="4576572"/>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将子无怒，秋以为期。</a:t>
            </a:r>
            <a:endParaRPr lang="en-US" sz="3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第一章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14</a:t>
            </a:r>
            <a:endParaRPr lang="en-US" sz="1450" dirty="0"/>
          </a:p>
        </p:txBody>
      </p:sp>
      <p:sp>
        <p:nvSpPr>
          <p:cNvPr id="5" name="Text 3"/>
          <p:cNvSpPr/>
          <p:nvPr/>
        </p:nvSpPr>
        <p:spPr>
          <a:xfrm>
            <a:off x="10104120" y="292608"/>
            <a:ext cx="502920" cy="256032"/>
          </a:xfrm>
          <a:prstGeom prst="rect">
            <a:avLst/>
          </a:prstGeom>
          <a:noFill/>
          <a:ln/>
        </p:spPr>
        <p:txBody>
          <a:bodyPr wrap="square" lIns="0" tIns="0" rIns="0" bIns="0" rtlCol="0" anchor="ctr"/>
          <a:lstStyle/>
          <a:p>
            <a:pPr algn="r" indent="0" marL="0">
              <a:buNone/>
            </a:pPr>
            <a:r>
              <a:rPr lang="en-US" sz="1350" b="1" dirty="0">
                <a:solidFill>
                  <a:srgbClr val="A67F4A"/>
                </a:solidFill>
                <a:latin typeface="Noto Sans CJK SC" pitchFamily="34" charset="0"/>
                <a:ea typeface="Noto Sans CJK SC" pitchFamily="34" charset="-122"/>
                <a:cs typeface="Noto Sans CJK SC" pitchFamily="34" charset="-120"/>
              </a:rPr>
              <a:t>B0</a:t>
            </a:r>
            <a:endParaRPr lang="en-US" sz="1350" dirty="0"/>
          </a:p>
        </p:txBody>
      </p:sp>
      <p:sp>
        <p:nvSpPr>
          <p:cNvPr id="6" name="Text 4"/>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29241F"/>
                </a:solidFill>
                <a:latin typeface="Noto Serif CJK SC" pitchFamily="34" charset="0"/>
                <a:ea typeface="Noto Serif CJK SC" pitchFamily="34" charset="-122"/>
                <a:cs typeface="Noto Serif CJK SC" pitchFamily="34" charset="-120"/>
              </a:rPr>
              <a:t>贸丝，还是来谋？</a:t>
            </a:r>
            <a:endParaRPr lang="en-US" sz="3700" dirty="0"/>
          </a:p>
        </p:txBody>
      </p:sp>
      <p:sp>
        <p:nvSpPr>
          <p:cNvPr id="7" name="Text 5"/>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氓之蚩蚩，抱布贸丝。</a:t>
            </a:r>
            <a:endParaRPr lang="en-US" sz="3000" dirty="0"/>
          </a:p>
        </p:txBody>
      </p:sp>
      <p:sp>
        <p:nvSpPr>
          <p:cNvPr id="8" name="Text 6"/>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匪来贸丝，来即我谋。</a:t>
            </a:r>
            <a:endParaRPr lang="en-US" sz="3000" dirty="0"/>
          </a:p>
        </p:txBody>
      </p:sp>
      <p:sp>
        <p:nvSpPr>
          <p:cNvPr id="9" name="Text 7"/>
          <p:cNvSpPr/>
          <p:nvPr/>
        </p:nvSpPr>
        <p:spPr>
          <a:xfrm>
            <a:off x="960120" y="3236976"/>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第一句让我们看见什么？</a:t>
            </a:r>
            <a:endParaRPr lang="en-US" sz="3000" dirty="0"/>
          </a:p>
        </p:txBody>
      </p:sp>
      <p:sp>
        <p:nvSpPr>
          <p:cNvPr id="10" name="Text 8"/>
          <p:cNvSpPr/>
          <p:nvPr/>
        </p:nvSpPr>
        <p:spPr>
          <a:xfrm>
            <a:off x="960120" y="4078224"/>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725260"/>
                </a:solidFill>
                <a:latin typeface="Noto Serif CJK SC" pitchFamily="34" charset="0"/>
                <a:ea typeface="Noto Serif CJK SC" pitchFamily="34" charset="-122"/>
                <a:cs typeface="Noto Serif CJK SC" pitchFamily="34" charset="-120"/>
              </a:rPr>
              <a:t>第二句又告诉了我们什么？</a:t>
            </a:r>
            <a:endParaRPr lang="en-US" sz="2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第一章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15</a:t>
            </a:r>
            <a:endParaRPr lang="en-US" sz="1450" dirty="0"/>
          </a:p>
        </p:txBody>
      </p:sp>
      <p:sp>
        <p:nvSpPr>
          <p:cNvPr id="5" name="Text 3"/>
          <p:cNvSpPr/>
          <p:nvPr/>
        </p:nvSpPr>
        <p:spPr>
          <a:xfrm>
            <a:off x="10104120" y="292608"/>
            <a:ext cx="502920" cy="256032"/>
          </a:xfrm>
          <a:prstGeom prst="rect">
            <a:avLst/>
          </a:prstGeom>
          <a:noFill/>
          <a:ln/>
        </p:spPr>
        <p:txBody>
          <a:bodyPr wrap="square" lIns="0" tIns="0" rIns="0" bIns="0" rtlCol="0" anchor="ctr"/>
          <a:lstStyle/>
          <a:p>
            <a:pPr algn="r" indent="0" marL="0">
              <a:buNone/>
            </a:pPr>
            <a:r>
              <a:rPr lang="en-US" sz="1350" b="1" dirty="0">
                <a:solidFill>
                  <a:srgbClr val="A67F4A"/>
                </a:solidFill>
                <a:latin typeface="Noto Sans CJK SC" pitchFamily="34" charset="0"/>
                <a:ea typeface="Noto Sans CJK SC" pitchFamily="34" charset="-122"/>
                <a:cs typeface="Noto Sans CJK SC" pitchFamily="34" charset="-120"/>
              </a:rPr>
              <a:t>B1</a:t>
            </a:r>
            <a:endParaRPr lang="en-US" sz="1350" dirty="0"/>
          </a:p>
        </p:txBody>
      </p:sp>
      <p:sp>
        <p:nvSpPr>
          <p:cNvPr id="6" name="Text 4"/>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29241F"/>
                </a:solidFill>
                <a:latin typeface="Noto Serif CJK SC" pitchFamily="34" charset="0"/>
                <a:ea typeface="Noto Serif CJK SC" pitchFamily="34" charset="-122"/>
                <a:cs typeface="Noto Serif CJK SC" pitchFamily="34" charset="-120"/>
              </a:rPr>
              <a:t>哪一个字，让话转了方向？</a:t>
            </a:r>
            <a:endParaRPr lang="en-US" sz="3700" dirty="0"/>
          </a:p>
        </p:txBody>
      </p:sp>
      <p:sp>
        <p:nvSpPr>
          <p:cNvPr id="7" name="Text 5"/>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氓之蚩蚩，抱布贸丝。</a:t>
            </a:r>
            <a:endParaRPr lang="en-US" sz="3000" dirty="0"/>
          </a:p>
        </p:txBody>
      </p:sp>
      <p:sp>
        <p:nvSpPr>
          <p:cNvPr id="8" name="Text 6"/>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匪来贸丝，来即我谋。</a:t>
            </a:r>
            <a:endParaRPr lang="en-US" sz="3000" dirty="0"/>
          </a:p>
        </p:txBody>
      </p:sp>
      <p:sp>
        <p:nvSpPr>
          <p:cNvPr id="9" name="Text 7"/>
          <p:cNvSpPr/>
          <p:nvPr/>
        </p:nvSpPr>
        <p:spPr>
          <a:xfrm>
            <a:off x="960120" y="3236976"/>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725260"/>
                </a:solidFill>
                <a:latin typeface="Noto Serif CJK SC" pitchFamily="34" charset="0"/>
                <a:ea typeface="Noto Serif CJK SC" pitchFamily="34" charset="-122"/>
                <a:cs typeface="Noto Serif CJK SC" pitchFamily="34" charset="-120"/>
              </a:rPr>
              <a:t>看一眼黑板上大家圈出的地方。</a:t>
            </a:r>
            <a:endParaRPr lang="en-US" sz="2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第一章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16</a:t>
            </a:r>
            <a:endParaRPr lang="en-US" sz="1450" dirty="0"/>
          </a:p>
        </p:txBody>
      </p:sp>
      <p:sp>
        <p:nvSpPr>
          <p:cNvPr id="5" name="Text 3"/>
          <p:cNvSpPr/>
          <p:nvPr/>
        </p:nvSpPr>
        <p:spPr>
          <a:xfrm>
            <a:off x="10104120" y="292608"/>
            <a:ext cx="502920" cy="256032"/>
          </a:xfrm>
          <a:prstGeom prst="rect">
            <a:avLst/>
          </a:prstGeom>
          <a:noFill/>
          <a:ln/>
        </p:spPr>
        <p:txBody>
          <a:bodyPr wrap="square" lIns="0" tIns="0" rIns="0" bIns="0" rtlCol="0" anchor="ctr"/>
          <a:lstStyle/>
          <a:p>
            <a:pPr algn="r" indent="0" marL="0">
              <a:buNone/>
            </a:pPr>
            <a:r>
              <a:rPr lang="en-US" sz="1350" b="1" dirty="0">
                <a:solidFill>
                  <a:srgbClr val="A67F4A"/>
                </a:solidFill>
                <a:latin typeface="Noto Sans CJK SC" pitchFamily="34" charset="0"/>
                <a:ea typeface="Noto Sans CJK SC" pitchFamily="34" charset="-122"/>
                <a:cs typeface="Noto Sans CJK SC" pitchFamily="34" charset="-120"/>
              </a:rPr>
              <a:t>B2</a:t>
            </a:r>
            <a:endParaRPr lang="en-US" sz="1350" dirty="0"/>
          </a:p>
        </p:txBody>
      </p:sp>
      <p:sp>
        <p:nvSpPr>
          <p:cNvPr id="6" name="Text 4"/>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29241F"/>
                </a:solidFill>
                <a:latin typeface="Noto Serif CJK SC" pitchFamily="34" charset="0"/>
                <a:ea typeface="Noto Serif CJK SC" pitchFamily="34" charset="-122"/>
                <a:cs typeface="Noto Serif CJK SC" pitchFamily="34" charset="-120"/>
              </a:rPr>
              <a:t>先看见：抱布贸丝</a:t>
            </a:r>
            <a:endParaRPr lang="en-US" sz="3700" dirty="0"/>
          </a:p>
        </p:txBody>
      </p:sp>
      <p:sp>
        <p:nvSpPr>
          <p:cNvPr id="7" name="Text 5"/>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一个“匪”字，转过话头</a:t>
            </a:r>
            <a:endParaRPr lang="en-US" sz="3000" dirty="0"/>
          </a:p>
        </p:txBody>
      </p:sp>
      <p:sp>
        <p:nvSpPr>
          <p:cNvPr id="8" name="Text 6"/>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女子告诉我们：不是来换丝，是来谈婚事。</a:t>
            </a:r>
            <a:endParaRPr lang="en-US" sz="3000" dirty="0"/>
          </a:p>
        </p:txBody>
      </p:sp>
      <p:sp>
        <p:nvSpPr>
          <p:cNvPr id="9" name="Text 7"/>
          <p:cNvSpPr/>
          <p:nvPr/>
        </p:nvSpPr>
        <p:spPr>
          <a:xfrm>
            <a:off x="960120" y="3236976"/>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725260"/>
                </a:solidFill>
                <a:latin typeface="Noto Serif CJK SC" pitchFamily="34" charset="0"/>
                <a:ea typeface="Noto Serif CJK SC" pitchFamily="34" charset="-122"/>
                <a:cs typeface="Noto Serif CJK SC" pitchFamily="34" charset="-120"/>
              </a:rPr>
              <a:t>至于他的为人和后来，此刻还不能断定。</a:t>
            </a:r>
            <a:endParaRPr lang="en-US" sz="2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第一章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17</a:t>
            </a:r>
            <a:endParaRPr lang="en-US" sz="1450" dirty="0"/>
          </a:p>
        </p:txBody>
      </p:sp>
      <p:sp>
        <p:nvSpPr>
          <p:cNvPr id="5" name="Text 3"/>
          <p:cNvSpPr/>
          <p:nvPr/>
        </p:nvSpPr>
        <p:spPr>
          <a:xfrm>
            <a:off x="10104120" y="292608"/>
            <a:ext cx="502920" cy="256032"/>
          </a:xfrm>
          <a:prstGeom prst="rect">
            <a:avLst/>
          </a:prstGeom>
          <a:noFill/>
          <a:ln/>
        </p:spPr>
        <p:txBody>
          <a:bodyPr wrap="square" lIns="0" tIns="0" rIns="0" bIns="0" rtlCol="0" anchor="ctr"/>
          <a:lstStyle/>
          <a:p>
            <a:pPr algn="r" indent="0" marL="0">
              <a:buNone/>
            </a:pPr>
            <a:r>
              <a:rPr lang="en-US" sz="1350" b="1" dirty="0">
                <a:solidFill>
                  <a:srgbClr val="A67F4A"/>
                </a:solidFill>
                <a:latin typeface="Noto Sans CJK SC" pitchFamily="34" charset="0"/>
                <a:ea typeface="Noto Sans CJK SC" pitchFamily="34" charset="-122"/>
                <a:cs typeface="Noto Sans CJK SC" pitchFamily="34" charset="-120"/>
              </a:rPr>
              <a:t>B0</a:t>
            </a:r>
            <a:endParaRPr lang="en-US" sz="1350" dirty="0"/>
          </a:p>
        </p:txBody>
      </p:sp>
      <p:sp>
        <p:nvSpPr>
          <p:cNvPr id="6" name="Text 4"/>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29241F"/>
                </a:solidFill>
                <a:latin typeface="Noto Serif CJK SC" pitchFamily="34" charset="0"/>
                <a:ea typeface="Noto Serif CJK SC" pitchFamily="34" charset="-122"/>
                <a:cs typeface="Noto Serif CJK SC" pitchFamily="34" charset="-120"/>
              </a:rPr>
              <a:t>她把他送了多远？</a:t>
            </a:r>
            <a:endParaRPr lang="en-US" sz="3700" dirty="0"/>
          </a:p>
        </p:txBody>
      </p:sp>
      <p:sp>
        <p:nvSpPr>
          <p:cNvPr id="7" name="Text 5"/>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送子涉淇，至于顿丘。</a:t>
            </a:r>
            <a:endParaRPr lang="en-US" sz="3000" dirty="0"/>
          </a:p>
        </p:txBody>
      </p:sp>
      <p:sp>
        <p:nvSpPr>
          <p:cNvPr id="8" name="Text 6"/>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送　　涉　　至</a:t>
            </a:r>
            <a:endParaRPr lang="en-US" sz="3000" dirty="0"/>
          </a:p>
        </p:txBody>
      </p:sp>
      <p:sp>
        <p:nvSpPr>
          <p:cNvPr id="9" name="Text 7"/>
          <p:cNvSpPr/>
          <p:nvPr/>
        </p:nvSpPr>
        <p:spPr>
          <a:xfrm>
            <a:off x="960120" y="3236976"/>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725260"/>
                </a:solidFill>
                <a:latin typeface="Noto Serif CJK SC" pitchFamily="34" charset="0"/>
                <a:ea typeface="Noto Serif CJK SC" pitchFamily="34" charset="-122"/>
                <a:cs typeface="Noto Serif CJK SC" pitchFamily="34" charset="-120"/>
              </a:rPr>
              <a:t>沿着三个动词，自己画出这段路。</a:t>
            </a:r>
            <a:endParaRPr lang="en-US" sz="2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第一章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18</a:t>
            </a:r>
            <a:endParaRPr lang="en-US" sz="1450" dirty="0"/>
          </a:p>
        </p:txBody>
      </p:sp>
      <p:sp>
        <p:nvSpPr>
          <p:cNvPr id="5" name="Text 3"/>
          <p:cNvSpPr/>
          <p:nvPr/>
        </p:nvSpPr>
        <p:spPr>
          <a:xfrm>
            <a:off x="10104120" y="292608"/>
            <a:ext cx="502920" cy="256032"/>
          </a:xfrm>
          <a:prstGeom prst="rect">
            <a:avLst/>
          </a:prstGeom>
          <a:noFill/>
          <a:ln/>
        </p:spPr>
        <p:txBody>
          <a:bodyPr wrap="square" lIns="0" tIns="0" rIns="0" bIns="0" rtlCol="0" anchor="ctr"/>
          <a:lstStyle/>
          <a:p>
            <a:pPr algn="r" indent="0" marL="0">
              <a:buNone/>
            </a:pPr>
            <a:r>
              <a:rPr lang="en-US" sz="1350" b="1" dirty="0">
                <a:solidFill>
                  <a:srgbClr val="A67F4A"/>
                </a:solidFill>
                <a:latin typeface="Noto Sans CJK SC" pitchFamily="34" charset="0"/>
                <a:ea typeface="Noto Sans CJK SC" pitchFamily="34" charset="-122"/>
                <a:cs typeface="Noto Sans CJK SC" pitchFamily="34" charset="-120"/>
              </a:rPr>
              <a:t>B1</a:t>
            </a:r>
            <a:endParaRPr lang="en-US" sz="1350" dirty="0"/>
          </a:p>
        </p:txBody>
      </p:sp>
      <p:sp>
        <p:nvSpPr>
          <p:cNvPr id="6" name="Text 4"/>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29241F"/>
                </a:solidFill>
                <a:latin typeface="Noto Serif CJK SC" pitchFamily="34" charset="0"/>
                <a:ea typeface="Noto Serif CJK SC" pitchFamily="34" charset="-122"/>
                <a:cs typeface="Noto Serif CJK SC" pitchFamily="34" charset="-120"/>
              </a:rPr>
              <a:t>把你画的这段路，指给同桌看。</a:t>
            </a:r>
            <a:endParaRPr lang="en-US" sz="3700" dirty="0"/>
          </a:p>
        </p:txBody>
      </p:sp>
      <p:sp>
        <p:nvSpPr>
          <p:cNvPr id="7" name="Text 5"/>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送子涉淇，至于顿丘。</a:t>
            </a:r>
            <a:endParaRPr lang="en-US" sz="3000" dirty="0"/>
          </a:p>
        </p:txBody>
      </p:sp>
      <p:sp>
        <p:nvSpPr>
          <p:cNvPr id="8" name="Text 6"/>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725260"/>
                </a:solidFill>
                <a:latin typeface="Noto Serif CJK SC" pitchFamily="34" charset="0"/>
                <a:ea typeface="Noto Serif CJK SC" pitchFamily="34" charset="-122"/>
                <a:cs typeface="Noto Serif CJK SC" pitchFamily="34" charset="-120"/>
              </a:rPr>
              <a:t>谁在送？经过哪里？到达哪里？</a:t>
            </a:r>
            <a:endParaRPr lang="en-US" sz="2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第一章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19</a:t>
            </a:r>
            <a:endParaRPr lang="en-US" sz="1450" dirty="0"/>
          </a:p>
        </p:txBody>
      </p:sp>
      <p:sp>
        <p:nvSpPr>
          <p:cNvPr id="5" name="Text 3"/>
          <p:cNvSpPr/>
          <p:nvPr/>
        </p:nvSpPr>
        <p:spPr>
          <a:xfrm>
            <a:off x="10104120" y="292608"/>
            <a:ext cx="502920" cy="256032"/>
          </a:xfrm>
          <a:prstGeom prst="rect">
            <a:avLst/>
          </a:prstGeom>
          <a:noFill/>
          <a:ln/>
        </p:spPr>
        <p:txBody>
          <a:bodyPr wrap="square" lIns="0" tIns="0" rIns="0" bIns="0" rtlCol="0" anchor="ctr"/>
          <a:lstStyle/>
          <a:p>
            <a:pPr algn="r" indent="0" marL="0">
              <a:buNone/>
            </a:pPr>
            <a:r>
              <a:rPr lang="en-US" sz="1350" b="1" dirty="0">
                <a:solidFill>
                  <a:srgbClr val="A67F4A"/>
                </a:solidFill>
                <a:latin typeface="Noto Sans CJK SC" pitchFamily="34" charset="0"/>
                <a:ea typeface="Noto Sans CJK SC" pitchFamily="34" charset="-122"/>
                <a:cs typeface="Noto Sans CJK SC" pitchFamily="34" charset="-120"/>
              </a:rPr>
              <a:t>B2</a:t>
            </a:r>
            <a:endParaRPr lang="en-US" sz="1350" dirty="0"/>
          </a:p>
        </p:txBody>
      </p:sp>
      <p:sp>
        <p:nvSpPr>
          <p:cNvPr id="6" name="Text 4"/>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29241F"/>
                </a:solidFill>
                <a:latin typeface="Noto Serif CJK SC" pitchFamily="34" charset="0"/>
                <a:ea typeface="Noto Serif CJK SC" pitchFamily="34" charset="-122"/>
                <a:cs typeface="Noto Serif CJK SC" pitchFamily="34" charset="-120"/>
              </a:rPr>
              <a:t>送　→　涉淇　→　至于顿丘</a:t>
            </a:r>
            <a:endParaRPr lang="en-US" sz="3700" dirty="0"/>
          </a:p>
        </p:txBody>
      </p:sp>
      <p:sp>
        <p:nvSpPr>
          <p:cNvPr id="7" name="Text 5"/>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她送他渡过淇水，一直送到顿丘。</a:t>
            </a:r>
            <a:endParaRPr lang="en-US" sz="3000" dirty="0"/>
          </a:p>
        </p:txBody>
      </p:sp>
      <p:sp>
        <p:nvSpPr>
          <p:cNvPr id="8" name="Text 6"/>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725260"/>
                </a:solidFill>
                <a:latin typeface="Noto Serif CJK SC" pitchFamily="34" charset="0"/>
                <a:ea typeface="Noto Serif CJK SC" pitchFamily="34" charset="-122"/>
                <a:cs typeface="Noto Serif CJK SC" pitchFamily="34" charset="-120"/>
              </a:rPr>
              <a:t>这份投入，先由三个动作说出来。</a:t>
            </a:r>
            <a:endParaRPr lang="en-US" sz="2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第一章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20</a:t>
            </a:r>
            <a:endParaRPr lang="en-US" sz="1450" dirty="0"/>
          </a:p>
        </p:txBody>
      </p:sp>
      <p:sp>
        <p:nvSpPr>
          <p:cNvPr id="5" name="Text 3"/>
          <p:cNvSpPr/>
          <p:nvPr/>
        </p:nvSpPr>
        <p:spPr>
          <a:xfrm>
            <a:off x="10104120" y="292608"/>
            <a:ext cx="502920" cy="256032"/>
          </a:xfrm>
          <a:prstGeom prst="rect">
            <a:avLst/>
          </a:prstGeom>
          <a:noFill/>
          <a:ln/>
        </p:spPr>
        <p:txBody>
          <a:bodyPr wrap="square" lIns="0" tIns="0" rIns="0" bIns="0" rtlCol="0" anchor="ctr"/>
          <a:lstStyle/>
          <a:p>
            <a:pPr algn="r" indent="0" marL="0">
              <a:buNone/>
            </a:pPr>
            <a:r>
              <a:rPr lang="en-US" sz="1350" b="1" dirty="0">
                <a:solidFill>
                  <a:srgbClr val="A67F4A"/>
                </a:solidFill>
                <a:latin typeface="Noto Sans CJK SC" pitchFamily="34" charset="0"/>
                <a:ea typeface="Noto Sans CJK SC" pitchFamily="34" charset="-122"/>
                <a:cs typeface="Noto Sans CJK SC" pitchFamily="34" charset="-120"/>
              </a:rPr>
              <a:t>B0</a:t>
            </a:r>
            <a:endParaRPr lang="en-US" sz="1350" dirty="0"/>
          </a:p>
        </p:txBody>
      </p:sp>
      <p:sp>
        <p:nvSpPr>
          <p:cNvPr id="6" name="Text 4"/>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把这几句当作她说的一番话</a:t>
            </a:r>
            <a:endParaRPr lang="en-US" sz="3600" dirty="0"/>
          </a:p>
        </p:txBody>
      </p:sp>
      <p:sp>
        <p:nvSpPr>
          <p:cNvPr id="7" name="Shape 5"/>
          <p:cNvSpPr/>
          <p:nvPr/>
        </p:nvSpPr>
        <p:spPr>
          <a:xfrm>
            <a:off x="768096" y="1572768"/>
            <a:ext cx="3380232" cy="3858768"/>
          </a:xfrm>
          <a:prstGeom prst="roundRect">
            <a:avLst>
              <a:gd name="adj" fmla="val 1082"/>
            </a:avLst>
          </a:prstGeom>
          <a:solidFill>
            <a:srgbClr val="FFFCF7"/>
          </a:solidFill>
          <a:ln w="13970">
            <a:solidFill>
              <a:srgbClr val="446E78"/>
            </a:solidFill>
            <a:prstDash val="solid"/>
          </a:ln>
        </p:spPr>
      </p:sp>
      <p:sp>
        <p:nvSpPr>
          <p:cNvPr id="8" name="Text 6"/>
          <p:cNvSpPr/>
          <p:nvPr/>
        </p:nvSpPr>
        <p:spPr>
          <a:xfrm>
            <a:off x="1042416"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匪我愆期，子无良媒。</a:t>
            </a:r>
            <a:endParaRPr lang="en-US" sz="2700" dirty="0"/>
          </a:p>
        </p:txBody>
      </p:sp>
      <p:sp>
        <p:nvSpPr>
          <p:cNvPr id="9" name="Shape 7"/>
          <p:cNvSpPr/>
          <p:nvPr/>
        </p:nvSpPr>
        <p:spPr>
          <a:xfrm>
            <a:off x="4404360" y="1572768"/>
            <a:ext cx="3380232" cy="3858768"/>
          </a:xfrm>
          <a:prstGeom prst="roundRect">
            <a:avLst>
              <a:gd name="adj" fmla="val 1082"/>
            </a:avLst>
          </a:prstGeom>
          <a:solidFill>
            <a:srgbClr val="FFFCF7"/>
          </a:solidFill>
          <a:ln w="13970">
            <a:solidFill>
              <a:srgbClr val="725260"/>
            </a:solidFill>
            <a:prstDash val="solid"/>
          </a:ln>
        </p:spPr>
      </p:sp>
      <p:sp>
        <p:nvSpPr>
          <p:cNvPr id="10" name="Text 8"/>
          <p:cNvSpPr/>
          <p:nvPr/>
        </p:nvSpPr>
        <p:spPr>
          <a:xfrm>
            <a:off x="4678680"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将子无怒，秋以为期。</a:t>
            </a:r>
            <a:endParaRPr lang="en-US" sz="2700" dirty="0"/>
          </a:p>
        </p:txBody>
      </p:sp>
      <p:sp>
        <p:nvSpPr>
          <p:cNvPr id="11" name="Shape 9"/>
          <p:cNvSpPr/>
          <p:nvPr/>
        </p:nvSpPr>
        <p:spPr>
          <a:xfrm>
            <a:off x="8040624" y="1572768"/>
            <a:ext cx="3380232" cy="3858768"/>
          </a:xfrm>
          <a:prstGeom prst="roundRect">
            <a:avLst>
              <a:gd name="adj" fmla="val 1082"/>
            </a:avLst>
          </a:prstGeom>
          <a:solidFill>
            <a:srgbClr val="FFFCF7"/>
          </a:solidFill>
          <a:ln w="13970">
            <a:solidFill>
              <a:srgbClr val="A67F4A"/>
            </a:solidFill>
            <a:prstDash val="solid"/>
          </a:ln>
        </p:spPr>
      </p:sp>
      <p:sp>
        <p:nvSpPr>
          <p:cNvPr id="12" name="Text 10"/>
          <p:cNvSpPr/>
          <p:nvPr/>
        </p:nvSpPr>
        <p:spPr>
          <a:xfrm>
            <a:off x="8314944"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先把她的话完整说成今天的语言。</a:t>
            </a:r>
            <a:endParaRPr lang="en-US" sz="2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第一章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21</a:t>
            </a:r>
            <a:endParaRPr lang="en-US" sz="1450" dirty="0"/>
          </a:p>
        </p:txBody>
      </p:sp>
      <p:sp>
        <p:nvSpPr>
          <p:cNvPr id="5" name="Text 3"/>
          <p:cNvSpPr/>
          <p:nvPr/>
        </p:nvSpPr>
        <p:spPr>
          <a:xfrm>
            <a:off x="10104120" y="292608"/>
            <a:ext cx="502920" cy="256032"/>
          </a:xfrm>
          <a:prstGeom prst="rect">
            <a:avLst/>
          </a:prstGeom>
          <a:noFill/>
          <a:ln/>
        </p:spPr>
        <p:txBody>
          <a:bodyPr wrap="square" lIns="0" tIns="0" rIns="0" bIns="0" rtlCol="0" anchor="ctr"/>
          <a:lstStyle/>
          <a:p>
            <a:pPr algn="r" indent="0" marL="0">
              <a:buNone/>
            </a:pPr>
            <a:r>
              <a:rPr lang="en-US" sz="1350" b="1" dirty="0">
                <a:solidFill>
                  <a:srgbClr val="A67F4A"/>
                </a:solidFill>
                <a:latin typeface="Noto Sans CJK SC" pitchFamily="34" charset="0"/>
                <a:ea typeface="Noto Sans CJK SC" pitchFamily="34" charset="-122"/>
                <a:cs typeface="Noto Sans CJK SC" pitchFamily="34" charset="-120"/>
              </a:rPr>
              <a:t>B1</a:t>
            </a:r>
            <a:endParaRPr lang="en-US" sz="1350" dirty="0"/>
          </a:p>
        </p:txBody>
      </p:sp>
      <p:sp>
        <p:nvSpPr>
          <p:cNvPr id="6" name="Text 4"/>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再听一遍她的话</a:t>
            </a:r>
            <a:endParaRPr lang="en-US" sz="3600" dirty="0"/>
          </a:p>
        </p:txBody>
      </p:sp>
      <p:sp>
        <p:nvSpPr>
          <p:cNvPr id="7" name="Shape 5"/>
          <p:cNvSpPr/>
          <p:nvPr/>
        </p:nvSpPr>
        <p:spPr>
          <a:xfrm>
            <a:off x="768096" y="1572768"/>
            <a:ext cx="3380232" cy="3858768"/>
          </a:xfrm>
          <a:prstGeom prst="roundRect">
            <a:avLst>
              <a:gd name="adj" fmla="val 1082"/>
            </a:avLst>
          </a:prstGeom>
          <a:solidFill>
            <a:srgbClr val="FFFCF7"/>
          </a:solidFill>
          <a:ln w="13970">
            <a:solidFill>
              <a:srgbClr val="446E78"/>
            </a:solidFill>
            <a:prstDash val="solid"/>
          </a:ln>
        </p:spPr>
      </p:sp>
      <p:sp>
        <p:nvSpPr>
          <p:cNvPr id="8" name="Text 6"/>
          <p:cNvSpPr/>
          <p:nvPr/>
        </p:nvSpPr>
        <p:spPr>
          <a:xfrm>
            <a:off x="1042416"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哪里是在解释？</a:t>
            </a:r>
            <a:endParaRPr lang="en-US" sz="2700" dirty="0"/>
          </a:p>
        </p:txBody>
      </p:sp>
      <p:sp>
        <p:nvSpPr>
          <p:cNvPr id="9" name="Shape 7"/>
          <p:cNvSpPr/>
          <p:nvPr/>
        </p:nvSpPr>
        <p:spPr>
          <a:xfrm>
            <a:off x="4404360" y="1572768"/>
            <a:ext cx="3380232" cy="3858768"/>
          </a:xfrm>
          <a:prstGeom prst="roundRect">
            <a:avLst>
              <a:gd name="adj" fmla="val 1082"/>
            </a:avLst>
          </a:prstGeom>
          <a:solidFill>
            <a:srgbClr val="FFFCF7"/>
          </a:solidFill>
          <a:ln w="13970">
            <a:solidFill>
              <a:srgbClr val="725260"/>
            </a:solidFill>
            <a:prstDash val="solid"/>
          </a:ln>
        </p:spPr>
      </p:sp>
      <p:sp>
        <p:nvSpPr>
          <p:cNvPr id="10" name="Text 8"/>
          <p:cNvSpPr/>
          <p:nvPr/>
        </p:nvSpPr>
        <p:spPr>
          <a:xfrm>
            <a:off x="4678680"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哪里是在安抚？</a:t>
            </a:r>
            <a:endParaRPr lang="en-US" sz="2700" dirty="0"/>
          </a:p>
        </p:txBody>
      </p:sp>
      <p:sp>
        <p:nvSpPr>
          <p:cNvPr id="11" name="Shape 9"/>
          <p:cNvSpPr/>
          <p:nvPr/>
        </p:nvSpPr>
        <p:spPr>
          <a:xfrm>
            <a:off x="8040624" y="1572768"/>
            <a:ext cx="3380232" cy="3858768"/>
          </a:xfrm>
          <a:prstGeom prst="roundRect">
            <a:avLst>
              <a:gd name="adj" fmla="val 1082"/>
            </a:avLst>
          </a:prstGeom>
          <a:solidFill>
            <a:srgbClr val="FFFCF7"/>
          </a:solidFill>
          <a:ln w="13970">
            <a:solidFill>
              <a:srgbClr val="A67F4A"/>
            </a:solidFill>
            <a:prstDash val="solid"/>
          </a:ln>
        </p:spPr>
      </p:sp>
      <p:sp>
        <p:nvSpPr>
          <p:cNvPr id="12" name="Text 10"/>
          <p:cNvSpPr/>
          <p:nvPr/>
        </p:nvSpPr>
        <p:spPr>
          <a:xfrm>
            <a:off x="8314944"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哪里是在重新约定？</a:t>
            </a:r>
            <a:endParaRPr lang="en-US" sz="2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第一章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22</a:t>
            </a:r>
            <a:endParaRPr lang="en-US" sz="1450" dirty="0"/>
          </a:p>
        </p:txBody>
      </p:sp>
      <p:sp>
        <p:nvSpPr>
          <p:cNvPr id="5" name="Text 3"/>
          <p:cNvSpPr/>
          <p:nvPr/>
        </p:nvSpPr>
        <p:spPr>
          <a:xfrm>
            <a:off x="10104120" y="292608"/>
            <a:ext cx="502920" cy="256032"/>
          </a:xfrm>
          <a:prstGeom prst="rect">
            <a:avLst/>
          </a:prstGeom>
          <a:noFill/>
          <a:ln/>
        </p:spPr>
        <p:txBody>
          <a:bodyPr wrap="square" lIns="0" tIns="0" rIns="0" bIns="0" rtlCol="0" anchor="ctr"/>
          <a:lstStyle/>
          <a:p>
            <a:pPr algn="r" indent="0" marL="0">
              <a:buNone/>
            </a:pPr>
            <a:r>
              <a:rPr lang="en-US" sz="1350" b="1" dirty="0">
                <a:solidFill>
                  <a:srgbClr val="A67F4A"/>
                </a:solidFill>
                <a:latin typeface="Noto Sans CJK SC" pitchFamily="34" charset="0"/>
                <a:ea typeface="Noto Sans CJK SC" pitchFamily="34" charset="-122"/>
                <a:cs typeface="Noto Sans CJK SC" pitchFamily="34" charset="-120"/>
              </a:rPr>
              <a:t>B2</a:t>
            </a:r>
            <a:endParaRPr lang="en-US" sz="1350" dirty="0"/>
          </a:p>
        </p:txBody>
      </p:sp>
      <p:sp>
        <p:nvSpPr>
          <p:cNvPr id="6" name="Text 4"/>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100" b="1" dirty="0">
                <a:solidFill>
                  <a:srgbClr val="29241F"/>
                </a:solidFill>
                <a:latin typeface="Noto Serif CJK SC" pitchFamily="34" charset="0"/>
                <a:ea typeface="Noto Serif CJK SC" pitchFamily="34" charset="-122"/>
                <a:cs typeface="Noto Serif CJK SC" pitchFamily="34" charset="-120"/>
              </a:rPr>
              <a:t>不是我故意拖延婚期，是你没有请来合适的媒人。</a:t>
            </a:r>
            <a:endParaRPr lang="en-US" sz="3100" dirty="0"/>
          </a:p>
        </p:txBody>
      </p:sp>
      <p:sp>
        <p:nvSpPr>
          <p:cNvPr id="7" name="Shape 5"/>
          <p:cNvSpPr/>
          <p:nvPr/>
        </p:nvSpPr>
        <p:spPr>
          <a:xfrm>
            <a:off x="768096" y="1572768"/>
            <a:ext cx="3380232" cy="3858768"/>
          </a:xfrm>
          <a:prstGeom prst="roundRect">
            <a:avLst>
              <a:gd name="adj" fmla="val 1082"/>
            </a:avLst>
          </a:prstGeom>
          <a:solidFill>
            <a:srgbClr val="FFFCF7"/>
          </a:solidFill>
          <a:ln w="13970">
            <a:solidFill>
              <a:srgbClr val="446E78"/>
            </a:solidFill>
            <a:prstDash val="solid"/>
          </a:ln>
        </p:spPr>
      </p:sp>
      <p:sp>
        <p:nvSpPr>
          <p:cNvPr id="8" name="Text 6"/>
          <p:cNvSpPr/>
          <p:nvPr/>
        </p:nvSpPr>
        <p:spPr>
          <a:xfrm>
            <a:off x="1042416"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请你不要生气。</a:t>
            </a:r>
            <a:endParaRPr lang="en-US" sz="2700" dirty="0"/>
          </a:p>
        </p:txBody>
      </p:sp>
      <p:sp>
        <p:nvSpPr>
          <p:cNvPr id="9" name="Shape 7"/>
          <p:cNvSpPr/>
          <p:nvPr/>
        </p:nvSpPr>
        <p:spPr>
          <a:xfrm>
            <a:off x="4404360" y="1572768"/>
            <a:ext cx="3380232" cy="3858768"/>
          </a:xfrm>
          <a:prstGeom prst="roundRect">
            <a:avLst>
              <a:gd name="adj" fmla="val 1082"/>
            </a:avLst>
          </a:prstGeom>
          <a:solidFill>
            <a:srgbClr val="FFFCF7"/>
          </a:solidFill>
          <a:ln w="13970">
            <a:solidFill>
              <a:srgbClr val="725260"/>
            </a:solidFill>
            <a:prstDash val="solid"/>
          </a:ln>
        </p:spPr>
      </p:sp>
      <p:sp>
        <p:nvSpPr>
          <p:cNvPr id="10" name="Text 8"/>
          <p:cNvSpPr/>
          <p:nvPr/>
        </p:nvSpPr>
        <p:spPr>
          <a:xfrm>
            <a:off x="4678680"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就把婚期定在秋天吧。</a:t>
            </a:r>
            <a:endParaRPr lang="en-US" sz="2700" dirty="0"/>
          </a:p>
        </p:txBody>
      </p:sp>
      <p:sp>
        <p:nvSpPr>
          <p:cNvPr id="11" name="Shape 9"/>
          <p:cNvSpPr/>
          <p:nvPr/>
        </p:nvSpPr>
        <p:spPr>
          <a:xfrm>
            <a:off x="8040624" y="1572768"/>
            <a:ext cx="3380232" cy="3858768"/>
          </a:xfrm>
          <a:prstGeom prst="roundRect">
            <a:avLst>
              <a:gd name="adj" fmla="val 1082"/>
            </a:avLst>
          </a:prstGeom>
          <a:solidFill>
            <a:srgbClr val="FFFCF7"/>
          </a:solidFill>
          <a:ln w="13970">
            <a:solidFill>
              <a:srgbClr val="A67F4A"/>
            </a:solidFill>
            <a:prstDash val="solid"/>
          </a:ln>
        </p:spPr>
      </p:sp>
      <p:sp>
        <p:nvSpPr>
          <p:cNvPr id="12" name="Text 10"/>
          <p:cNvSpPr/>
          <p:nvPr/>
        </p:nvSpPr>
        <p:spPr>
          <a:xfrm>
            <a:off x="8314944"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她没有把婚事推开，而是在解释、安抚、重新约定。</a:t>
            </a:r>
            <a:endParaRPr lang="en-US" sz="2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第一章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23</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他怎样来，她怎样送，两个人怎样约？</a:t>
            </a:r>
            <a:endParaRPr lang="en-US" sz="3400" dirty="0"/>
          </a:p>
        </p:txBody>
      </p:sp>
      <p:sp>
        <p:nvSpPr>
          <p:cNvPr id="6" name="Shape 4"/>
          <p:cNvSpPr/>
          <p:nvPr/>
        </p:nvSpPr>
        <p:spPr>
          <a:xfrm>
            <a:off x="822960" y="1325880"/>
            <a:ext cx="10561320" cy="4526280"/>
          </a:xfrm>
          <a:prstGeom prst="roundRect">
            <a:avLst>
              <a:gd name="adj" fmla="val 808"/>
            </a:avLst>
          </a:prstGeom>
          <a:solidFill>
            <a:srgbClr val="FFFCF7"/>
          </a:solidFill>
          <a:ln w="13970">
            <a:solidFill>
              <a:srgbClr val="A67F4A"/>
            </a:solidFill>
            <a:prstDash val="solid"/>
          </a:ln>
        </p:spPr>
      </p:sp>
      <p:sp>
        <p:nvSpPr>
          <p:cNvPr id="7" name="Text 5"/>
          <p:cNvSpPr/>
          <p:nvPr/>
        </p:nvSpPr>
        <p:spPr>
          <a:xfrm>
            <a:off x="1051560" y="1943100"/>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氓之蚩蚩，抱布贸丝。</a:t>
            </a:r>
            <a:endParaRPr lang="en-US" sz="3100" dirty="0"/>
          </a:p>
        </p:txBody>
      </p:sp>
      <p:sp>
        <p:nvSpPr>
          <p:cNvPr id="8" name="Text 6"/>
          <p:cNvSpPr/>
          <p:nvPr/>
        </p:nvSpPr>
        <p:spPr>
          <a:xfrm>
            <a:off x="1051560" y="2601468"/>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匪来贸丝，来即我谋。</a:t>
            </a:r>
            <a:endParaRPr lang="en-US" sz="3100" dirty="0"/>
          </a:p>
        </p:txBody>
      </p:sp>
      <p:sp>
        <p:nvSpPr>
          <p:cNvPr id="9" name="Text 7"/>
          <p:cNvSpPr/>
          <p:nvPr/>
        </p:nvSpPr>
        <p:spPr>
          <a:xfrm>
            <a:off x="1051560" y="3259836"/>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送子涉淇，至于顿丘。</a:t>
            </a:r>
            <a:endParaRPr lang="en-US" sz="3100" dirty="0"/>
          </a:p>
        </p:txBody>
      </p:sp>
      <p:sp>
        <p:nvSpPr>
          <p:cNvPr id="10" name="Text 8"/>
          <p:cNvSpPr/>
          <p:nvPr/>
        </p:nvSpPr>
        <p:spPr>
          <a:xfrm>
            <a:off x="1051560" y="3918204"/>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匪我愆期，子无良媒。</a:t>
            </a:r>
            <a:endParaRPr lang="en-US" sz="3100" dirty="0"/>
          </a:p>
        </p:txBody>
      </p:sp>
      <p:sp>
        <p:nvSpPr>
          <p:cNvPr id="11" name="Text 9"/>
          <p:cNvSpPr/>
          <p:nvPr/>
        </p:nvSpPr>
        <p:spPr>
          <a:xfrm>
            <a:off x="1051560" y="4576572"/>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将子无怒，秋以为期。</a:t>
            </a:r>
            <a:endParaRPr lang="en-US" sz="3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446E78"/>
          </a:solidFill>
          <a:ln w="12700">
            <a:solidFill>
              <a:srgbClr val="446E78"/>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446E78"/>
                </a:solidFill>
                <a:latin typeface="Noto Sans CJK SC" pitchFamily="34" charset="0"/>
                <a:ea typeface="Noto Sans CJK SC" pitchFamily="34" charset="-122"/>
                <a:cs typeface="Noto Sans CJK SC" pitchFamily="34" charset="-120"/>
              </a:rPr>
              <a:t>第二章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24</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第二章｜她站到哪里？目光投向哪里？</a:t>
            </a:r>
            <a:endParaRPr lang="en-US" sz="3400" dirty="0"/>
          </a:p>
        </p:txBody>
      </p:sp>
      <p:sp>
        <p:nvSpPr>
          <p:cNvPr id="6" name="Shape 4"/>
          <p:cNvSpPr/>
          <p:nvPr/>
        </p:nvSpPr>
        <p:spPr>
          <a:xfrm>
            <a:off x="822960" y="1325880"/>
            <a:ext cx="10561320" cy="4526280"/>
          </a:xfrm>
          <a:prstGeom prst="roundRect">
            <a:avLst>
              <a:gd name="adj" fmla="val 808"/>
            </a:avLst>
          </a:prstGeom>
          <a:solidFill>
            <a:srgbClr val="FFFCF7"/>
          </a:solidFill>
          <a:ln w="13970">
            <a:solidFill>
              <a:srgbClr val="446E78"/>
            </a:solidFill>
            <a:prstDash val="solid"/>
          </a:ln>
        </p:spPr>
      </p:sp>
      <p:sp>
        <p:nvSpPr>
          <p:cNvPr id="7" name="Text 5"/>
          <p:cNvSpPr/>
          <p:nvPr/>
        </p:nvSpPr>
        <p:spPr>
          <a:xfrm>
            <a:off x="1051560" y="1943100"/>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乘彼垝垣，以望复关。</a:t>
            </a:r>
            <a:endParaRPr lang="en-US" sz="3100" dirty="0"/>
          </a:p>
        </p:txBody>
      </p:sp>
      <p:sp>
        <p:nvSpPr>
          <p:cNvPr id="8" name="Text 6"/>
          <p:cNvSpPr/>
          <p:nvPr/>
        </p:nvSpPr>
        <p:spPr>
          <a:xfrm>
            <a:off x="1051560" y="2601468"/>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不见复关，泣涕涟涟。</a:t>
            </a:r>
            <a:endParaRPr lang="en-US" sz="3100" dirty="0"/>
          </a:p>
        </p:txBody>
      </p:sp>
      <p:sp>
        <p:nvSpPr>
          <p:cNvPr id="9" name="Text 7"/>
          <p:cNvSpPr/>
          <p:nvPr/>
        </p:nvSpPr>
        <p:spPr>
          <a:xfrm>
            <a:off x="1051560" y="3259836"/>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既见复关，载笑载言。</a:t>
            </a:r>
            <a:endParaRPr lang="en-US" sz="3100" dirty="0"/>
          </a:p>
        </p:txBody>
      </p:sp>
      <p:sp>
        <p:nvSpPr>
          <p:cNvPr id="10" name="Text 8"/>
          <p:cNvSpPr/>
          <p:nvPr/>
        </p:nvSpPr>
        <p:spPr>
          <a:xfrm>
            <a:off x="1051560" y="3918204"/>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尔卜尔筮，体无咎言。</a:t>
            </a:r>
            <a:endParaRPr lang="en-US" sz="3100" dirty="0"/>
          </a:p>
        </p:txBody>
      </p:sp>
      <p:sp>
        <p:nvSpPr>
          <p:cNvPr id="11" name="Text 9"/>
          <p:cNvSpPr/>
          <p:nvPr/>
        </p:nvSpPr>
        <p:spPr>
          <a:xfrm>
            <a:off x="1051560" y="4576572"/>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以尔车来，以我贿迁。</a:t>
            </a:r>
            <a:endParaRPr lang="en-US" sz="3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446E78"/>
          </a:solidFill>
          <a:ln w="12700">
            <a:solidFill>
              <a:srgbClr val="446E78"/>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446E78"/>
                </a:solidFill>
                <a:latin typeface="Noto Sans CJK SC" pitchFamily="34" charset="0"/>
                <a:ea typeface="Noto Sans CJK SC" pitchFamily="34" charset="-122"/>
                <a:cs typeface="Noto Sans CJK SC" pitchFamily="34" charset="-120"/>
              </a:rPr>
              <a:t>第二章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25</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两个“见”字，怎样牵动她的哭与笑？</a:t>
            </a:r>
            <a:endParaRPr lang="en-US" sz="3600" dirty="0"/>
          </a:p>
        </p:txBody>
      </p:sp>
      <p:sp>
        <p:nvSpPr>
          <p:cNvPr id="6" name="Shape 4"/>
          <p:cNvSpPr/>
          <p:nvPr/>
        </p:nvSpPr>
        <p:spPr>
          <a:xfrm>
            <a:off x="768096" y="1572768"/>
            <a:ext cx="5198364" cy="3858768"/>
          </a:xfrm>
          <a:prstGeom prst="roundRect">
            <a:avLst>
              <a:gd name="adj" fmla="val 948"/>
            </a:avLst>
          </a:prstGeom>
          <a:solidFill>
            <a:srgbClr val="FFFCF7"/>
          </a:solidFill>
          <a:ln w="13970">
            <a:solidFill>
              <a:srgbClr val="446E78"/>
            </a:solidFill>
            <a:prstDash val="solid"/>
          </a:ln>
        </p:spPr>
      </p:sp>
      <p:sp>
        <p:nvSpPr>
          <p:cNvPr id="7" name="Text 5"/>
          <p:cNvSpPr/>
          <p:nvPr/>
        </p:nvSpPr>
        <p:spPr>
          <a:xfrm>
            <a:off x="1042416" y="2029968"/>
            <a:ext cx="4649724" cy="2834640"/>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不见复关，泣涕涟涟。</a:t>
            </a:r>
            <a:endParaRPr lang="en-US" sz="3000" dirty="0"/>
          </a:p>
        </p:txBody>
      </p:sp>
      <p:sp>
        <p:nvSpPr>
          <p:cNvPr id="8" name="Shape 6"/>
          <p:cNvSpPr/>
          <p:nvPr/>
        </p:nvSpPr>
        <p:spPr>
          <a:xfrm>
            <a:off x="6222492" y="1572768"/>
            <a:ext cx="5198364" cy="3858768"/>
          </a:xfrm>
          <a:prstGeom prst="roundRect">
            <a:avLst>
              <a:gd name="adj" fmla="val 948"/>
            </a:avLst>
          </a:prstGeom>
          <a:solidFill>
            <a:srgbClr val="FFFCF7"/>
          </a:solidFill>
          <a:ln w="13970">
            <a:solidFill>
              <a:srgbClr val="725260"/>
            </a:solidFill>
            <a:prstDash val="solid"/>
          </a:ln>
        </p:spPr>
      </p:sp>
      <p:sp>
        <p:nvSpPr>
          <p:cNvPr id="9" name="Text 7"/>
          <p:cNvSpPr/>
          <p:nvPr/>
        </p:nvSpPr>
        <p:spPr>
          <a:xfrm>
            <a:off x="6496812" y="2029968"/>
            <a:ext cx="4649724" cy="2834640"/>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既见复关，载笑载言。</a:t>
            </a:r>
            <a:endParaRPr lang="en-US" sz="3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446E78"/>
          </a:solidFill>
          <a:ln w="12700">
            <a:solidFill>
              <a:srgbClr val="446E78"/>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446E78"/>
                </a:solidFill>
                <a:latin typeface="Noto Sans CJK SC" pitchFamily="34" charset="0"/>
                <a:ea typeface="Noto Sans CJK SC" pitchFamily="34" charset="-122"/>
                <a:cs typeface="Noto Sans CJK SC" pitchFamily="34" charset="-120"/>
              </a:rPr>
              <a:t>第二章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26</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29241F"/>
                </a:solidFill>
                <a:latin typeface="Noto Serif CJK SC" pitchFamily="34" charset="0"/>
                <a:ea typeface="Noto Serif CJK SC" pitchFamily="34" charset="-122"/>
                <a:cs typeface="Noto Serif CJK SC" pitchFamily="34" charset="-120"/>
              </a:rPr>
              <a:t>卜筮以后，婚事怎样走到迁移？</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尔卜尔筮，体无咎言。</a:t>
            </a:r>
            <a:endParaRPr lang="en-US" sz="3000" dirty="0"/>
          </a:p>
        </p:txBody>
      </p:sp>
      <p:sp>
        <p:nvSpPr>
          <p:cNvPr id="7" name="Text 5"/>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以尔车来，以我贿迁。</a:t>
            </a:r>
            <a:endParaRPr lang="en-US" sz="3000" dirty="0"/>
          </a:p>
        </p:txBody>
      </p:sp>
      <p:sp>
        <p:nvSpPr>
          <p:cNvPr id="8" name="Text 6"/>
          <p:cNvSpPr/>
          <p:nvPr/>
        </p:nvSpPr>
        <p:spPr>
          <a:xfrm>
            <a:off x="960120" y="3236976"/>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725260"/>
                </a:solidFill>
                <a:latin typeface="Noto Serif CJK SC" pitchFamily="34" charset="0"/>
                <a:ea typeface="Noto Serif CJK SC" pitchFamily="34" charset="-122"/>
                <a:cs typeface="Noto Serif CJK SC" pitchFamily="34" charset="-120"/>
              </a:rPr>
              <a:t>谁来？用什么来？谁迁？带着什么迁？</a:t>
            </a:r>
            <a:endParaRPr lang="en-US" sz="2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446E78"/>
          </a:solidFill>
          <a:ln w="12700">
            <a:solidFill>
              <a:srgbClr val="446E78"/>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446E78"/>
                </a:solidFill>
                <a:latin typeface="Noto Sans CJK SC" pitchFamily="34" charset="0"/>
                <a:ea typeface="Noto Sans CJK SC" pitchFamily="34" charset="-122"/>
                <a:cs typeface="Noto Sans CJK SC" pitchFamily="34" charset="-120"/>
              </a:rPr>
              <a:t>第二章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27</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29241F"/>
                </a:solidFill>
                <a:latin typeface="Noto Serif CJK SC" pitchFamily="34" charset="0"/>
                <a:ea typeface="Noto Serif CJK SC" pitchFamily="34" charset="-122"/>
                <a:cs typeface="Noto Serif CJK SC" pitchFamily="34" charset="-120"/>
              </a:rPr>
              <a:t>从“秋以为期”到“以我贿迁”</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将子无怒，秋以为期。</a:t>
            </a:r>
            <a:endParaRPr lang="en-US" sz="3000" dirty="0"/>
          </a:p>
        </p:txBody>
      </p:sp>
      <p:sp>
        <p:nvSpPr>
          <p:cNvPr id="7" name="Text 5"/>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乘彼垝垣，以望复关。</a:t>
            </a:r>
            <a:endParaRPr lang="en-US" sz="3000" dirty="0"/>
          </a:p>
        </p:txBody>
      </p:sp>
      <p:sp>
        <p:nvSpPr>
          <p:cNvPr id="8" name="Text 6"/>
          <p:cNvSpPr/>
          <p:nvPr/>
        </p:nvSpPr>
        <p:spPr>
          <a:xfrm>
            <a:off x="960120" y="3236976"/>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以尔车来，以我贿迁。</a:t>
            </a:r>
            <a:endParaRPr lang="en-US" sz="3000" dirty="0"/>
          </a:p>
        </p:txBody>
      </p:sp>
      <p:sp>
        <p:nvSpPr>
          <p:cNvPr id="9" name="Text 7"/>
          <p:cNvSpPr/>
          <p:nvPr/>
        </p:nvSpPr>
        <p:spPr>
          <a:xfrm>
            <a:off x="960120" y="4078224"/>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725260"/>
                </a:solidFill>
                <a:latin typeface="Noto Serif CJK SC" pitchFamily="34" charset="0"/>
                <a:ea typeface="Noto Serif CJK SC" pitchFamily="34" charset="-122"/>
                <a:cs typeface="Noto Serif CJK SC" pitchFamily="34" charset="-120"/>
              </a:rPr>
              <a:t>前一章的哪件事，使后一章的等待成为必然？</a:t>
            </a:r>
            <a:endParaRPr lang="en-US" sz="2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657653"/>
          </a:solidFill>
          <a:ln w="12700">
            <a:solidFill>
              <a:srgbClr val="657653"/>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657653"/>
                </a:solidFill>
                <a:latin typeface="Noto Sans CJK SC" pitchFamily="34" charset="0"/>
                <a:ea typeface="Noto Sans CJK SC" pitchFamily="34" charset="-122"/>
                <a:cs typeface="Noto Sans CJK SC" pitchFamily="34" charset="-120"/>
              </a:rPr>
              <a:t>第三章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28</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第三章｜迁嫁以后，诗里忽然出现了什么？</a:t>
            </a:r>
            <a:endParaRPr lang="en-US" sz="3400" dirty="0"/>
          </a:p>
        </p:txBody>
      </p:sp>
      <p:sp>
        <p:nvSpPr>
          <p:cNvPr id="6" name="Shape 4"/>
          <p:cNvSpPr/>
          <p:nvPr/>
        </p:nvSpPr>
        <p:spPr>
          <a:xfrm>
            <a:off x="822960" y="1325880"/>
            <a:ext cx="10561320" cy="4526280"/>
          </a:xfrm>
          <a:prstGeom prst="roundRect">
            <a:avLst>
              <a:gd name="adj" fmla="val 808"/>
            </a:avLst>
          </a:prstGeom>
          <a:solidFill>
            <a:srgbClr val="FFFCF7"/>
          </a:solidFill>
          <a:ln w="13970">
            <a:solidFill>
              <a:srgbClr val="657653"/>
            </a:solidFill>
            <a:prstDash val="solid"/>
          </a:ln>
        </p:spPr>
      </p:sp>
      <p:sp>
        <p:nvSpPr>
          <p:cNvPr id="7" name="Text 5"/>
          <p:cNvSpPr/>
          <p:nvPr/>
        </p:nvSpPr>
        <p:spPr>
          <a:xfrm>
            <a:off x="1051560" y="1943100"/>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桑之未落，其叶沃若。</a:t>
            </a:r>
            <a:endParaRPr lang="en-US" sz="3100" dirty="0"/>
          </a:p>
        </p:txBody>
      </p:sp>
      <p:sp>
        <p:nvSpPr>
          <p:cNvPr id="8" name="Text 6"/>
          <p:cNvSpPr/>
          <p:nvPr/>
        </p:nvSpPr>
        <p:spPr>
          <a:xfrm>
            <a:off x="1051560" y="2601468"/>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于嗟鸠兮，无食桑葚。</a:t>
            </a:r>
            <a:endParaRPr lang="en-US" sz="3100" dirty="0"/>
          </a:p>
        </p:txBody>
      </p:sp>
      <p:sp>
        <p:nvSpPr>
          <p:cNvPr id="9" name="Text 7"/>
          <p:cNvSpPr/>
          <p:nvPr/>
        </p:nvSpPr>
        <p:spPr>
          <a:xfrm>
            <a:off x="1051560" y="3259836"/>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于嗟女兮，无与士耽。</a:t>
            </a:r>
            <a:endParaRPr lang="en-US" sz="3100" dirty="0"/>
          </a:p>
        </p:txBody>
      </p:sp>
      <p:sp>
        <p:nvSpPr>
          <p:cNvPr id="10" name="Text 8"/>
          <p:cNvSpPr/>
          <p:nvPr/>
        </p:nvSpPr>
        <p:spPr>
          <a:xfrm>
            <a:off x="1051560" y="3918204"/>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士之耽兮，犹可说也。</a:t>
            </a:r>
            <a:endParaRPr lang="en-US" sz="3100" dirty="0"/>
          </a:p>
        </p:txBody>
      </p:sp>
      <p:sp>
        <p:nvSpPr>
          <p:cNvPr id="11" name="Text 9"/>
          <p:cNvSpPr/>
          <p:nvPr/>
        </p:nvSpPr>
        <p:spPr>
          <a:xfrm>
            <a:off x="1051560" y="4576572"/>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女之耽兮，不可说也。</a:t>
            </a:r>
            <a:endParaRPr lang="en-US" sz="3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657653"/>
          </a:solidFill>
          <a:ln w="12700">
            <a:solidFill>
              <a:srgbClr val="657653"/>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657653"/>
                </a:solidFill>
                <a:latin typeface="Noto Sans CJK SC" pitchFamily="34" charset="0"/>
                <a:ea typeface="Noto Sans CJK SC" pitchFamily="34" charset="-122"/>
                <a:cs typeface="Noto Sans CJK SC" pitchFamily="34" charset="-120"/>
              </a:rPr>
              <a:t>第三章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29</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29241F"/>
                </a:solidFill>
                <a:latin typeface="Noto Serif CJK SC" pitchFamily="34" charset="0"/>
                <a:ea typeface="Noto Serif CJK SC" pitchFamily="34" charset="-122"/>
                <a:cs typeface="Noto Serif CJK SC" pitchFamily="34" charset="-120"/>
              </a:rPr>
              <a:t>桑之未落，其叶沃若。</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725260"/>
                </a:solidFill>
                <a:latin typeface="Noto Serif CJK SC" pitchFamily="34" charset="0"/>
                <a:ea typeface="Noto Serif CJK SC" pitchFamily="34" charset="-122"/>
                <a:cs typeface="Noto Serif CJK SC" pitchFamily="34" charset="-120"/>
              </a:rPr>
              <a:t>这片桑叶，是什么颜色、光泽和状态？</a:t>
            </a:r>
            <a:endParaRPr lang="en-US" sz="2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657653"/>
          </a:solidFill>
          <a:ln w="12700">
            <a:solidFill>
              <a:srgbClr val="657653"/>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第三章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30</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FFFDFC"/>
                </a:solidFill>
                <a:latin typeface="Noto Serif CJK SC" pitchFamily="34" charset="0"/>
                <a:ea typeface="Noto Serif CJK SC" pitchFamily="34" charset="-122"/>
                <a:cs typeface="Noto Serif CJK SC" pitchFamily="34" charset="-120"/>
              </a:rPr>
              <a:t>于嗟女兮，无与士耽！</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EFE3CF"/>
                </a:solidFill>
                <a:latin typeface="Noto Serif CJK SC" pitchFamily="34" charset="0"/>
                <a:ea typeface="Noto Serif CJK SC" pitchFamily="34" charset="-122"/>
                <a:cs typeface="Noto Serif CJK SC" pitchFamily="34" charset="-120"/>
              </a:rPr>
              <a:t>这一声劝告，怎样落下？</a:t>
            </a:r>
            <a:endParaRPr lang="en-US" sz="2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657653"/>
          </a:solidFill>
          <a:ln w="12700">
            <a:solidFill>
              <a:srgbClr val="657653"/>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657653"/>
                </a:solidFill>
                <a:latin typeface="Noto Sans CJK SC" pitchFamily="34" charset="0"/>
                <a:ea typeface="Noto Sans CJK SC" pitchFamily="34" charset="-122"/>
                <a:cs typeface="Noto Sans CJK SC" pitchFamily="34" charset="-120"/>
              </a:rPr>
              <a:t>第三章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31</a:t>
            </a:r>
            <a:endParaRPr lang="en-US" sz="1450" dirty="0"/>
          </a:p>
        </p:txBody>
      </p:sp>
      <p:sp>
        <p:nvSpPr>
          <p:cNvPr id="5" name="Text 3"/>
          <p:cNvSpPr/>
          <p:nvPr/>
        </p:nvSpPr>
        <p:spPr>
          <a:xfrm>
            <a:off x="10104120" y="292608"/>
            <a:ext cx="502920" cy="256032"/>
          </a:xfrm>
          <a:prstGeom prst="rect">
            <a:avLst/>
          </a:prstGeom>
          <a:noFill/>
          <a:ln/>
        </p:spPr>
        <p:txBody>
          <a:bodyPr wrap="square" lIns="0" tIns="0" rIns="0" bIns="0" rtlCol="0" anchor="ctr"/>
          <a:lstStyle/>
          <a:p>
            <a:pPr algn="r" indent="0" marL="0">
              <a:buNone/>
            </a:pPr>
            <a:r>
              <a:rPr lang="en-US" sz="1350" b="1" dirty="0">
                <a:solidFill>
                  <a:srgbClr val="657653"/>
                </a:solidFill>
                <a:latin typeface="Noto Sans CJK SC" pitchFamily="34" charset="0"/>
                <a:ea typeface="Noto Sans CJK SC" pitchFamily="34" charset="-122"/>
                <a:cs typeface="Noto Sans CJK SC" pitchFamily="34" charset="-120"/>
              </a:rPr>
              <a:t>B1</a:t>
            </a:r>
            <a:endParaRPr lang="en-US" sz="1350" dirty="0"/>
          </a:p>
        </p:txBody>
      </p:sp>
      <p:sp>
        <p:nvSpPr>
          <p:cNvPr id="6" name="Text 4"/>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桑叶、斑鸠和女子重新连起来以后</a:t>
            </a:r>
            <a:endParaRPr lang="en-US" sz="3600" dirty="0"/>
          </a:p>
        </p:txBody>
      </p:sp>
      <p:sp>
        <p:nvSpPr>
          <p:cNvPr id="7" name="Shape 5"/>
          <p:cNvSpPr/>
          <p:nvPr/>
        </p:nvSpPr>
        <p:spPr>
          <a:xfrm>
            <a:off x="777240" y="1417320"/>
            <a:ext cx="5074920" cy="4206240"/>
          </a:xfrm>
          <a:prstGeom prst="roundRect">
            <a:avLst>
              <a:gd name="adj" fmla="val 870"/>
            </a:avLst>
          </a:prstGeom>
          <a:solidFill>
            <a:srgbClr val="FFFCF7"/>
          </a:solidFill>
          <a:ln w="13970">
            <a:solidFill>
              <a:srgbClr val="446E78"/>
            </a:solidFill>
            <a:prstDash val="solid"/>
          </a:ln>
        </p:spPr>
      </p:sp>
      <p:sp>
        <p:nvSpPr>
          <p:cNvPr id="8" name="Text 6"/>
          <p:cNvSpPr/>
          <p:nvPr/>
        </p:nvSpPr>
        <p:spPr>
          <a:xfrm>
            <a:off x="1051560" y="17830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29241F"/>
                </a:solidFill>
                <a:latin typeface="Noto Serif CJK SC" pitchFamily="34" charset="0"/>
                <a:ea typeface="Noto Serif CJK SC" pitchFamily="34" charset="-122"/>
                <a:cs typeface="Noto Serif CJK SC" pitchFamily="34" charset="-120"/>
              </a:rPr>
              <a:t>桑之未落，其叶沃若。</a:t>
            </a:r>
            <a:endParaRPr lang="en-US" sz="2800" dirty="0"/>
          </a:p>
        </p:txBody>
      </p:sp>
      <p:sp>
        <p:nvSpPr>
          <p:cNvPr id="9" name="Text 7"/>
          <p:cNvSpPr/>
          <p:nvPr/>
        </p:nvSpPr>
        <p:spPr>
          <a:xfrm>
            <a:off x="1051560" y="26974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于嗟鸠兮，无食桑葚！</a:t>
            </a:r>
            <a:endParaRPr lang="en-US" sz="2800" dirty="0"/>
          </a:p>
        </p:txBody>
      </p:sp>
      <p:sp>
        <p:nvSpPr>
          <p:cNvPr id="10" name="Shape 8"/>
          <p:cNvSpPr/>
          <p:nvPr/>
        </p:nvSpPr>
        <p:spPr>
          <a:xfrm>
            <a:off x="6373368" y="1417320"/>
            <a:ext cx="5074920" cy="4206240"/>
          </a:xfrm>
          <a:prstGeom prst="roundRect">
            <a:avLst>
              <a:gd name="adj" fmla="val 870"/>
            </a:avLst>
          </a:prstGeom>
          <a:solidFill>
            <a:srgbClr val="FFFCF7"/>
          </a:solidFill>
          <a:ln w="13970">
            <a:solidFill>
              <a:srgbClr val="725260"/>
            </a:solidFill>
            <a:prstDash val="solid"/>
          </a:ln>
        </p:spPr>
      </p:sp>
      <p:sp>
        <p:nvSpPr>
          <p:cNvPr id="11" name="Text 9"/>
          <p:cNvSpPr/>
          <p:nvPr/>
        </p:nvSpPr>
        <p:spPr>
          <a:xfrm>
            <a:off x="6647688" y="17830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29241F"/>
                </a:solidFill>
                <a:latin typeface="Noto Serif CJK SC" pitchFamily="34" charset="0"/>
                <a:ea typeface="Noto Serif CJK SC" pitchFamily="34" charset="-122"/>
                <a:cs typeface="Noto Serif CJK SC" pitchFamily="34" charset="-120"/>
              </a:rPr>
              <a:t>于嗟女兮，无与士耽！</a:t>
            </a:r>
            <a:endParaRPr lang="en-US" sz="2800" dirty="0"/>
          </a:p>
        </p:txBody>
      </p:sp>
      <p:sp>
        <p:nvSpPr>
          <p:cNvPr id="12" name="Text 10"/>
          <p:cNvSpPr/>
          <p:nvPr/>
        </p:nvSpPr>
        <p:spPr>
          <a:xfrm>
            <a:off x="6647688" y="26974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你又多听见了什么？</a:t>
            </a:r>
            <a:endParaRPr lang="en-US" sz="2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657653"/>
          </a:solidFill>
          <a:ln w="12700">
            <a:solidFill>
              <a:srgbClr val="657653"/>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657653"/>
                </a:solidFill>
                <a:latin typeface="Noto Sans CJK SC" pitchFamily="34" charset="0"/>
                <a:ea typeface="Noto Sans CJK SC" pitchFamily="34" charset="-122"/>
                <a:cs typeface="Noto Sans CJK SC" pitchFamily="34" charset="-120"/>
              </a:rPr>
              <a:t>第三章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32</a:t>
            </a:r>
            <a:endParaRPr lang="en-US" sz="1450" dirty="0"/>
          </a:p>
        </p:txBody>
      </p:sp>
      <p:sp>
        <p:nvSpPr>
          <p:cNvPr id="5" name="Text 3"/>
          <p:cNvSpPr/>
          <p:nvPr/>
        </p:nvSpPr>
        <p:spPr>
          <a:xfrm>
            <a:off x="10104120" y="292608"/>
            <a:ext cx="502920" cy="256032"/>
          </a:xfrm>
          <a:prstGeom prst="rect">
            <a:avLst/>
          </a:prstGeom>
          <a:noFill/>
          <a:ln/>
        </p:spPr>
        <p:txBody>
          <a:bodyPr wrap="square" lIns="0" tIns="0" rIns="0" bIns="0" rtlCol="0" anchor="ctr"/>
          <a:lstStyle/>
          <a:p>
            <a:pPr algn="r" indent="0" marL="0">
              <a:buNone/>
            </a:pPr>
            <a:r>
              <a:rPr lang="en-US" sz="1350" b="1" dirty="0">
                <a:solidFill>
                  <a:srgbClr val="657653"/>
                </a:solidFill>
                <a:latin typeface="Noto Sans CJK SC" pitchFamily="34" charset="0"/>
                <a:ea typeface="Noto Sans CJK SC" pitchFamily="34" charset="-122"/>
                <a:cs typeface="Noto Sans CJK SC" pitchFamily="34" charset="-120"/>
              </a:rPr>
              <a:t>B2</a:t>
            </a:r>
            <a:endParaRPr lang="en-US" sz="1350" dirty="0"/>
          </a:p>
        </p:txBody>
      </p:sp>
      <p:sp>
        <p:nvSpPr>
          <p:cNvPr id="6" name="Text 4"/>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桑叶在眼前</a:t>
            </a:r>
            <a:endParaRPr lang="en-US" sz="3600" dirty="0"/>
          </a:p>
        </p:txBody>
      </p:sp>
      <p:sp>
        <p:nvSpPr>
          <p:cNvPr id="7" name="Shape 5"/>
          <p:cNvSpPr/>
          <p:nvPr/>
        </p:nvSpPr>
        <p:spPr>
          <a:xfrm>
            <a:off x="768096" y="1572768"/>
            <a:ext cx="3380232" cy="3858768"/>
          </a:xfrm>
          <a:prstGeom prst="roundRect">
            <a:avLst>
              <a:gd name="adj" fmla="val 1082"/>
            </a:avLst>
          </a:prstGeom>
          <a:solidFill>
            <a:srgbClr val="FFFCF7"/>
          </a:solidFill>
          <a:ln w="13970">
            <a:solidFill>
              <a:srgbClr val="446E78"/>
            </a:solidFill>
            <a:prstDash val="solid"/>
          </a:ln>
        </p:spPr>
      </p:sp>
      <p:sp>
        <p:nvSpPr>
          <p:cNvPr id="8" name="Text 6"/>
          <p:cNvSpPr/>
          <p:nvPr/>
        </p:nvSpPr>
        <p:spPr>
          <a:xfrm>
            <a:off x="1042416"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劝告先落到斑鸠</a:t>
            </a:r>
            <a:endParaRPr lang="en-US" sz="2700" dirty="0"/>
          </a:p>
        </p:txBody>
      </p:sp>
      <p:sp>
        <p:nvSpPr>
          <p:cNvPr id="9" name="Shape 7"/>
          <p:cNvSpPr/>
          <p:nvPr/>
        </p:nvSpPr>
        <p:spPr>
          <a:xfrm>
            <a:off x="4404360" y="1572768"/>
            <a:ext cx="3380232" cy="3858768"/>
          </a:xfrm>
          <a:prstGeom prst="roundRect">
            <a:avLst>
              <a:gd name="adj" fmla="val 1082"/>
            </a:avLst>
          </a:prstGeom>
          <a:solidFill>
            <a:srgbClr val="FFFCF7"/>
          </a:solidFill>
          <a:ln w="13970">
            <a:solidFill>
              <a:srgbClr val="725260"/>
            </a:solidFill>
            <a:prstDash val="solid"/>
          </a:ln>
        </p:spPr>
      </p:sp>
      <p:sp>
        <p:nvSpPr>
          <p:cNvPr id="10" name="Text 8"/>
          <p:cNvSpPr/>
          <p:nvPr/>
        </p:nvSpPr>
        <p:spPr>
          <a:xfrm>
            <a:off x="4678680"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声音又来到女子身边</a:t>
            </a:r>
            <a:endParaRPr lang="en-US" sz="2700" dirty="0"/>
          </a:p>
        </p:txBody>
      </p:sp>
      <p:sp>
        <p:nvSpPr>
          <p:cNvPr id="11" name="Shape 9"/>
          <p:cNvSpPr/>
          <p:nvPr/>
        </p:nvSpPr>
        <p:spPr>
          <a:xfrm>
            <a:off x="8040624" y="1572768"/>
            <a:ext cx="3380232" cy="3858768"/>
          </a:xfrm>
          <a:prstGeom prst="roundRect">
            <a:avLst>
              <a:gd name="adj" fmla="val 1082"/>
            </a:avLst>
          </a:prstGeom>
          <a:solidFill>
            <a:srgbClr val="FFFCF7"/>
          </a:solidFill>
          <a:ln w="13970">
            <a:solidFill>
              <a:srgbClr val="A67F4A"/>
            </a:solidFill>
            <a:prstDash val="solid"/>
          </a:ln>
        </p:spPr>
      </p:sp>
      <p:sp>
        <p:nvSpPr>
          <p:cNvPr id="12" name="Text 10"/>
          <p:cNvSpPr/>
          <p:nvPr/>
        </p:nvSpPr>
        <p:spPr>
          <a:xfrm>
            <a:off x="8314944"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由眼前物象起声、引出所咏，是“兴”；物与人的处境互相映照，又含着“比”。</a:t>
            </a:r>
            <a:endParaRPr lang="en-US" sz="27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657653"/>
          </a:solidFill>
          <a:ln w="12700">
            <a:solidFill>
              <a:srgbClr val="657653"/>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657653"/>
                </a:solidFill>
                <a:latin typeface="Noto Sans CJK SC" pitchFamily="34" charset="0"/>
                <a:ea typeface="Noto Sans CJK SC" pitchFamily="34" charset="-122"/>
                <a:cs typeface="Noto Sans CJK SC" pitchFamily="34" charset="-120"/>
              </a:rPr>
              <a:t>第三章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33</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同一个“耽”，哪些词改变了脱身处境？</a:t>
            </a:r>
            <a:endParaRPr lang="en-US" sz="3600" dirty="0"/>
          </a:p>
        </p:txBody>
      </p:sp>
      <p:sp>
        <p:nvSpPr>
          <p:cNvPr id="6" name="Shape 4"/>
          <p:cNvSpPr/>
          <p:nvPr/>
        </p:nvSpPr>
        <p:spPr>
          <a:xfrm>
            <a:off x="768096" y="1572768"/>
            <a:ext cx="5198364" cy="3858768"/>
          </a:xfrm>
          <a:prstGeom prst="roundRect">
            <a:avLst>
              <a:gd name="adj" fmla="val 948"/>
            </a:avLst>
          </a:prstGeom>
          <a:solidFill>
            <a:srgbClr val="FFFCF7"/>
          </a:solidFill>
          <a:ln w="13970">
            <a:solidFill>
              <a:srgbClr val="446E78"/>
            </a:solidFill>
            <a:prstDash val="solid"/>
          </a:ln>
        </p:spPr>
      </p:sp>
      <p:sp>
        <p:nvSpPr>
          <p:cNvPr id="7" name="Text 5"/>
          <p:cNvSpPr/>
          <p:nvPr/>
        </p:nvSpPr>
        <p:spPr>
          <a:xfrm>
            <a:off x="1042416" y="2029968"/>
            <a:ext cx="4649724" cy="2834640"/>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士之耽兮，犹可说也。</a:t>
            </a:r>
            <a:endParaRPr lang="en-US" sz="3000" dirty="0"/>
          </a:p>
        </p:txBody>
      </p:sp>
      <p:sp>
        <p:nvSpPr>
          <p:cNvPr id="8" name="Shape 6"/>
          <p:cNvSpPr/>
          <p:nvPr/>
        </p:nvSpPr>
        <p:spPr>
          <a:xfrm>
            <a:off x="6222492" y="1572768"/>
            <a:ext cx="5198364" cy="3858768"/>
          </a:xfrm>
          <a:prstGeom prst="roundRect">
            <a:avLst>
              <a:gd name="adj" fmla="val 948"/>
            </a:avLst>
          </a:prstGeom>
          <a:solidFill>
            <a:srgbClr val="FFFCF7"/>
          </a:solidFill>
          <a:ln w="13970">
            <a:solidFill>
              <a:srgbClr val="725260"/>
            </a:solidFill>
            <a:prstDash val="solid"/>
          </a:ln>
        </p:spPr>
      </p:sp>
      <p:sp>
        <p:nvSpPr>
          <p:cNvPr id="9" name="Text 7"/>
          <p:cNvSpPr/>
          <p:nvPr/>
        </p:nvSpPr>
        <p:spPr>
          <a:xfrm>
            <a:off x="6496812" y="2029968"/>
            <a:ext cx="4649724" cy="2834640"/>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女之耽兮，不可说也！</a:t>
            </a:r>
            <a:endParaRPr lang="en-US" sz="3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657653"/>
          </a:solidFill>
          <a:ln w="12700">
            <a:solidFill>
              <a:srgbClr val="657653"/>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657653"/>
                </a:solidFill>
                <a:latin typeface="Noto Sans CJK SC" pitchFamily="34" charset="0"/>
                <a:ea typeface="Noto Sans CJK SC" pitchFamily="34" charset="-122"/>
                <a:cs typeface="Noto Sans CJK SC" pitchFamily="34" charset="-120"/>
              </a:rPr>
              <a:t>第三章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34</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迁嫁以后，为什么先有这一树桑叶？</a:t>
            </a:r>
            <a:endParaRPr lang="en-US" sz="3400" dirty="0"/>
          </a:p>
        </p:txBody>
      </p:sp>
      <p:sp>
        <p:nvSpPr>
          <p:cNvPr id="6" name="Shape 4"/>
          <p:cNvSpPr/>
          <p:nvPr/>
        </p:nvSpPr>
        <p:spPr>
          <a:xfrm>
            <a:off x="822960" y="1325880"/>
            <a:ext cx="10561320" cy="4526280"/>
          </a:xfrm>
          <a:prstGeom prst="roundRect">
            <a:avLst>
              <a:gd name="adj" fmla="val 808"/>
            </a:avLst>
          </a:prstGeom>
          <a:solidFill>
            <a:srgbClr val="FFFCF7"/>
          </a:solidFill>
          <a:ln w="13970">
            <a:solidFill>
              <a:srgbClr val="657653"/>
            </a:solidFill>
            <a:prstDash val="solid"/>
          </a:ln>
        </p:spPr>
      </p:sp>
      <p:sp>
        <p:nvSpPr>
          <p:cNvPr id="7" name="Text 5"/>
          <p:cNvSpPr/>
          <p:nvPr/>
        </p:nvSpPr>
        <p:spPr>
          <a:xfrm>
            <a:off x="1051560" y="1943100"/>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桑之未落，其叶沃若。</a:t>
            </a:r>
            <a:endParaRPr lang="en-US" sz="3100" dirty="0"/>
          </a:p>
        </p:txBody>
      </p:sp>
      <p:sp>
        <p:nvSpPr>
          <p:cNvPr id="8" name="Text 6"/>
          <p:cNvSpPr/>
          <p:nvPr/>
        </p:nvSpPr>
        <p:spPr>
          <a:xfrm>
            <a:off x="1051560" y="2601468"/>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于嗟鸠兮，无食桑葚。</a:t>
            </a:r>
            <a:endParaRPr lang="en-US" sz="3100" dirty="0"/>
          </a:p>
        </p:txBody>
      </p:sp>
      <p:sp>
        <p:nvSpPr>
          <p:cNvPr id="9" name="Text 7"/>
          <p:cNvSpPr/>
          <p:nvPr/>
        </p:nvSpPr>
        <p:spPr>
          <a:xfrm>
            <a:off x="1051560" y="3259836"/>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于嗟女兮，无与士耽。</a:t>
            </a:r>
            <a:endParaRPr lang="en-US" sz="3100" dirty="0"/>
          </a:p>
        </p:txBody>
      </p:sp>
      <p:sp>
        <p:nvSpPr>
          <p:cNvPr id="10" name="Text 8"/>
          <p:cNvSpPr/>
          <p:nvPr/>
        </p:nvSpPr>
        <p:spPr>
          <a:xfrm>
            <a:off x="1051560" y="3918204"/>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士之耽兮，犹可说也。</a:t>
            </a:r>
            <a:endParaRPr lang="en-US" sz="3100" dirty="0"/>
          </a:p>
        </p:txBody>
      </p:sp>
      <p:sp>
        <p:nvSpPr>
          <p:cNvPr id="11" name="Text 9"/>
          <p:cNvSpPr/>
          <p:nvPr/>
        </p:nvSpPr>
        <p:spPr>
          <a:xfrm>
            <a:off x="1051560" y="4576572"/>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女之耽兮，不可说也。</a:t>
            </a:r>
            <a:endParaRPr lang="en-US" sz="3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B58B3E"/>
          </a:solidFill>
          <a:ln w="12700">
            <a:solidFill>
              <a:srgbClr val="B58B3E"/>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B58B3E"/>
                </a:solidFill>
                <a:latin typeface="Noto Sans CJK SC" pitchFamily="34" charset="0"/>
                <a:ea typeface="Noto Sans CJK SC" pitchFamily="34" charset="-122"/>
                <a:cs typeface="Noto Sans CJK SC" pitchFamily="34" charset="-120"/>
              </a:rPr>
              <a:t>第四章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35</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第四章｜桑叶落下以后，诗写了哪些生活？</a:t>
            </a:r>
            <a:endParaRPr lang="en-US" sz="3400" dirty="0"/>
          </a:p>
        </p:txBody>
      </p:sp>
      <p:sp>
        <p:nvSpPr>
          <p:cNvPr id="6" name="Shape 4"/>
          <p:cNvSpPr/>
          <p:nvPr/>
        </p:nvSpPr>
        <p:spPr>
          <a:xfrm>
            <a:off x="822960" y="1325880"/>
            <a:ext cx="10561320" cy="4526280"/>
          </a:xfrm>
          <a:prstGeom prst="roundRect">
            <a:avLst>
              <a:gd name="adj" fmla="val 808"/>
            </a:avLst>
          </a:prstGeom>
          <a:solidFill>
            <a:srgbClr val="FFFCF7"/>
          </a:solidFill>
          <a:ln w="13970">
            <a:solidFill>
              <a:srgbClr val="B58B3E"/>
            </a:solidFill>
            <a:prstDash val="solid"/>
          </a:ln>
        </p:spPr>
      </p:sp>
      <p:sp>
        <p:nvSpPr>
          <p:cNvPr id="7" name="Text 5"/>
          <p:cNvSpPr/>
          <p:nvPr/>
        </p:nvSpPr>
        <p:spPr>
          <a:xfrm>
            <a:off x="1051560" y="1943100"/>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桑之落矣，其黄而陨。</a:t>
            </a:r>
            <a:endParaRPr lang="en-US" sz="3100" dirty="0"/>
          </a:p>
        </p:txBody>
      </p:sp>
      <p:sp>
        <p:nvSpPr>
          <p:cNvPr id="8" name="Text 6"/>
          <p:cNvSpPr/>
          <p:nvPr/>
        </p:nvSpPr>
        <p:spPr>
          <a:xfrm>
            <a:off x="1051560" y="2601468"/>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自我徂尔，三岁食贫。</a:t>
            </a:r>
            <a:endParaRPr lang="en-US" sz="3100" dirty="0"/>
          </a:p>
        </p:txBody>
      </p:sp>
      <p:sp>
        <p:nvSpPr>
          <p:cNvPr id="9" name="Text 7"/>
          <p:cNvSpPr/>
          <p:nvPr/>
        </p:nvSpPr>
        <p:spPr>
          <a:xfrm>
            <a:off x="1051560" y="3259836"/>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淇水汤汤，渐车帷裳。</a:t>
            </a:r>
            <a:endParaRPr lang="en-US" sz="3100" dirty="0"/>
          </a:p>
        </p:txBody>
      </p:sp>
      <p:sp>
        <p:nvSpPr>
          <p:cNvPr id="10" name="Text 8"/>
          <p:cNvSpPr/>
          <p:nvPr/>
        </p:nvSpPr>
        <p:spPr>
          <a:xfrm>
            <a:off x="1051560" y="3918204"/>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女也不爽，士贰其行。</a:t>
            </a:r>
            <a:endParaRPr lang="en-US" sz="3100" dirty="0"/>
          </a:p>
        </p:txBody>
      </p:sp>
      <p:sp>
        <p:nvSpPr>
          <p:cNvPr id="11" name="Text 9"/>
          <p:cNvSpPr/>
          <p:nvPr/>
        </p:nvSpPr>
        <p:spPr>
          <a:xfrm>
            <a:off x="1051560" y="4576572"/>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士也罔极，二三其德。</a:t>
            </a:r>
            <a:endParaRPr lang="en-US" sz="3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B58B3E"/>
          </a:solidFill>
          <a:ln w="12700">
            <a:solidFill>
              <a:srgbClr val="B58B3E"/>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B58B3E"/>
                </a:solidFill>
                <a:latin typeface="Noto Sans CJK SC" pitchFamily="34" charset="0"/>
                <a:ea typeface="Noto Sans CJK SC" pitchFamily="34" charset="-122"/>
                <a:cs typeface="Noto Sans CJK SC" pitchFamily="34" charset="-120"/>
              </a:rPr>
              <a:t>第四章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36</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桑之未落，其叶沃若。</a:t>
            </a:r>
            <a:endParaRPr lang="en-US" sz="3600" dirty="0"/>
          </a:p>
        </p:txBody>
      </p:sp>
      <p:sp>
        <p:nvSpPr>
          <p:cNvPr id="6" name="Shape 4"/>
          <p:cNvSpPr/>
          <p:nvPr/>
        </p:nvSpPr>
        <p:spPr>
          <a:xfrm>
            <a:off x="777240" y="1417320"/>
            <a:ext cx="5074920" cy="4206240"/>
          </a:xfrm>
          <a:prstGeom prst="roundRect">
            <a:avLst>
              <a:gd name="adj" fmla="val 870"/>
            </a:avLst>
          </a:prstGeom>
          <a:solidFill>
            <a:srgbClr val="FFFCF7"/>
          </a:solidFill>
          <a:ln w="13970">
            <a:solidFill>
              <a:srgbClr val="446E78"/>
            </a:solidFill>
            <a:prstDash val="solid"/>
          </a:ln>
        </p:spPr>
      </p:sp>
      <p:sp>
        <p:nvSpPr>
          <p:cNvPr id="7" name="Text 5"/>
          <p:cNvSpPr/>
          <p:nvPr/>
        </p:nvSpPr>
        <p:spPr>
          <a:xfrm>
            <a:off x="1051560" y="17830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29241F"/>
                </a:solidFill>
                <a:latin typeface="Noto Serif CJK SC" pitchFamily="34" charset="0"/>
                <a:ea typeface="Noto Serif CJK SC" pitchFamily="34" charset="-122"/>
                <a:cs typeface="Noto Serif CJK SC" pitchFamily="34" charset="-120"/>
              </a:rPr>
              <a:t>桑之落矣，其黄而陨。</a:t>
            </a:r>
            <a:endParaRPr lang="en-US" sz="2800" dirty="0"/>
          </a:p>
        </p:txBody>
      </p:sp>
      <p:sp>
        <p:nvSpPr>
          <p:cNvPr id="8" name="Text 6"/>
          <p:cNvSpPr/>
          <p:nvPr/>
        </p:nvSpPr>
        <p:spPr>
          <a:xfrm>
            <a:off x="1051560" y="26974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未落／落　沃若／黄而陨</a:t>
            </a:r>
            <a:endParaRPr lang="en-US" sz="2800" dirty="0"/>
          </a:p>
        </p:txBody>
      </p:sp>
      <p:sp>
        <p:nvSpPr>
          <p:cNvPr id="9" name="Shape 7"/>
          <p:cNvSpPr/>
          <p:nvPr/>
        </p:nvSpPr>
        <p:spPr>
          <a:xfrm>
            <a:off x="6373368" y="1417320"/>
            <a:ext cx="5074920" cy="4206240"/>
          </a:xfrm>
          <a:prstGeom prst="roundRect">
            <a:avLst>
              <a:gd name="adj" fmla="val 870"/>
            </a:avLst>
          </a:prstGeom>
          <a:solidFill>
            <a:srgbClr val="FFFCF7"/>
          </a:solidFill>
          <a:ln w="13970">
            <a:solidFill>
              <a:srgbClr val="725260"/>
            </a:solidFill>
            <a:prstDash val="solid"/>
          </a:ln>
        </p:spPr>
      </p:sp>
      <p:sp>
        <p:nvSpPr>
          <p:cNvPr id="10" name="Text 8"/>
          <p:cNvSpPr/>
          <p:nvPr/>
        </p:nvSpPr>
        <p:spPr>
          <a:xfrm>
            <a:off x="6647688" y="17830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29241F"/>
                </a:solidFill>
                <a:latin typeface="Noto Serif CJK SC" pitchFamily="34" charset="0"/>
                <a:ea typeface="Noto Serif CJK SC" pitchFamily="34" charset="-122"/>
                <a:cs typeface="Noto Serif CJK SC" pitchFamily="34" charset="-120"/>
              </a:rPr>
              <a:t>翻回你原来的两种想法：</a:t>
            </a:r>
            <a:endParaRPr lang="en-US" sz="2800" dirty="0"/>
          </a:p>
        </p:txBody>
      </p:sp>
      <p:sp>
        <p:nvSpPr>
          <p:cNvPr id="11" name="Text 9"/>
          <p:cNvSpPr/>
          <p:nvPr/>
        </p:nvSpPr>
        <p:spPr>
          <a:xfrm>
            <a:off x="6647688" y="26974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保留、改写，还是撤回？为什么？</a:t>
            </a:r>
            <a:endParaRPr lang="en-US" sz="2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B58B3E"/>
          </a:solidFill>
          <a:ln w="12700">
            <a:solidFill>
              <a:srgbClr val="B58B3E"/>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B58B3E"/>
                </a:solidFill>
                <a:latin typeface="Noto Sans CJK SC" pitchFamily="34" charset="0"/>
                <a:ea typeface="Noto Sans CJK SC" pitchFamily="34" charset="-122"/>
                <a:cs typeface="Noto Sans CJK SC" pitchFamily="34" charset="-120"/>
              </a:rPr>
              <a:t>第四章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37</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三岁食贫｜淇水汤汤</a:t>
            </a:r>
            <a:endParaRPr lang="en-US" sz="3600" dirty="0"/>
          </a:p>
        </p:txBody>
      </p:sp>
      <p:sp>
        <p:nvSpPr>
          <p:cNvPr id="6" name="Shape 4"/>
          <p:cNvSpPr/>
          <p:nvPr/>
        </p:nvSpPr>
        <p:spPr>
          <a:xfrm>
            <a:off x="768096" y="1572768"/>
            <a:ext cx="3380232" cy="3858768"/>
          </a:xfrm>
          <a:prstGeom prst="roundRect">
            <a:avLst>
              <a:gd name="adj" fmla="val 1082"/>
            </a:avLst>
          </a:prstGeom>
          <a:solidFill>
            <a:srgbClr val="FFFCF7"/>
          </a:solidFill>
          <a:ln w="13970">
            <a:solidFill>
              <a:srgbClr val="446E78"/>
            </a:solidFill>
            <a:prstDash val="solid"/>
          </a:ln>
        </p:spPr>
      </p:sp>
      <p:sp>
        <p:nvSpPr>
          <p:cNvPr id="7" name="Text 5"/>
          <p:cNvSpPr/>
          <p:nvPr/>
        </p:nvSpPr>
        <p:spPr>
          <a:xfrm>
            <a:off x="1042416"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自我徂尔，三岁食贫。</a:t>
            </a:r>
            <a:endParaRPr lang="en-US" sz="2700" dirty="0"/>
          </a:p>
        </p:txBody>
      </p:sp>
      <p:sp>
        <p:nvSpPr>
          <p:cNvPr id="8" name="Shape 6"/>
          <p:cNvSpPr/>
          <p:nvPr/>
        </p:nvSpPr>
        <p:spPr>
          <a:xfrm>
            <a:off x="4404360" y="1572768"/>
            <a:ext cx="3380232" cy="3858768"/>
          </a:xfrm>
          <a:prstGeom prst="roundRect">
            <a:avLst>
              <a:gd name="adj" fmla="val 1082"/>
            </a:avLst>
          </a:prstGeom>
          <a:solidFill>
            <a:srgbClr val="FFFCF7"/>
          </a:solidFill>
          <a:ln w="13970">
            <a:solidFill>
              <a:srgbClr val="725260"/>
            </a:solidFill>
            <a:prstDash val="solid"/>
          </a:ln>
        </p:spPr>
      </p:sp>
      <p:sp>
        <p:nvSpPr>
          <p:cNvPr id="9" name="Text 7"/>
          <p:cNvSpPr/>
          <p:nvPr/>
        </p:nvSpPr>
        <p:spPr>
          <a:xfrm>
            <a:off x="4678680"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淇水汤汤，渐车帷裳。</a:t>
            </a:r>
            <a:endParaRPr lang="en-US" sz="2700" dirty="0"/>
          </a:p>
        </p:txBody>
      </p:sp>
      <p:sp>
        <p:nvSpPr>
          <p:cNvPr id="10" name="Shape 8"/>
          <p:cNvSpPr/>
          <p:nvPr/>
        </p:nvSpPr>
        <p:spPr>
          <a:xfrm>
            <a:off x="8040624" y="1572768"/>
            <a:ext cx="3380232" cy="3858768"/>
          </a:xfrm>
          <a:prstGeom prst="roundRect">
            <a:avLst>
              <a:gd name="adj" fmla="val 1082"/>
            </a:avLst>
          </a:prstGeom>
          <a:solidFill>
            <a:srgbClr val="FFFCF7"/>
          </a:solidFill>
          <a:ln w="13970">
            <a:solidFill>
              <a:srgbClr val="A67F4A"/>
            </a:solidFill>
            <a:prstDash val="solid"/>
          </a:ln>
        </p:spPr>
      </p:sp>
      <p:sp>
        <p:nvSpPr>
          <p:cNvPr id="11" name="Text 9"/>
          <p:cNvSpPr/>
          <p:nvPr/>
        </p:nvSpPr>
        <p:spPr>
          <a:xfrm>
            <a:off x="8314944"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这两句里的时间，一样长吗？</a:t>
            </a:r>
            <a:endParaRPr lang="en-US" sz="27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B58B3E"/>
          </a:solidFill>
          <a:ln w="12700">
            <a:solidFill>
              <a:srgbClr val="B58B3E"/>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B58B3E"/>
                </a:solidFill>
                <a:latin typeface="Noto Sans CJK SC" pitchFamily="34" charset="0"/>
                <a:ea typeface="Noto Sans CJK SC" pitchFamily="34" charset="-122"/>
                <a:cs typeface="Noto Sans CJK SC" pitchFamily="34" charset="-120"/>
              </a:rPr>
              <a:t>第四章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38</a:t>
            </a:r>
            <a:endParaRPr lang="en-US" sz="1450" dirty="0"/>
          </a:p>
        </p:txBody>
      </p:sp>
      <p:sp>
        <p:nvSpPr>
          <p:cNvPr id="5" name="Text 3"/>
          <p:cNvSpPr/>
          <p:nvPr/>
        </p:nvSpPr>
        <p:spPr>
          <a:xfrm>
            <a:off x="10104120" y="292608"/>
            <a:ext cx="502920" cy="256032"/>
          </a:xfrm>
          <a:prstGeom prst="rect">
            <a:avLst/>
          </a:prstGeom>
          <a:noFill/>
          <a:ln/>
        </p:spPr>
        <p:txBody>
          <a:bodyPr wrap="square" lIns="0" tIns="0" rIns="0" bIns="0" rtlCol="0" anchor="ctr"/>
          <a:lstStyle/>
          <a:p>
            <a:pPr algn="r" indent="0" marL="0">
              <a:buNone/>
            </a:pPr>
            <a:r>
              <a:rPr lang="en-US" sz="1350" b="1" dirty="0">
                <a:solidFill>
                  <a:srgbClr val="B58B3E"/>
                </a:solidFill>
                <a:latin typeface="Noto Sans CJK SC" pitchFamily="34" charset="0"/>
                <a:ea typeface="Noto Sans CJK SC" pitchFamily="34" charset="-122"/>
                <a:cs typeface="Noto Sans CJK SC" pitchFamily="34" charset="-120"/>
              </a:rPr>
              <a:t>B0</a:t>
            </a:r>
            <a:endParaRPr lang="en-US" sz="1350" dirty="0"/>
          </a:p>
        </p:txBody>
      </p:sp>
      <p:sp>
        <p:nvSpPr>
          <p:cNvPr id="6" name="Text 4"/>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女也不爽，士贰其行。</a:t>
            </a:r>
            <a:endParaRPr lang="en-US" sz="3600" dirty="0"/>
          </a:p>
        </p:txBody>
      </p:sp>
      <p:sp>
        <p:nvSpPr>
          <p:cNvPr id="7" name="Shape 5"/>
          <p:cNvSpPr/>
          <p:nvPr/>
        </p:nvSpPr>
        <p:spPr>
          <a:xfrm>
            <a:off x="768096" y="1572768"/>
            <a:ext cx="3380232" cy="3858768"/>
          </a:xfrm>
          <a:prstGeom prst="roundRect">
            <a:avLst>
              <a:gd name="adj" fmla="val 1082"/>
            </a:avLst>
          </a:prstGeom>
          <a:solidFill>
            <a:srgbClr val="FFFCF7"/>
          </a:solidFill>
          <a:ln w="13970">
            <a:solidFill>
              <a:srgbClr val="446E78"/>
            </a:solidFill>
            <a:prstDash val="solid"/>
          </a:ln>
        </p:spPr>
      </p:sp>
      <p:sp>
        <p:nvSpPr>
          <p:cNvPr id="8" name="Text 6"/>
          <p:cNvSpPr/>
          <p:nvPr/>
        </p:nvSpPr>
        <p:spPr>
          <a:xfrm>
            <a:off x="1042416"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士也罔极，二三其德。</a:t>
            </a:r>
            <a:endParaRPr lang="en-US" sz="2700" dirty="0"/>
          </a:p>
        </p:txBody>
      </p:sp>
      <p:sp>
        <p:nvSpPr>
          <p:cNvPr id="9" name="Shape 7"/>
          <p:cNvSpPr/>
          <p:nvPr/>
        </p:nvSpPr>
        <p:spPr>
          <a:xfrm>
            <a:off x="4404360" y="1572768"/>
            <a:ext cx="3380232" cy="3858768"/>
          </a:xfrm>
          <a:prstGeom prst="roundRect">
            <a:avLst>
              <a:gd name="adj" fmla="val 1082"/>
            </a:avLst>
          </a:prstGeom>
          <a:solidFill>
            <a:srgbClr val="FFFCF7"/>
          </a:solidFill>
          <a:ln w="13970">
            <a:solidFill>
              <a:srgbClr val="725260"/>
            </a:solidFill>
            <a:prstDash val="solid"/>
          </a:ln>
        </p:spPr>
      </p:sp>
      <p:sp>
        <p:nvSpPr>
          <p:cNvPr id="10" name="Text 8"/>
          <p:cNvSpPr/>
          <p:nvPr/>
        </p:nvSpPr>
        <p:spPr>
          <a:xfrm>
            <a:off x="4678680"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不爽　贰行　罔极　二三其德</a:t>
            </a:r>
            <a:endParaRPr lang="en-US" sz="2700" dirty="0"/>
          </a:p>
        </p:txBody>
      </p:sp>
      <p:sp>
        <p:nvSpPr>
          <p:cNvPr id="11" name="Shape 9"/>
          <p:cNvSpPr/>
          <p:nvPr/>
        </p:nvSpPr>
        <p:spPr>
          <a:xfrm>
            <a:off x="8040624" y="1572768"/>
            <a:ext cx="3380232" cy="3858768"/>
          </a:xfrm>
          <a:prstGeom prst="roundRect">
            <a:avLst>
              <a:gd name="adj" fmla="val 1082"/>
            </a:avLst>
          </a:prstGeom>
          <a:solidFill>
            <a:srgbClr val="FFFCF7"/>
          </a:solidFill>
          <a:ln w="13970">
            <a:solidFill>
              <a:srgbClr val="A67F4A"/>
            </a:solidFill>
            <a:prstDash val="solid"/>
          </a:ln>
        </p:spPr>
      </p:sp>
      <p:sp>
        <p:nvSpPr>
          <p:cNvPr id="12" name="Text 10"/>
          <p:cNvSpPr/>
          <p:nvPr/>
        </p:nvSpPr>
        <p:spPr>
          <a:xfrm>
            <a:off x="8314944"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先写准每个词，再标出它在说谁。</a:t>
            </a:r>
            <a:endParaRPr lang="en-US" sz="27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B58B3E"/>
          </a:solidFill>
          <a:ln w="12700">
            <a:solidFill>
              <a:srgbClr val="B58B3E"/>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B58B3E"/>
                </a:solidFill>
                <a:latin typeface="Noto Sans CJK SC" pitchFamily="34" charset="0"/>
                <a:ea typeface="Noto Sans CJK SC" pitchFamily="34" charset="-122"/>
                <a:cs typeface="Noto Sans CJK SC" pitchFamily="34" charset="-120"/>
              </a:rPr>
              <a:t>第四章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39</a:t>
            </a:r>
            <a:endParaRPr lang="en-US" sz="1450" dirty="0"/>
          </a:p>
        </p:txBody>
      </p:sp>
      <p:sp>
        <p:nvSpPr>
          <p:cNvPr id="5" name="Text 3"/>
          <p:cNvSpPr/>
          <p:nvPr/>
        </p:nvSpPr>
        <p:spPr>
          <a:xfrm>
            <a:off x="10104120" y="292608"/>
            <a:ext cx="502920" cy="256032"/>
          </a:xfrm>
          <a:prstGeom prst="rect">
            <a:avLst/>
          </a:prstGeom>
          <a:noFill/>
          <a:ln/>
        </p:spPr>
        <p:txBody>
          <a:bodyPr wrap="square" lIns="0" tIns="0" rIns="0" bIns="0" rtlCol="0" anchor="ctr"/>
          <a:lstStyle/>
          <a:p>
            <a:pPr algn="r" indent="0" marL="0">
              <a:buNone/>
            </a:pPr>
            <a:r>
              <a:rPr lang="en-US" sz="1350" b="1" dirty="0">
                <a:solidFill>
                  <a:srgbClr val="B58B3E"/>
                </a:solidFill>
                <a:latin typeface="Noto Sans CJK SC" pitchFamily="34" charset="0"/>
                <a:ea typeface="Noto Sans CJK SC" pitchFamily="34" charset="-122"/>
                <a:cs typeface="Noto Sans CJK SC" pitchFamily="34" charset="-120"/>
              </a:rPr>
              <a:t>B1</a:t>
            </a:r>
            <a:endParaRPr lang="en-US" sz="1350" dirty="0"/>
          </a:p>
        </p:txBody>
      </p:sp>
      <p:sp>
        <p:nvSpPr>
          <p:cNvPr id="6" name="Text 4"/>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哪些词在说女子？哪些词在说男子？</a:t>
            </a:r>
            <a:endParaRPr lang="en-US" sz="3600" dirty="0"/>
          </a:p>
        </p:txBody>
      </p:sp>
      <p:sp>
        <p:nvSpPr>
          <p:cNvPr id="7" name="Shape 5"/>
          <p:cNvSpPr/>
          <p:nvPr/>
        </p:nvSpPr>
        <p:spPr>
          <a:xfrm>
            <a:off x="768096" y="1572768"/>
            <a:ext cx="5198364" cy="3858768"/>
          </a:xfrm>
          <a:prstGeom prst="roundRect">
            <a:avLst>
              <a:gd name="adj" fmla="val 948"/>
            </a:avLst>
          </a:prstGeom>
          <a:solidFill>
            <a:srgbClr val="FFFCF7"/>
          </a:solidFill>
          <a:ln w="13970">
            <a:solidFill>
              <a:srgbClr val="446E78"/>
            </a:solidFill>
            <a:prstDash val="solid"/>
          </a:ln>
        </p:spPr>
      </p:sp>
      <p:sp>
        <p:nvSpPr>
          <p:cNvPr id="8" name="Text 6"/>
          <p:cNvSpPr/>
          <p:nvPr/>
        </p:nvSpPr>
        <p:spPr>
          <a:xfrm>
            <a:off x="1042416" y="2029968"/>
            <a:ext cx="4649724" cy="2834640"/>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看看黑板上两份真实标法。</a:t>
            </a:r>
            <a:endParaRPr lang="en-US" sz="3000" dirty="0"/>
          </a:p>
        </p:txBody>
      </p:sp>
      <p:sp>
        <p:nvSpPr>
          <p:cNvPr id="9" name="Shape 7"/>
          <p:cNvSpPr/>
          <p:nvPr/>
        </p:nvSpPr>
        <p:spPr>
          <a:xfrm>
            <a:off x="6222492" y="1572768"/>
            <a:ext cx="5198364" cy="3858768"/>
          </a:xfrm>
          <a:prstGeom prst="roundRect">
            <a:avLst>
              <a:gd name="adj" fmla="val 948"/>
            </a:avLst>
          </a:prstGeom>
          <a:solidFill>
            <a:srgbClr val="FFFCF7"/>
          </a:solidFill>
          <a:ln w="13970">
            <a:solidFill>
              <a:srgbClr val="725260"/>
            </a:solidFill>
            <a:prstDash val="solid"/>
          </a:ln>
        </p:spPr>
      </p:sp>
      <p:sp>
        <p:nvSpPr>
          <p:cNvPr id="10" name="Text 8"/>
          <p:cNvSpPr/>
          <p:nvPr/>
        </p:nvSpPr>
        <p:spPr>
          <a:xfrm>
            <a:off x="6496812" y="2029968"/>
            <a:ext cx="4649724" cy="2834640"/>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只用上下句提出修正。</a:t>
            </a:r>
            <a:endParaRPr lang="en-US" sz="3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B58B3E"/>
          </a:solidFill>
          <a:ln w="12700">
            <a:solidFill>
              <a:srgbClr val="B58B3E"/>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B58B3E"/>
                </a:solidFill>
                <a:latin typeface="Noto Sans CJK SC" pitchFamily="34" charset="0"/>
                <a:ea typeface="Noto Sans CJK SC" pitchFamily="34" charset="-122"/>
                <a:cs typeface="Noto Sans CJK SC" pitchFamily="34" charset="-120"/>
              </a:rPr>
              <a:t>第四章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40</a:t>
            </a:r>
            <a:endParaRPr lang="en-US" sz="1450" dirty="0"/>
          </a:p>
        </p:txBody>
      </p:sp>
      <p:sp>
        <p:nvSpPr>
          <p:cNvPr id="5" name="Text 3"/>
          <p:cNvSpPr/>
          <p:nvPr/>
        </p:nvSpPr>
        <p:spPr>
          <a:xfrm>
            <a:off x="10104120" y="292608"/>
            <a:ext cx="502920" cy="256032"/>
          </a:xfrm>
          <a:prstGeom prst="rect">
            <a:avLst/>
          </a:prstGeom>
          <a:noFill/>
          <a:ln/>
        </p:spPr>
        <p:txBody>
          <a:bodyPr wrap="square" lIns="0" tIns="0" rIns="0" bIns="0" rtlCol="0" anchor="ctr"/>
          <a:lstStyle/>
          <a:p>
            <a:pPr algn="r" indent="0" marL="0">
              <a:buNone/>
            </a:pPr>
            <a:r>
              <a:rPr lang="en-US" sz="1350" b="1" dirty="0">
                <a:solidFill>
                  <a:srgbClr val="B58B3E"/>
                </a:solidFill>
                <a:latin typeface="Noto Sans CJK SC" pitchFamily="34" charset="0"/>
                <a:ea typeface="Noto Sans CJK SC" pitchFamily="34" charset="-122"/>
                <a:cs typeface="Noto Sans CJK SC" pitchFamily="34" charset="-120"/>
              </a:rPr>
              <a:t>B2</a:t>
            </a:r>
            <a:endParaRPr lang="en-US" sz="1350" dirty="0"/>
          </a:p>
        </p:txBody>
      </p:sp>
      <p:sp>
        <p:nvSpPr>
          <p:cNvPr id="6" name="Text 4"/>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女子没有差错。</a:t>
            </a:r>
            <a:endParaRPr lang="en-US" sz="3600" dirty="0"/>
          </a:p>
        </p:txBody>
      </p:sp>
      <p:sp>
        <p:nvSpPr>
          <p:cNvPr id="7" name="Shape 5"/>
          <p:cNvSpPr/>
          <p:nvPr/>
        </p:nvSpPr>
        <p:spPr>
          <a:xfrm>
            <a:off x="768096" y="1572768"/>
            <a:ext cx="3380232" cy="3858768"/>
          </a:xfrm>
          <a:prstGeom prst="roundRect">
            <a:avLst>
              <a:gd name="adj" fmla="val 1082"/>
            </a:avLst>
          </a:prstGeom>
          <a:solidFill>
            <a:srgbClr val="FFFCF7"/>
          </a:solidFill>
          <a:ln w="13970">
            <a:solidFill>
              <a:srgbClr val="446E78"/>
            </a:solidFill>
            <a:prstDash val="solid"/>
          </a:ln>
        </p:spPr>
      </p:sp>
      <p:sp>
        <p:nvSpPr>
          <p:cNvPr id="8" name="Text 6"/>
          <p:cNvSpPr/>
          <p:nvPr/>
        </p:nvSpPr>
        <p:spPr>
          <a:xfrm>
            <a:off x="1042416"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男子行为前后不一。</a:t>
            </a:r>
            <a:endParaRPr lang="en-US" sz="2700" dirty="0"/>
          </a:p>
        </p:txBody>
      </p:sp>
      <p:sp>
        <p:nvSpPr>
          <p:cNvPr id="9" name="Shape 7"/>
          <p:cNvSpPr/>
          <p:nvPr/>
        </p:nvSpPr>
        <p:spPr>
          <a:xfrm>
            <a:off x="4404360" y="1572768"/>
            <a:ext cx="3380232" cy="3858768"/>
          </a:xfrm>
          <a:prstGeom prst="roundRect">
            <a:avLst>
              <a:gd name="adj" fmla="val 1082"/>
            </a:avLst>
          </a:prstGeom>
          <a:solidFill>
            <a:srgbClr val="FFFCF7"/>
          </a:solidFill>
          <a:ln w="13970">
            <a:solidFill>
              <a:srgbClr val="725260"/>
            </a:solidFill>
            <a:prstDash val="solid"/>
          </a:ln>
        </p:spPr>
      </p:sp>
      <p:sp>
        <p:nvSpPr>
          <p:cNvPr id="10" name="Text 8"/>
          <p:cNvSpPr/>
          <p:nvPr/>
        </p:nvSpPr>
        <p:spPr>
          <a:xfrm>
            <a:off x="4678680"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他的行为没有准则，品行反复无常。</a:t>
            </a:r>
            <a:endParaRPr lang="en-US" sz="2700" dirty="0"/>
          </a:p>
        </p:txBody>
      </p:sp>
      <p:sp>
        <p:nvSpPr>
          <p:cNvPr id="11" name="Shape 9"/>
          <p:cNvSpPr/>
          <p:nvPr/>
        </p:nvSpPr>
        <p:spPr>
          <a:xfrm>
            <a:off x="8040624" y="1572768"/>
            <a:ext cx="3380232" cy="3858768"/>
          </a:xfrm>
          <a:prstGeom prst="roundRect">
            <a:avLst>
              <a:gd name="adj" fmla="val 1082"/>
            </a:avLst>
          </a:prstGeom>
          <a:solidFill>
            <a:srgbClr val="FFFCF7"/>
          </a:solidFill>
          <a:ln w="13970">
            <a:solidFill>
              <a:srgbClr val="A67F4A"/>
            </a:solidFill>
            <a:prstDash val="solid"/>
          </a:ln>
        </p:spPr>
      </p:sp>
      <p:sp>
        <p:nvSpPr>
          <p:cNvPr id="12" name="Text 10"/>
          <p:cNvSpPr/>
          <p:nvPr/>
        </p:nvSpPr>
        <p:spPr>
          <a:xfrm>
            <a:off x="8314944"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责任判断怎样一步步加重？</a:t>
            </a:r>
            <a:endParaRPr lang="en-US" sz="27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B58B3E"/>
          </a:solidFill>
          <a:ln w="12700">
            <a:solidFill>
              <a:srgbClr val="B58B3E"/>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B58B3E"/>
                </a:solidFill>
                <a:latin typeface="Noto Sans CJK SC" pitchFamily="34" charset="0"/>
                <a:ea typeface="Noto Sans CJK SC" pitchFamily="34" charset="-122"/>
                <a:cs typeface="Noto Sans CJK SC" pitchFamily="34" charset="-120"/>
              </a:rPr>
              <a:t>第四章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41</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桑叶落下以后，发生了什么？</a:t>
            </a:r>
            <a:endParaRPr lang="en-US" sz="3400" dirty="0"/>
          </a:p>
        </p:txBody>
      </p:sp>
      <p:sp>
        <p:nvSpPr>
          <p:cNvPr id="6" name="Shape 4"/>
          <p:cNvSpPr/>
          <p:nvPr/>
        </p:nvSpPr>
        <p:spPr>
          <a:xfrm>
            <a:off x="822960" y="1325880"/>
            <a:ext cx="10561320" cy="4526280"/>
          </a:xfrm>
          <a:prstGeom prst="roundRect">
            <a:avLst>
              <a:gd name="adj" fmla="val 808"/>
            </a:avLst>
          </a:prstGeom>
          <a:solidFill>
            <a:srgbClr val="FFFCF7"/>
          </a:solidFill>
          <a:ln w="13970">
            <a:solidFill>
              <a:srgbClr val="B58B3E"/>
            </a:solidFill>
            <a:prstDash val="solid"/>
          </a:ln>
        </p:spPr>
      </p:sp>
      <p:sp>
        <p:nvSpPr>
          <p:cNvPr id="7" name="Text 5"/>
          <p:cNvSpPr/>
          <p:nvPr/>
        </p:nvSpPr>
        <p:spPr>
          <a:xfrm>
            <a:off x="1051560" y="1943100"/>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桑之落矣，其黄而陨。</a:t>
            </a:r>
            <a:endParaRPr lang="en-US" sz="3100" dirty="0"/>
          </a:p>
        </p:txBody>
      </p:sp>
      <p:sp>
        <p:nvSpPr>
          <p:cNvPr id="8" name="Text 6"/>
          <p:cNvSpPr/>
          <p:nvPr/>
        </p:nvSpPr>
        <p:spPr>
          <a:xfrm>
            <a:off x="1051560" y="2601468"/>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自我徂尔，三岁食贫。</a:t>
            </a:r>
            <a:endParaRPr lang="en-US" sz="3100" dirty="0"/>
          </a:p>
        </p:txBody>
      </p:sp>
      <p:sp>
        <p:nvSpPr>
          <p:cNvPr id="9" name="Text 7"/>
          <p:cNvSpPr/>
          <p:nvPr/>
        </p:nvSpPr>
        <p:spPr>
          <a:xfrm>
            <a:off x="1051560" y="3259836"/>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淇水汤汤，渐车帷裳。</a:t>
            </a:r>
            <a:endParaRPr lang="en-US" sz="3100" dirty="0"/>
          </a:p>
        </p:txBody>
      </p:sp>
      <p:sp>
        <p:nvSpPr>
          <p:cNvPr id="10" name="Text 8"/>
          <p:cNvSpPr/>
          <p:nvPr/>
        </p:nvSpPr>
        <p:spPr>
          <a:xfrm>
            <a:off x="1051560" y="3918204"/>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女也不爽，士贰其行。</a:t>
            </a:r>
            <a:endParaRPr lang="en-US" sz="3100" dirty="0"/>
          </a:p>
        </p:txBody>
      </p:sp>
      <p:sp>
        <p:nvSpPr>
          <p:cNvPr id="11" name="Text 9"/>
          <p:cNvSpPr/>
          <p:nvPr/>
        </p:nvSpPr>
        <p:spPr>
          <a:xfrm>
            <a:off x="1051560" y="4576572"/>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士也罔极，二三其德。</a:t>
            </a:r>
            <a:endParaRPr lang="en-US" sz="3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725260"/>
          </a:solidFill>
          <a:ln w="12700">
            <a:solidFill>
              <a:srgbClr val="725260"/>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725260"/>
                </a:solidFill>
                <a:latin typeface="Noto Sans CJK SC" pitchFamily="34" charset="0"/>
                <a:ea typeface="Noto Sans CJK SC" pitchFamily="34" charset="-122"/>
                <a:cs typeface="Noto Sans CJK SC" pitchFamily="34" charset="-120"/>
              </a:rPr>
              <a:t>第五章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42</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第五章｜谁在忙碌，谁的声音从外面传来？</a:t>
            </a:r>
            <a:endParaRPr lang="en-US" sz="3400" dirty="0"/>
          </a:p>
        </p:txBody>
      </p:sp>
      <p:sp>
        <p:nvSpPr>
          <p:cNvPr id="6" name="Shape 4"/>
          <p:cNvSpPr/>
          <p:nvPr/>
        </p:nvSpPr>
        <p:spPr>
          <a:xfrm>
            <a:off x="822960" y="1325880"/>
            <a:ext cx="10561320" cy="4526280"/>
          </a:xfrm>
          <a:prstGeom prst="roundRect">
            <a:avLst>
              <a:gd name="adj" fmla="val 808"/>
            </a:avLst>
          </a:prstGeom>
          <a:solidFill>
            <a:srgbClr val="FFFCF7"/>
          </a:solidFill>
          <a:ln w="13970">
            <a:solidFill>
              <a:srgbClr val="725260"/>
            </a:solidFill>
            <a:prstDash val="solid"/>
          </a:ln>
        </p:spPr>
      </p:sp>
      <p:sp>
        <p:nvSpPr>
          <p:cNvPr id="7" name="Text 5"/>
          <p:cNvSpPr/>
          <p:nvPr/>
        </p:nvSpPr>
        <p:spPr>
          <a:xfrm>
            <a:off x="1051560" y="1943100"/>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三岁为妇，靡室劳矣。</a:t>
            </a:r>
            <a:endParaRPr lang="en-US" sz="3100" dirty="0"/>
          </a:p>
        </p:txBody>
      </p:sp>
      <p:sp>
        <p:nvSpPr>
          <p:cNvPr id="8" name="Text 6"/>
          <p:cNvSpPr/>
          <p:nvPr/>
        </p:nvSpPr>
        <p:spPr>
          <a:xfrm>
            <a:off x="1051560" y="2601468"/>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夙兴夜寐，靡有朝矣。</a:t>
            </a:r>
            <a:endParaRPr lang="en-US" sz="3100" dirty="0"/>
          </a:p>
        </p:txBody>
      </p:sp>
      <p:sp>
        <p:nvSpPr>
          <p:cNvPr id="9" name="Text 7"/>
          <p:cNvSpPr/>
          <p:nvPr/>
        </p:nvSpPr>
        <p:spPr>
          <a:xfrm>
            <a:off x="1051560" y="3259836"/>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言既遂矣，至于暴矣。</a:t>
            </a:r>
            <a:endParaRPr lang="en-US" sz="3100" dirty="0"/>
          </a:p>
        </p:txBody>
      </p:sp>
      <p:sp>
        <p:nvSpPr>
          <p:cNvPr id="10" name="Text 8"/>
          <p:cNvSpPr/>
          <p:nvPr/>
        </p:nvSpPr>
        <p:spPr>
          <a:xfrm>
            <a:off x="1051560" y="3918204"/>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兄弟不知，咥其笑矣。</a:t>
            </a:r>
            <a:endParaRPr lang="en-US" sz="3100" dirty="0"/>
          </a:p>
        </p:txBody>
      </p:sp>
      <p:sp>
        <p:nvSpPr>
          <p:cNvPr id="11" name="Text 9"/>
          <p:cNvSpPr/>
          <p:nvPr/>
        </p:nvSpPr>
        <p:spPr>
          <a:xfrm>
            <a:off x="1051560" y="4576572"/>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静言思之，躬自悼矣。</a:t>
            </a:r>
            <a:endParaRPr lang="en-US" sz="3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725260"/>
          </a:solidFill>
          <a:ln w="12700">
            <a:solidFill>
              <a:srgbClr val="725260"/>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725260"/>
                </a:solidFill>
                <a:latin typeface="Noto Sans CJK SC" pitchFamily="34" charset="0"/>
                <a:ea typeface="Noto Sans CJK SC" pitchFamily="34" charset="-122"/>
                <a:cs typeface="Noto Sans CJK SC" pitchFamily="34" charset="-120"/>
              </a:rPr>
              <a:t>第五章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43</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29241F"/>
                </a:solidFill>
                <a:latin typeface="Noto Serif CJK SC" pitchFamily="34" charset="0"/>
                <a:ea typeface="Noto Serif CJK SC" pitchFamily="34" charset="-122"/>
                <a:cs typeface="Noto Serif CJK SC" pitchFamily="34" charset="-120"/>
              </a:rPr>
              <a:t>三岁为妇，靡室劳矣。</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夙兴夜寐，靡有朝矣。</a:t>
            </a:r>
            <a:endParaRPr lang="en-US" sz="3000" dirty="0"/>
          </a:p>
        </p:txBody>
      </p:sp>
      <p:sp>
        <p:nvSpPr>
          <p:cNvPr id="7" name="Text 5"/>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靡：没有　室劳：家务劳动</a:t>
            </a:r>
            <a:endParaRPr lang="en-US" sz="3000" dirty="0"/>
          </a:p>
        </p:txBody>
      </p:sp>
      <p:sp>
        <p:nvSpPr>
          <p:cNvPr id="8" name="Text 6"/>
          <p:cNvSpPr/>
          <p:nvPr/>
        </p:nvSpPr>
        <p:spPr>
          <a:xfrm>
            <a:off x="960120" y="3236976"/>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夙：早　兴：起身　夜寐：晚睡　朝：一日</a:t>
            </a:r>
            <a:endParaRPr lang="en-US" sz="3000" dirty="0"/>
          </a:p>
        </p:txBody>
      </p:sp>
      <p:sp>
        <p:nvSpPr>
          <p:cNvPr id="9" name="Text 7"/>
          <p:cNvSpPr/>
          <p:nvPr/>
        </p:nvSpPr>
        <p:spPr>
          <a:xfrm>
            <a:off x="960120" y="4078224"/>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一天从哪里开始，到哪里结束？</a:t>
            </a:r>
            <a:endParaRPr lang="en-US" sz="3000" dirty="0"/>
          </a:p>
        </p:txBody>
      </p:sp>
      <p:sp>
        <p:nvSpPr>
          <p:cNvPr id="10" name="Text 8"/>
          <p:cNvSpPr/>
          <p:nvPr/>
        </p:nvSpPr>
        <p:spPr>
          <a:xfrm>
            <a:off x="960120" y="4919472"/>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725260"/>
                </a:solidFill>
                <a:latin typeface="Noto Serif CJK SC" pitchFamily="34" charset="0"/>
                <a:ea typeface="Noto Serif CJK SC" pitchFamily="34" charset="-122"/>
                <a:cs typeface="Noto Serif CJK SC" pitchFamily="34" charset="-120"/>
              </a:rPr>
              <a:t>哪个字让它不只发生一天？</a:t>
            </a:r>
            <a:endParaRPr lang="en-US" sz="2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725260"/>
          </a:solidFill>
          <a:ln w="12700">
            <a:solidFill>
              <a:srgbClr val="725260"/>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725260"/>
                </a:solidFill>
                <a:latin typeface="Noto Sans CJK SC" pitchFamily="34" charset="0"/>
                <a:ea typeface="Noto Sans CJK SC" pitchFamily="34" charset="-122"/>
                <a:cs typeface="Noto Sans CJK SC" pitchFamily="34" charset="-120"/>
              </a:rPr>
              <a:t>第五章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44</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后来再看开头，哪些细节值得留意？</a:t>
            </a:r>
            <a:endParaRPr lang="en-US" sz="3600" dirty="0"/>
          </a:p>
        </p:txBody>
      </p:sp>
      <p:sp>
        <p:nvSpPr>
          <p:cNvPr id="6" name="Shape 4"/>
          <p:cNvSpPr/>
          <p:nvPr/>
        </p:nvSpPr>
        <p:spPr>
          <a:xfrm>
            <a:off x="768096" y="1572768"/>
            <a:ext cx="3380232" cy="3858768"/>
          </a:xfrm>
          <a:prstGeom prst="roundRect">
            <a:avLst>
              <a:gd name="adj" fmla="val 1082"/>
            </a:avLst>
          </a:prstGeom>
          <a:solidFill>
            <a:srgbClr val="FFFCF7"/>
          </a:solidFill>
          <a:ln w="13970">
            <a:solidFill>
              <a:srgbClr val="446E78"/>
            </a:solidFill>
            <a:prstDash val="solid"/>
          </a:ln>
        </p:spPr>
      </p:sp>
      <p:sp>
        <p:nvSpPr>
          <p:cNvPr id="7" name="Text 5"/>
          <p:cNvSpPr/>
          <p:nvPr/>
        </p:nvSpPr>
        <p:spPr>
          <a:xfrm>
            <a:off x="1042416"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抱布贸丝　来即我谋　将子无怒</a:t>
            </a:r>
            <a:endParaRPr lang="en-US" sz="2700" dirty="0"/>
          </a:p>
        </p:txBody>
      </p:sp>
      <p:sp>
        <p:nvSpPr>
          <p:cNvPr id="8" name="Shape 6"/>
          <p:cNvSpPr/>
          <p:nvPr/>
        </p:nvSpPr>
        <p:spPr>
          <a:xfrm>
            <a:off x="4404360" y="1572768"/>
            <a:ext cx="3380232" cy="3858768"/>
          </a:xfrm>
          <a:prstGeom prst="roundRect">
            <a:avLst>
              <a:gd name="adj" fmla="val 1082"/>
            </a:avLst>
          </a:prstGeom>
          <a:solidFill>
            <a:srgbClr val="FFFCF7"/>
          </a:solidFill>
          <a:ln w="13970">
            <a:solidFill>
              <a:srgbClr val="725260"/>
            </a:solidFill>
            <a:prstDash val="solid"/>
          </a:ln>
        </p:spPr>
      </p:sp>
      <p:sp>
        <p:nvSpPr>
          <p:cNvPr id="9" name="Text 7"/>
          <p:cNvSpPr/>
          <p:nvPr/>
        </p:nvSpPr>
        <p:spPr>
          <a:xfrm>
            <a:off x="4678680"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后来再看，值得留意</a:t>
            </a:r>
            <a:endParaRPr lang="en-US" sz="2700" dirty="0"/>
          </a:p>
        </p:txBody>
      </p:sp>
      <p:sp>
        <p:nvSpPr>
          <p:cNvPr id="10" name="Shape 8"/>
          <p:cNvSpPr/>
          <p:nvPr/>
        </p:nvSpPr>
        <p:spPr>
          <a:xfrm>
            <a:off x="8040624" y="1572768"/>
            <a:ext cx="3380232" cy="3858768"/>
          </a:xfrm>
          <a:prstGeom prst="roundRect">
            <a:avLst>
              <a:gd name="adj" fmla="val 1082"/>
            </a:avLst>
          </a:prstGeom>
          <a:solidFill>
            <a:srgbClr val="FFFCF7"/>
          </a:solidFill>
          <a:ln w="13970">
            <a:solidFill>
              <a:srgbClr val="A67F4A"/>
            </a:solidFill>
            <a:prstDash val="solid"/>
          </a:ln>
        </p:spPr>
      </p:sp>
      <p:sp>
        <p:nvSpPr>
          <p:cNvPr id="11" name="Text 9"/>
          <p:cNvSpPr/>
          <p:nvPr/>
        </p:nvSpPr>
        <p:spPr>
          <a:xfrm>
            <a:off x="8314944"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只凭当时，不能断定</a:t>
            </a:r>
            <a:endParaRPr lang="en-US" sz="27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725260"/>
          </a:solidFill>
          <a:ln w="12700">
            <a:solidFill>
              <a:srgbClr val="725260"/>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第五章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45</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FFFDFC"/>
                </a:solidFill>
                <a:latin typeface="Noto Serif CJK SC" pitchFamily="34" charset="0"/>
                <a:ea typeface="Noto Serif CJK SC" pitchFamily="34" charset="-122"/>
                <a:cs typeface="Noto Serif CJK SC" pitchFamily="34" charset="-120"/>
              </a:rPr>
              <a:t>笑声散去以后……</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FFFDFC"/>
                </a:solidFill>
                <a:latin typeface="Noto Serif CJK SC" pitchFamily="34" charset="0"/>
                <a:ea typeface="Noto Serif CJK SC" pitchFamily="34" charset="-122"/>
                <a:cs typeface="Noto Serif CJK SC" pitchFamily="34" charset="-120"/>
              </a:rPr>
              <a:t>兄弟不知，咥其笑矣。</a:t>
            </a:r>
            <a:endParaRPr lang="en-US" sz="3000" dirty="0"/>
          </a:p>
        </p:txBody>
      </p:sp>
      <p:sp>
        <p:nvSpPr>
          <p:cNvPr id="7" name="Text 5"/>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FFFDFC"/>
                </a:solidFill>
                <a:latin typeface="Noto Serif CJK SC" pitchFamily="34" charset="0"/>
                <a:ea typeface="Noto Serif CJK SC" pitchFamily="34" charset="-122"/>
                <a:cs typeface="Noto Serif CJK SC" pitchFamily="34" charset="-120"/>
              </a:rPr>
              <a:t>静言思之，躬自悼矣。</a:t>
            </a:r>
            <a:endParaRPr lang="en-US" sz="3000" dirty="0"/>
          </a:p>
        </p:txBody>
      </p:sp>
      <p:sp>
        <p:nvSpPr>
          <p:cNvPr id="8" name="Text 6"/>
          <p:cNvSpPr/>
          <p:nvPr/>
        </p:nvSpPr>
        <p:spPr>
          <a:xfrm>
            <a:off x="960120" y="3236976"/>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EFE3CF"/>
                </a:solidFill>
                <a:latin typeface="Noto Serif CJK SC" pitchFamily="34" charset="0"/>
                <a:ea typeface="Noto Serif CJK SC" pitchFamily="34" charset="-122"/>
                <a:cs typeface="Noto Serif CJK SC" pitchFamily="34" charset="-120"/>
              </a:rPr>
              <a:t>外面的声音退去以后，空间里只剩下谁？</a:t>
            </a:r>
            <a:endParaRPr lang="en-US" sz="2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725260"/>
          </a:solidFill>
          <a:ln w="12700">
            <a:solidFill>
              <a:srgbClr val="725260"/>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725260"/>
                </a:solidFill>
                <a:latin typeface="Noto Sans CJK SC" pitchFamily="34" charset="0"/>
                <a:ea typeface="Noto Sans CJK SC" pitchFamily="34" charset="-122"/>
                <a:cs typeface="Noto Sans CJK SC" pitchFamily="34" charset="-120"/>
              </a:rPr>
              <a:t>第五章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46</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29241F"/>
                </a:solidFill>
                <a:latin typeface="Noto Serif CJK SC" pitchFamily="34" charset="0"/>
                <a:ea typeface="Noto Serif CJK SC" pitchFamily="34" charset="-122"/>
                <a:cs typeface="Noto Serif CJK SC" pitchFamily="34" charset="-120"/>
              </a:rPr>
              <a:t>一间屋子里的许多年</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夙兴夜寐｜既遂至暴｜兄弟不知｜躬自悼矣</a:t>
            </a:r>
            <a:endParaRPr lang="en-US" sz="3000" dirty="0"/>
          </a:p>
        </p:txBody>
      </p:sp>
      <p:sp>
        <p:nvSpPr>
          <p:cNvPr id="7" name="Text 5"/>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725260"/>
                </a:solidFill>
                <a:latin typeface="Noto Serif CJK SC" pitchFamily="34" charset="0"/>
                <a:ea typeface="Noto Serif CJK SC" pitchFamily="34" charset="-122"/>
                <a:cs typeface="Noto Serif CJK SC" pitchFamily="34" charset="-120"/>
              </a:rPr>
              <a:t>只写诗里有的日子，不替她增添诗外的遭遇。</a:t>
            </a:r>
            <a:endParaRPr lang="en-US" sz="28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94473B"/>
          </a:solidFill>
          <a:ln w="12700">
            <a:solidFill>
              <a:srgbClr val="94473B"/>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94473B"/>
                </a:solidFill>
                <a:latin typeface="Noto Sans CJK SC" pitchFamily="34" charset="0"/>
                <a:ea typeface="Noto Sans CJK SC" pitchFamily="34" charset="-122"/>
                <a:cs typeface="Noto Sans CJK SC" pitchFamily="34" charset="-120"/>
              </a:rPr>
              <a:t>第六章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47</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第六章｜她把哪些旧事重新放回眼前？</a:t>
            </a:r>
            <a:endParaRPr lang="en-US" sz="3400" dirty="0"/>
          </a:p>
        </p:txBody>
      </p:sp>
      <p:sp>
        <p:nvSpPr>
          <p:cNvPr id="6" name="Shape 4"/>
          <p:cNvSpPr/>
          <p:nvPr/>
        </p:nvSpPr>
        <p:spPr>
          <a:xfrm>
            <a:off x="822960" y="1325880"/>
            <a:ext cx="10561320" cy="4526280"/>
          </a:xfrm>
          <a:prstGeom prst="roundRect">
            <a:avLst>
              <a:gd name="adj" fmla="val 808"/>
            </a:avLst>
          </a:prstGeom>
          <a:solidFill>
            <a:srgbClr val="FFFCF7"/>
          </a:solidFill>
          <a:ln w="13970">
            <a:solidFill>
              <a:srgbClr val="94473B"/>
            </a:solidFill>
            <a:prstDash val="solid"/>
          </a:ln>
        </p:spPr>
      </p:sp>
      <p:sp>
        <p:nvSpPr>
          <p:cNvPr id="7" name="Text 5"/>
          <p:cNvSpPr/>
          <p:nvPr/>
        </p:nvSpPr>
        <p:spPr>
          <a:xfrm>
            <a:off x="1051560" y="1943100"/>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及尔偕老，老使我怨。</a:t>
            </a:r>
            <a:endParaRPr lang="en-US" sz="3100" dirty="0"/>
          </a:p>
        </p:txBody>
      </p:sp>
      <p:sp>
        <p:nvSpPr>
          <p:cNvPr id="8" name="Text 6"/>
          <p:cNvSpPr/>
          <p:nvPr/>
        </p:nvSpPr>
        <p:spPr>
          <a:xfrm>
            <a:off x="1051560" y="2601468"/>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淇则有岸，隰则有泮。</a:t>
            </a:r>
            <a:endParaRPr lang="en-US" sz="3100" dirty="0"/>
          </a:p>
        </p:txBody>
      </p:sp>
      <p:sp>
        <p:nvSpPr>
          <p:cNvPr id="9" name="Text 7"/>
          <p:cNvSpPr/>
          <p:nvPr/>
        </p:nvSpPr>
        <p:spPr>
          <a:xfrm>
            <a:off x="1051560" y="3259836"/>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总角之宴，言笑晏晏。</a:t>
            </a:r>
            <a:endParaRPr lang="en-US" sz="3100" dirty="0"/>
          </a:p>
        </p:txBody>
      </p:sp>
      <p:sp>
        <p:nvSpPr>
          <p:cNvPr id="10" name="Text 8"/>
          <p:cNvSpPr/>
          <p:nvPr/>
        </p:nvSpPr>
        <p:spPr>
          <a:xfrm>
            <a:off x="1051560" y="3918204"/>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信誓旦旦，不思其反。</a:t>
            </a:r>
            <a:endParaRPr lang="en-US" sz="3100" dirty="0"/>
          </a:p>
        </p:txBody>
      </p:sp>
      <p:sp>
        <p:nvSpPr>
          <p:cNvPr id="11" name="Text 9"/>
          <p:cNvSpPr/>
          <p:nvPr/>
        </p:nvSpPr>
        <p:spPr>
          <a:xfrm>
            <a:off x="1051560" y="4576572"/>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反是不思，亦已焉哉。</a:t>
            </a:r>
            <a:endParaRPr lang="en-US" sz="31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94473B"/>
          </a:solidFill>
          <a:ln w="12700">
            <a:solidFill>
              <a:srgbClr val="94473B"/>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94473B"/>
                </a:solidFill>
                <a:latin typeface="Noto Sans CJK SC" pitchFamily="34" charset="0"/>
                <a:ea typeface="Noto Sans CJK SC" pitchFamily="34" charset="-122"/>
                <a:cs typeface="Noto Sans CJK SC" pitchFamily="34" charset="-120"/>
              </a:rPr>
              <a:t>第六章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48</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及尔偕老，老使我怨。</a:t>
            </a:r>
            <a:endParaRPr lang="en-US" sz="3600" dirty="0"/>
          </a:p>
        </p:txBody>
      </p:sp>
      <p:sp>
        <p:nvSpPr>
          <p:cNvPr id="6" name="Shape 4"/>
          <p:cNvSpPr/>
          <p:nvPr/>
        </p:nvSpPr>
        <p:spPr>
          <a:xfrm>
            <a:off x="768096" y="1572768"/>
            <a:ext cx="3380232" cy="3858768"/>
          </a:xfrm>
          <a:prstGeom prst="roundRect">
            <a:avLst>
              <a:gd name="adj" fmla="val 1082"/>
            </a:avLst>
          </a:prstGeom>
          <a:solidFill>
            <a:srgbClr val="FFFCF7"/>
          </a:solidFill>
          <a:ln w="13970">
            <a:solidFill>
              <a:srgbClr val="446E78"/>
            </a:solidFill>
            <a:prstDash val="solid"/>
          </a:ln>
        </p:spPr>
      </p:sp>
      <p:sp>
        <p:nvSpPr>
          <p:cNvPr id="7" name="Text 5"/>
          <p:cNvSpPr/>
          <p:nvPr/>
        </p:nvSpPr>
        <p:spPr>
          <a:xfrm>
            <a:off x="1042416"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第一个‘老’——</a:t>
            </a:r>
            <a:endParaRPr lang="en-US" sz="2700" dirty="0"/>
          </a:p>
        </p:txBody>
      </p:sp>
      <p:sp>
        <p:nvSpPr>
          <p:cNvPr id="8" name="Shape 6"/>
          <p:cNvSpPr/>
          <p:nvPr/>
        </p:nvSpPr>
        <p:spPr>
          <a:xfrm>
            <a:off x="4404360" y="1572768"/>
            <a:ext cx="3380232" cy="3858768"/>
          </a:xfrm>
          <a:prstGeom prst="roundRect">
            <a:avLst>
              <a:gd name="adj" fmla="val 1082"/>
            </a:avLst>
          </a:prstGeom>
          <a:solidFill>
            <a:srgbClr val="FFFCF7"/>
          </a:solidFill>
          <a:ln w="13970">
            <a:solidFill>
              <a:srgbClr val="725260"/>
            </a:solidFill>
            <a:prstDash val="solid"/>
          </a:ln>
        </p:spPr>
      </p:sp>
      <p:sp>
        <p:nvSpPr>
          <p:cNvPr id="9" name="Text 7"/>
          <p:cNvSpPr/>
          <p:nvPr/>
        </p:nvSpPr>
        <p:spPr>
          <a:xfrm>
            <a:off x="4678680"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第二个‘老’——</a:t>
            </a:r>
            <a:endParaRPr lang="en-US" sz="2700" dirty="0"/>
          </a:p>
        </p:txBody>
      </p:sp>
      <p:sp>
        <p:nvSpPr>
          <p:cNvPr id="10" name="Shape 8"/>
          <p:cNvSpPr/>
          <p:nvPr/>
        </p:nvSpPr>
        <p:spPr>
          <a:xfrm>
            <a:off x="8040624" y="1572768"/>
            <a:ext cx="3380232" cy="3858768"/>
          </a:xfrm>
          <a:prstGeom prst="roundRect">
            <a:avLst>
              <a:gd name="adj" fmla="val 1082"/>
            </a:avLst>
          </a:prstGeom>
          <a:solidFill>
            <a:srgbClr val="FFFCF7"/>
          </a:solidFill>
          <a:ln w="13970">
            <a:solidFill>
              <a:srgbClr val="A67F4A"/>
            </a:solidFill>
            <a:prstDash val="solid"/>
          </a:ln>
        </p:spPr>
      </p:sp>
      <p:sp>
        <p:nvSpPr>
          <p:cNvPr id="11" name="Text 9"/>
          <p:cNvSpPr/>
          <p:nvPr/>
        </p:nvSpPr>
        <p:spPr>
          <a:xfrm>
            <a:off x="8314944"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同一个字，为什么折了回来？</a:t>
            </a:r>
            <a:endParaRPr lang="en-US" sz="27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94473B"/>
          </a:solidFill>
          <a:ln w="12700">
            <a:solidFill>
              <a:srgbClr val="94473B"/>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94473B"/>
                </a:solidFill>
                <a:latin typeface="Noto Sans CJK SC" pitchFamily="34" charset="0"/>
                <a:ea typeface="Noto Sans CJK SC" pitchFamily="34" charset="-122"/>
                <a:cs typeface="Noto Sans CJK SC" pitchFamily="34" charset="-120"/>
              </a:rPr>
              <a:t>第六章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49</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29241F"/>
                </a:solidFill>
                <a:latin typeface="Noto Serif CJK SC" pitchFamily="34" charset="0"/>
                <a:ea typeface="Noto Serif CJK SC" pitchFamily="34" charset="-122"/>
                <a:cs typeface="Noto Serif CJK SC" pitchFamily="34" charset="-120"/>
              </a:rPr>
              <a:t>淇则有岸，隰则有泮。</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这两处地貌有什么共同点？</a:t>
            </a:r>
            <a:endParaRPr lang="en-US" sz="3000" dirty="0"/>
          </a:p>
        </p:txBody>
      </p:sp>
      <p:sp>
        <p:nvSpPr>
          <p:cNvPr id="7" name="Text 5"/>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725260"/>
                </a:solidFill>
                <a:latin typeface="Noto Serif CJK SC" pitchFamily="34" charset="0"/>
                <a:ea typeface="Noto Serif CJK SC" pitchFamily="34" charset="-122"/>
                <a:cs typeface="Noto Serif CJK SC" pitchFamily="34" charset="-120"/>
              </a:rPr>
              <a:t>放在前后句之间，它可能接住什么？</a:t>
            </a:r>
            <a:endParaRPr lang="en-US" sz="28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94473B"/>
          </a:solidFill>
          <a:ln w="12700">
            <a:solidFill>
              <a:srgbClr val="94473B"/>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94473B"/>
                </a:solidFill>
                <a:latin typeface="Noto Sans CJK SC" pitchFamily="34" charset="0"/>
                <a:ea typeface="Noto Sans CJK SC" pitchFamily="34" charset="-122"/>
                <a:cs typeface="Noto Sans CJK SC" pitchFamily="34" charset="-120"/>
              </a:rPr>
              <a:t>第六章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50</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总角之宴</a:t>
            </a:r>
            <a:endParaRPr lang="en-US" sz="3600" dirty="0"/>
          </a:p>
        </p:txBody>
      </p:sp>
      <p:sp>
        <p:nvSpPr>
          <p:cNvPr id="6" name="Shape 4"/>
          <p:cNvSpPr/>
          <p:nvPr/>
        </p:nvSpPr>
        <p:spPr>
          <a:xfrm>
            <a:off x="777240" y="1417320"/>
            <a:ext cx="5074920" cy="4206240"/>
          </a:xfrm>
          <a:prstGeom prst="roundRect">
            <a:avLst>
              <a:gd name="adj" fmla="val 870"/>
            </a:avLst>
          </a:prstGeom>
          <a:solidFill>
            <a:srgbClr val="FFFCF7"/>
          </a:solidFill>
          <a:ln w="13970">
            <a:solidFill>
              <a:srgbClr val="446E78"/>
            </a:solidFill>
            <a:prstDash val="solid"/>
          </a:ln>
        </p:spPr>
      </p:sp>
      <p:sp>
        <p:nvSpPr>
          <p:cNvPr id="7" name="Text 5"/>
          <p:cNvSpPr/>
          <p:nvPr/>
        </p:nvSpPr>
        <p:spPr>
          <a:xfrm>
            <a:off x="1051560" y="17830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29241F"/>
                </a:solidFill>
                <a:latin typeface="Noto Serif CJK SC" pitchFamily="34" charset="0"/>
                <a:ea typeface="Noto Serif CJK SC" pitchFamily="34" charset="-122"/>
                <a:cs typeface="Noto Serif CJK SC" pitchFamily="34" charset="-120"/>
              </a:rPr>
              <a:t>言笑晏晏</a:t>
            </a:r>
            <a:endParaRPr lang="en-US" sz="2800" dirty="0"/>
          </a:p>
        </p:txBody>
      </p:sp>
      <p:sp>
        <p:nvSpPr>
          <p:cNvPr id="8" name="Text 6"/>
          <p:cNvSpPr/>
          <p:nvPr/>
        </p:nvSpPr>
        <p:spPr>
          <a:xfrm>
            <a:off x="1051560" y="26974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29241F"/>
                </a:solidFill>
                <a:latin typeface="Noto Serif CJK SC" pitchFamily="34" charset="0"/>
                <a:ea typeface="Noto Serif CJK SC" pitchFamily="34" charset="-122"/>
                <a:cs typeface="Noto Serif CJK SC" pitchFamily="34" charset="-120"/>
              </a:rPr>
              <a:t>信誓旦旦</a:t>
            </a:r>
            <a:endParaRPr lang="en-US" sz="2800" dirty="0"/>
          </a:p>
        </p:txBody>
      </p:sp>
      <p:sp>
        <p:nvSpPr>
          <p:cNvPr id="9" name="Text 7"/>
          <p:cNvSpPr/>
          <p:nvPr/>
        </p:nvSpPr>
        <p:spPr>
          <a:xfrm>
            <a:off x="1051560" y="36118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不思其反</a:t>
            </a:r>
            <a:endParaRPr lang="en-US" sz="2800" dirty="0"/>
          </a:p>
        </p:txBody>
      </p:sp>
      <p:sp>
        <p:nvSpPr>
          <p:cNvPr id="10" name="Shape 8"/>
          <p:cNvSpPr/>
          <p:nvPr/>
        </p:nvSpPr>
        <p:spPr>
          <a:xfrm>
            <a:off x="6373368" y="1417320"/>
            <a:ext cx="5074920" cy="4206240"/>
          </a:xfrm>
          <a:prstGeom prst="roundRect">
            <a:avLst>
              <a:gd name="adj" fmla="val 870"/>
            </a:avLst>
          </a:prstGeom>
          <a:solidFill>
            <a:srgbClr val="FFFCF7"/>
          </a:solidFill>
          <a:ln w="13970">
            <a:solidFill>
              <a:srgbClr val="725260"/>
            </a:solidFill>
            <a:prstDash val="solid"/>
          </a:ln>
        </p:spPr>
      </p:sp>
      <p:sp>
        <p:nvSpPr>
          <p:cNvPr id="11" name="Text 9"/>
          <p:cNvSpPr/>
          <p:nvPr/>
        </p:nvSpPr>
        <p:spPr>
          <a:xfrm>
            <a:off x="6647688" y="17830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29241F"/>
                </a:solidFill>
                <a:latin typeface="Noto Serif CJK SC" pitchFamily="34" charset="0"/>
                <a:ea typeface="Noto Serif CJK SC" pitchFamily="34" charset="-122"/>
                <a:cs typeface="Noto Serif CJK SC" pitchFamily="34" charset="-120"/>
              </a:rPr>
              <a:t>至于暴矣</a:t>
            </a:r>
            <a:endParaRPr lang="en-US" sz="2800" dirty="0"/>
          </a:p>
        </p:txBody>
      </p:sp>
      <p:sp>
        <p:nvSpPr>
          <p:cNvPr id="12" name="Text 10"/>
          <p:cNvSpPr/>
          <p:nvPr/>
        </p:nvSpPr>
        <p:spPr>
          <a:xfrm>
            <a:off x="6647688" y="26974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29241F"/>
                </a:solidFill>
                <a:latin typeface="Noto Serif CJK SC" pitchFamily="34" charset="0"/>
                <a:ea typeface="Noto Serif CJK SC" pitchFamily="34" charset="-122"/>
                <a:cs typeface="Noto Serif CJK SC" pitchFamily="34" charset="-120"/>
              </a:rPr>
              <a:t>二三其德</a:t>
            </a:r>
            <a:endParaRPr lang="en-US" sz="2800" dirty="0"/>
          </a:p>
        </p:txBody>
      </p:sp>
      <p:sp>
        <p:nvSpPr>
          <p:cNvPr id="13" name="Text 11"/>
          <p:cNvSpPr/>
          <p:nvPr/>
        </p:nvSpPr>
        <p:spPr>
          <a:xfrm>
            <a:off x="6647688" y="36118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把这些原词放进两处：她记得的旧日｜后来核验出的事实。</a:t>
            </a:r>
            <a:endParaRPr lang="en-US" sz="28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94473B"/>
          </a:solidFill>
          <a:ln w="12700">
            <a:solidFill>
              <a:srgbClr val="94473B"/>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第六章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51</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FFFDFC"/>
                </a:solidFill>
                <a:latin typeface="Noto Serif CJK SC" pitchFamily="34" charset="0"/>
                <a:ea typeface="Noto Serif CJK SC" pitchFamily="34" charset="-122"/>
                <a:cs typeface="Noto Serif CJK SC" pitchFamily="34" charset="-120"/>
              </a:rPr>
              <a:t>反是不思，亦已焉哉</a:t>
            </a:r>
            <a:endParaRPr lang="en-US" sz="3600" dirty="0"/>
          </a:p>
        </p:txBody>
      </p:sp>
      <p:sp>
        <p:nvSpPr>
          <p:cNvPr id="6" name="Shape 4"/>
          <p:cNvSpPr/>
          <p:nvPr/>
        </p:nvSpPr>
        <p:spPr>
          <a:xfrm>
            <a:off x="768096" y="1572768"/>
            <a:ext cx="3380232" cy="3858768"/>
          </a:xfrm>
          <a:prstGeom prst="roundRect">
            <a:avLst>
              <a:gd name="adj" fmla="val 1082"/>
            </a:avLst>
          </a:prstGeom>
          <a:solidFill>
            <a:srgbClr val="383129"/>
          </a:solidFill>
          <a:ln w="13970">
            <a:solidFill>
              <a:srgbClr val="446E78"/>
            </a:solidFill>
            <a:prstDash val="solid"/>
          </a:ln>
        </p:spPr>
      </p:sp>
      <p:sp>
        <p:nvSpPr>
          <p:cNvPr id="7" name="Text 5"/>
          <p:cNvSpPr/>
          <p:nvPr/>
        </p:nvSpPr>
        <p:spPr>
          <a:xfrm>
            <a:off x="1042416"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FFFDFC"/>
                </a:solidFill>
                <a:latin typeface="Noto Serif CJK SC" pitchFamily="34" charset="0"/>
                <a:ea typeface="Noto Serif CJK SC" pitchFamily="34" charset="-122"/>
                <a:cs typeface="Noto Serif CJK SC" pitchFamily="34" charset="-120"/>
              </a:rPr>
              <a:t>信誓旦旦，不思其反。</a:t>
            </a:r>
            <a:endParaRPr lang="en-US" sz="2700" dirty="0"/>
          </a:p>
        </p:txBody>
      </p:sp>
      <p:sp>
        <p:nvSpPr>
          <p:cNvPr id="8" name="Shape 6"/>
          <p:cNvSpPr/>
          <p:nvPr/>
        </p:nvSpPr>
        <p:spPr>
          <a:xfrm>
            <a:off x="4404360" y="1572768"/>
            <a:ext cx="3380232" cy="3858768"/>
          </a:xfrm>
          <a:prstGeom prst="roundRect">
            <a:avLst>
              <a:gd name="adj" fmla="val 1082"/>
            </a:avLst>
          </a:prstGeom>
          <a:solidFill>
            <a:srgbClr val="383129"/>
          </a:solidFill>
          <a:ln w="13970">
            <a:solidFill>
              <a:srgbClr val="725260"/>
            </a:solidFill>
            <a:prstDash val="solid"/>
          </a:ln>
        </p:spPr>
      </p:sp>
      <p:sp>
        <p:nvSpPr>
          <p:cNvPr id="9" name="Text 7"/>
          <p:cNvSpPr/>
          <p:nvPr/>
        </p:nvSpPr>
        <p:spPr>
          <a:xfrm>
            <a:off x="4678680"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FFFDFC"/>
                </a:solidFill>
                <a:latin typeface="Noto Serif CJK SC" pitchFamily="34" charset="0"/>
                <a:ea typeface="Noto Serif CJK SC" pitchFamily="34" charset="-122"/>
                <a:cs typeface="Noto Serif CJK SC" pitchFamily="34" charset="-120"/>
              </a:rPr>
              <a:t>反是不思，亦已焉哉！</a:t>
            </a:r>
            <a:endParaRPr lang="en-US" sz="2700" dirty="0"/>
          </a:p>
        </p:txBody>
      </p:sp>
      <p:sp>
        <p:nvSpPr>
          <p:cNvPr id="10" name="Shape 8"/>
          <p:cNvSpPr/>
          <p:nvPr/>
        </p:nvSpPr>
        <p:spPr>
          <a:xfrm>
            <a:off x="8040624" y="1572768"/>
            <a:ext cx="3380232" cy="3858768"/>
          </a:xfrm>
          <a:prstGeom prst="roundRect">
            <a:avLst>
              <a:gd name="adj" fmla="val 1082"/>
            </a:avLst>
          </a:prstGeom>
          <a:solidFill>
            <a:srgbClr val="383129"/>
          </a:solidFill>
          <a:ln w="13970">
            <a:solidFill>
              <a:srgbClr val="A67F4A"/>
            </a:solidFill>
            <a:prstDash val="solid"/>
          </a:ln>
        </p:spPr>
      </p:sp>
      <p:sp>
        <p:nvSpPr>
          <p:cNvPr id="11" name="Text 9"/>
          <p:cNvSpPr/>
          <p:nvPr/>
        </p:nvSpPr>
        <p:spPr>
          <a:xfrm>
            <a:off x="8314944"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FFFDFC"/>
                </a:solidFill>
                <a:latin typeface="Noto Serif CJK SC" pitchFamily="34" charset="0"/>
                <a:ea typeface="Noto Serif CJK SC" pitchFamily="34" charset="-122"/>
                <a:cs typeface="Noto Serif CJK SC" pitchFamily="34" charset="-120"/>
              </a:rPr>
              <a:t>诗写到了哪里？又停在了哪里？</a:t>
            </a:r>
            <a:endParaRPr lang="en-US" sz="27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94473B"/>
          </a:solidFill>
          <a:ln w="12700">
            <a:solidFill>
              <a:srgbClr val="94473B"/>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94473B"/>
                </a:solidFill>
                <a:latin typeface="Noto Sans CJK SC" pitchFamily="34" charset="0"/>
                <a:ea typeface="Noto Sans CJK SC" pitchFamily="34" charset="-122"/>
                <a:cs typeface="Noto Sans CJK SC" pitchFamily="34" charset="-120"/>
              </a:rPr>
              <a:t>第六章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52</a:t>
            </a:r>
            <a:endParaRPr lang="en-US" sz="1450" dirty="0"/>
          </a:p>
        </p:txBody>
      </p:sp>
      <p:sp>
        <p:nvSpPr>
          <p:cNvPr id="5" name="Text 3"/>
          <p:cNvSpPr/>
          <p:nvPr/>
        </p:nvSpPr>
        <p:spPr>
          <a:xfrm>
            <a:off x="10104120" y="292608"/>
            <a:ext cx="502920" cy="256032"/>
          </a:xfrm>
          <a:prstGeom prst="rect">
            <a:avLst/>
          </a:prstGeom>
          <a:noFill/>
          <a:ln/>
        </p:spPr>
        <p:txBody>
          <a:bodyPr wrap="square" lIns="0" tIns="0" rIns="0" bIns="0" rtlCol="0" anchor="ctr"/>
          <a:lstStyle/>
          <a:p>
            <a:pPr algn="r" indent="0" marL="0">
              <a:buNone/>
            </a:pPr>
            <a:r>
              <a:rPr lang="en-US" sz="1350" b="1" dirty="0">
                <a:solidFill>
                  <a:srgbClr val="94473B"/>
                </a:solidFill>
                <a:latin typeface="Noto Sans CJK SC" pitchFamily="34" charset="0"/>
                <a:ea typeface="Noto Sans CJK SC" pitchFamily="34" charset="-122"/>
                <a:cs typeface="Noto Sans CJK SC" pitchFamily="34" charset="-120"/>
              </a:rPr>
              <a:t>B0</a:t>
            </a:r>
            <a:endParaRPr lang="en-US" sz="1350" dirty="0"/>
          </a:p>
        </p:txBody>
      </p:sp>
      <p:sp>
        <p:nvSpPr>
          <p:cNvPr id="6" name="Text 4"/>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500" b="1" dirty="0">
                <a:solidFill>
                  <a:srgbClr val="29241F"/>
                </a:solidFill>
                <a:latin typeface="Noto Serif CJK SC" pitchFamily="34" charset="0"/>
                <a:ea typeface="Noto Serif CJK SC" pitchFamily="34" charset="-122"/>
                <a:cs typeface="Noto Serif CJK SC" pitchFamily="34" charset="-120"/>
              </a:rPr>
              <a:t>她的一生，怎样走到“亦已焉哉”？</a:t>
            </a:r>
            <a:endParaRPr lang="en-US" sz="3500" dirty="0"/>
          </a:p>
        </p:txBody>
      </p:sp>
      <p:sp>
        <p:nvSpPr>
          <p:cNvPr id="7" name="Shape 5"/>
          <p:cNvSpPr/>
          <p:nvPr/>
        </p:nvSpPr>
        <p:spPr>
          <a:xfrm>
            <a:off x="914400" y="3246120"/>
            <a:ext cx="10195560" cy="0"/>
          </a:xfrm>
          <a:prstGeom prst="line">
            <a:avLst/>
          </a:prstGeom>
          <a:noFill/>
          <a:ln w="22860">
            <a:solidFill>
              <a:srgbClr val="DED0BC"/>
            </a:solidFill>
            <a:prstDash val="solid"/>
          </a:ln>
        </p:spPr>
      </p:sp>
      <p:sp>
        <p:nvSpPr>
          <p:cNvPr id="8" name="Shape 6"/>
          <p:cNvSpPr/>
          <p:nvPr/>
        </p:nvSpPr>
        <p:spPr>
          <a:xfrm>
            <a:off x="594360" y="2788920"/>
            <a:ext cx="1325880" cy="932688"/>
          </a:xfrm>
          <a:prstGeom prst="ellipse">
            <a:avLst/>
          </a:prstGeom>
          <a:solidFill>
            <a:srgbClr val="FFFCF7"/>
          </a:solidFill>
          <a:ln w="22860">
            <a:solidFill>
              <a:srgbClr val="A67F4A"/>
            </a:solidFill>
            <a:prstDash val="solid"/>
          </a:ln>
        </p:spPr>
      </p:sp>
      <p:sp>
        <p:nvSpPr>
          <p:cNvPr id="9" name="Text 7"/>
          <p:cNvSpPr/>
          <p:nvPr/>
        </p:nvSpPr>
        <p:spPr>
          <a:xfrm>
            <a:off x="667512" y="3063240"/>
            <a:ext cx="1179576" cy="347472"/>
          </a:xfrm>
          <a:prstGeom prst="rect">
            <a:avLst/>
          </a:prstGeom>
          <a:noFill/>
          <a:ln/>
        </p:spPr>
        <p:txBody>
          <a:bodyPr wrap="square" lIns="0" tIns="0" rIns="0" bIns="0" rtlCol="0" anchor="ctr">
            <a:normAutofit/>
          </a:bodyPr>
          <a:lstStyle/>
          <a:p>
            <a:pPr algn="ctr" indent="0" marL="0">
              <a:buNone/>
            </a:pPr>
            <a:r>
              <a:rPr lang="en-US" sz="1800" b="1" dirty="0">
                <a:solidFill>
                  <a:srgbClr val="29241F"/>
                </a:solidFill>
                <a:latin typeface="Noto Serif CJK SC" pitchFamily="34" charset="0"/>
                <a:ea typeface="Noto Serif CJK SC" pitchFamily="34" charset="-122"/>
                <a:cs typeface="Noto Serif CJK SC" pitchFamily="34" charset="-120"/>
              </a:rPr>
              <a:t>第一章</a:t>
            </a:r>
            <a:endParaRPr lang="en-US" sz="1800" dirty="0"/>
          </a:p>
        </p:txBody>
      </p:sp>
      <p:sp>
        <p:nvSpPr>
          <p:cNvPr id="10" name="Shape 8"/>
          <p:cNvSpPr/>
          <p:nvPr/>
        </p:nvSpPr>
        <p:spPr>
          <a:xfrm>
            <a:off x="2514600" y="2788920"/>
            <a:ext cx="1325880" cy="932688"/>
          </a:xfrm>
          <a:prstGeom prst="ellipse">
            <a:avLst/>
          </a:prstGeom>
          <a:solidFill>
            <a:srgbClr val="FFFCF7"/>
          </a:solidFill>
          <a:ln w="22860">
            <a:solidFill>
              <a:srgbClr val="446E78"/>
            </a:solidFill>
            <a:prstDash val="solid"/>
          </a:ln>
        </p:spPr>
      </p:sp>
      <p:sp>
        <p:nvSpPr>
          <p:cNvPr id="11" name="Text 9"/>
          <p:cNvSpPr/>
          <p:nvPr/>
        </p:nvSpPr>
        <p:spPr>
          <a:xfrm>
            <a:off x="2587752" y="3063240"/>
            <a:ext cx="1179576" cy="347472"/>
          </a:xfrm>
          <a:prstGeom prst="rect">
            <a:avLst/>
          </a:prstGeom>
          <a:noFill/>
          <a:ln/>
        </p:spPr>
        <p:txBody>
          <a:bodyPr wrap="square" lIns="0" tIns="0" rIns="0" bIns="0" rtlCol="0" anchor="ctr">
            <a:normAutofit/>
          </a:bodyPr>
          <a:lstStyle/>
          <a:p>
            <a:pPr algn="ctr" indent="0" marL="0">
              <a:buNone/>
            </a:pPr>
            <a:r>
              <a:rPr lang="en-US" sz="1800" b="1" dirty="0">
                <a:solidFill>
                  <a:srgbClr val="29241F"/>
                </a:solidFill>
                <a:latin typeface="Noto Serif CJK SC" pitchFamily="34" charset="0"/>
                <a:ea typeface="Noto Serif CJK SC" pitchFamily="34" charset="-122"/>
                <a:cs typeface="Noto Serif CJK SC" pitchFamily="34" charset="-120"/>
              </a:rPr>
              <a:t>第二章</a:t>
            </a:r>
            <a:endParaRPr lang="en-US" sz="1800" dirty="0"/>
          </a:p>
        </p:txBody>
      </p:sp>
      <p:sp>
        <p:nvSpPr>
          <p:cNvPr id="12" name="Shape 10"/>
          <p:cNvSpPr/>
          <p:nvPr/>
        </p:nvSpPr>
        <p:spPr>
          <a:xfrm>
            <a:off x="4434840" y="2788920"/>
            <a:ext cx="1325880" cy="932688"/>
          </a:xfrm>
          <a:prstGeom prst="ellipse">
            <a:avLst/>
          </a:prstGeom>
          <a:solidFill>
            <a:srgbClr val="FFFCF7"/>
          </a:solidFill>
          <a:ln w="22860">
            <a:solidFill>
              <a:srgbClr val="657653"/>
            </a:solidFill>
            <a:prstDash val="solid"/>
          </a:ln>
        </p:spPr>
      </p:sp>
      <p:sp>
        <p:nvSpPr>
          <p:cNvPr id="13" name="Text 11"/>
          <p:cNvSpPr/>
          <p:nvPr/>
        </p:nvSpPr>
        <p:spPr>
          <a:xfrm>
            <a:off x="4507992" y="3063240"/>
            <a:ext cx="1179576" cy="347472"/>
          </a:xfrm>
          <a:prstGeom prst="rect">
            <a:avLst/>
          </a:prstGeom>
          <a:noFill/>
          <a:ln/>
        </p:spPr>
        <p:txBody>
          <a:bodyPr wrap="square" lIns="0" tIns="0" rIns="0" bIns="0" rtlCol="0" anchor="ctr">
            <a:normAutofit/>
          </a:bodyPr>
          <a:lstStyle/>
          <a:p>
            <a:pPr algn="ctr" indent="0" marL="0">
              <a:buNone/>
            </a:pPr>
            <a:r>
              <a:rPr lang="en-US" sz="1800" b="1" dirty="0">
                <a:solidFill>
                  <a:srgbClr val="29241F"/>
                </a:solidFill>
                <a:latin typeface="Noto Serif CJK SC" pitchFamily="34" charset="0"/>
                <a:ea typeface="Noto Serif CJK SC" pitchFamily="34" charset="-122"/>
                <a:cs typeface="Noto Serif CJK SC" pitchFamily="34" charset="-120"/>
              </a:rPr>
              <a:t>第三章</a:t>
            </a:r>
            <a:endParaRPr lang="en-US" sz="1800" dirty="0"/>
          </a:p>
        </p:txBody>
      </p:sp>
      <p:sp>
        <p:nvSpPr>
          <p:cNvPr id="14" name="Shape 12"/>
          <p:cNvSpPr/>
          <p:nvPr/>
        </p:nvSpPr>
        <p:spPr>
          <a:xfrm>
            <a:off x="6355080" y="2788920"/>
            <a:ext cx="1325880" cy="932688"/>
          </a:xfrm>
          <a:prstGeom prst="ellipse">
            <a:avLst/>
          </a:prstGeom>
          <a:solidFill>
            <a:srgbClr val="FFFCF7"/>
          </a:solidFill>
          <a:ln w="22860">
            <a:solidFill>
              <a:srgbClr val="B58B3E"/>
            </a:solidFill>
            <a:prstDash val="solid"/>
          </a:ln>
        </p:spPr>
      </p:sp>
      <p:sp>
        <p:nvSpPr>
          <p:cNvPr id="15" name="Text 13"/>
          <p:cNvSpPr/>
          <p:nvPr/>
        </p:nvSpPr>
        <p:spPr>
          <a:xfrm>
            <a:off x="6428232" y="3063240"/>
            <a:ext cx="1179576" cy="347472"/>
          </a:xfrm>
          <a:prstGeom prst="rect">
            <a:avLst/>
          </a:prstGeom>
          <a:noFill/>
          <a:ln/>
        </p:spPr>
        <p:txBody>
          <a:bodyPr wrap="square" lIns="0" tIns="0" rIns="0" bIns="0" rtlCol="0" anchor="ctr">
            <a:normAutofit/>
          </a:bodyPr>
          <a:lstStyle/>
          <a:p>
            <a:pPr algn="ctr" indent="0" marL="0">
              <a:buNone/>
            </a:pPr>
            <a:r>
              <a:rPr lang="en-US" sz="1800" b="1" dirty="0">
                <a:solidFill>
                  <a:srgbClr val="29241F"/>
                </a:solidFill>
                <a:latin typeface="Noto Serif CJK SC" pitchFamily="34" charset="0"/>
                <a:ea typeface="Noto Serif CJK SC" pitchFamily="34" charset="-122"/>
                <a:cs typeface="Noto Serif CJK SC" pitchFamily="34" charset="-120"/>
              </a:rPr>
              <a:t>第四章</a:t>
            </a:r>
            <a:endParaRPr lang="en-US" sz="1800" dirty="0"/>
          </a:p>
        </p:txBody>
      </p:sp>
      <p:sp>
        <p:nvSpPr>
          <p:cNvPr id="16" name="Shape 14"/>
          <p:cNvSpPr/>
          <p:nvPr/>
        </p:nvSpPr>
        <p:spPr>
          <a:xfrm>
            <a:off x="8275320" y="2788920"/>
            <a:ext cx="1325880" cy="932688"/>
          </a:xfrm>
          <a:prstGeom prst="ellipse">
            <a:avLst/>
          </a:prstGeom>
          <a:solidFill>
            <a:srgbClr val="FFFCF7"/>
          </a:solidFill>
          <a:ln w="22860">
            <a:solidFill>
              <a:srgbClr val="725260"/>
            </a:solidFill>
            <a:prstDash val="solid"/>
          </a:ln>
        </p:spPr>
      </p:sp>
      <p:sp>
        <p:nvSpPr>
          <p:cNvPr id="17" name="Text 15"/>
          <p:cNvSpPr/>
          <p:nvPr/>
        </p:nvSpPr>
        <p:spPr>
          <a:xfrm>
            <a:off x="8348472" y="3063240"/>
            <a:ext cx="1179576" cy="347472"/>
          </a:xfrm>
          <a:prstGeom prst="rect">
            <a:avLst/>
          </a:prstGeom>
          <a:noFill/>
          <a:ln/>
        </p:spPr>
        <p:txBody>
          <a:bodyPr wrap="square" lIns="0" tIns="0" rIns="0" bIns="0" rtlCol="0" anchor="ctr">
            <a:normAutofit/>
          </a:bodyPr>
          <a:lstStyle/>
          <a:p>
            <a:pPr algn="ctr" indent="0" marL="0">
              <a:buNone/>
            </a:pPr>
            <a:r>
              <a:rPr lang="en-US" sz="1800" b="1" dirty="0">
                <a:solidFill>
                  <a:srgbClr val="29241F"/>
                </a:solidFill>
                <a:latin typeface="Noto Serif CJK SC" pitchFamily="34" charset="0"/>
                <a:ea typeface="Noto Serif CJK SC" pitchFamily="34" charset="-122"/>
                <a:cs typeface="Noto Serif CJK SC" pitchFamily="34" charset="-120"/>
              </a:rPr>
              <a:t>第五章</a:t>
            </a:r>
            <a:endParaRPr lang="en-US" sz="1800" dirty="0"/>
          </a:p>
        </p:txBody>
      </p:sp>
      <p:sp>
        <p:nvSpPr>
          <p:cNvPr id="18" name="Shape 16"/>
          <p:cNvSpPr/>
          <p:nvPr/>
        </p:nvSpPr>
        <p:spPr>
          <a:xfrm>
            <a:off x="10195560" y="2788920"/>
            <a:ext cx="1325880" cy="932688"/>
          </a:xfrm>
          <a:prstGeom prst="ellipse">
            <a:avLst/>
          </a:prstGeom>
          <a:solidFill>
            <a:srgbClr val="FFFCF7"/>
          </a:solidFill>
          <a:ln w="22860">
            <a:solidFill>
              <a:srgbClr val="94473B"/>
            </a:solidFill>
            <a:prstDash val="solid"/>
          </a:ln>
        </p:spPr>
      </p:sp>
      <p:sp>
        <p:nvSpPr>
          <p:cNvPr id="19" name="Text 17"/>
          <p:cNvSpPr/>
          <p:nvPr/>
        </p:nvSpPr>
        <p:spPr>
          <a:xfrm>
            <a:off x="10268712" y="3063240"/>
            <a:ext cx="1179576" cy="347472"/>
          </a:xfrm>
          <a:prstGeom prst="rect">
            <a:avLst/>
          </a:prstGeom>
          <a:noFill/>
          <a:ln/>
        </p:spPr>
        <p:txBody>
          <a:bodyPr wrap="square" lIns="0" tIns="0" rIns="0" bIns="0" rtlCol="0" anchor="ctr">
            <a:normAutofit/>
          </a:bodyPr>
          <a:lstStyle/>
          <a:p>
            <a:pPr algn="ctr" indent="0" marL="0">
              <a:buNone/>
            </a:pPr>
            <a:r>
              <a:rPr lang="en-US" sz="1800" b="1" dirty="0">
                <a:solidFill>
                  <a:srgbClr val="29241F"/>
                </a:solidFill>
                <a:latin typeface="Noto Serif CJK SC" pitchFamily="34" charset="0"/>
                <a:ea typeface="Noto Serif CJK SC" pitchFamily="34" charset="-122"/>
                <a:cs typeface="Noto Serif CJK SC" pitchFamily="34" charset="-120"/>
              </a:rPr>
              <a:t>第六章</a:t>
            </a:r>
            <a:endParaRPr lang="en-US" sz="1800" dirty="0"/>
          </a:p>
        </p:txBody>
      </p:sp>
      <p:sp>
        <p:nvSpPr>
          <p:cNvPr id="20" name="Text 18"/>
          <p:cNvSpPr/>
          <p:nvPr/>
        </p:nvSpPr>
        <p:spPr>
          <a:xfrm>
            <a:off x="914400" y="4617720"/>
            <a:ext cx="10360152" cy="658368"/>
          </a:xfrm>
          <a:prstGeom prst="rect">
            <a:avLst/>
          </a:prstGeom>
          <a:noFill/>
          <a:ln/>
        </p:spPr>
        <p:txBody>
          <a:bodyPr wrap="square" lIns="0" tIns="0" rIns="0" bIns="0" rtlCol="0" anchor="ctr"/>
          <a:lstStyle/>
          <a:p>
            <a:pPr algn="ctr" indent="0" marL="0">
              <a:buNone/>
            </a:pPr>
            <a:r>
              <a:rPr lang="en-US" sz="2400" b="1" dirty="0">
                <a:solidFill>
                  <a:srgbClr val="725260"/>
                </a:solidFill>
                <a:latin typeface="Noto Serif CJK SC" pitchFamily="34" charset="0"/>
                <a:ea typeface="Noto Serif CJK SC" pitchFamily="34" charset="-122"/>
                <a:cs typeface="Noto Serif CJK SC" pitchFamily="34" charset="-120"/>
              </a:rPr>
              <a:t>每章留下：一件事｜一句诗的自然意思｜与前一章相比发生了什么变化</a:t>
            </a:r>
            <a:endParaRPr lang="en-US" sz="24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94473B"/>
          </a:solidFill>
          <a:ln w="12700">
            <a:solidFill>
              <a:srgbClr val="94473B"/>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94473B"/>
                </a:solidFill>
                <a:latin typeface="Noto Sans CJK SC" pitchFamily="34" charset="0"/>
                <a:ea typeface="Noto Sans CJK SC" pitchFamily="34" charset="-122"/>
                <a:cs typeface="Noto Sans CJK SC" pitchFamily="34" charset="-120"/>
              </a:rPr>
              <a:t>第六章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53</a:t>
            </a:r>
            <a:endParaRPr lang="en-US" sz="1450" dirty="0"/>
          </a:p>
        </p:txBody>
      </p:sp>
      <p:sp>
        <p:nvSpPr>
          <p:cNvPr id="5" name="Text 3"/>
          <p:cNvSpPr/>
          <p:nvPr/>
        </p:nvSpPr>
        <p:spPr>
          <a:xfrm>
            <a:off x="10104120" y="292608"/>
            <a:ext cx="502920" cy="256032"/>
          </a:xfrm>
          <a:prstGeom prst="rect">
            <a:avLst/>
          </a:prstGeom>
          <a:noFill/>
          <a:ln/>
        </p:spPr>
        <p:txBody>
          <a:bodyPr wrap="square" lIns="0" tIns="0" rIns="0" bIns="0" rtlCol="0" anchor="ctr"/>
          <a:lstStyle/>
          <a:p>
            <a:pPr algn="r" indent="0" marL="0">
              <a:buNone/>
            </a:pPr>
            <a:r>
              <a:rPr lang="en-US" sz="1350" b="1" dirty="0">
                <a:solidFill>
                  <a:srgbClr val="94473B"/>
                </a:solidFill>
                <a:latin typeface="Noto Sans CJK SC" pitchFamily="34" charset="0"/>
                <a:ea typeface="Noto Sans CJK SC" pitchFamily="34" charset="-122"/>
                <a:cs typeface="Noto Sans CJK SC" pitchFamily="34" charset="-120"/>
              </a:rPr>
              <a:t>B1</a:t>
            </a:r>
            <a:endParaRPr lang="en-US" sz="1350" dirty="0"/>
          </a:p>
        </p:txBody>
      </p:sp>
      <p:sp>
        <p:nvSpPr>
          <p:cNvPr id="6" name="Text 4"/>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500" b="1" dirty="0">
                <a:solidFill>
                  <a:srgbClr val="29241F"/>
                </a:solidFill>
                <a:latin typeface="Noto Serif CJK SC" pitchFamily="34" charset="0"/>
                <a:ea typeface="Noto Serif CJK SC" pitchFamily="34" charset="-122"/>
                <a:cs typeface="Noto Serif CJK SC" pitchFamily="34" charset="-120"/>
              </a:rPr>
              <a:t>六张章卡，接成她的一生</a:t>
            </a:r>
            <a:endParaRPr lang="en-US" sz="3500" dirty="0"/>
          </a:p>
        </p:txBody>
      </p:sp>
      <p:sp>
        <p:nvSpPr>
          <p:cNvPr id="7" name="Shape 5"/>
          <p:cNvSpPr/>
          <p:nvPr/>
        </p:nvSpPr>
        <p:spPr>
          <a:xfrm>
            <a:off x="914400" y="3246120"/>
            <a:ext cx="10195560" cy="0"/>
          </a:xfrm>
          <a:prstGeom prst="line">
            <a:avLst/>
          </a:prstGeom>
          <a:noFill/>
          <a:ln w="22860">
            <a:solidFill>
              <a:srgbClr val="DED0BC"/>
            </a:solidFill>
            <a:prstDash val="solid"/>
          </a:ln>
        </p:spPr>
      </p:sp>
      <p:sp>
        <p:nvSpPr>
          <p:cNvPr id="8" name="Shape 6"/>
          <p:cNvSpPr/>
          <p:nvPr/>
        </p:nvSpPr>
        <p:spPr>
          <a:xfrm>
            <a:off x="594360" y="2788920"/>
            <a:ext cx="1325880" cy="932688"/>
          </a:xfrm>
          <a:prstGeom prst="ellipse">
            <a:avLst/>
          </a:prstGeom>
          <a:solidFill>
            <a:srgbClr val="FFFCF7"/>
          </a:solidFill>
          <a:ln w="22860">
            <a:solidFill>
              <a:srgbClr val="A67F4A"/>
            </a:solidFill>
            <a:prstDash val="solid"/>
          </a:ln>
        </p:spPr>
      </p:sp>
      <p:sp>
        <p:nvSpPr>
          <p:cNvPr id="9" name="Text 7"/>
          <p:cNvSpPr/>
          <p:nvPr/>
        </p:nvSpPr>
        <p:spPr>
          <a:xfrm>
            <a:off x="667512" y="3063240"/>
            <a:ext cx="1179576" cy="347472"/>
          </a:xfrm>
          <a:prstGeom prst="rect">
            <a:avLst/>
          </a:prstGeom>
          <a:noFill/>
          <a:ln/>
        </p:spPr>
        <p:txBody>
          <a:bodyPr wrap="square" lIns="0" tIns="0" rIns="0" bIns="0" rtlCol="0" anchor="ctr">
            <a:normAutofit/>
          </a:bodyPr>
          <a:lstStyle/>
          <a:p>
            <a:pPr algn="ctr" indent="0" marL="0">
              <a:buNone/>
            </a:pPr>
            <a:r>
              <a:rPr lang="en-US" sz="1800" b="1" dirty="0">
                <a:solidFill>
                  <a:srgbClr val="29241F"/>
                </a:solidFill>
                <a:latin typeface="Noto Serif CJK SC" pitchFamily="34" charset="0"/>
                <a:ea typeface="Noto Serif CJK SC" pitchFamily="34" charset="-122"/>
                <a:cs typeface="Noto Serif CJK SC" pitchFamily="34" charset="-120"/>
              </a:rPr>
              <a:t>第一章</a:t>
            </a:r>
            <a:endParaRPr lang="en-US" sz="1800" dirty="0"/>
          </a:p>
        </p:txBody>
      </p:sp>
      <p:sp>
        <p:nvSpPr>
          <p:cNvPr id="10" name="Shape 8"/>
          <p:cNvSpPr/>
          <p:nvPr/>
        </p:nvSpPr>
        <p:spPr>
          <a:xfrm>
            <a:off x="2514600" y="2788920"/>
            <a:ext cx="1325880" cy="932688"/>
          </a:xfrm>
          <a:prstGeom prst="ellipse">
            <a:avLst/>
          </a:prstGeom>
          <a:solidFill>
            <a:srgbClr val="FFFCF7"/>
          </a:solidFill>
          <a:ln w="22860">
            <a:solidFill>
              <a:srgbClr val="446E78"/>
            </a:solidFill>
            <a:prstDash val="solid"/>
          </a:ln>
        </p:spPr>
      </p:sp>
      <p:sp>
        <p:nvSpPr>
          <p:cNvPr id="11" name="Text 9"/>
          <p:cNvSpPr/>
          <p:nvPr/>
        </p:nvSpPr>
        <p:spPr>
          <a:xfrm>
            <a:off x="2587752" y="3063240"/>
            <a:ext cx="1179576" cy="347472"/>
          </a:xfrm>
          <a:prstGeom prst="rect">
            <a:avLst/>
          </a:prstGeom>
          <a:noFill/>
          <a:ln/>
        </p:spPr>
        <p:txBody>
          <a:bodyPr wrap="square" lIns="0" tIns="0" rIns="0" bIns="0" rtlCol="0" anchor="ctr">
            <a:normAutofit/>
          </a:bodyPr>
          <a:lstStyle/>
          <a:p>
            <a:pPr algn="ctr" indent="0" marL="0">
              <a:buNone/>
            </a:pPr>
            <a:r>
              <a:rPr lang="en-US" sz="1800" b="1" dirty="0">
                <a:solidFill>
                  <a:srgbClr val="29241F"/>
                </a:solidFill>
                <a:latin typeface="Noto Serif CJK SC" pitchFamily="34" charset="0"/>
                <a:ea typeface="Noto Serif CJK SC" pitchFamily="34" charset="-122"/>
                <a:cs typeface="Noto Serif CJK SC" pitchFamily="34" charset="-120"/>
              </a:rPr>
              <a:t>第二章</a:t>
            </a:r>
            <a:endParaRPr lang="en-US" sz="1800" dirty="0"/>
          </a:p>
        </p:txBody>
      </p:sp>
      <p:sp>
        <p:nvSpPr>
          <p:cNvPr id="12" name="Shape 10"/>
          <p:cNvSpPr/>
          <p:nvPr/>
        </p:nvSpPr>
        <p:spPr>
          <a:xfrm>
            <a:off x="4434840" y="2788920"/>
            <a:ext cx="1325880" cy="932688"/>
          </a:xfrm>
          <a:prstGeom prst="ellipse">
            <a:avLst/>
          </a:prstGeom>
          <a:solidFill>
            <a:srgbClr val="FFFCF7"/>
          </a:solidFill>
          <a:ln w="22860">
            <a:solidFill>
              <a:srgbClr val="657653"/>
            </a:solidFill>
            <a:prstDash val="solid"/>
          </a:ln>
        </p:spPr>
      </p:sp>
      <p:sp>
        <p:nvSpPr>
          <p:cNvPr id="13" name="Text 11"/>
          <p:cNvSpPr/>
          <p:nvPr/>
        </p:nvSpPr>
        <p:spPr>
          <a:xfrm>
            <a:off x="4507992" y="3063240"/>
            <a:ext cx="1179576" cy="347472"/>
          </a:xfrm>
          <a:prstGeom prst="rect">
            <a:avLst/>
          </a:prstGeom>
          <a:noFill/>
          <a:ln/>
        </p:spPr>
        <p:txBody>
          <a:bodyPr wrap="square" lIns="0" tIns="0" rIns="0" bIns="0" rtlCol="0" anchor="ctr">
            <a:normAutofit/>
          </a:bodyPr>
          <a:lstStyle/>
          <a:p>
            <a:pPr algn="ctr" indent="0" marL="0">
              <a:buNone/>
            </a:pPr>
            <a:r>
              <a:rPr lang="en-US" sz="1800" b="1" dirty="0">
                <a:solidFill>
                  <a:srgbClr val="29241F"/>
                </a:solidFill>
                <a:latin typeface="Noto Serif CJK SC" pitchFamily="34" charset="0"/>
                <a:ea typeface="Noto Serif CJK SC" pitchFamily="34" charset="-122"/>
                <a:cs typeface="Noto Serif CJK SC" pitchFamily="34" charset="-120"/>
              </a:rPr>
              <a:t>第三章</a:t>
            </a:r>
            <a:endParaRPr lang="en-US" sz="1800" dirty="0"/>
          </a:p>
        </p:txBody>
      </p:sp>
      <p:sp>
        <p:nvSpPr>
          <p:cNvPr id="14" name="Shape 12"/>
          <p:cNvSpPr/>
          <p:nvPr/>
        </p:nvSpPr>
        <p:spPr>
          <a:xfrm>
            <a:off x="6355080" y="2788920"/>
            <a:ext cx="1325880" cy="932688"/>
          </a:xfrm>
          <a:prstGeom prst="ellipse">
            <a:avLst/>
          </a:prstGeom>
          <a:solidFill>
            <a:srgbClr val="FFFCF7"/>
          </a:solidFill>
          <a:ln w="22860">
            <a:solidFill>
              <a:srgbClr val="B58B3E"/>
            </a:solidFill>
            <a:prstDash val="solid"/>
          </a:ln>
        </p:spPr>
      </p:sp>
      <p:sp>
        <p:nvSpPr>
          <p:cNvPr id="15" name="Text 13"/>
          <p:cNvSpPr/>
          <p:nvPr/>
        </p:nvSpPr>
        <p:spPr>
          <a:xfrm>
            <a:off x="6428232" y="3063240"/>
            <a:ext cx="1179576" cy="347472"/>
          </a:xfrm>
          <a:prstGeom prst="rect">
            <a:avLst/>
          </a:prstGeom>
          <a:noFill/>
          <a:ln/>
        </p:spPr>
        <p:txBody>
          <a:bodyPr wrap="square" lIns="0" tIns="0" rIns="0" bIns="0" rtlCol="0" anchor="ctr">
            <a:normAutofit/>
          </a:bodyPr>
          <a:lstStyle/>
          <a:p>
            <a:pPr algn="ctr" indent="0" marL="0">
              <a:buNone/>
            </a:pPr>
            <a:r>
              <a:rPr lang="en-US" sz="1800" b="1" dirty="0">
                <a:solidFill>
                  <a:srgbClr val="29241F"/>
                </a:solidFill>
                <a:latin typeface="Noto Serif CJK SC" pitchFamily="34" charset="0"/>
                <a:ea typeface="Noto Serif CJK SC" pitchFamily="34" charset="-122"/>
                <a:cs typeface="Noto Serif CJK SC" pitchFamily="34" charset="-120"/>
              </a:rPr>
              <a:t>第四章</a:t>
            </a:r>
            <a:endParaRPr lang="en-US" sz="1800" dirty="0"/>
          </a:p>
        </p:txBody>
      </p:sp>
      <p:sp>
        <p:nvSpPr>
          <p:cNvPr id="16" name="Shape 14"/>
          <p:cNvSpPr/>
          <p:nvPr/>
        </p:nvSpPr>
        <p:spPr>
          <a:xfrm>
            <a:off x="8275320" y="2788920"/>
            <a:ext cx="1325880" cy="932688"/>
          </a:xfrm>
          <a:prstGeom prst="ellipse">
            <a:avLst/>
          </a:prstGeom>
          <a:solidFill>
            <a:srgbClr val="FFFCF7"/>
          </a:solidFill>
          <a:ln w="22860">
            <a:solidFill>
              <a:srgbClr val="725260"/>
            </a:solidFill>
            <a:prstDash val="solid"/>
          </a:ln>
        </p:spPr>
      </p:sp>
      <p:sp>
        <p:nvSpPr>
          <p:cNvPr id="17" name="Text 15"/>
          <p:cNvSpPr/>
          <p:nvPr/>
        </p:nvSpPr>
        <p:spPr>
          <a:xfrm>
            <a:off x="8348472" y="3063240"/>
            <a:ext cx="1179576" cy="347472"/>
          </a:xfrm>
          <a:prstGeom prst="rect">
            <a:avLst/>
          </a:prstGeom>
          <a:noFill/>
          <a:ln/>
        </p:spPr>
        <p:txBody>
          <a:bodyPr wrap="square" lIns="0" tIns="0" rIns="0" bIns="0" rtlCol="0" anchor="ctr">
            <a:normAutofit/>
          </a:bodyPr>
          <a:lstStyle/>
          <a:p>
            <a:pPr algn="ctr" indent="0" marL="0">
              <a:buNone/>
            </a:pPr>
            <a:r>
              <a:rPr lang="en-US" sz="1800" b="1" dirty="0">
                <a:solidFill>
                  <a:srgbClr val="29241F"/>
                </a:solidFill>
                <a:latin typeface="Noto Serif CJK SC" pitchFamily="34" charset="0"/>
                <a:ea typeface="Noto Serif CJK SC" pitchFamily="34" charset="-122"/>
                <a:cs typeface="Noto Serif CJK SC" pitchFamily="34" charset="-120"/>
              </a:rPr>
              <a:t>第五章</a:t>
            </a:r>
            <a:endParaRPr lang="en-US" sz="1800" dirty="0"/>
          </a:p>
        </p:txBody>
      </p:sp>
      <p:sp>
        <p:nvSpPr>
          <p:cNvPr id="18" name="Shape 16"/>
          <p:cNvSpPr/>
          <p:nvPr/>
        </p:nvSpPr>
        <p:spPr>
          <a:xfrm>
            <a:off x="10195560" y="2788920"/>
            <a:ext cx="1325880" cy="932688"/>
          </a:xfrm>
          <a:prstGeom prst="ellipse">
            <a:avLst/>
          </a:prstGeom>
          <a:solidFill>
            <a:srgbClr val="FFFCF7"/>
          </a:solidFill>
          <a:ln w="22860">
            <a:solidFill>
              <a:srgbClr val="94473B"/>
            </a:solidFill>
            <a:prstDash val="solid"/>
          </a:ln>
        </p:spPr>
      </p:sp>
      <p:sp>
        <p:nvSpPr>
          <p:cNvPr id="19" name="Text 17"/>
          <p:cNvSpPr/>
          <p:nvPr/>
        </p:nvSpPr>
        <p:spPr>
          <a:xfrm>
            <a:off x="10268712" y="3063240"/>
            <a:ext cx="1179576" cy="347472"/>
          </a:xfrm>
          <a:prstGeom prst="rect">
            <a:avLst/>
          </a:prstGeom>
          <a:noFill/>
          <a:ln/>
        </p:spPr>
        <p:txBody>
          <a:bodyPr wrap="square" lIns="0" tIns="0" rIns="0" bIns="0" rtlCol="0" anchor="ctr">
            <a:normAutofit/>
          </a:bodyPr>
          <a:lstStyle/>
          <a:p>
            <a:pPr algn="ctr" indent="0" marL="0">
              <a:buNone/>
            </a:pPr>
            <a:r>
              <a:rPr lang="en-US" sz="1800" b="1" dirty="0">
                <a:solidFill>
                  <a:srgbClr val="29241F"/>
                </a:solidFill>
                <a:latin typeface="Noto Serif CJK SC" pitchFamily="34" charset="0"/>
                <a:ea typeface="Noto Serif CJK SC" pitchFamily="34" charset="-122"/>
                <a:cs typeface="Noto Serif CJK SC" pitchFamily="34" charset="-120"/>
              </a:rPr>
              <a:t>第六章</a:t>
            </a:r>
            <a:endParaRPr lang="en-US" sz="1800" dirty="0"/>
          </a:p>
        </p:txBody>
      </p:sp>
      <p:sp>
        <p:nvSpPr>
          <p:cNvPr id="20" name="Text 18"/>
          <p:cNvSpPr/>
          <p:nvPr/>
        </p:nvSpPr>
        <p:spPr>
          <a:xfrm>
            <a:off x="914400" y="4617720"/>
            <a:ext cx="10360152" cy="658368"/>
          </a:xfrm>
          <a:prstGeom prst="rect">
            <a:avLst/>
          </a:prstGeom>
          <a:noFill/>
          <a:ln/>
        </p:spPr>
        <p:txBody>
          <a:bodyPr wrap="square" lIns="0" tIns="0" rIns="0" bIns="0" rtlCol="0" anchor="ctr"/>
          <a:lstStyle/>
          <a:p>
            <a:pPr algn="ctr" indent="0" marL="0">
              <a:buNone/>
            </a:pPr>
            <a:r>
              <a:rPr lang="en-US" sz="2400" b="1" dirty="0">
                <a:solidFill>
                  <a:srgbClr val="725260"/>
                </a:solidFill>
                <a:latin typeface="Noto Serif CJK SC" pitchFamily="34" charset="0"/>
                <a:ea typeface="Noto Serif CJK SC" pitchFamily="34" charset="-122"/>
                <a:cs typeface="Noto Serif CJK SC" pitchFamily="34" charset="-120"/>
              </a:rPr>
              <a:t>只补自己原先缺少的一个转折。</a:t>
            </a:r>
            <a:endParaRPr lang="en-US" sz="24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94473B"/>
          </a:solidFill>
          <a:ln w="12700">
            <a:solidFill>
              <a:srgbClr val="94473B"/>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第六章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54</a:t>
            </a:r>
            <a:endParaRPr lang="en-US" sz="1450" dirty="0"/>
          </a:p>
        </p:txBody>
      </p:sp>
      <p:sp>
        <p:nvSpPr>
          <p:cNvPr id="5" name="Text 3"/>
          <p:cNvSpPr/>
          <p:nvPr/>
        </p:nvSpPr>
        <p:spPr>
          <a:xfrm>
            <a:off x="10104120" y="292608"/>
            <a:ext cx="502920" cy="256032"/>
          </a:xfrm>
          <a:prstGeom prst="rect">
            <a:avLst/>
          </a:prstGeom>
          <a:noFill/>
          <a:ln/>
        </p:spPr>
        <p:txBody>
          <a:bodyPr wrap="square" lIns="0" tIns="0" rIns="0" bIns="0" rtlCol="0" anchor="ctr"/>
          <a:lstStyle/>
          <a:p>
            <a:pPr algn="r" indent="0" marL="0">
              <a:buNone/>
            </a:pPr>
            <a:r>
              <a:rPr lang="en-US" sz="1350" b="1" dirty="0">
                <a:solidFill>
                  <a:srgbClr val="C5B39B"/>
                </a:solidFill>
                <a:latin typeface="Noto Sans CJK SC" pitchFamily="34" charset="0"/>
                <a:ea typeface="Noto Sans CJK SC" pitchFamily="34" charset="-122"/>
                <a:cs typeface="Noto Sans CJK SC" pitchFamily="34" charset="-120"/>
              </a:rPr>
              <a:t>B2</a:t>
            </a:r>
            <a:endParaRPr lang="en-US" sz="1350" dirty="0"/>
          </a:p>
        </p:txBody>
      </p:sp>
      <p:sp>
        <p:nvSpPr>
          <p:cNvPr id="6" name="Text 4"/>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500" b="1" dirty="0">
                <a:solidFill>
                  <a:srgbClr val="FFFDFC"/>
                </a:solidFill>
                <a:latin typeface="Noto Serif CJK SC" pitchFamily="34" charset="0"/>
                <a:ea typeface="Noto Serif CJK SC" pitchFamily="34" charset="-122"/>
                <a:cs typeface="Noto Serif CJK SC" pitchFamily="34" charset="-120"/>
              </a:rPr>
              <a:t>相识议婚　→　等待迁嫁　→　桑叶劝告</a:t>
            </a:r>
            <a:endParaRPr lang="en-US" sz="3500" dirty="0"/>
          </a:p>
        </p:txBody>
      </p:sp>
      <p:sp>
        <p:nvSpPr>
          <p:cNvPr id="7" name="Shape 5"/>
          <p:cNvSpPr/>
          <p:nvPr/>
        </p:nvSpPr>
        <p:spPr>
          <a:xfrm>
            <a:off x="914400" y="3246120"/>
            <a:ext cx="10195560" cy="0"/>
          </a:xfrm>
          <a:prstGeom prst="line">
            <a:avLst/>
          </a:prstGeom>
          <a:noFill/>
          <a:ln w="22860">
            <a:solidFill>
              <a:srgbClr val="C5B39B"/>
            </a:solidFill>
            <a:prstDash val="solid"/>
          </a:ln>
        </p:spPr>
      </p:sp>
      <p:sp>
        <p:nvSpPr>
          <p:cNvPr id="8" name="Shape 6"/>
          <p:cNvSpPr/>
          <p:nvPr/>
        </p:nvSpPr>
        <p:spPr>
          <a:xfrm>
            <a:off x="594360" y="2788920"/>
            <a:ext cx="1325880" cy="932688"/>
          </a:xfrm>
          <a:prstGeom prst="ellipse">
            <a:avLst/>
          </a:prstGeom>
          <a:solidFill>
            <a:srgbClr val="383129"/>
          </a:solidFill>
          <a:ln w="22860">
            <a:solidFill>
              <a:srgbClr val="A67F4A"/>
            </a:solidFill>
            <a:prstDash val="solid"/>
          </a:ln>
        </p:spPr>
      </p:sp>
      <p:sp>
        <p:nvSpPr>
          <p:cNvPr id="9" name="Text 7"/>
          <p:cNvSpPr/>
          <p:nvPr/>
        </p:nvSpPr>
        <p:spPr>
          <a:xfrm>
            <a:off x="667512" y="3063240"/>
            <a:ext cx="1179576" cy="347472"/>
          </a:xfrm>
          <a:prstGeom prst="rect">
            <a:avLst/>
          </a:prstGeom>
          <a:noFill/>
          <a:ln/>
        </p:spPr>
        <p:txBody>
          <a:bodyPr wrap="square" lIns="0" tIns="0" rIns="0" bIns="0" rtlCol="0" anchor="ctr">
            <a:normAutofit/>
          </a:bodyPr>
          <a:lstStyle/>
          <a:p>
            <a:pPr algn="ctr" indent="0" marL="0">
              <a:buNone/>
            </a:pPr>
            <a:r>
              <a:rPr lang="en-US" sz="1600" b="1" dirty="0">
                <a:solidFill>
                  <a:srgbClr val="FFFDFC"/>
                </a:solidFill>
                <a:latin typeface="Noto Serif CJK SC" pitchFamily="34" charset="0"/>
                <a:ea typeface="Noto Serif CJK SC" pitchFamily="34" charset="-122"/>
                <a:cs typeface="Noto Serif CJK SC" pitchFamily="34" charset="-120"/>
              </a:rPr>
              <a:t>相识议婚</a:t>
            </a:r>
            <a:endParaRPr lang="en-US" sz="1600" dirty="0"/>
          </a:p>
        </p:txBody>
      </p:sp>
      <p:sp>
        <p:nvSpPr>
          <p:cNvPr id="10" name="Shape 8"/>
          <p:cNvSpPr/>
          <p:nvPr/>
        </p:nvSpPr>
        <p:spPr>
          <a:xfrm>
            <a:off x="2514600" y="2788920"/>
            <a:ext cx="1325880" cy="932688"/>
          </a:xfrm>
          <a:prstGeom prst="ellipse">
            <a:avLst/>
          </a:prstGeom>
          <a:solidFill>
            <a:srgbClr val="383129"/>
          </a:solidFill>
          <a:ln w="22860">
            <a:solidFill>
              <a:srgbClr val="446E78"/>
            </a:solidFill>
            <a:prstDash val="solid"/>
          </a:ln>
        </p:spPr>
      </p:sp>
      <p:sp>
        <p:nvSpPr>
          <p:cNvPr id="11" name="Text 9"/>
          <p:cNvSpPr/>
          <p:nvPr/>
        </p:nvSpPr>
        <p:spPr>
          <a:xfrm>
            <a:off x="2587752" y="3063240"/>
            <a:ext cx="1179576" cy="347472"/>
          </a:xfrm>
          <a:prstGeom prst="rect">
            <a:avLst/>
          </a:prstGeom>
          <a:noFill/>
          <a:ln/>
        </p:spPr>
        <p:txBody>
          <a:bodyPr wrap="square" lIns="0" tIns="0" rIns="0" bIns="0" rtlCol="0" anchor="ctr">
            <a:normAutofit/>
          </a:bodyPr>
          <a:lstStyle/>
          <a:p>
            <a:pPr algn="ctr" indent="0" marL="0">
              <a:buNone/>
            </a:pPr>
            <a:r>
              <a:rPr lang="en-US" sz="1600" b="1" dirty="0">
                <a:solidFill>
                  <a:srgbClr val="FFFDFC"/>
                </a:solidFill>
                <a:latin typeface="Noto Serif CJK SC" pitchFamily="34" charset="0"/>
                <a:ea typeface="Noto Serif CJK SC" pitchFamily="34" charset="-122"/>
                <a:cs typeface="Noto Serif CJK SC" pitchFamily="34" charset="-120"/>
              </a:rPr>
              <a:t>等待迁嫁</a:t>
            </a:r>
            <a:endParaRPr lang="en-US" sz="1600" dirty="0"/>
          </a:p>
        </p:txBody>
      </p:sp>
      <p:sp>
        <p:nvSpPr>
          <p:cNvPr id="12" name="Shape 10"/>
          <p:cNvSpPr/>
          <p:nvPr/>
        </p:nvSpPr>
        <p:spPr>
          <a:xfrm>
            <a:off x="4434840" y="2788920"/>
            <a:ext cx="1325880" cy="932688"/>
          </a:xfrm>
          <a:prstGeom prst="ellipse">
            <a:avLst/>
          </a:prstGeom>
          <a:solidFill>
            <a:srgbClr val="383129"/>
          </a:solidFill>
          <a:ln w="22860">
            <a:solidFill>
              <a:srgbClr val="657653"/>
            </a:solidFill>
            <a:prstDash val="solid"/>
          </a:ln>
        </p:spPr>
      </p:sp>
      <p:sp>
        <p:nvSpPr>
          <p:cNvPr id="13" name="Text 11"/>
          <p:cNvSpPr/>
          <p:nvPr/>
        </p:nvSpPr>
        <p:spPr>
          <a:xfrm>
            <a:off x="4507992" y="3063240"/>
            <a:ext cx="1179576" cy="347472"/>
          </a:xfrm>
          <a:prstGeom prst="rect">
            <a:avLst/>
          </a:prstGeom>
          <a:noFill/>
          <a:ln/>
        </p:spPr>
        <p:txBody>
          <a:bodyPr wrap="square" lIns="0" tIns="0" rIns="0" bIns="0" rtlCol="0" anchor="ctr">
            <a:normAutofit/>
          </a:bodyPr>
          <a:lstStyle/>
          <a:p>
            <a:pPr algn="ctr" indent="0" marL="0">
              <a:buNone/>
            </a:pPr>
            <a:r>
              <a:rPr lang="en-US" sz="1600" b="1" dirty="0">
                <a:solidFill>
                  <a:srgbClr val="FFFDFC"/>
                </a:solidFill>
                <a:latin typeface="Noto Serif CJK SC" pitchFamily="34" charset="0"/>
                <a:ea typeface="Noto Serif CJK SC" pitchFamily="34" charset="-122"/>
                <a:cs typeface="Noto Serif CJK SC" pitchFamily="34" charset="-120"/>
              </a:rPr>
              <a:t>桑叶劝告</a:t>
            </a:r>
            <a:endParaRPr lang="en-US" sz="1600" dirty="0"/>
          </a:p>
        </p:txBody>
      </p:sp>
      <p:sp>
        <p:nvSpPr>
          <p:cNvPr id="14" name="Shape 12"/>
          <p:cNvSpPr/>
          <p:nvPr/>
        </p:nvSpPr>
        <p:spPr>
          <a:xfrm>
            <a:off x="6355080" y="2788920"/>
            <a:ext cx="1325880" cy="932688"/>
          </a:xfrm>
          <a:prstGeom prst="ellipse">
            <a:avLst/>
          </a:prstGeom>
          <a:solidFill>
            <a:srgbClr val="383129"/>
          </a:solidFill>
          <a:ln w="22860">
            <a:solidFill>
              <a:srgbClr val="B58B3E"/>
            </a:solidFill>
            <a:prstDash val="solid"/>
          </a:ln>
        </p:spPr>
      </p:sp>
      <p:sp>
        <p:nvSpPr>
          <p:cNvPr id="15" name="Text 13"/>
          <p:cNvSpPr/>
          <p:nvPr/>
        </p:nvSpPr>
        <p:spPr>
          <a:xfrm>
            <a:off x="6428232" y="3063240"/>
            <a:ext cx="1179576" cy="347472"/>
          </a:xfrm>
          <a:prstGeom prst="rect">
            <a:avLst/>
          </a:prstGeom>
          <a:noFill/>
          <a:ln/>
        </p:spPr>
        <p:txBody>
          <a:bodyPr wrap="square" lIns="0" tIns="0" rIns="0" bIns="0" rtlCol="0" anchor="ctr">
            <a:normAutofit/>
          </a:bodyPr>
          <a:lstStyle/>
          <a:p>
            <a:pPr algn="ctr" indent="0" marL="0">
              <a:buNone/>
            </a:pPr>
            <a:r>
              <a:rPr lang="en-US" sz="1600" b="1" dirty="0">
                <a:solidFill>
                  <a:srgbClr val="FFFDFC"/>
                </a:solidFill>
                <a:latin typeface="Noto Serif CJK SC" pitchFamily="34" charset="0"/>
                <a:ea typeface="Noto Serif CJK SC" pitchFamily="34" charset="-122"/>
                <a:cs typeface="Noto Serif CJK SC" pitchFamily="34" charset="-120"/>
              </a:rPr>
              <a:t>婚后失衡</a:t>
            </a:r>
            <a:endParaRPr lang="en-US" sz="1600" dirty="0"/>
          </a:p>
        </p:txBody>
      </p:sp>
      <p:sp>
        <p:nvSpPr>
          <p:cNvPr id="16" name="Shape 14"/>
          <p:cNvSpPr/>
          <p:nvPr/>
        </p:nvSpPr>
        <p:spPr>
          <a:xfrm>
            <a:off x="8275320" y="2788920"/>
            <a:ext cx="1325880" cy="932688"/>
          </a:xfrm>
          <a:prstGeom prst="ellipse">
            <a:avLst/>
          </a:prstGeom>
          <a:solidFill>
            <a:srgbClr val="383129"/>
          </a:solidFill>
          <a:ln w="22860">
            <a:solidFill>
              <a:srgbClr val="725260"/>
            </a:solidFill>
            <a:prstDash val="solid"/>
          </a:ln>
        </p:spPr>
      </p:sp>
      <p:sp>
        <p:nvSpPr>
          <p:cNvPr id="17" name="Text 15"/>
          <p:cNvSpPr/>
          <p:nvPr/>
        </p:nvSpPr>
        <p:spPr>
          <a:xfrm>
            <a:off x="8348472" y="3063240"/>
            <a:ext cx="1179576" cy="347472"/>
          </a:xfrm>
          <a:prstGeom prst="rect">
            <a:avLst/>
          </a:prstGeom>
          <a:noFill/>
          <a:ln/>
        </p:spPr>
        <p:txBody>
          <a:bodyPr wrap="square" lIns="0" tIns="0" rIns="0" bIns="0" rtlCol="0" anchor="ctr">
            <a:normAutofit/>
          </a:bodyPr>
          <a:lstStyle/>
          <a:p>
            <a:pPr algn="ctr" indent="0" marL="0">
              <a:buNone/>
            </a:pPr>
            <a:r>
              <a:rPr lang="en-US" sz="1600" b="1" dirty="0">
                <a:solidFill>
                  <a:srgbClr val="FFFDFC"/>
                </a:solidFill>
                <a:latin typeface="Noto Serif CJK SC" pitchFamily="34" charset="0"/>
                <a:ea typeface="Noto Serif CJK SC" pitchFamily="34" charset="-122"/>
                <a:cs typeface="Noto Serif CJK SC" pitchFamily="34" charset="-120"/>
              </a:rPr>
              <a:t>劳作孤立</a:t>
            </a:r>
            <a:endParaRPr lang="en-US" sz="1600" dirty="0"/>
          </a:p>
        </p:txBody>
      </p:sp>
      <p:sp>
        <p:nvSpPr>
          <p:cNvPr id="18" name="Shape 16"/>
          <p:cNvSpPr/>
          <p:nvPr/>
        </p:nvSpPr>
        <p:spPr>
          <a:xfrm>
            <a:off x="10195560" y="2788920"/>
            <a:ext cx="1325880" cy="932688"/>
          </a:xfrm>
          <a:prstGeom prst="ellipse">
            <a:avLst/>
          </a:prstGeom>
          <a:solidFill>
            <a:srgbClr val="383129"/>
          </a:solidFill>
          <a:ln w="22860">
            <a:solidFill>
              <a:srgbClr val="94473B"/>
            </a:solidFill>
            <a:prstDash val="solid"/>
          </a:ln>
        </p:spPr>
      </p:sp>
      <p:sp>
        <p:nvSpPr>
          <p:cNvPr id="19" name="Text 17"/>
          <p:cNvSpPr/>
          <p:nvPr/>
        </p:nvSpPr>
        <p:spPr>
          <a:xfrm>
            <a:off x="10268712" y="3063240"/>
            <a:ext cx="1179576" cy="347472"/>
          </a:xfrm>
          <a:prstGeom prst="rect">
            <a:avLst/>
          </a:prstGeom>
          <a:noFill/>
          <a:ln/>
        </p:spPr>
        <p:txBody>
          <a:bodyPr wrap="square" lIns="0" tIns="0" rIns="0" bIns="0" rtlCol="0" anchor="ctr">
            <a:normAutofit/>
          </a:bodyPr>
          <a:lstStyle/>
          <a:p>
            <a:pPr algn="ctr" indent="0" marL="0">
              <a:buNone/>
            </a:pPr>
            <a:r>
              <a:rPr lang="en-US" sz="1600" b="1" dirty="0">
                <a:solidFill>
                  <a:srgbClr val="FFFDFC"/>
                </a:solidFill>
                <a:latin typeface="Noto Serif CJK SC" pitchFamily="34" charset="0"/>
                <a:ea typeface="Noto Serif CJK SC" pitchFamily="34" charset="-122"/>
                <a:cs typeface="Noto Serif CJK SC" pitchFamily="34" charset="-120"/>
              </a:rPr>
              <a:t>回望止息</a:t>
            </a:r>
            <a:endParaRPr lang="en-US" sz="1600" dirty="0"/>
          </a:p>
        </p:txBody>
      </p:sp>
      <p:sp>
        <p:nvSpPr>
          <p:cNvPr id="20" name="Text 18"/>
          <p:cNvSpPr/>
          <p:nvPr/>
        </p:nvSpPr>
        <p:spPr>
          <a:xfrm>
            <a:off x="914400" y="4617720"/>
            <a:ext cx="10360152" cy="658368"/>
          </a:xfrm>
          <a:prstGeom prst="rect">
            <a:avLst/>
          </a:prstGeom>
          <a:noFill/>
          <a:ln/>
        </p:spPr>
        <p:txBody>
          <a:bodyPr wrap="square" lIns="0" tIns="0" rIns="0" bIns="0" rtlCol="0" anchor="ctr"/>
          <a:lstStyle/>
          <a:p>
            <a:pPr algn="ctr" indent="0" marL="0">
              <a:buNone/>
            </a:pPr>
            <a:r>
              <a:rPr lang="en-US" sz="2400" b="1" dirty="0">
                <a:solidFill>
                  <a:srgbClr val="EFE3CF"/>
                </a:solidFill>
                <a:latin typeface="Noto Serif CJK SC" pitchFamily="34" charset="0"/>
                <a:ea typeface="Noto Serif CJK SC" pitchFamily="34" charset="-122"/>
                <a:cs typeface="Noto Serif CJK SC" pitchFamily="34" charset="-120"/>
              </a:rPr>
              <a:t>合上书，从第一章讲到第六章；断在何处，就回哪一句。</a:t>
            </a:r>
            <a:endParaRPr lang="en-US" sz="24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55</a:t>
            </a:r>
            <a:endParaRPr lang="en-US" sz="1450" dirty="0"/>
          </a:p>
        </p:txBody>
      </p:sp>
      <p:sp>
        <p:nvSpPr>
          <p:cNvPr id="5" name="Text 3"/>
          <p:cNvSpPr/>
          <p:nvPr/>
        </p:nvSpPr>
        <p:spPr>
          <a:xfrm>
            <a:off x="10104120" y="292608"/>
            <a:ext cx="502920" cy="256032"/>
          </a:xfrm>
          <a:prstGeom prst="rect">
            <a:avLst/>
          </a:prstGeom>
          <a:noFill/>
          <a:ln/>
        </p:spPr>
        <p:txBody>
          <a:bodyPr wrap="square" lIns="0" tIns="0" rIns="0" bIns="0" rtlCol="0" anchor="ctr"/>
          <a:lstStyle/>
          <a:p>
            <a:pPr algn="r" indent="0" marL="0">
              <a:buNone/>
            </a:pPr>
            <a:r>
              <a:rPr lang="en-US" sz="1350" b="1" dirty="0">
                <a:solidFill>
                  <a:srgbClr val="51483F"/>
                </a:solidFill>
                <a:latin typeface="Noto Sans CJK SC" pitchFamily="34" charset="0"/>
                <a:ea typeface="Noto Sans CJK SC" pitchFamily="34" charset="-122"/>
                <a:cs typeface="Noto Sans CJK SC" pitchFamily="34" charset="-120"/>
              </a:rPr>
              <a:t>B0</a:t>
            </a:r>
            <a:endParaRPr lang="en-US" sz="1350" dirty="0"/>
          </a:p>
        </p:txBody>
      </p:sp>
      <p:sp>
        <p:nvSpPr>
          <p:cNvPr id="6" name="Text 4"/>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她婚后的不幸，在生活中是什么样子？</a:t>
            </a:r>
            <a:endParaRPr lang="en-US" sz="3600" dirty="0"/>
          </a:p>
        </p:txBody>
      </p:sp>
      <p:sp>
        <p:nvSpPr>
          <p:cNvPr id="7" name="Shape 5"/>
          <p:cNvSpPr/>
          <p:nvPr/>
        </p:nvSpPr>
        <p:spPr>
          <a:xfrm>
            <a:off x="768096" y="1572768"/>
            <a:ext cx="3380232" cy="3858768"/>
          </a:xfrm>
          <a:prstGeom prst="roundRect">
            <a:avLst>
              <a:gd name="adj" fmla="val 1082"/>
            </a:avLst>
          </a:prstGeom>
          <a:solidFill>
            <a:srgbClr val="FFFCF7"/>
          </a:solidFill>
          <a:ln w="13970">
            <a:solidFill>
              <a:srgbClr val="446E78"/>
            </a:solidFill>
            <a:prstDash val="solid"/>
          </a:ln>
        </p:spPr>
      </p:sp>
      <p:sp>
        <p:nvSpPr>
          <p:cNvPr id="8" name="Text 6"/>
          <p:cNvSpPr/>
          <p:nvPr/>
        </p:nvSpPr>
        <p:spPr>
          <a:xfrm>
            <a:off x="1042416"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她每天过着怎样的日子？</a:t>
            </a:r>
            <a:endParaRPr lang="en-US" sz="2700" dirty="0"/>
          </a:p>
        </p:txBody>
      </p:sp>
      <p:sp>
        <p:nvSpPr>
          <p:cNvPr id="9" name="Shape 7"/>
          <p:cNvSpPr/>
          <p:nvPr/>
        </p:nvSpPr>
        <p:spPr>
          <a:xfrm>
            <a:off x="4404360" y="1572768"/>
            <a:ext cx="3380232" cy="3858768"/>
          </a:xfrm>
          <a:prstGeom prst="roundRect">
            <a:avLst>
              <a:gd name="adj" fmla="val 1082"/>
            </a:avLst>
          </a:prstGeom>
          <a:solidFill>
            <a:srgbClr val="FFFCF7"/>
          </a:solidFill>
          <a:ln w="13970">
            <a:solidFill>
              <a:srgbClr val="725260"/>
            </a:solidFill>
            <a:prstDash val="solid"/>
          </a:ln>
        </p:spPr>
      </p:sp>
      <p:sp>
        <p:nvSpPr>
          <p:cNvPr id="10" name="Text 8"/>
          <p:cNvSpPr/>
          <p:nvPr/>
        </p:nvSpPr>
        <p:spPr>
          <a:xfrm>
            <a:off x="4678680"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她在伴侣和家人那里遭遇了什么？</a:t>
            </a:r>
            <a:endParaRPr lang="en-US" sz="2700" dirty="0"/>
          </a:p>
        </p:txBody>
      </p:sp>
      <p:sp>
        <p:nvSpPr>
          <p:cNvPr id="11" name="Shape 9"/>
          <p:cNvSpPr/>
          <p:nvPr/>
        </p:nvSpPr>
        <p:spPr>
          <a:xfrm>
            <a:off x="8040624" y="1572768"/>
            <a:ext cx="3380232" cy="3858768"/>
          </a:xfrm>
          <a:prstGeom prst="roundRect">
            <a:avLst>
              <a:gd name="adj" fmla="val 1082"/>
            </a:avLst>
          </a:prstGeom>
          <a:solidFill>
            <a:srgbClr val="FFFCF7"/>
          </a:solidFill>
          <a:ln w="13970">
            <a:solidFill>
              <a:srgbClr val="A67F4A"/>
            </a:solidFill>
            <a:prstDash val="solid"/>
          </a:ln>
        </p:spPr>
      </p:sp>
      <p:sp>
        <p:nvSpPr>
          <p:cNvPr id="12" name="Text 10"/>
          <p:cNvSpPr/>
          <p:nvPr/>
        </p:nvSpPr>
        <p:spPr>
          <a:xfrm>
            <a:off x="8314944"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先用今天的生活语言说清楚。</a:t>
            </a:r>
            <a:endParaRPr lang="en-US" sz="27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56</a:t>
            </a:r>
            <a:endParaRPr lang="en-US" sz="1450" dirty="0"/>
          </a:p>
        </p:txBody>
      </p:sp>
      <p:sp>
        <p:nvSpPr>
          <p:cNvPr id="5" name="Text 3"/>
          <p:cNvSpPr/>
          <p:nvPr/>
        </p:nvSpPr>
        <p:spPr>
          <a:xfrm>
            <a:off x="10104120" y="292608"/>
            <a:ext cx="502920" cy="256032"/>
          </a:xfrm>
          <a:prstGeom prst="rect">
            <a:avLst/>
          </a:prstGeom>
          <a:noFill/>
          <a:ln/>
        </p:spPr>
        <p:txBody>
          <a:bodyPr wrap="square" lIns="0" tIns="0" rIns="0" bIns="0" rtlCol="0" anchor="ctr"/>
          <a:lstStyle/>
          <a:p>
            <a:pPr algn="r" indent="0" marL="0">
              <a:buNone/>
            </a:pPr>
            <a:r>
              <a:rPr lang="en-US" sz="1350" b="1" dirty="0">
                <a:solidFill>
                  <a:srgbClr val="51483F"/>
                </a:solidFill>
                <a:latin typeface="Noto Sans CJK SC" pitchFamily="34" charset="0"/>
                <a:ea typeface="Noto Sans CJK SC" pitchFamily="34" charset="-122"/>
                <a:cs typeface="Noto Sans CJK SC" pitchFamily="34" charset="-120"/>
              </a:rPr>
              <a:t>B1</a:t>
            </a:r>
            <a:endParaRPr lang="en-US" sz="1350" dirty="0"/>
          </a:p>
        </p:txBody>
      </p:sp>
      <p:sp>
        <p:nvSpPr>
          <p:cNvPr id="6" name="Text 4"/>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只看卡片正面：你能猜回哪一句诗？</a:t>
            </a:r>
            <a:endParaRPr lang="en-US" sz="3600" dirty="0"/>
          </a:p>
        </p:txBody>
      </p:sp>
      <p:sp>
        <p:nvSpPr>
          <p:cNvPr id="7" name="Shape 5"/>
          <p:cNvSpPr/>
          <p:nvPr/>
        </p:nvSpPr>
        <p:spPr>
          <a:xfrm>
            <a:off x="768096" y="1572768"/>
            <a:ext cx="5198364" cy="3858768"/>
          </a:xfrm>
          <a:prstGeom prst="roundRect">
            <a:avLst>
              <a:gd name="adj" fmla="val 948"/>
            </a:avLst>
          </a:prstGeom>
          <a:solidFill>
            <a:srgbClr val="FFFCF7"/>
          </a:solidFill>
          <a:ln w="13970">
            <a:solidFill>
              <a:srgbClr val="446E78"/>
            </a:solidFill>
            <a:prstDash val="solid"/>
          </a:ln>
        </p:spPr>
      </p:sp>
      <p:sp>
        <p:nvSpPr>
          <p:cNvPr id="8" name="Text 6"/>
          <p:cNvSpPr/>
          <p:nvPr/>
        </p:nvSpPr>
        <p:spPr>
          <a:xfrm>
            <a:off x="1042416" y="2029968"/>
            <a:ext cx="4649724" cy="2834640"/>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翻到背面核验。</a:t>
            </a:r>
            <a:endParaRPr lang="en-US" sz="3000" dirty="0"/>
          </a:p>
        </p:txBody>
      </p:sp>
      <p:sp>
        <p:nvSpPr>
          <p:cNvPr id="9" name="Shape 7"/>
          <p:cNvSpPr/>
          <p:nvPr/>
        </p:nvSpPr>
        <p:spPr>
          <a:xfrm>
            <a:off x="6222492" y="1572768"/>
            <a:ext cx="5198364" cy="3858768"/>
          </a:xfrm>
          <a:prstGeom prst="roundRect">
            <a:avLst>
              <a:gd name="adj" fmla="val 948"/>
            </a:avLst>
          </a:prstGeom>
          <a:solidFill>
            <a:srgbClr val="FFFCF7"/>
          </a:solidFill>
          <a:ln w="13970">
            <a:solidFill>
              <a:srgbClr val="725260"/>
            </a:solidFill>
            <a:prstDash val="solid"/>
          </a:ln>
        </p:spPr>
      </p:sp>
      <p:sp>
        <p:nvSpPr>
          <p:cNvPr id="10" name="Text 8"/>
          <p:cNvSpPr/>
          <p:nvPr/>
        </p:nvSpPr>
        <p:spPr>
          <a:xfrm>
            <a:off x="6496812" y="2029968"/>
            <a:ext cx="4649724" cy="2834640"/>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若写出了诗中没有的遭遇，把它退回原作者修订。</a:t>
            </a:r>
            <a:endParaRPr lang="en-US" sz="30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57</a:t>
            </a:r>
            <a:endParaRPr lang="en-US" sz="1450" dirty="0"/>
          </a:p>
        </p:txBody>
      </p:sp>
      <p:sp>
        <p:nvSpPr>
          <p:cNvPr id="5" name="Text 3"/>
          <p:cNvSpPr/>
          <p:nvPr/>
        </p:nvSpPr>
        <p:spPr>
          <a:xfrm>
            <a:off x="10104120" y="292608"/>
            <a:ext cx="502920" cy="256032"/>
          </a:xfrm>
          <a:prstGeom prst="rect">
            <a:avLst/>
          </a:prstGeom>
          <a:noFill/>
          <a:ln/>
        </p:spPr>
        <p:txBody>
          <a:bodyPr wrap="square" lIns="0" tIns="0" rIns="0" bIns="0" rtlCol="0" anchor="ctr"/>
          <a:lstStyle/>
          <a:p>
            <a:pPr algn="r" indent="0" marL="0">
              <a:buNone/>
            </a:pPr>
            <a:r>
              <a:rPr lang="en-US" sz="1350" b="1" dirty="0">
                <a:solidFill>
                  <a:srgbClr val="51483F"/>
                </a:solidFill>
                <a:latin typeface="Noto Sans CJK SC" pitchFamily="34" charset="0"/>
                <a:ea typeface="Noto Sans CJK SC" pitchFamily="34" charset="-122"/>
                <a:cs typeface="Noto Sans CJK SC" pitchFamily="34" charset="-120"/>
              </a:rPr>
              <a:t>B2</a:t>
            </a:r>
            <a:endParaRPr lang="en-US" sz="1350" dirty="0"/>
          </a:p>
        </p:txBody>
      </p:sp>
      <p:sp>
        <p:nvSpPr>
          <p:cNvPr id="6" name="Text 4"/>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长期贫困与持续劳作</a:t>
            </a:r>
            <a:endParaRPr lang="en-US" sz="3600" dirty="0"/>
          </a:p>
        </p:txBody>
      </p:sp>
      <p:sp>
        <p:nvSpPr>
          <p:cNvPr id="7" name="Shape 5"/>
          <p:cNvSpPr/>
          <p:nvPr/>
        </p:nvSpPr>
        <p:spPr>
          <a:xfrm>
            <a:off x="777240" y="1417320"/>
            <a:ext cx="5074920" cy="4206240"/>
          </a:xfrm>
          <a:prstGeom prst="roundRect">
            <a:avLst>
              <a:gd name="adj" fmla="val 870"/>
            </a:avLst>
          </a:prstGeom>
          <a:solidFill>
            <a:srgbClr val="FFFCF7"/>
          </a:solidFill>
          <a:ln w="13970">
            <a:solidFill>
              <a:srgbClr val="446E78"/>
            </a:solidFill>
            <a:prstDash val="solid"/>
          </a:ln>
        </p:spPr>
      </p:sp>
      <p:sp>
        <p:nvSpPr>
          <p:cNvPr id="8" name="Text 6"/>
          <p:cNvSpPr/>
          <p:nvPr/>
        </p:nvSpPr>
        <p:spPr>
          <a:xfrm>
            <a:off x="1051560" y="17830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29241F"/>
                </a:solidFill>
                <a:latin typeface="Noto Serif CJK SC" pitchFamily="34" charset="0"/>
                <a:ea typeface="Noto Serif CJK SC" pitchFamily="34" charset="-122"/>
                <a:cs typeface="Noto Serif CJK SC" pitchFamily="34" charset="-120"/>
              </a:rPr>
              <a:t>伴侣失信、反复并走向粗暴</a:t>
            </a:r>
            <a:endParaRPr lang="en-US" sz="2800" dirty="0"/>
          </a:p>
        </p:txBody>
      </p:sp>
      <p:sp>
        <p:nvSpPr>
          <p:cNvPr id="9" name="Text 7"/>
          <p:cNvSpPr/>
          <p:nvPr/>
        </p:nvSpPr>
        <p:spPr>
          <a:xfrm>
            <a:off x="1051560" y="26974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亲人不了解而嘲笑</a:t>
            </a:r>
            <a:endParaRPr lang="en-US" sz="2800" dirty="0"/>
          </a:p>
        </p:txBody>
      </p:sp>
      <p:sp>
        <p:nvSpPr>
          <p:cNvPr id="10" name="Shape 8"/>
          <p:cNvSpPr/>
          <p:nvPr/>
        </p:nvSpPr>
        <p:spPr>
          <a:xfrm>
            <a:off x="6373368" y="1417320"/>
            <a:ext cx="5074920" cy="4206240"/>
          </a:xfrm>
          <a:prstGeom prst="roundRect">
            <a:avLst>
              <a:gd name="adj" fmla="val 870"/>
            </a:avLst>
          </a:prstGeom>
          <a:solidFill>
            <a:srgbClr val="FFFCF7"/>
          </a:solidFill>
          <a:ln w="13970">
            <a:solidFill>
              <a:srgbClr val="725260"/>
            </a:solidFill>
            <a:prstDash val="solid"/>
          </a:ln>
        </p:spPr>
      </p:sp>
      <p:sp>
        <p:nvSpPr>
          <p:cNvPr id="11" name="Text 9"/>
          <p:cNvSpPr/>
          <p:nvPr/>
        </p:nvSpPr>
        <p:spPr>
          <a:xfrm>
            <a:off x="6647688" y="17830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29241F"/>
                </a:solidFill>
                <a:latin typeface="Noto Serif CJK SC" pitchFamily="34" charset="0"/>
                <a:ea typeface="Noto Serif CJK SC" pitchFamily="34" charset="-122"/>
                <a:cs typeface="Noto Serif CJK SC" pitchFamily="34" charset="-120"/>
              </a:rPr>
              <a:t>无人理解时独自承受</a:t>
            </a:r>
            <a:endParaRPr lang="en-US" sz="2800" dirty="0"/>
          </a:p>
        </p:txBody>
      </p:sp>
      <p:sp>
        <p:nvSpPr>
          <p:cNvPr id="12" name="Text 10"/>
          <p:cNvSpPr/>
          <p:nvPr/>
        </p:nvSpPr>
        <p:spPr>
          <a:xfrm>
            <a:off x="6647688" y="26974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每一项，都要回到原诗。</a:t>
            </a:r>
            <a:endParaRPr lang="en-US" sz="28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58</a:t>
            </a:r>
            <a:endParaRPr lang="en-US" sz="1450" dirty="0"/>
          </a:p>
        </p:txBody>
      </p:sp>
      <p:sp>
        <p:nvSpPr>
          <p:cNvPr id="5" name="Text 3"/>
          <p:cNvSpPr/>
          <p:nvPr/>
        </p:nvSpPr>
        <p:spPr>
          <a:xfrm>
            <a:off x="10104120" y="292608"/>
            <a:ext cx="502920" cy="256032"/>
          </a:xfrm>
          <a:prstGeom prst="rect">
            <a:avLst/>
          </a:prstGeom>
          <a:noFill/>
          <a:ln/>
        </p:spPr>
        <p:txBody>
          <a:bodyPr wrap="square" lIns="0" tIns="0" rIns="0" bIns="0" rtlCol="0" anchor="ctr"/>
          <a:lstStyle/>
          <a:p>
            <a:pPr algn="r" indent="0" marL="0">
              <a:buNone/>
            </a:pPr>
            <a:r>
              <a:rPr lang="en-US" sz="1350" b="1" dirty="0">
                <a:solidFill>
                  <a:srgbClr val="C5B39B"/>
                </a:solidFill>
                <a:latin typeface="Noto Sans CJK SC" pitchFamily="34" charset="0"/>
                <a:ea typeface="Noto Sans CJK SC" pitchFamily="34" charset="-122"/>
                <a:cs typeface="Noto Sans CJK SC" pitchFamily="34" charset="-120"/>
              </a:rPr>
              <a:t>B0</a:t>
            </a:r>
            <a:endParaRPr lang="en-US" sz="1350" dirty="0"/>
          </a:p>
        </p:txBody>
      </p:sp>
      <p:sp>
        <p:nvSpPr>
          <p:cNvPr id="6" name="Text 4"/>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FFFDFC"/>
                </a:solidFill>
                <a:latin typeface="Noto Serif CJK SC" pitchFamily="34" charset="0"/>
                <a:ea typeface="Noto Serif CJK SC" pitchFamily="34" charset="-122"/>
                <a:cs typeface="Noto Serif CJK SC" pitchFamily="34" charset="-120"/>
              </a:rPr>
              <a:t>这场婚姻为什么走到这一步？</a:t>
            </a:r>
            <a:endParaRPr lang="en-US" sz="3600" dirty="0"/>
          </a:p>
        </p:txBody>
      </p:sp>
      <p:sp>
        <p:nvSpPr>
          <p:cNvPr id="7" name="Shape 5"/>
          <p:cNvSpPr/>
          <p:nvPr/>
        </p:nvSpPr>
        <p:spPr>
          <a:xfrm>
            <a:off x="768096" y="1572768"/>
            <a:ext cx="3380232" cy="3858768"/>
          </a:xfrm>
          <a:prstGeom prst="roundRect">
            <a:avLst>
              <a:gd name="adj" fmla="val 1082"/>
            </a:avLst>
          </a:prstGeom>
          <a:solidFill>
            <a:srgbClr val="383129"/>
          </a:solidFill>
          <a:ln w="13970">
            <a:solidFill>
              <a:srgbClr val="446E78"/>
            </a:solidFill>
            <a:prstDash val="solid"/>
          </a:ln>
        </p:spPr>
      </p:sp>
      <p:sp>
        <p:nvSpPr>
          <p:cNvPr id="8" name="Text 6"/>
          <p:cNvSpPr/>
          <p:nvPr/>
        </p:nvSpPr>
        <p:spPr>
          <a:xfrm>
            <a:off x="1042416"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FFFDFC"/>
                </a:solidFill>
                <a:latin typeface="Noto Serif CJK SC" pitchFamily="34" charset="0"/>
                <a:ea typeface="Noto Serif CJK SC" pitchFamily="34" charset="-122"/>
                <a:cs typeface="Noto Serif CJK SC" pitchFamily="34" charset="-120"/>
              </a:rPr>
              <a:t>这组事实说明了什么？</a:t>
            </a:r>
            <a:endParaRPr lang="en-US" sz="2700" dirty="0"/>
          </a:p>
        </p:txBody>
      </p:sp>
      <p:sp>
        <p:nvSpPr>
          <p:cNvPr id="9" name="Shape 7"/>
          <p:cNvSpPr/>
          <p:nvPr/>
        </p:nvSpPr>
        <p:spPr>
          <a:xfrm>
            <a:off x="4404360" y="1572768"/>
            <a:ext cx="3380232" cy="3858768"/>
          </a:xfrm>
          <a:prstGeom prst="roundRect">
            <a:avLst>
              <a:gd name="adj" fmla="val 1082"/>
            </a:avLst>
          </a:prstGeom>
          <a:solidFill>
            <a:srgbClr val="383129"/>
          </a:solidFill>
          <a:ln w="13970">
            <a:solidFill>
              <a:srgbClr val="725260"/>
            </a:solidFill>
            <a:prstDash val="solid"/>
          </a:ln>
        </p:spPr>
      </p:sp>
      <p:sp>
        <p:nvSpPr>
          <p:cNvPr id="10" name="Text 8"/>
          <p:cNvSpPr/>
          <p:nvPr/>
        </p:nvSpPr>
        <p:spPr>
          <a:xfrm>
            <a:off x="4678680"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FFFDFC"/>
                </a:solidFill>
                <a:latin typeface="Noto Serif CJK SC" pitchFamily="34" charset="0"/>
                <a:ea typeface="Noto Serif CJK SC" pitchFamily="34" charset="-122"/>
                <a:cs typeface="Noto Serif CJK SC" pitchFamily="34" charset="-120"/>
              </a:rPr>
              <a:t>它不能被说成什么？</a:t>
            </a:r>
            <a:endParaRPr lang="en-US" sz="2700" dirty="0"/>
          </a:p>
        </p:txBody>
      </p:sp>
      <p:sp>
        <p:nvSpPr>
          <p:cNvPr id="11" name="Shape 9"/>
          <p:cNvSpPr/>
          <p:nvPr/>
        </p:nvSpPr>
        <p:spPr>
          <a:xfrm>
            <a:off x="8040624" y="1572768"/>
            <a:ext cx="3380232" cy="3858768"/>
          </a:xfrm>
          <a:prstGeom prst="roundRect">
            <a:avLst>
              <a:gd name="adj" fmla="val 1082"/>
            </a:avLst>
          </a:prstGeom>
          <a:solidFill>
            <a:srgbClr val="383129"/>
          </a:solidFill>
          <a:ln w="13970">
            <a:solidFill>
              <a:srgbClr val="A67F4A"/>
            </a:solidFill>
            <a:prstDash val="solid"/>
          </a:ln>
        </p:spPr>
      </p:sp>
      <p:sp>
        <p:nvSpPr>
          <p:cNvPr id="12" name="Text 10"/>
          <p:cNvSpPr/>
          <p:nvPr/>
        </p:nvSpPr>
        <p:spPr>
          <a:xfrm>
            <a:off x="8314944"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FFFDFC"/>
                </a:solidFill>
                <a:latin typeface="Noto Serif CJK SC" pitchFamily="34" charset="0"/>
                <a:ea typeface="Noto Serif CJK SC" pitchFamily="34" charset="-122"/>
                <a:cs typeface="Noto Serif CJK SC" pitchFamily="34" charset="-120"/>
              </a:rPr>
              <a:t>先独立写下，再把证据放回她的一生。</a:t>
            </a:r>
            <a:endParaRPr lang="en-US" sz="27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59</a:t>
            </a:r>
            <a:endParaRPr lang="en-US" sz="1450" dirty="0"/>
          </a:p>
        </p:txBody>
      </p:sp>
      <p:sp>
        <p:nvSpPr>
          <p:cNvPr id="5" name="Text 3"/>
          <p:cNvSpPr/>
          <p:nvPr/>
        </p:nvSpPr>
        <p:spPr>
          <a:xfrm>
            <a:off x="10104120" y="292608"/>
            <a:ext cx="502920" cy="256032"/>
          </a:xfrm>
          <a:prstGeom prst="rect">
            <a:avLst/>
          </a:prstGeom>
          <a:noFill/>
          <a:ln/>
        </p:spPr>
        <p:txBody>
          <a:bodyPr wrap="square" lIns="0" tIns="0" rIns="0" bIns="0" rtlCol="0" anchor="ctr"/>
          <a:lstStyle/>
          <a:p>
            <a:pPr algn="r" indent="0" marL="0">
              <a:buNone/>
            </a:pPr>
            <a:r>
              <a:rPr lang="en-US" sz="1350" b="1" dirty="0">
                <a:solidFill>
                  <a:srgbClr val="C5B39B"/>
                </a:solidFill>
                <a:latin typeface="Noto Sans CJK SC" pitchFamily="34" charset="0"/>
                <a:ea typeface="Noto Sans CJK SC" pitchFamily="34" charset="-122"/>
                <a:cs typeface="Noto Sans CJK SC" pitchFamily="34" charset="-120"/>
              </a:rPr>
              <a:t>B1</a:t>
            </a:r>
            <a:endParaRPr lang="en-US" sz="1350" dirty="0"/>
          </a:p>
        </p:txBody>
      </p:sp>
      <p:sp>
        <p:nvSpPr>
          <p:cNvPr id="6" name="Text 4"/>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100" b="1" dirty="0">
                <a:solidFill>
                  <a:srgbClr val="FFFDFC"/>
                </a:solidFill>
                <a:latin typeface="Noto Serif CJK SC" pitchFamily="34" charset="0"/>
                <a:ea typeface="Noto Serif CJK SC" pitchFamily="34" charset="-122"/>
                <a:cs typeface="Noto Serif CJK SC" pitchFamily="34" charset="-120"/>
              </a:rPr>
              <a:t>沿着她的一生，看看这些事实起了怎样的作用。</a:t>
            </a:r>
            <a:endParaRPr lang="en-US" sz="3100" dirty="0"/>
          </a:p>
        </p:txBody>
      </p:sp>
      <p:sp>
        <p:nvSpPr>
          <p:cNvPr id="7" name="Shape 5"/>
          <p:cNvSpPr/>
          <p:nvPr/>
        </p:nvSpPr>
        <p:spPr>
          <a:xfrm>
            <a:off x="768096" y="1572768"/>
            <a:ext cx="5198364" cy="3858768"/>
          </a:xfrm>
          <a:prstGeom prst="roundRect">
            <a:avLst>
              <a:gd name="adj" fmla="val 948"/>
            </a:avLst>
          </a:prstGeom>
          <a:solidFill>
            <a:srgbClr val="383129"/>
          </a:solidFill>
          <a:ln w="13970">
            <a:solidFill>
              <a:srgbClr val="446E78"/>
            </a:solidFill>
            <a:prstDash val="solid"/>
          </a:ln>
        </p:spPr>
      </p:sp>
      <p:sp>
        <p:nvSpPr>
          <p:cNvPr id="8" name="Text 6"/>
          <p:cNvSpPr/>
          <p:nvPr/>
        </p:nvSpPr>
        <p:spPr>
          <a:xfrm>
            <a:off x="1042416" y="2029968"/>
            <a:ext cx="4649724" cy="2834640"/>
          </a:xfrm>
          <a:prstGeom prst="rect">
            <a:avLst/>
          </a:prstGeom>
          <a:noFill/>
          <a:ln/>
        </p:spPr>
        <p:txBody>
          <a:bodyPr wrap="square" lIns="0" tIns="0" rIns="0" bIns="0" rtlCol="0" anchor="ctr">
            <a:normAutofit/>
          </a:bodyPr>
          <a:lstStyle/>
          <a:p>
            <a:pPr algn="ctr" indent="0" marL="0">
              <a:buNone/>
            </a:pPr>
            <a:r>
              <a:rPr lang="en-US" sz="3000" b="1" dirty="0">
                <a:solidFill>
                  <a:srgbClr val="FFFDFC"/>
                </a:solidFill>
                <a:latin typeface="Noto Serif CJK SC" pitchFamily="34" charset="0"/>
                <a:ea typeface="Noto Serif CJK SC" pitchFamily="34" charset="-122"/>
                <a:cs typeface="Noto Serif CJK SC" pitchFamily="34" charset="-120"/>
              </a:rPr>
              <a:t>这是直接责任？使失衡持续的条件？支持缺失？还是女子的回应？</a:t>
            </a:r>
            <a:endParaRPr lang="en-US" sz="3000" dirty="0"/>
          </a:p>
        </p:txBody>
      </p:sp>
      <p:sp>
        <p:nvSpPr>
          <p:cNvPr id="9" name="Shape 7"/>
          <p:cNvSpPr/>
          <p:nvPr/>
        </p:nvSpPr>
        <p:spPr>
          <a:xfrm>
            <a:off x="6222492" y="1572768"/>
            <a:ext cx="5198364" cy="3858768"/>
          </a:xfrm>
          <a:prstGeom prst="roundRect">
            <a:avLst>
              <a:gd name="adj" fmla="val 948"/>
            </a:avLst>
          </a:prstGeom>
          <a:solidFill>
            <a:srgbClr val="383129"/>
          </a:solidFill>
          <a:ln w="13970">
            <a:solidFill>
              <a:srgbClr val="725260"/>
            </a:solidFill>
            <a:prstDash val="solid"/>
          </a:ln>
        </p:spPr>
      </p:sp>
      <p:sp>
        <p:nvSpPr>
          <p:cNvPr id="10" name="Text 8"/>
          <p:cNvSpPr/>
          <p:nvPr/>
        </p:nvSpPr>
        <p:spPr>
          <a:xfrm>
            <a:off x="6496812" y="2029968"/>
            <a:ext cx="4649724" cy="2834640"/>
          </a:xfrm>
          <a:prstGeom prst="rect">
            <a:avLst/>
          </a:prstGeom>
          <a:noFill/>
          <a:ln/>
        </p:spPr>
        <p:txBody>
          <a:bodyPr wrap="square" lIns="0" tIns="0" rIns="0" bIns="0" rtlCol="0" anchor="ctr">
            <a:normAutofit/>
          </a:bodyPr>
          <a:lstStyle/>
          <a:p>
            <a:pPr algn="ctr" indent="0" marL="0">
              <a:buNone/>
            </a:pPr>
            <a:r>
              <a:rPr lang="en-US" sz="3000" b="1" dirty="0">
                <a:solidFill>
                  <a:srgbClr val="FFFDFC"/>
                </a:solidFill>
                <a:latin typeface="Noto Serif CJK SC" pitchFamily="34" charset="0"/>
                <a:ea typeface="Noto Serif CJK SC" pitchFamily="34" charset="-122"/>
                <a:cs typeface="Noto Serif CJK SC" pitchFamily="34" charset="-120"/>
              </a:rPr>
              <a:t>若箭头过强，请写：依据不足。</a:t>
            </a:r>
            <a:endParaRPr lang="en-US" sz="30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60</a:t>
            </a:r>
            <a:endParaRPr lang="en-US" sz="1450" dirty="0"/>
          </a:p>
        </p:txBody>
      </p:sp>
      <p:sp>
        <p:nvSpPr>
          <p:cNvPr id="5" name="Text 3"/>
          <p:cNvSpPr/>
          <p:nvPr/>
        </p:nvSpPr>
        <p:spPr>
          <a:xfrm>
            <a:off x="10104120" y="292608"/>
            <a:ext cx="502920" cy="256032"/>
          </a:xfrm>
          <a:prstGeom prst="rect">
            <a:avLst/>
          </a:prstGeom>
          <a:noFill/>
          <a:ln/>
        </p:spPr>
        <p:txBody>
          <a:bodyPr wrap="square" lIns="0" tIns="0" rIns="0" bIns="0" rtlCol="0" anchor="ctr"/>
          <a:lstStyle/>
          <a:p>
            <a:pPr algn="r" indent="0" marL="0">
              <a:buNone/>
            </a:pPr>
            <a:r>
              <a:rPr lang="en-US" sz="1350" b="1" dirty="0">
                <a:solidFill>
                  <a:srgbClr val="C5B39B"/>
                </a:solidFill>
                <a:latin typeface="Noto Sans CJK SC" pitchFamily="34" charset="0"/>
                <a:ea typeface="Noto Sans CJK SC" pitchFamily="34" charset="-122"/>
                <a:cs typeface="Noto Sans CJK SC" pitchFamily="34" charset="-120"/>
              </a:rPr>
              <a:t>B2</a:t>
            </a:r>
            <a:endParaRPr lang="en-US" sz="1350" dirty="0"/>
          </a:p>
        </p:txBody>
      </p:sp>
      <p:sp>
        <p:nvSpPr>
          <p:cNvPr id="6" name="Text 4"/>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FFFDFC"/>
                </a:solidFill>
                <a:latin typeface="Noto Serif CJK SC" pitchFamily="34" charset="0"/>
                <a:ea typeface="Noto Serif CJK SC" pitchFamily="34" charset="-122"/>
                <a:cs typeface="Noto Serif CJK SC" pitchFamily="34" charset="-120"/>
              </a:rPr>
              <a:t>直接责任：失信、反复与粗暴</a:t>
            </a:r>
            <a:endParaRPr lang="en-US" sz="3600" dirty="0"/>
          </a:p>
        </p:txBody>
      </p:sp>
      <p:sp>
        <p:nvSpPr>
          <p:cNvPr id="7" name="Shape 5"/>
          <p:cNvSpPr/>
          <p:nvPr/>
        </p:nvSpPr>
        <p:spPr>
          <a:xfrm>
            <a:off x="777240" y="1417320"/>
            <a:ext cx="5074920" cy="4206240"/>
          </a:xfrm>
          <a:prstGeom prst="roundRect">
            <a:avLst>
              <a:gd name="adj" fmla="val 870"/>
            </a:avLst>
          </a:prstGeom>
          <a:solidFill>
            <a:srgbClr val="383129"/>
          </a:solidFill>
          <a:ln w="13970">
            <a:solidFill>
              <a:srgbClr val="446E78"/>
            </a:solidFill>
            <a:prstDash val="solid"/>
          </a:ln>
        </p:spPr>
      </p:sp>
      <p:sp>
        <p:nvSpPr>
          <p:cNvPr id="8" name="Text 6"/>
          <p:cNvSpPr/>
          <p:nvPr/>
        </p:nvSpPr>
        <p:spPr>
          <a:xfrm>
            <a:off x="1051560" y="17830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FFFDFC"/>
                </a:solidFill>
                <a:latin typeface="Noto Serif CJK SC" pitchFamily="34" charset="0"/>
                <a:ea typeface="Noto Serif CJK SC" pitchFamily="34" charset="-122"/>
                <a:cs typeface="Noto Serif CJK SC" pitchFamily="34" charset="-120"/>
              </a:rPr>
              <a:t>失衡持续：劳动、决定与情感投入长期不对等</a:t>
            </a:r>
            <a:endParaRPr lang="en-US" sz="2800" dirty="0"/>
          </a:p>
        </p:txBody>
      </p:sp>
      <p:sp>
        <p:nvSpPr>
          <p:cNvPr id="9" name="Text 7"/>
          <p:cNvSpPr/>
          <p:nvPr/>
        </p:nvSpPr>
        <p:spPr>
          <a:xfrm>
            <a:off x="1051560" y="26974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FFFDFC"/>
                </a:solidFill>
                <a:latin typeface="Noto Serif CJK SC" pitchFamily="34" charset="0"/>
                <a:ea typeface="Noto Serif CJK SC" pitchFamily="34" charset="-122"/>
                <a:cs typeface="Noto Serif CJK SC" pitchFamily="34" charset="-120"/>
              </a:rPr>
              <a:t>支持缺失：不知、嘲笑与独自悲伤</a:t>
            </a:r>
            <a:endParaRPr lang="en-US" sz="2800" dirty="0"/>
          </a:p>
        </p:txBody>
      </p:sp>
      <p:sp>
        <p:nvSpPr>
          <p:cNvPr id="10" name="Shape 8"/>
          <p:cNvSpPr/>
          <p:nvPr/>
        </p:nvSpPr>
        <p:spPr>
          <a:xfrm>
            <a:off x="6373368" y="1417320"/>
            <a:ext cx="5074920" cy="4206240"/>
          </a:xfrm>
          <a:prstGeom prst="roundRect">
            <a:avLst>
              <a:gd name="adj" fmla="val 870"/>
            </a:avLst>
          </a:prstGeom>
          <a:solidFill>
            <a:srgbClr val="383129"/>
          </a:solidFill>
          <a:ln w="13970">
            <a:solidFill>
              <a:srgbClr val="725260"/>
            </a:solidFill>
            <a:prstDash val="solid"/>
          </a:ln>
        </p:spPr>
      </p:sp>
      <p:sp>
        <p:nvSpPr>
          <p:cNvPr id="11" name="Text 9"/>
          <p:cNvSpPr/>
          <p:nvPr/>
        </p:nvSpPr>
        <p:spPr>
          <a:xfrm>
            <a:off x="6647688" y="17830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FFFDFC"/>
                </a:solidFill>
                <a:latin typeface="Noto Serif CJK SC" pitchFamily="34" charset="0"/>
                <a:ea typeface="Noto Serif CJK SC" pitchFamily="34" charset="-122"/>
                <a:cs typeface="Noto Serif CJK SC" pitchFamily="34" charset="-120"/>
              </a:rPr>
              <a:t>旧日欢乐与投入解释割舍困难，却不是伤害原因</a:t>
            </a:r>
            <a:endParaRPr lang="en-US" sz="2800" dirty="0"/>
          </a:p>
        </p:txBody>
      </p:sp>
      <p:sp>
        <p:nvSpPr>
          <p:cNvPr id="12" name="Text 10"/>
          <p:cNvSpPr/>
          <p:nvPr/>
        </p:nvSpPr>
        <p:spPr>
          <a:xfrm>
            <a:off x="6647688" y="26974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FFFDFC"/>
                </a:solidFill>
                <a:latin typeface="Noto Serif CJK SC" pitchFamily="34" charset="0"/>
                <a:ea typeface="Noto Serif CJK SC" pitchFamily="34" charset="-122"/>
                <a:cs typeface="Noto Serif CJK SC" pitchFamily="34" charset="-120"/>
              </a:rPr>
              <a:t>“亦已焉哉”是她的回应，不是悲剧的原因。</a:t>
            </a:r>
            <a:endParaRPr lang="en-US" sz="28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61</a:t>
            </a:r>
            <a:endParaRPr lang="en-US" sz="1450" dirty="0"/>
          </a:p>
        </p:txBody>
      </p:sp>
      <p:sp>
        <p:nvSpPr>
          <p:cNvPr id="5" name="Text 3"/>
          <p:cNvSpPr/>
          <p:nvPr/>
        </p:nvSpPr>
        <p:spPr>
          <a:xfrm>
            <a:off x="10104120" y="292608"/>
            <a:ext cx="502920" cy="256032"/>
          </a:xfrm>
          <a:prstGeom prst="rect">
            <a:avLst/>
          </a:prstGeom>
          <a:noFill/>
          <a:ln/>
        </p:spPr>
        <p:txBody>
          <a:bodyPr wrap="square" lIns="0" tIns="0" rIns="0" bIns="0" rtlCol="0" anchor="ctr"/>
          <a:lstStyle/>
          <a:p>
            <a:pPr algn="r" indent="0" marL="0">
              <a:buNone/>
            </a:pPr>
            <a:r>
              <a:rPr lang="en-US" sz="1350" b="1" dirty="0">
                <a:solidFill>
                  <a:srgbClr val="51483F"/>
                </a:solidFill>
                <a:latin typeface="Noto Sans CJK SC" pitchFamily="34" charset="0"/>
                <a:ea typeface="Noto Sans CJK SC" pitchFamily="34" charset="-122"/>
                <a:cs typeface="Noto Sans CJK SC" pitchFamily="34" charset="-120"/>
              </a:rPr>
              <a:t>B0</a:t>
            </a:r>
            <a:endParaRPr lang="en-US" sz="1350" dirty="0"/>
          </a:p>
        </p:txBody>
      </p:sp>
      <p:sp>
        <p:nvSpPr>
          <p:cNvPr id="6" name="Text 4"/>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一段好的共同生活，最不能缺少什么？</a:t>
            </a:r>
            <a:endParaRPr lang="en-US" sz="3600" dirty="0"/>
          </a:p>
        </p:txBody>
      </p:sp>
      <p:sp>
        <p:nvSpPr>
          <p:cNvPr id="7" name="Shape 5"/>
          <p:cNvSpPr/>
          <p:nvPr/>
        </p:nvSpPr>
        <p:spPr>
          <a:xfrm>
            <a:off x="768096" y="1572768"/>
            <a:ext cx="3380232" cy="3858768"/>
          </a:xfrm>
          <a:prstGeom prst="roundRect">
            <a:avLst>
              <a:gd name="adj" fmla="val 1082"/>
            </a:avLst>
          </a:prstGeom>
          <a:solidFill>
            <a:srgbClr val="FFFCF7"/>
          </a:solidFill>
          <a:ln w="13970">
            <a:solidFill>
              <a:srgbClr val="446E78"/>
            </a:solidFill>
            <a:prstDash val="solid"/>
          </a:ln>
        </p:spPr>
      </p:sp>
      <p:sp>
        <p:nvSpPr>
          <p:cNvPr id="8" name="Text 6"/>
          <p:cNvSpPr/>
          <p:nvPr/>
        </p:nvSpPr>
        <p:spPr>
          <a:xfrm>
            <a:off x="1042416"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这处悲剧提醒我……</a:t>
            </a:r>
            <a:endParaRPr lang="en-US" sz="2700" dirty="0"/>
          </a:p>
        </p:txBody>
      </p:sp>
      <p:sp>
        <p:nvSpPr>
          <p:cNvPr id="9" name="Shape 7"/>
          <p:cNvSpPr/>
          <p:nvPr/>
        </p:nvSpPr>
        <p:spPr>
          <a:xfrm>
            <a:off x="4404360" y="1572768"/>
            <a:ext cx="3380232" cy="3858768"/>
          </a:xfrm>
          <a:prstGeom prst="roundRect">
            <a:avLst>
              <a:gd name="adj" fmla="val 1082"/>
            </a:avLst>
          </a:prstGeom>
          <a:solidFill>
            <a:srgbClr val="FFFCF7"/>
          </a:solidFill>
          <a:ln w="13970">
            <a:solidFill>
              <a:srgbClr val="725260"/>
            </a:solidFill>
            <a:prstDash val="solid"/>
          </a:ln>
        </p:spPr>
      </p:sp>
      <p:sp>
        <p:nvSpPr>
          <p:cNvPr id="10" name="Text 8"/>
          <p:cNvSpPr/>
          <p:nvPr/>
        </p:nvSpPr>
        <p:spPr>
          <a:xfrm>
            <a:off x="4678680"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因此，好的共同生活需要……</a:t>
            </a:r>
            <a:endParaRPr lang="en-US" sz="2700" dirty="0"/>
          </a:p>
        </p:txBody>
      </p:sp>
      <p:sp>
        <p:nvSpPr>
          <p:cNvPr id="11" name="Shape 9"/>
          <p:cNvSpPr/>
          <p:nvPr/>
        </p:nvSpPr>
        <p:spPr>
          <a:xfrm>
            <a:off x="8040624" y="1572768"/>
            <a:ext cx="3380232" cy="3858768"/>
          </a:xfrm>
          <a:prstGeom prst="roundRect">
            <a:avLst>
              <a:gd name="adj" fmla="val 1082"/>
            </a:avLst>
          </a:prstGeom>
          <a:solidFill>
            <a:srgbClr val="FFFCF7"/>
          </a:solidFill>
          <a:ln w="13970">
            <a:solidFill>
              <a:srgbClr val="A67F4A"/>
            </a:solidFill>
            <a:prstDash val="solid"/>
          </a:ln>
        </p:spPr>
      </p:sp>
      <p:sp>
        <p:nvSpPr>
          <p:cNvPr id="12" name="Text 10"/>
          <p:cNvSpPr/>
          <p:nvPr/>
        </p:nvSpPr>
        <p:spPr>
          <a:xfrm>
            <a:off x="8314944"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只给未来的自己或朋友留一句话。</a:t>
            </a:r>
            <a:endParaRPr lang="en-US" sz="27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62</a:t>
            </a:r>
            <a:endParaRPr lang="en-US" sz="1450" dirty="0"/>
          </a:p>
        </p:txBody>
      </p:sp>
      <p:sp>
        <p:nvSpPr>
          <p:cNvPr id="5" name="Text 3"/>
          <p:cNvSpPr/>
          <p:nvPr/>
        </p:nvSpPr>
        <p:spPr>
          <a:xfrm>
            <a:off x="10104120" y="292608"/>
            <a:ext cx="502920" cy="256032"/>
          </a:xfrm>
          <a:prstGeom prst="rect">
            <a:avLst/>
          </a:prstGeom>
          <a:noFill/>
          <a:ln/>
        </p:spPr>
        <p:txBody>
          <a:bodyPr wrap="square" lIns="0" tIns="0" rIns="0" bIns="0" rtlCol="0" anchor="ctr"/>
          <a:lstStyle/>
          <a:p>
            <a:pPr algn="r" indent="0" marL="0">
              <a:buNone/>
            </a:pPr>
            <a:r>
              <a:rPr lang="en-US" sz="1350" b="1" dirty="0">
                <a:solidFill>
                  <a:srgbClr val="51483F"/>
                </a:solidFill>
                <a:latin typeface="Noto Sans CJK SC" pitchFamily="34" charset="0"/>
                <a:ea typeface="Noto Sans CJK SC" pitchFamily="34" charset="-122"/>
                <a:cs typeface="Noto Sans CJK SC" pitchFamily="34" charset="-120"/>
              </a:rPr>
              <a:t>B1</a:t>
            </a:r>
            <a:endParaRPr lang="en-US" sz="1350" dirty="0"/>
          </a:p>
        </p:txBody>
      </p:sp>
      <p:sp>
        <p:nvSpPr>
          <p:cNvPr id="6" name="Text 4"/>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把每组最想送给未来的一句话贴上来。</a:t>
            </a:r>
            <a:endParaRPr lang="en-US" sz="3600" dirty="0"/>
          </a:p>
        </p:txBody>
      </p:sp>
      <p:sp>
        <p:nvSpPr>
          <p:cNvPr id="7" name="Shape 5"/>
          <p:cNvSpPr/>
          <p:nvPr/>
        </p:nvSpPr>
        <p:spPr>
          <a:xfrm>
            <a:off x="768096" y="1572768"/>
            <a:ext cx="5198364" cy="3858768"/>
          </a:xfrm>
          <a:prstGeom prst="roundRect">
            <a:avLst>
              <a:gd name="adj" fmla="val 948"/>
            </a:avLst>
          </a:prstGeom>
          <a:solidFill>
            <a:srgbClr val="FFFCF7"/>
          </a:solidFill>
          <a:ln w="13970">
            <a:solidFill>
              <a:srgbClr val="446E78"/>
            </a:solidFill>
            <a:prstDash val="solid"/>
          </a:ln>
        </p:spPr>
      </p:sp>
      <p:sp>
        <p:nvSpPr>
          <p:cNvPr id="8" name="Text 6"/>
          <p:cNvSpPr/>
          <p:nvPr/>
        </p:nvSpPr>
        <p:spPr>
          <a:xfrm>
            <a:off x="1042416" y="2029968"/>
            <a:ext cx="4649724" cy="2834640"/>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先看哪些彼此照应，再看哪些彼此冲突。</a:t>
            </a:r>
            <a:endParaRPr lang="en-US" sz="3000" dirty="0"/>
          </a:p>
        </p:txBody>
      </p:sp>
      <p:sp>
        <p:nvSpPr>
          <p:cNvPr id="9" name="Shape 7"/>
          <p:cNvSpPr/>
          <p:nvPr/>
        </p:nvSpPr>
        <p:spPr>
          <a:xfrm>
            <a:off x="6222492" y="1572768"/>
            <a:ext cx="5198364" cy="3858768"/>
          </a:xfrm>
          <a:prstGeom prst="roundRect">
            <a:avLst>
              <a:gd name="adj" fmla="val 948"/>
            </a:avLst>
          </a:prstGeom>
          <a:solidFill>
            <a:srgbClr val="FFFCF7"/>
          </a:solidFill>
          <a:ln w="13970">
            <a:solidFill>
              <a:srgbClr val="725260"/>
            </a:solidFill>
            <a:prstDash val="solid"/>
          </a:ln>
        </p:spPr>
      </p:sp>
      <p:sp>
        <p:nvSpPr>
          <p:cNvPr id="10" name="Text 8"/>
          <p:cNvSpPr/>
          <p:nvPr/>
        </p:nvSpPr>
        <p:spPr>
          <a:xfrm>
            <a:off x="6496812" y="2029968"/>
            <a:ext cx="4649724" cy="2834640"/>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每张卡都要带着一处《氓》的原诗。</a:t>
            </a:r>
            <a:endParaRPr lang="en-US" sz="30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63</a:t>
            </a:r>
            <a:endParaRPr lang="en-US" sz="1450" dirty="0"/>
          </a:p>
        </p:txBody>
      </p:sp>
      <p:sp>
        <p:nvSpPr>
          <p:cNvPr id="5" name="Text 3"/>
          <p:cNvSpPr/>
          <p:nvPr/>
        </p:nvSpPr>
        <p:spPr>
          <a:xfrm>
            <a:off x="10104120" y="292608"/>
            <a:ext cx="502920" cy="256032"/>
          </a:xfrm>
          <a:prstGeom prst="rect">
            <a:avLst/>
          </a:prstGeom>
          <a:noFill/>
          <a:ln/>
        </p:spPr>
        <p:txBody>
          <a:bodyPr wrap="square" lIns="0" tIns="0" rIns="0" bIns="0" rtlCol="0" anchor="ctr"/>
          <a:lstStyle/>
          <a:p>
            <a:pPr algn="r" indent="0" marL="0">
              <a:buNone/>
            </a:pPr>
            <a:r>
              <a:rPr lang="en-US" sz="1350" b="1" dirty="0">
                <a:solidFill>
                  <a:srgbClr val="51483F"/>
                </a:solidFill>
                <a:latin typeface="Noto Sans CJK SC" pitchFamily="34" charset="0"/>
                <a:ea typeface="Noto Sans CJK SC" pitchFamily="34" charset="-122"/>
                <a:cs typeface="Noto Sans CJK SC" pitchFamily="34" charset="-120"/>
              </a:rPr>
              <a:t>B2</a:t>
            </a:r>
            <a:endParaRPr lang="en-US" sz="1350" dirty="0"/>
          </a:p>
        </p:txBody>
      </p:sp>
      <p:sp>
        <p:nvSpPr>
          <p:cNvPr id="6" name="Text 4"/>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审慎了解，承诺由长期行动核验</a:t>
            </a:r>
            <a:endParaRPr lang="en-US" sz="3600" dirty="0"/>
          </a:p>
        </p:txBody>
      </p:sp>
      <p:sp>
        <p:nvSpPr>
          <p:cNvPr id="7" name="Shape 5"/>
          <p:cNvSpPr/>
          <p:nvPr/>
        </p:nvSpPr>
        <p:spPr>
          <a:xfrm>
            <a:off x="777240" y="1417320"/>
            <a:ext cx="5074920" cy="4206240"/>
          </a:xfrm>
          <a:prstGeom prst="roundRect">
            <a:avLst>
              <a:gd name="adj" fmla="val 870"/>
            </a:avLst>
          </a:prstGeom>
          <a:solidFill>
            <a:srgbClr val="FFFCF7"/>
          </a:solidFill>
          <a:ln w="13970">
            <a:solidFill>
              <a:srgbClr val="446E78"/>
            </a:solidFill>
            <a:prstDash val="solid"/>
          </a:ln>
        </p:spPr>
      </p:sp>
      <p:sp>
        <p:nvSpPr>
          <p:cNvPr id="8" name="Text 6"/>
          <p:cNvSpPr/>
          <p:nvPr/>
        </p:nvSpPr>
        <p:spPr>
          <a:xfrm>
            <a:off x="1051560" y="17830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29241F"/>
                </a:solidFill>
                <a:latin typeface="Noto Serif CJK SC" pitchFamily="34" charset="0"/>
                <a:ea typeface="Noto Serif CJK SC" pitchFamily="34" charset="-122"/>
                <a:cs typeface="Noto Serif CJK SC" pitchFamily="34" charset="-120"/>
              </a:rPr>
              <a:t>言行一致，彼此尊重边界</a:t>
            </a:r>
            <a:endParaRPr lang="en-US" sz="2800" dirty="0"/>
          </a:p>
        </p:txBody>
      </p:sp>
      <p:sp>
        <p:nvSpPr>
          <p:cNvPr id="9" name="Text 7"/>
          <p:cNvSpPr/>
          <p:nvPr/>
        </p:nvSpPr>
        <p:spPr>
          <a:xfrm>
            <a:off x="1051560" y="26974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29241F"/>
                </a:solidFill>
                <a:latin typeface="Noto Serif CJK SC" pitchFamily="34" charset="0"/>
                <a:ea typeface="Noto Serif CJK SC" pitchFamily="34" charset="-122"/>
                <a:cs typeface="Noto Serif CJK SC" pitchFamily="34" charset="-120"/>
              </a:rPr>
              <a:t>劳动、决定与责任不长期失衡</a:t>
            </a:r>
            <a:endParaRPr lang="en-US" sz="2800" dirty="0"/>
          </a:p>
        </p:txBody>
      </p:sp>
      <p:sp>
        <p:nvSpPr>
          <p:cNvPr id="10" name="Text 8"/>
          <p:cNvSpPr/>
          <p:nvPr/>
        </p:nvSpPr>
        <p:spPr>
          <a:xfrm>
            <a:off x="1051560" y="36118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困难时有理解、支持与求助通道</a:t>
            </a:r>
            <a:endParaRPr lang="en-US" sz="2800" dirty="0"/>
          </a:p>
        </p:txBody>
      </p:sp>
      <p:sp>
        <p:nvSpPr>
          <p:cNvPr id="11" name="Shape 9"/>
          <p:cNvSpPr/>
          <p:nvPr/>
        </p:nvSpPr>
        <p:spPr>
          <a:xfrm>
            <a:off x="6373368" y="1417320"/>
            <a:ext cx="5074920" cy="4206240"/>
          </a:xfrm>
          <a:prstGeom prst="roundRect">
            <a:avLst>
              <a:gd name="adj" fmla="val 870"/>
            </a:avLst>
          </a:prstGeom>
          <a:solidFill>
            <a:srgbClr val="FFFCF7"/>
          </a:solidFill>
          <a:ln w="13970">
            <a:solidFill>
              <a:srgbClr val="725260"/>
            </a:solidFill>
            <a:prstDash val="solid"/>
          </a:ln>
        </p:spPr>
      </p:sp>
      <p:sp>
        <p:nvSpPr>
          <p:cNvPr id="12" name="Text 10"/>
          <p:cNvSpPr/>
          <p:nvPr/>
        </p:nvSpPr>
        <p:spPr>
          <a:xfrm>
            <a:off x="6647688" y="17830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29241F"/>
                </a:solidFill>
                <a:latin typeface="Noto Serif CJK SC" pitchFamily="34" charset="0"/>
                <a:ea typeface="Noto Serif CJK SC" pitchFamily="34" charset="-122"/>
                <a:cs typeface="Noto Serif CJK SC" pitchFamily="34" charset="-120"/>
              </a:rPr>
              <a:t>发现持续伤害时，能够止损</a:t>
            </a:r>
            <a:endParaRPr lang="en-US" sz="2800" dirty="0"/>
          </a:p>
        </p:txBody>
      </p:sp>
      <p:sp>
        <p:nvSpPr>
          <p:cNvPr id="13" name="Text 11"/>
          <p:cNvSpPr/>
          <p:nvPr/>
        </p:nvSpPr>
        <p:spPr>
          <a:xfrm>
            <a:off x="6647688" y="26974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《氓》为开头的文学版图，新添了什么？</a:t>
            </a:r>
            <a:endParaRPr lang="en-US" sz="28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64</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29241F"/>
                </a:solidFill>
                <a:latin typeface="Noto Serif CJK SC" pitchFamily="34" charset="0"/>
                <a:ea typeface="Noto Serif CJK SC" pitchFamily="34" charset="-122"/>
                <a:cs typeface="Noto Serif CJK SC" pitchFamily="34" charset="-120"/>
              </a:rPr>
              <a:t>《诗经》，我们真正记住了什么？</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它是什么？</a:t>
            </a:r>
            <a:endParaRPr lang="en-US" sz="3000" dirty="0"/>
          </a:p>
        </p:txBody>
      </p:sp>
      <p:sp>
        <p:nvSpPr>
          <p:cNvPr id="7" name="Text 5"/>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有多少篇？</a:t>
            </a:r>
            <a:endParaRPr lang="en-US" sz="3000" dirty="0"/>
          </a:p>
        </p:txBody>
      </p:sp>
      <p:sp>
        <p:nvSpPr>
          <p:cNvPr id="8" name="Text 6"/>
          <p:cNvSpPr/>
          <p:nvPr/>
        </p:nvSpPr>
        <p:spPr>
          <a:xfrm>
            <a:off x="960120" y="3236976"/>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作品大致来自怎样的年代？</a:t>
            </a:r>
            <a:endParaRPr lang="en-US" sz="3000" dirty="0"/>
          </a:p>
        </p:txBody>
      </p:sp>
      <p:sp>
        <p:nvSpPr>
          <p:cNvPr id="9" name="Text 7"/>
          <p:cNvSpPr/>
          <p:nvPr/>
        </p:nvSpPr>
        <p:spPr>
          <a:xfrm>
            <a:off x="960120" y="4078224"/>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分哪三类？《氓》在哪里？</a:t>
            </a:r>
            <a:endParaRPr lang="en-US" sz="3000" dirty="0"/>
          </a:p>
        </p:txBody>
      </p:sp>
      <p:sp>
        <p:nvSpPr>
          <p:cNvPr id="10" name="Text 8"/>
          <p:cNvSpPr/>
          <p:nvPr/>
        </p:nvSpPr>
        <p:spPr>
          <a:xfrm>
            <a:off x="960120" y="4919472"/>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725260"/>
                </a:solidFill>
                <a:latin typeface="Noto Serif CJK SC" pitchFamily="34" charset="0"/>
                <a:ea typeface="Noto Serif CJK SC" pitchFamily="34" charset="-122"/>
                <a:cs typeface="Noto Serif CJK SC" pitchFamily="34" charset="-120"/>
              </a:rPr>
              <a:t>先合书写；不确定，可以留空。</a:t>
            </a:r>
            <a:endParaRPr lang="en-US" sz="28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65</a:t>
            </a:r>
            <a:endParaRPr lang="en-US" sz="1450" dirty="0"/>
          </a:p>
        </p:txBody>
      </p:sp>
      <p:sp>
        <p:nvSpPr>
          <p:cNvPr id="5" name="Text 3"/>
          <p:cNvSpPr/>
          <p:nvPr/>
        </p:nvSpPr>
        <p:spPr>
          <a:xfrm>
            <a:off x="10104120" y="292608"/>
            <a:ext cx="502920" cy="256032"/>
          </a:xfrm>
          <a:prstGeom prst="rect">
            <a:avLst/>
          </a:prstGeom>
          <a:noFill/>
          <a:ln/>
        </p:spPr>
        <p:txBody>
          <a:bodyPr wrap="square" lIns="0" tIns="0" rIns="0" bIns="0" rtlCol="0" anchor="ctr"/>
          <a:lstStyle/>
          <a:p>
            <a:pPr algn="r" indent="0" marL="0">
              <a:buNone/>
            </a:pPr>
            <a:r>
              <a:rPr lang="en-US" sz="1350" b="1" dirty="0">
                <a:solidFill>
                  <a:srgbClr val="51483F"/>
                </a:solidFill>
                <a:latin typeface="Noto Sans CJK SC" pitchFamily="34" charset="0"/>
                <a:ea typeface="Noto Sans CJK SC" pitchFamily="34" charset="-122"/>
                <a:cs typeface="Noto Sans CJK SC" pitchFamily="34" charset="-120"/>
              </a:rPr>
              <a:t>B0</a:t>
            </a:r>
            <a:endParaRPr lang="en-US" sz="1350" dirty="0"/>
          </a:p>
        </p:txBody>
      </p:sp>
      <p:sp>
        <p:nvSpPr>
          <p:cNvPr id="6" name="Text 4"/>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六章关键字词，能不能回到原句？</a:t>
            </a:r>
            <a:endParaRPr lang="en-US" sz="3400" dirty="0"/>
          </a:p>
        </p:txBody>
      </p:sp>
      <p:sp>
        <p:nvSpPr>
          <p:cNvPr id="7" name="Shape 5"/>
          <p:cNvSpPr/>
          <p:nvPr/>
        </p:nvSpPr>
        <p:spPr>
          <a:xfrm>
            <a:off x="731520" y="1828800"/>
            <a:ext cx="1572768" cy="1371600"/>
          </a:xfrm>
          <a:prstGeom prst="roundRect">
            <a:avLst>
              <a:gd name="adj" fmla="val 2667"/>
            </a:avLst>
          </a:prstGeom>
          <a:solidFill>
            <a:srgbClr val="FFFCF7"/>
          </a:solidFill>
          <a:ln w="13970">
            <a:solidFill>
              <a:srgbClr val="A67F4A"/>
            </a:solidFill>
            <a:prstDash val="solid"/>
          </a:ln>
        </p:spPr>
      </p:sp>
      <p:sp>
        <p:nvSpPr>
          <p:cNvPr id="8" name="Text 6"/>
          <p:cNvSpPr/>
          <p:nvPr/>
        </p:nvSpPr>
        <p:spPr>
          <a:xfrm>
            <a:off x="731520" y="2148840"/>
            <a:ext cx="1572768" cy="658368"/>
          </a:xfrm>
          <a:prstGeom prst="rect">
            <a:avLst/>
          </a:prstGeom>
          <a:noFill/>
          <a:ln/>
        </p:spPr>
        <p:txBody>
          <a:bodyPr wrap="square" lIns="0" tIns="0" rIns="0" bIns="0" rtlCol="0" anchor="ctr"/>
          <a:lstStyle/>
          <a:p>
            <a:pPr algn="ctr" indent="0" marL="0">
              <a:buNone/>
            </a:pPr>
            <a:r>
              <a:rPr lang="en-US" sz="4000" b="1" dirty="0">
                <a:solidFill>
                  <a:srgbClr val="29241F"/>
                </a:solidFill>
                <a:latin typeface="Noto Serif CJK SC" pitchFamily="34" charset="0"/>
                <a:ea typeface="Noto Serif CJK SC" pitchFamily="34" charset="-122"/>
                <a:cs typeface="Noto Serif CJK SC" pitchFamily="34" charset="-120"/>
              </a:rPr>
              <a:t>愆</a:t>
            </a:r>
            <a:endParaRPr lang="en-US" sz="4000" dirty="0"/>
          </a:p>
        </p:txBody>
      </p:sp>
      <p:sp>
        <p:nvSpPr>
          <p:cNvPr id="9" name="Shape 7"/>
          <p:cNvSpPr/>
          <p:nvPr/>
        </p:nvSpPr>
        <p:spPr>
          <a:xfrm>
            <a:off x="2633472" y="1828800"/>
            <a:ext cx="1572768" cy="1371600"/>
          </a:xfrm>
          <a:prstGeom prst="roundRect">
            <a:avLst>
              <a:gd name="adj" fmla="val 2667"/>
            </a:avLst>
          </a:prstGeom>
          <a:solidFill>
            <a:srgbClr val="FFFCF7"/>
          </a:solidFill>
          <a:ln w="13970">
            <a:solidFill>
              <a:srgbClr val="446E78"/>
            </a:solidFill>
            <a:prstDash val="solid"/>
          </a:ln>
        </p:spPr>
      </p:sp>
      <p:sp>
        <p:nvSpPr>
          <p:cNvPr id="10" name="Text 8"/>
          <p:cNvSpPr/>
          <p:nvPr/>
        </p:nvSpPr>
        <p:spPr>
          <a:xfrm>
            <a:off x="2633472" y="2148840"/>
            <a:ext cx="1572768" cy="658368"/>
          </a:xfrm>
          <a:prstGeom prst="rect">
            <a:avLst/>
          </a:prstGeom>
          <a:noFill/>
          <a:ln/>
        </p:spPr>
        <p:txBody>
          <a:bodyPr wrap="square" lIns="0" tIns="0" rIns="0" bIns="0" rtlCol="0" anchor="ctr"/>
          <a:lstStyle/>
          <a:p>
            <a:pPr algn="ctr" indent="0" marL="0">
              <a:buNone/>
            </a:pPr>
            <a:r>
              <a:rPr lang="en-US" sz="4000" b="1" dirty="0">
                <a:solidFill>
                  <a:srgbClr val="29241F"/>
                </a:solidFill>
                <a:latin typeface="Noto Serif CJK SC" pitchFamily="34" charset="0"/>
                <a:ea typeface="Noto Serif CJK SC" pitchFamily="34" charset="-122"/>
                <a:cs typeface="Noto Serif CJK SC" pitchFamily="34" charset="-120"/>
              </a:rPr>
              <a:t>筮</a:t>
            </a:r>
            <a:endParaRPr lang="en-US" sz="4000" dirty="0"/>
          </a:p>
        </p:txBody>
      </p:sp>
      <p:sp>
        <p:nvSpPr>
          <p:cNvPr id="11" name="Shape 9"/>
          <p:cNvSpPr/>
          <p:nvPr/>
        </p:nvSpPr>
        <p:spPr>
          <a:xfrm>
            <a:off x="4535424" y="1828800"/>
            <a:ext cx="1572768" cy="1371600"/>
          </a:xfrm>
          <a:prstGeom prst="roundRect">
            <a:avLst>
              <a:gd name="adj" fmla="val 2667"/>
            </a:avLst>
          </a:prstGeom>
          <a:solidFill>
            <a:srgbClr val="FFFCF7"/>
          </a:solidFill>
          <a:ln w="13970">
            <a:solidFill>
              <a:srgbClr val="657653"/>
            </a:solidFill>
            <a:prstDash val="solid"/>
          </a:ln>
        </p:spPr>
      </p:sp>
      <p:sp>
        <p:nvSpPr>
          <p:cNvPr id="12" name="Text 10"/>
          <p:cNvSpPr/>
          <p:nvPr/>
        </p:nvSpPr>
        <p:spPr>
          <a:xfrm>
            <a:off x="4535424" y="2148840"/>
            <a:ext cx="1572768" cy="658368"/>
          </a:xfrm>
          <a:prstGeom prst="rect">
            <a:avLst/>
          </a:prstGeom>
          <a:noFill/>
          <a:ln/>
        </p:spPr>
        <p:txBody>
          <a:bodyPr wrap="square" lIns="0" tIns="0" rIns="0" bIns="0" rtlCol="0" anchor="ctr"/>
          <a:lstStyle/>
          <a:p>
            <a:pPr algn="ctr" indent="0" marL="0">
              <a:buNone/>
            </a:pPr>
            <a:r>
              <a:rPr lang="en-US" sz="4000" b="1" dirty="0">
                <a:solidFill>
                  <a:srgbClr val="29241F"/>
                </a:solidFill>
                <a:latin typeface="Noto Serif CJK SC" pitchFamily="34" charset="0"/>
                <a:ea typeface="Noto Serif CJK SC" pitchFamily="34" charset="-122"/>
                <a:cs typeface="Noto Serif CJK SC" pitchFamily="34" charset="-120"/>
              </a:rPr>
              <a:t>说</a:t>
            </a:r>
            <a:endParaRPr lang="en-US" sz="4000" dirty="0"/>
          </a:p>
        </p:txBody>
      </p:sp>
      <p:sp>
        <p:nvSpPr>
          <p:cNvPr id="13" name="Shape 11"/>
          <p:cNvSpPr/>
          <p:nvPr/>
        </p:nvSpPr>
        <p:spPr>
          <a:xfrm>
            <a:off x="6437376" y="1828800"/>
            <a:ext cx="1572768" cy="1371600"/>
          </a:xfrm>
          <a:prstGeom prst="roundRect">
            <a:avLst>
              <a:gd name="adj" fmla="val 2667"/>
            </a:avLst>
          </a:prstGeom>
          <a:solidFill>
            <a:srgbClr val="FFFCF7"/>
          </a:solidFill>
          <a:ln w="13970">
            <a:solidFill>
              <a:srgbClr val="B58B3E"/>
            </a:solidFill>
            <a:prstDash val="solid"/>
          </a:ln>
        </p:spPr>
      </p:sp>
      <p:sp>
        <p:nvSpPr>
          <p:cNvPr id="14" name="Text 12"/>
          <p:cNvSpPr/>
          <p:nvPr/>
        </p:nvSpPr>
        <p:spPr>
          <a:xfrm>
            <a:off x="6437376" y="2148840"/>
            <a:ext cx="1572768" cy="658368"/>
          </a:xfrm>
          <a:prstGeom prst="rect">
            <a:avLst/>
          </a:prstGeom>
          <a:noFill/>
          <a:ln/>
        </p:spPr>
        <p:txBody>
          <a:bodyPr wrap="square" lIns="0" tIns="0" rIns="0" bIns="0" rtlCol="0" anchor="ctr"/>
          <a:lstStyle/>
          <a:p>
            <a:pPr algn="ctr" indent="0" marL="0">
              <a:buNone/>
            </a:pPr>
            <a:r>
              <a:rPr lang="en-US" sz="4000" b="1" dirty="0">
                <a:solidFill>
                  <a:srgbClr val="29241F"/>
                </a:solidFill>
                <a:latin typeface="Noto Serif CJK SC" pitchFamily="34" charset="0"/>
                <a:ea typeface="Noto Serif CJK SC" pitchFamily="34" charset="-122"/>
                <a:cs typeface="Noto Serif CJK SC" pitchFamily="34" charset="-120"/>
              </a:rPr>
              <a:t>爽</a:t>
            </a:r>
            <a:endParaRPr lang="en-US" sz="4000" dirty="0"/>
          </a:p>
        </p:txBody>
      </p:sp>
      <p:sp>
        <p:nvSpPr>
          <p:cNvPr id="15" name="Shape 13"/>
          <p:cNvSpPr/>
          <p:nvPr/>
        </p:nvSpPr>
        <p:spPr>
          <a:xfrm>
            <a:off x="8339328" y="1828800"/>
            <a:ext cx="1572768" cy="1371600"/>
          </a:xfrm>
          <a:prstGeom prst="roundRect">
            <a:avLst>
              <a:gd name="adj" fmla="val 2667"/>
            </a:avLst>
          </a:prstGeom>
          <a:solidFill>
            <a:srgbClr val="FFFCF7"/>
          </a:solidFill>
          <a:ln w="13970">
            <a:solidFill>
              <a:srgbClr val="725260"/>
            </a:solidFill>
            <a:prstDash val="solid"/>
          </a:ln>
        </p:spPr>
      </p:sp>
      <p:sp>
        <p:nvSpPr>
          <p:cNvPr id="16" name="Text 14"/>
          <p:cNvSpPr/>
          <p:nvPr/>
        </p:nvSpPr>
        <p:spPr>
          <a:xfrm>
            <a:off x="8339328" y="2148840"/>
            <a:ext cx="1572768" cy="658368"/>
          </a:xfrm>
          <a:prstGeom prst="rect">
            <a:avLst/>
          </a:prstGeom>
          <a:noFill/>
          <a:ln/>
        </p:spPr>
        <p:txBody>
          <a:bodyPr wrap="square" lIns="0" tIns="0" rIns="0" bIns="0" rtlCol="0" anchor="ctr"/>
          <a:lstStyle/>
          <a:p>
            <a:pPr algn="ctr" indent="0" marL="0">
              <a:buNone/>
            </a:pPr>
            <a:r>
              <a:rPr lang="en-US" sz="4000" b="1" dirty="0">
                <a:solidFill>
                  <a:srgbClr val="29241F"/>
                </a:solidFill>
                <a:latin typeface="Noto Serif CJK SC" pitchFamily="34" charset="0"/>
                <a:ea typeface="Noto Serif CJK SC" pitchFamily="34" charset="-122"/>
                <a:cs typeface="Noto Serif CJK SC" pitchFamily="34" charset="-120"/>
              </a:rPr>
              <a:t>咥</a:t>
            </a:r>
            <a:endParaRPr lang="en-US" sz="4000" dirty="0"/>
          </a:p>
        </p:txBody>
      </p:sp>
      <p:sp>
        <p:nvSpPr>
          <p:cNvPr id="17" name="Shape 15"/>
          <p:cNvSpPr/>
          <p:nvPr/>
        </p:nvSpPr>
        <p:spPr>
          <a:xfrm>
            <a:off x="10241280" y="1828800"/>
            <a:ext cx="1572768" cy="1371600"/>
          </a:xfrm>
          <a:prstGeom prst="roundRect">
            <a:avLst>
              <a:gd name="adj" fmla="val 2667"/>
            </a:avLst>
          </a:prstGeom>
          <a:solidFill>
            <a:srgbClr val="FFFCF7"/>
          </a:solidFill>
          <a:ln w="13970">
            <a:solidFill>
              <a:srgbClr val="94473B"/>
            </a:solidFill>
            <a:prstDash val="solid"/>
          </a:ln>
        </p:spPr>
      </p:sp>
      <p:sp>
        <p:nvSpPr>
          <p:cNvPr id="18" name="Text 16"/>
          <p:cNvSpPr/>
          <p:nvPr/>
        </p:nvSpPr>
        <p:spPr>
          <a:xfrm>
            <a:off x="10241280" y="2148840"/>
            <a:ext cx="1572768" cy="658368"/>
          </a:xfrm>
          <a:prstGeom prst="rect">
            <a:avLst/>
          </a:prstGeom>
          <a:noFill/>
          <a:ln/>
        </p:spPr>
        <p:txBody>
          <a:bodyPr wrap="square" lIns="0" tIns="0" rIns="0" bIns="0" rtlCol="0" anchor="ctr"/>
          <a:lstStyle/>
          <a:p>
            <a:pPr algn="ctr" indent="0" marL="0">
              <a:buNone/>
            </a:pPr>
            <a:r>
              <a:rPr lang="en-US" sz="4000" b="1" dirty="0">
                <a:solidFill>
                  <a:srgbClr val="29241F"/>
                </a:solidFill>
                <a:latin typeface="Noto Serif CJK SC" pitchFamily="34" charset="0"/>
                <a:ea typeface="Noto Serif CJK SC" pitchFamily="34" charset="-122"/>
                <a:cs typeface="Noto Serif CJK SC" pitchFamily="34" charset="-120"/>
              </a:rPr>
              <a:t>泮</a:t>
            </a:r>
            <a:endParaRPr lang="en-US" sz="4000" dirty="0"/>
          </a:p>
        </p:txBody>
      </p:sp>
      <p:sp>
        <p:nvSpPr>
          <p:cNvPr id="19" name="Text 17"/>
          <p:cNvSpPr/>
          <p:nvPr/>
        </p:nvSpPr>
        <p:spPr>
          <a:xfrm>
            <a:off x="914400" y="3886200"/>
            <a:ext cx="10360152" cy="658368"/>
          </a:xfrm>
          <a:prstGeom prst="rect">
            <a:avLst/>
          </a:prstGeom>
          <a:noFill/>
          <a:ln/>
        </p:spPr>
        <p:txBody>
          <a:bodyPr wrap="square" lIns="0" tIns="0" rIns="0" bIns="0" rtlCol="0" anchor="ctr"/>
          <a:lstStyle/>
          <a:p>
            <a:pPr algn="ctr" indent="0" marL="0">
              <a:buNone/>
            </a:pPr>
            <a:r>
              <a:rPr lang="en-US" sz="2500" b="1" dirty="0">
                <a:solidFill>
                  <a:srgbClr val="725260"/>
                </a:solidFill>
                <a:latin typeface="Noto Serif CJK SC" pitchFamily="34" charset="0"/>
                <a:ea typeface="Noto Serif CJK SC" pitchFamily="34" charset="-122"/>
                <a:cs typeface="Noto Serif CJK SC" pitchFamily="34" charset="-120"/>
              </a:rPr>
              <a:t>每项写：读音｜句中义｜原句。不会，可以留空。</a:t>
            </a:r>
            <a:endParaRPr lang="en-US" sz="25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66</a:t>
            </a:r>
            <a:endParaRPr lang="en-US" sz="1450" dirty="0"/>
          </a:p>
        </p:txBody>
      </p:sp>
      <p:sp>
        <p:nvSpPr>
          <p:cNvPr id="5" name="Text 3"/>
          <p:cNvSpPr/>
          <p:nvPr/>
        </p:nvSpPr>
        <p:spPr>
          <a:xfrm>
            <a:off x="10104120" y="292608"/>
            <a:ext cx="502920" cy="256032"/>
          </a:xfrm>
          <a:prstGeom prst="rect">
            <a:avLst/>
          </a:prstGeom>
          <a:noFill/>
          <a:ln/>
        </p:spPr>
        <p:txBody>
          <a:bodyPr wrap="square" lIns="0" tIns="0" rIns="0" bIns="0" rtlCol="0" anchor="ctr"/>
          <a:lstStyle/>
          <a:p>
            <a:pPr algn="r" indent="0" marL="0">
              <a:buNone/>
            </a:pPr>
            <a:r>
              <a:rPr lang="en-US" sz="1350" b="1" dirty="0">
                <a:solidFill>
                  <a:srgbClr val="51483F"/>
                </a:solidFill>
                <a:latin typeface="Noto Sans CJK SC" pitchFamily="34" charset="0"/>
                <a:ea typeface="Noto Sans CJK SC" pitchFamily="34" charset="-122"/>
                <a:cs typeface="Noto Sans CJK SC" pitchFamily="34" charset="-120"/>
              </a:rPr>
              <a:t>B1</a:t>
            </a:r>
            <a:endParaRPr lang="en-US" sz="1350" dirty="0"/>
          </a:p>
        </p:txBody>
      </p:sp>
      <p:sp>
        <p:nvSpPr>
          <p:cNvPr id="6" name="Text 4"/>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打开教材，只修自己错空的地方。</a:t>
            </a:r>
            <a:endParaRPr lang="en-US" sz="3400" dirty="0"/>
          </a:p>
        </p:txBody>
      </p:sp>
      <p:sp>
        <p:nvSpPr>
          <p:cNvPr id="7" name="Shape 5"/>
          <p:cNvSpPr/>
          <p:nvPr/>
        </p:nvSpPr>
        <p:spPr>
          <a:xfrm>
            <a:off x="731520" y="1828800"/>
            <a:ext cx="1572768" cy="1371600"/>
          </a:xfrm>
          <a:prstGeom prst="roundRect">
            <a:avLst>
              <a:gd name="adj" fmla="val 2667"/>
            </a:avLst>
          </a:prstGeom>
          <a:solidFill>
            <a:srgbClr val="FFFCF7"/>
          </a:solidFill>
          <a:ln w="13970">
            <a:solidFill>
              <a:srgbClr val="A67F4A"/>
            </a:solidFill>
            <a:prstDash val="solid"/>
          </a:ln>
        </p:spPr>
      </p:sp>
      <p:sp>
        <p:nvSpPr>
          <p:cNvPr id="8" name="Text 6"/>
          <p:cNvSpPr/>
          <p:nvPr/>
        </p:nvSpPr>
        <p:spPr>
          <a:xfrm>
            <a:off x="731520" y="2148840"/>
            <a:ext cx="1572768" cy="658368"/>
          </a:xfrm>
          <a:prstGeom prst="rect">
            <a:avLst/>
          </a:prstGeom>
          <a:noFill/>
          <a:ln/>
        </p:spPr>
        <p:txBody>
          <a:bodyPr wrap="square" lIns="0" tIns="0" rIns="0" bIns="0" rtlCol="0" anchor="ctr"/>
          <a:lstStyle/>
          <a:p>
            <a:pPr algn="ctr" indent="0" marL="0">
              <a:buNone/>
            </a:pPr>
            <a:r>
              <a:rPr lang="en-US" sz="4000" b="1" dirty="0">
                <a:solidFill>
                  <a:srgbClr val="29241F"/>
                </a:solidFill>
                <a:latin typeface="Noto Serif CJK SC" pitchFamily="34" charset="0"/>
                <a:ea typeface="Noto Serif CJK SC" pitchFamily="34" charset="-122"/>
                <a:cs typeface="Noto Serif CJK SC" pitchFamily="34" charset="-120"/>
              </a:rPr>
              <a:t>愆</a:t>
            </a:r>
            <a:endParaRPr lang="en-US" sz="4000" dirty="0"/>
          </a:p>
        </p:txBody>
      </p:sp>
      <p:sp>
        <p:nvSpPr>
          <p:cNvPr id="9" name="Shape 7"/>
          <p:cNvSpPr/>
          <p:nvPr/>
        </p:nvSpPr>
        <p:spPr>
          <a:xfrm>
            <a:off x="2633472" y="1828800"/>
            <a:ext cx="1572768" cy="1371600"/>
          </a:xfrm>
          <a:prstGeom prst="roundRect">
            <a:avLst>
              <a:gd name="adj" fmla="val 2667"/>
            </a:avLst>
          </a:prstGeom>
          <a:solidFill>
            <a:srgbClr val="FFFCF7"/>
          </a:solidFill>
          <a:ln w="13970">
            <a:solidFill>
              <a:srgbClr val="446E78"/>
            </a:solidFill>
            <a:prstDash val="solid"/>
          </a:ln>
        </p:spPr>
      </p:sp>
      <p:sp>
        <p:nvSpPr>
          <p:cNvPr id="10" name="Text 8"/>
          <p:cNvSpPr/>
          <p:nvPr/>
        </p:nvSpPr>
        <p:spPr>
          <a:xfrm>
            <a:off x="2633472" y="2148840"/>
            <a:ext cx="1572768" cy="658368"/>
          </a:xfrm>
          <a:prstGeom prst="rect">
            <a:avLst/>
          </a:prstGeom>
          <a:noFill/>
          <a:ln/>
        </p:spPr>
        <p:txBody>
          <a:bodyPr wrap="square" lIns="0" tIns="0" rIns="0" bIns="0" rtlCol="0" anchor="ctr"/>
          <a:lstStyle/>
          <a:p>
            <a:pPr algn="ctr" indent="0" marL="0">
              <a:buNone/>
            </a:pPr>
            <a:r>
              <a:rPr lang="en-US" sz="4000" b="1" dirty="0">
                <a:solidFill>
                  <a:srgbClr val="29241F"/>
                </a:solidFill>
                <a:latin typeface="Noto Serif CJK SC" pitchFamily="34" charset="0"/>
                <a:ea typeface="Noto Serif CJK SC" pitchFamily="34" charset="-122"/>
                <a:cs typeface="Noto Serif CJK SC" pitchFamily="34" charset="-120"/>
              </a:rPr>
              <a:t>筮</a:t>
            </a:r>
            <a:endParaRPr lang="en-US" sz="4000" dirty="0"/>
          </a:p>
        </p:txBody>
      </p:sp>
      <p:sp>
        <p:nvSpPr>
          <p:cNvPr id="11" name="Shape 9"/>
          <p:cNvSpPr/>
          <p:nvPr/>
        </p:nvSpPr>
        <p:spPr>
          <a:xfrm>
            <a:off x="4535424" y="1828800"/>
            <a:ext cx="1572768" cy="1371600"/>
          </a:xfrm>
          <a:prstGeom prst="roundRect">
            <a:avLst>
              <a:gd name="adj" fmla="val 2667"/>
            </a:avLst>
          </a:prstGeom>
          <a:solidFill>
            <a:srgbClr val="FFFCF7"/>
          </a:solidFill>
          <a:ln w="13970">
            <a:solidFill>
              <a:srgbClr val="657653"/>
            </a:solidFill>
            <a:prstDash val="solid"/>
          </a:ln>
        </p:spPr>
      </p:sp>
      <p:sp>
        <p:nvSpPr>
          <p:cNvPr id="12" name="Text 10"/>
          <p:cNvSpPr/>
          <p:nvPr/>
        </p:nvSpPr>
        <p:spPr>
          <a:xfrm>
            <a:off x="4535424" y="2148840"/>
            <a:ext cx="1572768" cy="658368"/>
          </a:xfrm>
          <a:prstGeom prst="rect">
            <a:avLst/>
          </a:prstGeom>
          <a:noFill/>
          <a:ln/>
        </p:spPr>
        <p:txBody>
          <a:bodyPr wrap="square" lIns="0" tIns="0" rIns="0" bIns="0" rtlCol="0" anchor="ctr"/>
          <a:lstStyle/>
          <a:p>
            <a:pPr algn="ctr" indent="0" marL="0">
              <a:buNone/>
            </a:pPr>
            <a:r>
              <a:rPr lang="en-US" sz="4000" b="1" dirty="0">
                <a:solidFill>
                  <a:srgbClr val="29241F"/>
                </a:solidFill>
                <a:latin typeface="Noto Serif CJK SC" pitchFamily="34" charset="0"/>
                <a:ea typeface="Noto Serif CJK SC" pitchFamily="34" charset="-122"/>
                <a:cs typeface="Noto Serif CJK SC" pitchFamily="34" charset="-120"/>
              </a:rPr>
              <a:t>说</a:t>
            </a:r>
            <a:endParaRPr lang="en-US" sz="4000" dirty="0"/>
          </a:p>
        </p:txBody>
      </p:sp>
      <p:sp>
        <p:nvSpPr>
          <p:cNvPr id="13" name="Shape 11"/>
          <p:cNvSpPr/>
          <p:nvPr/>
        </p:nvSpPr>
        <p:spPr>
          <a:xfrm>
            <a:off x="6437376" y="1828800"/>
            <a:ext cx="1572768" cy="1371600"/>
          </a:xfrm>
          <a:prstGeom prst="roundRect">
            <a:avLst>
              <a:gd name="adj" fmla="val 2667"/>
            </a:avLst>
          </a:prstGeom>
          <a:solidFill>
            <a:srgbClr val="FFFCF7"/>
          </a:solidFill>
          <a:ln w="13970">
            <a:solidFill>
              <a:srgbClr val="B58B3E"/>
            </a:solidFill>
            <a:prstDash val="solid"/>
          </a:ln>
        </p:spPr>
      </p:sp>
      <p:sp>
        <p:nvSpPr>
          <p:cNvPr id="14" name="Text 12"/>
          <p:cNvSpPr/>
          <p:nvPr/>
        </p:nvSpPr>
        <p:spPr>
          <a:xfrm>
            <a:off x="6437376" y="2148840"/>
            <a:ext cx="1572768" cy="658368"/>
          </a:xfrm>
          <a:prstGeom prst="rect">
            <a:avLst/>
          </a:prstGeom>
          <a:noFill/>
          <a:ln/>
        </p:spPr>
        <p:txBody>
          <a:bodyPr wrap="square" lIns="0" tIns="0" rIns="0" bIns="0" rtlCol="0" anchor="ctr"/>
          <a:lstStyle/>
          <a:p>
            <a:pPr algn="ctr" indent="0" marL="0">
              <a:buNone/>
            </a:pPr>
            <a:r>
              <a:rPr lang="en-US" sz="4000" b="1" dirty="0">
                <a:solidFill>
                  <a:srgbClr val="29241F"/>
                </a:solidFill>
                <a:latin typeface="Noto Serif CJK SC" pitchFamily="34" charset="0"/>
                <a:ea typeface="Noto Serif CJK SC" pitchFamily="34" charset="-122"/>
                <a:cs typeface="Noto Serif CJK SC" pitchFamily="34" charset="-120"/>
              </a:rPr>
              <a:t>爽</a:t>
            </a:r>
            <a:endParaRPr lang="en-US" sz="4000" dirty="0"/>
          </a:p>
        </p:txBody>
      </p:sp>
      <p:sp>
        <p:nvSpPr>
          <p:cNvPr id="15" name="Shape 13"/>
          <p:cNvSpPr/>
          <p:nvPr/>
        </p:nvSpPr>
        <p:spPr>
          <a:xfrm>
            <a:off x="8339328" y="1828800"/>
            <a:ext cx="1572768" cy="1371600"/>
          </a:xfrm>
          <a:prstGeom prst="roundRect">
            <a:avLst>
              <a:gd name="adj" fmla="val 2667"/>
            </a:avLst>
          </a:prstGeom>
          <a:solidFill>
            <a:srgbClr val="FFFCF7"/>
          </a:solidFill>
          <a:ln w="13970">
            <a:solidFill>
              <a:srgbClr val="725260"/>
            </a:solidFill>
            <a:prstDash val="solid"/>
          </a:ln>
        </p:spPr>
      </p:sp>
      <p:sp>
        <p:nvSpPr>
          <p:cNvPr id="16" name="Text 14"/>
          <p:cNvSpPr/>
          <p:nvPr/>
        </p:nvSpPr>
        <p:spPr>
          <a:xfrm>
            <a:off x="8339328" y="2148840"/>
            <a:ext cx="1572768" cy="658368"/>
          </a:xfrm>
          <a:prstGeom prst="rect">
            <a:avLst/>
          </a:prstGeom>
          <a:noFill/>
          <a:ln/>
        </p:spPr>
        <p:txBody>
          <a:bodyPr wrap="square" lIns="0" tIns="0" rIns="0" bIns="0" rtlCol="0" anchor="ctr"/>
          <a:lstStyle/>
          <a:p>
            <a:pPr algn="ctr" indent="0" marL="0">
              <a:buNone/>
            </a:pPr>
            <a:r>
              <a:rPr lang="en-US" sz="4000" b="1" dirty="0">
                <a:solidFill>
                  <a:srgbClr val="29241F"/>
                </a:solidFill>
                <a:latin typeface="Noto Serif CJK SC" pitchFamily="34" charset="0"/>
                <a:ea typeface="Noto Serif CJK SC" pitchFamily="34" charset="-122"/>
                <a:cs typeface="Noto Serif CJK SC" pitchFamily="34" charset="-120"/>
              </a:rPr>
              <a:t>咥</a:t>
            </a:r>
            <a:endParaRPr lang="en-US" sz="4000" dirty="0"/>
          </a:p>
        </p:txBody>
      </p:sp>
      <p:sp>
        <p:nvSpPr>
          <p:cNvPr id="17" name="Shape 15"/>
          <p:cNvSpPr/>
          <p:nvPr/>
        </p:nvSpPr>
        <p:spPr>
          <a:xfrm>
            <a:off x="10241280" y="1828800"/>
            <a:ext cx="1572768" cy="1371600"/>
          </a:xfrm>
          <a:prstGeom prst="roundRect">
            <a:avLst>
              <a:gd name="adj" fmla="val 2667"/>
            </a:avLst>
          </a:prstGeom>
          <a:solidFill>
            <a:srgbClr val="FFFCF7"/>
          </a:solidFill>
          <a:ln w="13970">
            <a:solidFill>
              <a:srgbClr val="94473B"/>
            </a:solidFill>
            <a:prstDash val="solid"/>
          </a:ln>
        </p:spPr>
      </p:sp>
      <p:sp>
        <p:nvSpPr>
          <p:cNvPr id="18" name="Text 16"/>
          <p:cNvSpPr/>
          <p:nvPr/>
        </p:nvSpPr>
        <p:spPr>
          <a:xfrm>
            <a:off x="10241280" y="2148840"/>
            <a:ext cx="1572768" cy="658368"/>
          </a:xfrm>
          <a:prstGeom prst="rect">
            <a:avLst/>
          </a:prstGeom>
          <a:noFill/>
          <a:ln/>
        </p:spPr>
        <p:txBody>
          <a:bodyPr wrap="square" lIns="0" tIns="0" rIns="0" bIns="0" rtlCol="0" anchor="ctr"/>
          <a:lstStyle/>
          <a:p>
            <a:pPr algn="ctr" indent="0" marL="0">
              <a:buNone/>
            </a:pPr>
            <a:r>
              <a:rPr lang="en-US" sz="4000" b="1" dirty="0">
                <a:solidFill>
                  <a:srgbClr val="29241F"/>
                </a:solidFill>
                <a:latin typeface="Noto Serif CJK SC" pitchFamily="34" charset="0"/>
                <a:ea typeface="Noto Serif CJK SC" pitchFamily="34" charset="-122"/>
                <a:cs typeface="Noto Serif CJK SC" pitchFamily="34" charset="-120"/>
              </a:rPr>
              <a:t>泮</a:t>
            </a:r>
            <a:endParaRPr lang="en-US" sz="4000" dirty="0"/>
          </a:p>
        </p:txBody>
      </p:sp>
      <p:sp>
        <p:nvSpPr>
          <p:cNvPr id="19" name="Text 17"/>
          <p:cNvSpPr/>
          <p:nvPr/>
        </p:nvSpPr>
        <p:spPr>
          <a:xfrm>
            <a:off x="914400" y="3886200"/>
            <a:ext cx="10360152" cy="658368"/>
          </a:xfrm>
          <a:prstGeom prst="rect">
            <a:avLst/>
          </a:prstGeom>
          <a:noFill/>
          <a:ln/>
        </p:spPr>
        <p:txBody>
          <a:bodyPr wrap="square" lIns="0" tIns="0" rIns="0" bIns="0" rtlCol="0" anchor="ctr"/>
          <a:lstStyle/>
          <a:p>
            <a:pPr algn="ctr" indent="0" marL="0">
              <a:buNone/>
            </a:pPr>
            <a:r>
              <a:rPr lang="en-US" sz="2500" b="1" dirty="0">
                <a:solidFill>
                  <a:srgbClr val="725260"/>
                </a:solidFill>
                <a:latin typeface="Noto Serif CJK SC" pitchFamily="34" charset="0"/>
                <a:ea typeface="Noto Serif CJK SC" pitchFamily="34" charset="-122"/>
                <a:cs typeface="Noto Serif CJK SC" pitchFamily="34" charset="-120"/>
              </a:rPr>
              <a:t>在对应句旁圈一个终读提醒。</a:t>
            </a:r>
            <a:endParaRPr lang="en-US" sz="25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67</a:t>
            </a:r>
            <a:endParaRPr lang="en-US" sz="1450" dirty="0"/>
          </a:p>
        </p:txBody>
      </p:sp>
      <p:sp>
        <p:nvSpPr>
          <p:cNvPr id="5" name="Text 3"/>
          <p:cNvSpPr/>
          <p:nvPr/>
        </p:nvSpPr>
        <p:spPr>
          <a:xfrm>
            <a:off x="10104120" y="292608"/>
            <a:ext cx="502920" cy="256032"/>
          </a:xfrm>
          <a:prstGeom prst="rect">
            <a:avLst/>
          </a:prstGeom>
          <a:noFill/>
          <a:ln/>
        </p:spPr>
        <p:txBody>
          <a:bodyPr wrap="square" lIns="0" tIns="0" rIns="0" bIns="0" rtlCol="0" anchor="ctr"/>
          <a:lstStyle/>
          <a:p>
            <a:pPr algn="r" indent="0" marL="0">
              <a:buNone/>
            </a:pPr>
            <a:r>
              <a:rPr lang="en-US" sz="1350" b="1" dirty="0">
                <a:solidFill>
                  <a:srgbClr val="51483F"/>
                </a:solidFill>
                <a:latin typeface="Noto Sans CJK SC" pitchFamily="34" charset="0"/>
                <a:ea typeface="Noto Sans CJK SC" pitchFamily="34" charset="-122"/>
                <a:cs typeface="Noto Sans CJK SC" pitchFamily="34" charset="-120"/>
              </a:rPr>
              <a:t>B2</a:t>
            </a:r>
            <a:endParaRPr lang="en-US" sz="1350" dirty="0"/>
          </a:p>
        </p:txBody>
      </p:sp>
      <p:sp>
        <p:nvSpPr>
          <p:cNvPr id="6" name="Text 4"/>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愆：延误　筮：用蓍草占问　说：同“脱”</a:t>
            </a:r>
            <a:endParaRPr lang="en-US" sz="3400" dirty="0"/>
          </a:p>
        </p:txBody>
      </p:sp>
      <p:sp>
        <p:nvSpPr>
          <p:cNvPr id="7" name="Shape 5"/>
          <p:cNvSpPr/>
          <p:nvPr/>
        </p:nvSpPr>
        <p:spPr>
          <a:xfrm>
            <a:off x="731520" y="1828800"/>
            <a:ext cx="1572768" cy="1371600"/>
          </a:xfrm>
          <a:prstGeom prst="roundRect">
            <a:avLst>
              <a:gd name="adj" fmla="val 2667"/>
            </a:avLst>
          </a:prstGeom>
          <a:solidFill>
            <a:srgbClr val="FFFCF7"/>
          </a:solidFill>
          <a:ln w="13970">
            <a:solidFill>
              <a:srgbClr val="A67F4A"/>
            </a:solidFill>
            <a:prstDash val="solid"/>
          </a:ln>
        </p:spPr>
      </p:sp>
      <p:sp>
        <p:nvSpPr>
          <p:cNvPr id="8" name="Text 6"/>
          <p:cNvSpPr/>
          <p:nvPr/>
        </p:nvSpPr>
        <p:spPr>
          <a:xfrm>
            <a:off x="731520" y="2148840"/>
            <a:ext cx="1572768" cy="658368"/>
          </a:xfrm>
          <a:prstGeom prst="rect">
            <a:avLst/>
          </a:prstGeom>
          <a:noFill/>
          <a:ln/>
        </p:spPr>
        <p:txBody>
          <a:bodyPr wrap="square" lIns="0" tIns="0" rIns="0" bIns="0" rtlCol="0" anchor="ctr"/>
          <a:lstStyle/>
          <a:p>
            <a:pPr algn="ctr" indent="0" marL="0">
              <a:buNone/>
            </a:pPr>
            <a:r>
              <a:rPr lang="en-US" sz="4000" b="1" dirty="0">
                <a:solidFill>
                  <a:srgbClr val="29241F"/>
                </a:solidFill>
                <a:latin typeface="Noto Serif CJK SC" pitchFamily="34" charset="0"/>
                <a:ea typeface="Noto Serif CJK SC" pitchFamily="34" charset="-122"/>
                <a:cs typeface="Noto Serif CJK SC" pitchFamily="34" charset="-120"/>
              </a:rPr>
              <a:t>愆</a:t>
            </a:r>
            <a:endParaRPr lang="en-US" sz="4000" dirty="0"/>
          </a:p>
        </p:txBody>
      </p:sp>
      <p:sp>
        <p:nvSpPr>
          <p:cNvPr id="9" name="Shape 7"/>
          <p:cNvSpPr/>
          <p:nvPr/>
        </p:nvSpPr>
        <p:spPr>
          <a:xfrm>
            <a:off x="2633472" y="1828800"/>
            <a:ext cx="1572768" cy="1371600"/>
          </a:xfrm>
          <a:prstGeom prst="roundRect">
            <a:avLst>
              <a:gd name="adj" fmla="val 2667"/>
            </a:avLst>
          </a:prstGeom>
          <a:solidFill>
            <a:srgbClr val="FFFCF7"/>
          </a:solidFill>
          <a:ln w="13970">
            <a:solidFill>
              <a:srgbClr val="446E78"/>
            </a:solidFill>
            <a:prstDash val="solid"/>
          </a:ln>
        </p:spPr>
      </p:sp>
      <p:sp>
        <p:nvSpPr>
          <p:cNvPr id="10" name="Text 8"/>
          <p:cNvSpPr/>
          <p:nvPr/>
        </p:nvSpPr>
        <p:spPr>
          <a:xfrm>
            <a:off x="2633472" y="2148840"/>
            <a:ext cx="1572768" cy="658368"/>
          </a:xfrm>
          <a:prstGeom prst="rect">
            <a:avLst/>
          </a:prstGeom>
          <a:noFill/>
          <a:ln/>
        </p:spPr>
        <p:txBody>
          <a:bodyPr wrap="square" lIns="0" tIns="0" rIns="0" bIns="0" rtlCol="0" anchor="ctr"/>
          <a:lstStyle/>
          <a:p>
            <a:pPr algn="ctr" indent="0" marL="0">
              <a:buNone/>
            </a:pPr>
            <a:r>
              <a:rPr lang="en-US" sz="4000" b="1" dirty="0">
                <a:solidFill>
                  <a:srgbClr val="29241F"/>
                </a:solidFill>
                <a:latin typeface="Noto Serif CJK SC" pitchFamily="34" charset="0"/>
                <a:ea typeface="Noto Serif CJK SC" pitchFamily="34" charset="-122"/>
                <a:cs typeface="Noto Serif CJK SC" pitchFamily="34" charset="-120"/>
              </a:rPr>
              <a:t>筮</a:t>
            </a:r>
            <a:endParaRPr lang="en-US" sz="4000" dirty="0"/>
          </a:p>
        </p:txBody>
      </p:sp>
      <p:sp>
        <p:nvSpPr>
          <p:cNvPr id="11" name="Shape 9"/>
          <p:cNvSpPr/>
          <p:nvPr/>
        </p:nvSpPr>
        <p:spPr>
          <a:xfrm>
            <a:off x="4535424" y="1828800"/>
            <a:ext cx="1572768" cy="1371600"/>
          </a:xfrm>
          <a:prstGeom prst="roundRect">
            <a:avLst>
              <a:gd name="adj" fmla="val 2667"/>
            </a:avLst>
          </a:prstGeom>
          <a:solidFill>
            <a:srgbClr val="FFFCF7"/>
          </a:solidFill>
          <a:ln w="13970">
            <a:solidFill>
              <a:srgbClr val="657653"/>
            </a:solidFill>
            <a:prstDash val="solid"/>
          </a:ln>
        </p:spPr>
      </p:sp>
      <p:sp>
        <p:nvSpPr>
          <p:cNvPr id="12" name="Text 10"/>
          <p:cNvSpPr/>
          <p:nvPr/>
        </p:nvSpPr>
        <p:spPr>
          <a:xfrm>
            <a:off x="4535424" y="2148840"/>
            <a:ext cx="1572768" cy="658368"/>
          </a:xfrm>
          <a:prstGeom prst="rect">
            <a:avLst/>
          </a:prstGeom>
          <a:noFill/>
          <a:ln/>
        </p:spPr>
        <p:txBody>
          <a:bodyPr wrap="square" lIns="0" tIns="0" rIns="0" bIns="0" rtlCol="0" anchor="ctr"/>
          <a:lstStyle/>
          <a:p>
            <a:pPr algn="ctr" indent="0" marL="0">
              <a:buNone/>
            </a:pPr>
            <a:r>
              <a:rPr lang="en-US" sz="4000" b="1" dirty="0">
                <a:solidFill>
                  <a:srgbClr val="29241F"/>
                </a:solidFill>
                <a:latin typeface="Noto Serif CJK SC" pitchFamily="34" charset="0"/>
                <a:ea typeface="Noto Serif CJK SC" pitchFamily="34" charset="-122"/>
                <a:cs typeface="Noto Serif CJK SC" pitchFamily="34" charset="-120"/>
              </a:rPr>
              <a:t>说</a:t>
            </a:r>
            <a:endParaRPr lang="en-US" sz="4000" dirty="0"/>
          </a:p>
        </p:txBody>
      </p:sp>
      <p:sp>
        <p:nvSpPr>
          <p:cNvPr id="13" name="Shape 11"/>
          <p:cNvSpPr/>
          <p:nvPr/>
        </p:nvSpPr>
        <p:spPr>
          <a:xfrm>
            <a:off x="6437376" y="1828800"/>
            <a:ext cx="1572768" cy="1371600"/>
          </a:xfrm>
          <a:prstGeom prst="roundRect">
            <a:avLst>
              <a:gd name="adj" fmla="val 2667"/>
            </a:avLst>
          </a:prstGeom>
          <a:solidFill>
            <a:srgbClr val="FFFCF7"/>
          </a:solidFill>
          <a:ln w="13970">
            <a:solidFill>
              <a:srgbClr val="B58B3E"/>
            </a:solidFill>
            <a:prstDash val="solid"/>
          </a:ln>
        </p:spPr>
      </p:sp>
      <p:sp>
        <p:nvSpPr>
          <p:cNvPr id="14" name="Text 12"/>
          <p:cNvSpPr/>
          <p:nvPr/>
        </p:nvSpPr>
        <p:spPr>
          <a:xfrm>
            <a:off x="6437376" y="2148840"/>
            <a:ext cx="1572768" cy="658368"/>
          </a:xfrm>
          <a:prstGeom prst="rect">
            <a:avLst/>
          </a:prstGeom>
          <a:noFill/>
          <a:ln/>
        </p:spPr>
        <p:txBody>
          <a:bodyPr wrap="square" lIns="0" tIns="0" rIns="0" bIns="0" rtlCol="0" anchor="ctr"/>
          <a:lstStyle/>
          <a:p>
            <a:pPr algn="ctr" indent="0" marL="0">
              <a:buNone/>
            </a:pPr>
            <a:r>
              <a:rPr lang="en-US" sz="4000" b="1" dirty="0">
                <a:solidFill>
                  <a:srgbClr val="29241F"/>
                </a:solidFill>
                <a:latin typeface="Noto Serif CJK SC" pitchFamily="34" charset="0"/>
                <a:ea typeface="Noto Serif CJK SC" pitchFamily="34" charset="-122"/>
                <a:cs typeface="Noto Serif CJK SC" pitchFamily="34" charset="-120"/>
              </a:rPr>
              <a:t>爽</a:t>
            </a:r>
            <a:endParaRPr lang="en-US" sz="4000" dirty="0"/>
          </a:p>
        </p:txBody>
      </p:sp>
      <p:sp>
        <p:nvSpPr>
          <p:cNvPr id="15" name="Shape 13"/>
          <p:cNvSpPr/>
          <p:nvPr/>
        </p:nvSpPr>
        <p:spPr>
          <a:xfrm>
            <a:off x="8339328" y="1828800"/>
            <a:ext cx="1572768" cy="1371600"/>
          </a:xfrm>
          <a:prstGeom prst="roundRect">
            <a:avLst>
              <a:gd name="adj" fmla="val 2667"/>
            </a:avLst>
          </a:prstGeom>
          <a:solidFill>
            <a:srgbClr val="FFFCF7"/>
          </a:solidFill>
          <a:ln w="13970">
            <a:solidFill>
              <a:srgbClr val="725260"/>
            </a:solidFill>
            <a:prstDash val="solid"/>
          </a:ln>
        </p:spPr>
      </p:sp>
      <p:sp>
        <p:nvSpPr>
          <p:cNvPr id="16" name="Text 14"/>
          <p:cNvSpPr/>
          <p:nvPr/>
        </p:nvSpPr>
        <p:spPr>
          <a:xfrm>
            <a:off x="8339328" y="2148840"/>
            <a:ext cx="1572768" cy="658368"/>
          </a:xfrm>
          <a:prstGeom prst="rect">
            <a:avLst/>
          </a:prstGeom>
          <a:noFill/>
          <a:ln/>
        </p:spPr>
        <p:txBody>
          <a:bodyPr wrap="square" lIns="0" tIns="0" rIns="0" bIns="0" rtlCol="0" anchor="ctr"/>
          <a:lstStyle/>
          <a:p>
            <a:pPr algn="ctr" indent="0" marL="0">
              <a:buNone/>
            </a:pPr>
            <a:r>
              <a:rPr lang="en-US" sz="4000" b="1" dirty="0">
                <a:solidFill>
                  <a:srgbClr val="29241F"/>
                </a:solidFill>
                <a:latin typeface="Noto Serif CJK SC" pitchFamily="34" charset="0"/>
                <a:ea typeface="Noto Serif CJK SC" pitchFamily="34" charset="-122"/>
                <a:cs typeface="Noto Serif CJK SC" pitchFamily="34" charset="-120"/>
              </a:rPr>
              <a:t>咥</a:t>
            </a:r>
            <a:endParaRPr lang="en-US" sz="4000" dirty="0"/>
          </a:p>
        </p:txBody>
      </p:sp>
      <p:sp>
        <p:nvSpPr>
          <p:cNvPr id="17" name="Shape 15"/>
          <p:cNvSpPr/>
          <p:nvPr/>
        </p:nvSpPr>
        <p:spPr>
          <a:xfrm>
            <a:off x="10241280" y="1828800"/>
            <a:ext cx="1572768" cy="1371600"/>
          </a:xfrm>
          <a:prstGeom prst="roundRect">
            <a:avLst>
              <a:gd name="adj" fmla="val 2667"/>
            </a:avLst>
          </a:prstGeom>
          <a:solidFill>
            <a:srgbClr val="FFFCF7"/>
          </a:solidFill>
          <a:ln w="13970">
            <a:solidFill>
              <a:srgbClr val="94473B"/>
            </a:solidFill>
            <a:prstDash val="solid"/>
          </a:ln>
        </p:spPr>
      </p:sp>
      <p:sp>
        <p:nvSpPr>
          <p:cNvPr id="18" name="Text 16"/>
          <p:cNvSpPr/>
          <p:nvPr/>
        </p:nvSpPr>
        <p:spPr>
          <a:xfrm>
            <a:off x="10241280" y="2148840"/>
            <a:ext cx="1572768" cy="658368"/>
          </a:xfrm>
          <a:prstGeom prst="rect">
            <a:avLst/>
          </a:prstGeom>
          <a:noFill/>
          <a:ln/>
        </p:spPr>
        <p:txBody>
          <a:bodyPr wrap="square" lIns="0" tIns="0" rIns="0" bIns="0" rtlCol="0" anchor="ctr"/>
          <a:lstStyle/>
          <a:p>
            <a:pPr algn="ctr" indent="0" marL="0">
              <a:buNone/>
            </a:pPr>
            <a:r>
              <a:rPr lang="en-US" sz="4000" b="1" dirty="0">
                <a:solidFill>
                  <a:srgbClr val="29241F"/>
                </a:solidFill>
                <a:latin typeface="Noto Serif CJK SC" pitchFamily="34" charset="0"/>
                <a:ea typeface="Noto Serif CJK SC" pitchFamily="34" charset="-122"/>
                <a:cs typeface="Noto Serif CJK SC" pitchFamily="34" charset="-120"/>
              </a:rPr>
              <a:t>泮</a:t>
            </a:r>
            <a:endParaRPr lang="en-US" sz="4000" dirty="0"/>
          </a:p>
        </p:txBody>
      </p:sp>
      <p:sp>
        <p:nvSpPr>
          <p:cNvPr id="19" name="Text 17"/>
          <p:cNvSpPr/>
          <p:nvPr/>
        </p:nvSpPr>
        <p:spPr>
          <a:xfrm>
            <a:off x="914400" y="3886200"/>
            <a:ext cx="10360152" cy="658368"/>
          </a:xfrm>
          <a:prstGeom prst="rect">
            <a:avLst/>
          </a:prstGeom>
          <a:noFill/>
          <a:ln/>
        </p:spPr>
        <p:txBody>
          <a:bodyPr wrap="square" lIns="0" tIns="0" rIns="0" bIns="0" rtlCol="0" anchor="ctr"/>
          <a:lstStyle/>
          <a:p>
            <a:pPr algn="ctr" indent="0" marL="0">
              <a:buNone/>
            </a:pPr>
            <a:r>
              <a:rPr lang="en-US" sz="2500" b="1" dirty="0">
                <a:solidFill>
                  <a:srgbClr val="725260"/>
                </a:solidFill>
                <a:latin typeface="Noto Serif CJK SC" pitchFamily="34" charset="0"/>
                <a:ea typeface="Noto Serif CJK SC" pitchFamily="34" charset="-122"/>
                <a:cs typeface="Noto Serif CJK SC" pitchFamily="34" charset="-120"/>
              </a:rPr>
              <a:t>六项修好以后，再自选两个仍不稳的词。</a:t>
            </a:r>
            <a:endParaRPr lang="en-US" sz="25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68</a:t>
            </a:r>
            <a:endParaRPr lang="en-US" sz="1450" dirty="0"/>
          </a:p>
        </p:txBody>
      </p:sp>
      <p:sp>
        <p:nvSpPr>
          <p:cNvPr id="5" name="Text 3"/>
          <p:cNvSpPr/>
          <p:nvPr/>
        </p:nvSpPr>
        <p:spPr>
          <a:xfrm>
            <a:off x="10104120" y="292608"/>
            <a:ext cx="502920" cy="256032"/>
          </a:xfrm>
          <a:prstGeom prst="rect">
            <a:avLst/>
          </a:prstGeom>
          <a:noFill/>
          <a:ln/>
        </p:spPr>
        <p:txBody>
          <a:bodyPr wrap="square" lIns="0" tIns="0" rIns="0" bIns="0" rtlCol="0" anchor="ctr"/>
          <a:lstStyle/>
          <a:p>
            <a:pPr algn="r" indent="0" marL="0">
              <a:buNone/>
            </a:pPr>
            <a:r>
              <a:rPr lang="en-US" sz="1350" b="1" dirty="0">
                <a:solidFill>
                  <a:srgbClr val="51483F"/>
                </a:solidFill>
                <a:latin typeface="Noto Sans CJK SC" pitchFamily="34" charset="0"/>
                <a:ea typeface="Noto Sans CJK SC" pitchFamily="34" charset="-122"/>
                <a:cs typeface="Noto Sans CJK SC" pitchFamily="34" charset="-120"/>
              </a:rPr>
              <a:t>B0</a:t>
            </a:r>
            <a:endParaRPr lang="en-US" sz="1350" dirty="0"/>
          </a:p>
        </p:txBody>
      </p:sp>
      <p:sp>
        <p:nvSpPr>
          <p:cNvPr id="6" name="Text 4"/>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这些已经读过的句子，哪些可以放在一起？</a:t>
            </a:r>
            <a:endParaRPr lang="en-US" sz="3600" dirty="0"/>
          </a:p>
        </p:txBody>
      </p:sp>
      <p:sp>
        <p:nvSpPr>
          <p:cNvPr id="7" name="Shape 5"/>
          <p:cNvSpPr/>
          <p:nvPr/>
        </p:nvSpPr>
        <p:spPr>
          <a:xfrm>
            <a:off x="777240" y="1417320"/>
            <a:ext cx="5074920" cy="4206240"/>
          </a:xfrm>
          <a:prstGeom prst="roundRect">
            <a:avLst>
              <a:gd name="adj" fmla="val 870"/>
            </a:avLst>
          </a:prstGeom>
          <a:solidFill>
            <a:srgbClr val="FFFCF7"/>
          </a:solidFill>
          <a:ln w="13970">
            <a:solidFill>
              <a:srgbClr val="446E78"/>
            </a:solidFill>
            <a:prstDash val="solid"/>
          </a:ln>
        </p:spPr>
      </p:sp>
      <p:sp>
        <p:nvSpPr>
          <p:cNvPr id="8" name="Text 6"/>
          <p:cNvSpPr/>
          <p:nvPr/>
        </p:nvSpPr>
        <p:spPr>
          <a:xfrm>
            <a:off x="1051560" y="17830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29241F"/>
                </a:solidFill>
                <a:latin typeface="Noto Serif CJK SC" pitchFamily="34" charset="0"/>
                <a:ea typeface="Noto Serif CJK SC" pitchFamily="34" charset="-122"/>
                <a:cs typeface="Noto Serif CJK SC" pitchFamily="34" charset="-120"/>
              </a:rPr>
              <a:t>六章里的事件变化</a:t>
            </a:r>
            <a:endParaRPr lang="en-US" sz="2800" dirty="0"/>
          </a:p>
        </p:txBody>
      </p:sp>
      <p:sp>
        <p:nvSpPr>
          <p:cNvPr id="9" name="Text 7"/>
          <p:cNvSpPr/>
          <p:nvPr/>
        </p:nvSpPr>
        <p:spPr>
          <a:xfrm>
            <a:off x="1051560" y="26974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29241F"/>
                </a:solidFill>
                <a:latin typeface="Noto Serif CJK SC" pitchFamily="34" charset="0"/>
                <a:ea typeface="Noto Serif CJK SC" pitchFamily="34" charset="-122"/>
                <a:cs typeface="Noto Serif CJK SC" pitchFamily="34" charset="-120"/>
              </a:rPr>
              <a:t>桑之未落｜桑之落矣｜鸠｜女</a:t>
            </a:r>
            <a:endParaRPr lang="en-US" sz="2800" dirty="0"/>
          </a:p>
        </p:txBody>
      </p:sp>
      <p:sp>
        <p:nvSpPr>
          <p:cNvPr id="10" name="Text 8"/>
          <p:cNvSpPr/>
          <p:nvPr/>
        </p:nvSpPr>
        <p:spPr>
          <a:xfrm>
            <a:off x="1051560" y="36118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老｜老　反｜反　淇水再现</a:t>
            </a:r>
            <a:endParaRPr lang="en-US" sz="2800" dirty="0"/>
          </a:p>
        </p:txBody>
      </p:sp>
      <p:sp>
        <p:nvSpPr>
          <p:cNvPr id="11" name="Shape 9"/>
          <p:cNvSpPr/>
          <p:nvPr/>
        </p:nvSpPr>
        <p:spPr>
          <a:xfrm>
            <a:off x="6373368" y="1417320"/>
            <a:ext cx="5074920" cy="4206240"/>
          </a:xfrm>
          <a:prstGeom prst="roundRect">
            <a:avLst>
              <a:gd name="adj" fmla="val 870"/>
            </a:avLst>
          </a:prstGeom>
          <a:solidFill>
            <a:srgbClr val="FFFCF7"/>
          </a:solidFill>
          <a:ln w="13970">
            <a:solidFill>
              <a:srgbClr val="725260"/>
            </a:solidFill>
            <a:prstDash val="solid"/>
          </a:ln>
        </p:spPr>
      </p:sp>
      <p:sp>
        <p:nvSpPr>
          <p:cNvPr id="12" name="Text 10"/>
          <p:cNvSpPr/>
          <p:nvPr/>
        </p:nvSpPr>
        <p:spPr>
          <a:xfrm>
            <a:off x="6647688" y="17830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29241F"/>
                </a:solidFill>
                <a:latin typeface="Noto Serif CJK SC" pitchFamily="34" charset="0"/>
                <a:ea typeface="Noto Serif CJK SC" pitchFamily="34" charset="-122"/>
                <a:cs typeface="Noto Serif CJK SC" pitchFamily="34" charset="-120"/>
              </a:rPr>
              <a:t>涟涟　汤汤　晏晏　旦旦</a:t>
            </a:r>
            <a:endParaRPr lang="en-US" sz="2800" dirty="0"/>
          </a:p>
        </p:txBody>
      </p:sp>
      <p:sp>
        <p:nvSpPr>
          <p:cNvPr id="13" name="Text 11"/>
          <p:cNvSpPr/>
          <p:nvPr/>
        </p:nvSpPr>
        <p:spPr>
          <a:xfrm>
            <a:off x="6647688" y="26974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先说共同点，再说它怎样改变故事或声音。</a:t>
            </a:r>
            <a:endParaRPr lang="en-US" sz="28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69</a:t>
            </a:r>
            <a:endParaRPr lang="en-US" sz="1450" dirty="0"/>
          </a:p>
        </p:txBody>
      </p:sp>
      <p:sp>
        <p:nvSpPr>
          <p:cNvPr id="5" name="Text 3"/>
          <p:cNvSpPr/>
          <p:nvPr/>
        </p:nvSpPr>
        <p:spPr>
          <a:xfrm>
            <a:off x="10104120" y="292608"/>
            <a:ext cx="502920" cy="256032"/>
          </a:xfrm>
          <a:prstGeom prst="rect">
            <a:avLst/>
          </a:prstGeom>
          <a:noFill/>
          <a:ln/>
        </p:spPr>
        <p:txBody>
          <a:bodyPr wrap="square" lIns="0" tIns="0" rIns="0" bIns="0" rtlCol="0" anchor="ctr"/>
          <a:lstStyle/>
          <a:p>
            <a:pPr algn="r" indent="0" marL="0">
              <a:buNone/>
            </a:pPr>
            <a:r>
              <a:rPr lang="en-US" sz="1350" b="1" dirty="0">
                <a:solidFill>
                  <a:srgbClr val="51483F"/>
                </a:solidFill>
                <a:latin typeface="Noto Sans CJK SC" pitchFamily="34" charset="0"/>
                <a:ea typeface="Noto Sans CJK SC" pitchFamily="34" charset="-122"/>
                <a:cs typeface="Noto Sans CJK SC" pitchFamily="34" charset="-120"/>
              </a:rPr>
              <a:t>B1</a:t>
            </a:r>
            <a:endParaRPr lang="en-US" sz="1350" dirty="0"/>
          </a:p>
        </p:txBody>
      </p:sp>
      <p:sp>
        <p:nvSpPr>
          <p:cNvPr id="6" name="Text 4"/>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看看黑板上你们自己的分法</a:t>
            </a:r>
            <a:endParaRPr lang="en-US" sz="3600" dirty="0"/>
          </a:p>
        </p:txBody>
      </p:sp>
      <p:sp>
        <p:nvSpPr>
          <p:cNvPr id="7" name="Shape 5"/>
          <p:cNvSpPr/>
          <p:nvPr/>
        </p:nvSpPr>
        <p:spPr>
          <a:xfrm>
            <a:off x="768096" y="1572768"/>
            <a:ext cx="3380232" cy="3858768"/>
          </a:xfrm>
          <a:prstGeom prst="roundRect">
            <a:avLst>
              <a:gd name="adj" fmla="val 1082"/>
            </a:avLst>
          </a:prstGeom>
          <a:solidFill>
            <a:srgbClr val="FFFCF7"/>
          </a:solidFill>
          <a:ln w="13970">
            <a:solidFill>
              <a:srgbClr val="446E78"/>
            </a:solidFill>
            <a:prstDash val="solid"/>
          </a:ln>
        </p:spPr>
      </p:sp>
      <p:sp>
        <p:nvSpPr>
          <p:cNvPr id="8" name="Text 6"/>
          <p:cNvSpPr/>
          <p:nvPr/>
        </p:nvSpPr>
        <p:spPr>
          <a:xfrm>
            <a:off x="1042416"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哪些其实在看同一种写法？</a:t>
            </a:r>
            <a:endParaRPr lang="en-US" sz="2700" dirty="0"/>
          </a:p>
        </p:txBody>
      </p:sp>
      <p:sp>
        <p:nvSpPr>
          <p:cNvPr id="9" name="Shape 7"/>
          <p:cNvSpPr/>
          <p:nvPr/>
        </p:nvSpPr>
        <p:spPr>
          <a:xfrm>
            <a:off x="4404360" y="1572768"/>
            <a:ext cx="3380232" cy="3858768"/>
          </a:xfrm>
          <a:prstGeom prst="roundRect">
            <a:avLst>
              <a:gd name="adj" fmla="val 1082"/>
            </a:avLst>
          </a:prstGeom>
          <a:solidFill>
            <a:srgbClr val="FFFCF7"/>
          </a:solidFill>
          <a:ln w="13970">
            <a:solidFill>
              <a:srgbClr val="725260"/>
            </a:solidFill>
            <a:prstDash val="solid"/>
          </a:ln>
        </p:spPr>
      </p:sp>
      <p:sp>
        <p:nvSpPr>
          <p:cNvPr id="10" name="Text 8"/>
          <p:cNvSpPr/>
          <p:nvPr/>
        </p:nvSpPr>
        <p:spPr>
          <a:xfrm>
            <a:off x="4678680"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哪些材料还混在一起？</a:t>
            </a:r>
            <a:endParaRPr lang="en-US" sz="2700" dirty="0"/>
          </a:p>
        </p:txBody>
      </p:sp>
      <p:sp>
        <p:nvSpPr>
          <p:cNvPr id="11" name="Shape 9"/>
          <p:cNvSpPr/>
          <p:nvPr/>
        </p:nvSpPr>
        <p:spPr>
          <a:xfrm>
            <a:off x="8040624" y="1572768"/>
            <a:ext cx="3380232" cy="3858768"/>
          </a:xfrm>
          <a:prstGeom prst="roundRect">
            <a:avLst>
              <a:gd name="adj" fmla="val 1082"/>
            </a:avLst>
          </a:prstGeom>
          <a:solidFill>
            <a:srgbClr val="FFFCF7"/>
          </a:solidFill>
          <a:ln w="13970">
            <a:solidFill>
              <a:srgbClr val="A67F4A"/>
            </a:solidFill>
            <a:prstDash val="solid"/>
          </a:ln>
        </p:spPr>
      </p:sp>
      <p:sp>
        <p:nvSpPr>
          <p:cNvPr id="12" name="Text 10"/>
          <p:cNvSpPr/>
          <p:nvPr/>
        </p:nvSpPr>
        <p:spPr>
          <a:xfrm>
            <a:off x="8314944"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只用原诗说明。</a:t>
            </a:r>
            <a:endParaRPr lang="en-US" sz="27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70</a:t>
            </a:r>
            <a:endParaRPr lang="en-US" sz="1450" dirty="0"/>
          </a:p>
        </p:txBody>
      </p:sp>
      <p:sp>
        <p:nvSpPr>
          <p:cNvPr id="5" name="Text 3"/>
          <p:cNvSpPr/>
          <p:nvPr/>
        </p:nvSpPr>
        <p:spPr>
          <a:xfrm>
            <a:off x="10104120" y="292608"/>
            <a:ext cx="502920" cy="256032"/>
          </a:xfrm>
          <a:prstGeom prst="rect">
            <a:avLst/>
          </a:prstGeom>
          <a:noFill/>
          <a:ln/>
        </p:spPr>
        <p:txBody>
          <a:bodyPr wrap="square" lIns="0" tIns="0" rIns="0" bIns="0" rtlCol="0" anchor="ctr"/>
          <a:lstStyle/>
          <a:p>
            <a:pPr algn="r" indent="0" marL="0">
              <a:buNone/>
            </a:pPr>
            <a:r>
              <a:rPr lang="en-US" sz="1350" b="1" dirty="0">
                <a:solidFill>
                  <a:srgbClr val="51483F"/>
                </a:solidFill>
                <a:latin typeface="Noto Sans CJK SC" pitchFamily="34" charset="0"/>
                <a:ea typeface="Noto Sans CJK SC" pitchFamily="34" charset="-122"/>
                <a:cs typeface="Noto Sans CJK SC" pitchFamily="34" charset="-120"/>
              </a:rPr>
              <a:t>B2</a:t>
            </a:r>
            <a:endParaRPr lang="en-US" sz="1350" dirty="0"/>
          </a:p>
        </p:txBody>
      </p:sp>
      <p:sp>
        <p:nvSpPr>
          <p:cNvPr id="6" name="Text 4"/>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六章叙事推进</a:t>
            </a:r>
            <a:endParaRPr lang="en-US" sz="3600" dirty="0"/>
          </a:p>
        </p:txBody>
      </p:sp>
      <p:sp>
        <p:nvSpPr>
          <p:cNvPr id="7" name="Shape 5"/>
          <p:cNvSpPr/>
          <p:nvPr/>
        </p:nvSpPr>
        <p:spPr>
          <a:xfrm>
            <a:off x="777240" y="1417320"/>
            <a:ext cx="5074920" cy="4206240"/>
          </a:xfrm>
          <a:prstGeom prst="roundRect">
            <a:avLst>
              <a:gd name="adj" fmla="val 870"/>
            </a:avLst>
          </a:prstGeom>
          <a:solidFill>
            <a:srgbClr val="FFFCF7"/>
          </a:solidFill>
          <a:ln w="13970">
            <a:solidFill>
              <a:srgbClr val="446E78"/>
            </a:solidFill>
            <a:prstDash val="solid"/>
          </a:ln>
        </p:spPr>
      </p:sp>
      <p:sp>
        <p:nvSpPr>
          <p:cNvPr id="8" name="Text 6"/>
          <p:cNvSpPr/>
          <p:nvPr/>
        </p:nvSpPr>
        <p:spPr>
          <a:xfrm>
            <a:off x="1051560" y="17830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29241F"/>
                </a:solidFill>
                <a:latin typeface="Noto Serif CJK SC" pitchFamily="34" charset="0"/>
                <a:ea typeface="Noto Serif CJK SC" pitchFamily="34" charset="-122"/>
                <a:cs typeface="Noto Serif CJK SC" pitchFamily="34" charset="-120"/>
              </a:rPr>
              <a:t>桑叶比兴与前后对照</a:t>
            </a:r>
            <a:endParaRPr lang="en-US" sz="2800" dirty="0"/>
          </a:p>
        </p:txBody>
      </p:sp>
      <p:sp>
        <p:nvSpPr>
          <p:cNvPr id="9" name="Text 7"/>
          <p:cNvSpPr/>
          <p:nvPr/>
        </p:nvSpPr>
        <p:spPr>
          <a:xfrm>
            <a:off x="1051560" y="26974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词句复现、回环与反折</a:t>
            </a:r>
            <a:endParaRPr lang="en-US" sz="2800" dirty="0"/>
          </a:p>
        </p:txBody>
      </p:sp>
      <p:sp>
        <p:nvSpPr>
          <p:cNvPr id="10" name="Shape 8"/>
          <p:cNvSpPr/>
          <p:nvPr/>
        </p:nvSpPr>
        <p:spPr>
          <a:xfrm>
            <a:off x="6373368" y="1417320"/>
            <a:ext cx="5074920" cy="4206240"/>
          </a:xfrm>
          <a:prstGeom prst="roundRect">
            <a:avLst>
              <a:gd name="adj" fmla="val 870"/>
            </a:avLst>
          </a:prstGeom>
          <a:solidFill>
            <a:srgbClr val="FFFCF7"/>
          </a:solidFill>
          <a:ln w="13970">
            <a:solidFill>
              <a:srgbClr val="725260"/>
            </a:solidFill>
            <a:prstDash val="solid"/>
          </a:ln>
        </p:spPr>
      </p:sp>
      <p:sp>
        <p:nvSpPr>
          <p:cNvPr id="11" name="Text 9"/>
          <p:cNvSpPr/>
          <p:nvPr/>
        </p:nvSpPr>
        <p:spPr>
          <a:xfrm>
            <a:off x="6647688" y="17830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29241F"/>
                </a:solidFill>
                <a:latin typeface="Noto Serif CJK SC" pitchFamily="34" charset="0"/>
                <a:ea typeface="Noto Serif CJK SC" pitchFamily="34" charset="-122"/>
                <a:cs typeface="Noto Serif CJK SC" pitchFamily="34" charset="-120"/>
              </a:rPr>
              <a:t>四言节奏、叠词与声音</a:t>
            </a:r>
            <a:endParaRPr lang="en-US" sz="2800" dirty="0"/>
          </a:p>
        </p:txBody>
      </p:sp>
      <p:sp>
        <p:nvSpPr>
          <p:cNvPr id="12" name="Text 10"/>
          <p:cNvSpPr/>
          <p:nvPr/>
        </p:nvSpPr>
        <p:spPr>
          <a:xfrm>
            <a:off x="6647688" y="26974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任选两类：原诗｜写法｜它怎样改变人物故事或声音</a:t>
            </a:r>
            <a:endParaRPr lang="en-US" sz="28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71</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FFFDFC"/>
                </a:solidFill>
                <a:latin typeface="Noto Serif CJK SC" pitchFamily="34" charset="0"/>
                <a:ea typeface="Noto Serif CJK SC" pitchFamily="34" charset="-122"/>
                <a:cs typeface="Noto Serif CJK SC" pitchFamily="34" charset="-120"/>
              </a:rPr>
              <a:t>读完《氓》</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FFFDFC"/>
                </a:solidFill>
                <a:latin typeface="Noto Serif CJK SC" pitchFamily="34" charset="0"/>
                <a:ea typeface="Noto Serif CJK SC" pitchFamily="34" charset="-122"/>
                <a:cs typeface="Noto Serif CJK SC" pitchFamily="34" charset="-120"/>
              </a:rPr>
              <a:t>一处改变最大的理解</a:t>
            </a:r>
            <a:endParaRPr lang="en-US" sz="3000" dirty="0"/>
          </a:p>
        </p:txBody>
      </p:sp>
      <p:sp>
        <p:nvSpPr>
          <p:cNvPr id="7" name="Text 5"/>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FFFDFC"/>
                </a:solidFill>
                <a:latin typeface="Noto Serif CJK SC" pitchFamily="34" charset="0"/>
                <a:ea typeface="Noto Serif CJK SC" pitchFamily="34" charset="-122"/>
                <a:cs typeface="Noto Serif CJK SC" pitchFamily="34" charset="-120"/>
              </a:rPr>
              <a:t>一处最想带走的语言发现</a:t>
            </a:r>
            <a:endParaRPr lang="en-US" sz="3000" dirty="0"/>
          </a:p>
        </p:txBody>
      </p:sp>
      <p:sp>
        <p:nvSpPr>
          <p:cNvPr id="8" name="Text 6"/>
          <p:cNvSpPr/>
          <p:nvPr/>
        </p:nvSpPr>
        <p:spPr>
          <a:xfrm>
            <a:off x="960120" y="3236976"/>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FFFDFC"/>
                </a:solidFill>
                <a:latin typeface="Noto Serif CJK SC" pitchFamily="34" charset="0"/>
                <a:ea typeface="Noto Serif CJK SC" pitchFamily="34" charset="-122"/>
                <a:cs typeface="Noto Serif CJK SC" pitchFamily="34" charset="-120"/>
              </a:rPr>
              <a:t>一个仍愿意追问的问题</a:t>
            </a:r>
            <a:endParaRPr lang="en-US" sz="3000" dirty="0"/>
          </a:p>
        </p:txBody>
      </p:sp>
      <p:sp>
        <p:nvSpPr>
          <p:cNvPr id="9" name="Text 7"/>
          <p:cNvSpPr/>
          <p:nvPr/>
        </p:nvSpPr>
        <p:spPr>
          <a:xfrm>
            <a:off x="960120" y="4078224"/>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EFE3CF"/>
                </a:solidFill>
                <a:latin typeface="Noto Serif CJK SC" pitchFamily="34" charset="0"/>
                <a:ea typeface="Noto Serif CJK SC" pitchFamily="34" charset="-122"/>
                <a:cs typeface="Noto Serif CJK SC" pitchFamily="34" charset="-120"/>
              </a:rPr>
              <a:t>从“氓之蚩蚩”读到“亦已焉哉”</a:t>
            </a:r>
            <a:endParaRPr lang="en-US" sz="2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erif CJK S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S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71</Slides>
  <Notes>71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71</vt:i4>
      </vt:variant>
    </vt:vector>
  </HeadingPairs>
  <TitlesOfParts>
    <vt:vector size="7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vector>
  </TitlesOfParts>
  <Company>语文备课系统</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《氓》V6.6逐页功能重构课堂课件</dc:title>
  <dc:subject>《诗经·卫风·氓》逐页功能重构；71个可审查物理状态；无插图候选</dc:subject>
  <dc:creator>语文备课系统</dc:creator>
  <cp:lastModifiedBy>语文备课系统</cp:lastModifiedBy>
  <cp:revision>1</cp:revision>
  <dcterms:created xsi:type="dcterms:W3CDTF">2026-08-13T21:18:52Z</dcterms:created>
  <dcterms:modified xsi:type="dcterms:W3CDTF">2026-08-13T21:18:52Z</dcterms:modified>
</cp:coreProperties>
</file>
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【V6.3页ID】C401｜第四章｜桑叶落下以后，诗写了哪些生活？｜4分钟
【本页不可替代的意义】
让第四章完整响起，由学生先标出桑叶的新状态和第一处像在作判断的原句，建立事实在前、判断在后的章内边界
【删除本页会失去什么】
若没有整章初读，后页会从教师指定的意象、事实和责任切开讲，学生无法亲自发现声音怎样由经历转入判断
【相邻合并测试】
不能并入C402：本页必须在解释和对照支架出现前让整章未知声音先发生，C402才用第三章旧稿与新句进行修订
【教师逐字稿】
第三章最后，我们留下两件还不能封口的东西：一张‘沃若’桑叶的双假设卡，一个‘为什么女子更难脱身’的问号。请先把它们放在手边，不急着打开答案。现在让第四章五句诗完整地响一遍。第一遍只听它写了哪些生活；第二遍再留意，女子是否一直都在讲事情，还是有一句开始说她对这段关系的看法。（教师范读，学生再完整低声读。）现在才落笔：桑叶有了什么新样子？抄下原词。再抄一句你听来不像只在讲事情、而像在判断的话。暂时听不出来，就把问号留在这里。同桌只核对是不是第四章里的原词原句，不替对方解释。（等待核对和修订。）我们先把大家找到的句子留在纸上，不急着裁定。接下来从那片桑叶重新读起，让这五句自己告诉我们，她经历了什么，又怎样说起两个人。
【场面与走位】
屏幕只呈现第四章全文和两个读后入口；教师范读时站到侧面，学生落笔前不染色、不画分区。
（取回第三章桑叶卡和待证问号）
（教师完整范读）
（学生个人完整低声读）
（读后才写状态与判断初稿）
（同桌只核对原句来源）
（学生亲自修订）
【时间盒】
恢复第三章两份待证材料：30秒；教师范读和学生完整朗读：85秒；个人生成两项初稿：55秒；同桌来源核对和修订：40秒；引用现场原句并转场：30秒
【现场分支】
只写悲伤或变心：把抽象词收回，先抄桑叶新状态和你认为声音变硬的完整原句。
判断起点不同：允许暂存两个位置，不由教师投票裁决；C404比较‘不爽/贰’时再修。
直接归因女子沉溺：先停止因果判断，本页只登记经历与判断的先后，不把第三章的耽变成伤害责任。
【听者同步任务】
只检查同伴是否抄自第四章、是否写成原词原句，不评判解释深浅。
【证据位置】
04D C401区
【回到人物和故事】
迁嫁后的回望继续向前：桑叶落下，多年贫苦和淇水画面出现，随后女子开始直接辨明这段关系
【后续真实调用】
C402重开桑叶假设，C403读取经历区，C404读取判断起点，C406取回两项初稿重建全章
【自然切页句】
先回到那片桑叶。第三章它‘沃若’，这一章却‘黄而陨’；你原来的两种想法，经得住这一落吗？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【V6.3页ID】C402｜沃若｜黄而陨：原来的想法，经得住这一落吗？｜6分钟
【本页不可替代的意义】
把第三章两项桑叶假设重新打开，用未落/落、沃若/黄而陨和章内位置决定保留、改写或撤回，让意象意义由前后语境筛选
【删除本页会失去什么】
若不重新打开旧稿，意象教学仍是教师公布答案，学生不会体验后文如何迫使解释改变，也没有真实的阅读修订证据
【相邻合并测试】
不能并入C403：本页注意力必须停在同一物象的前后变化和旧稿修订，C403才转入多年生活与淇水画面
【教师逐字稿】
请把第三章的桑叶卡真正翻回来，不要另起一张新纸。左边读‘桑之未落，其叶沃若’，右边读‘桑之落矣，其黄而陨’。‘陨’是坠落。两句用同样的节拍各读两遍，圈出相互顶住的词：未落与落，沃若与黄而陨。（等待对读。）现在看你原来的两种可能。第四章来了以后，每一种是保留、改写，还是撤回？请直接在旧稿上动笔，旁边补第四章的一处原词，或者补一句位置说明：前一句在迁嫁后的劝告开端，后一句在婚后回顾开端。（等待个人修订。）同桌只追问：新句究竟改变了你哪一处？若没有改变，也要说它怎样加强了你的解释。不同答案可以并存，但‘桑叶就是……’这样一锤定音的话要放轻。我们此刻可以说，桑叶荣枯让人联想到青春、情感或关系状态的变化，也把叙事从婚前带到婚后；究竟偏重哪一层，要让全文语境托住。
【场面与走位】
屏幕左右只放两句和最低词义；学生桌面必须打开第三章原卡，用另一颜色在原稿上修订，教师不投影成品解释。
（打开第三章旧桑叶卡）
（两句同节拍对读）
（圈两组状态词）
（学生在旧稿上双色修订）
（同桌只追问新句造成的改变）
（学生补证或降低判断强度）
【时间盒】
恢复旧稿与两句对读：65秒；圈状态词并校准陨：55秒；个人保留改写撤回：100秒；同桌追问语境依据：65秒；学生再修与教师后置归纳：75秒
【现场分支】
只等标准答案：请先比较自己两项旧稿受到新句怎样影响；教师不替你选青春、爱情或关系中的一个。
两项完全一样：把第二项改到不同层次，或诚实撤回，只保留一项有前后句支撑的解释。
没有修改：允许保留，但必须补写黄而陨怎样加强或限制旧解释，不为形式制造改动。
【听者同步任务】
只追问新句与章内位置怎样影响旧解，不投票选唯一象征义。
【证据位置】
03C旧桑叶卡双色修订＋04D C402区
【回到人物和故事】
女子回望时，同一棵桑由润泽到枯黄坠落；景物的变化把记忆从感情盛时带向婚后困顿
【后续真实调用】
C406用修订后的桑叶解释说明本章开头为何转冷；全文知识检索再把这组原句归入比兴、对照和结构转折
【自然切页句】
桑叶由盛转衰，诗也从劝告走进日子。接下来的两句，一句压着多年，一句忽然把淇水推到眼前。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【V6.3页ID】C403｜三岁食贫｜淇水汤汤｜7分钟
【本页不可替代的意义】
用长音与水声的全班分部朗读体验两种时间尺度，再让每人写一段只含原诗事实的双镜头旁白
【删除本页会失去什么】
删除会让食贫与淇水只剩词义条目，学生既感受不到时间压缩，也容易把未写明的渡河方向和离开情节当成事实
【相邻合并测试】
不能并入C404：本页必须让经历事实充分成立并守住想象边界，下一页才有资格讨论谁的行为应当被判断
【教师逐字稿】
先把两句说准。‘徂’是往，‘食贫’是过贫苦生活；‘汤汤’读shāng shāng，写水势浩大；‘渐’读jiān，是浸湿；帷裳是车旁的帷幔。现在不急着分析。左半教室读第一句，把‘三岁’读得能让人感到日子很长；右半教室读第二句，让‘汤汤’有水势，但不要喊。交换一次，其余人闭眼听：哪一句像把多年压在四字里，哪一句把一个瞬间推到眼前？（等待两轮朗读和听者落笔。）请每人写两句第三人称旁白：一句只说多年里发生什么，一句只说淇水这一刻看见什么。写完同桌只圈一个诗中找不到的词，比如离开、归家、被赶走、向东向西；作者自己决定删除或改弱。（等待修订。）我们可以看见长期食贫，也可以看见浩荡淇水浸湿车帷；诗没有告诉我们这次渡水的方向，更没有在这里写完她是否离开。事实站稳以后，下一句才开始辨明责任。
【场面与走位】
屏幕左右显示多年与一刻两句；两半教室交替朗读，学生写旁白时屏幕仍保留原句和最低词义作为边界。
（个人自然口译）
（教师定点校音释义）
（左右半班分部朗读）
（交换声音角色）
（个人写双镜头旁白）
（同桌只圈越界词）
（作者亲自修订）
【时间盒】
个人口译和定点释义：85秒；两轮分部朗读与闭眼听：90秒；个人双镜头旁白：85秒；同桌越界词核查：55秒；作者修订、分享与转场：105秒
【现场分支】
把三岁只算三年：按教材语境校准为多年，不把诗中概数锁成精确年限。
补写归家离开：圈出无原句依据的方向或结局词，改回淇水、水势和车帷被浸的事实。
不愿变化朗读：允许准确平读，并承担闭眼听者任务；体验不强制表演。
【听者同步任务】
听辨长期压缩与瞬间展开；核查旁白是否越过原句补写方向、动机或结局。
【证据位置】
04D C403区
【回到人物和故事】
女子把多年贫苦压进‘三岁食贫’，又让淇水浸湿车帷的一刻突然展开；婚后的艰难既漫长，又有触手可及的画面
【后续真实调用】
C404在这些经历事实之后进入责任判断；全文第二问把多年压力和生活场景转述为现实处境
【自然切页句】
多年食贫，淇水浸帷，这是她讲出的经历。紧接着，她不再只讲发生了什么，而开始说：谁没有差错，谁的行为变了。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【V6.3页ID】C404｜女也不爽，士贰其行｜6分钟
【本页不可替代的意义】
通过人人可写、可被原词质询的责任句，让学生从对称语言准确辨明谁没有差错、谁的行为前后不一
【删除本页会失去什么】
没有这页，责任会被模糊成‘婚姻失败’或被错误平均，学生也无法从句法对称看见诗中明确的行为归属
【相邻合并测试】
不能并入C405：本页先建立一条精确责任判断并接受原词质询，下一页才研究语言如何把一次判断推进为反复模式
【教师逐字稿】
请把这句先一分为二，又要合在一起读：‘女也不爽，士贰其行。’爽是差错；贰在这里是不专一、前后不一。现在每个人独立写十二到二十个字，只用这一句说清谁怎样、谁又怎样。句子下面抄两个真正托住你的原词。（静默等待。）同桌进入‘证据席’，只问一句：哪两个词托住你的判断？不要替对方重写。若句子只是‘两个人感情不好’，请把主语和行为补回来；若出现‘她太沉溺所以他才变’或‘双方都有错’，请回到原句，检查这些因果和平均判断有没有证据。作者自己删改。（等待。）我们听两条修订后的句子。诗在这里说得很清楚：女子没有差错，男子的行为却不专一、前后不一。女子的信任和投入可以解释她为什么更难抽身，却不能分担男子行为变化的责任。
【场面与走位】
屏幕只放大一整句及两项词义；每人先写，随后同桌用原词质询，教师最后引用学生修订句后归纳。
（个人自然口译）
（教师校准爽和贰）
（全员独立写责任句）
（抄两处原词）
（同桌只作证据质询）
（作者亲自删改）
（公开听两条修订句）
【时间盒】
口译和词义校准：70秒；个人责任句与原词：85秒；同桌证据质询：60秒；作者修订：50秒；公开抽样和教师后置归纳：95秒
【现场分支】
平均分责：请先准确复述不爽和贰其行各落在谁身上，再决定是否另作现代评论。
受伤者归责：删除‘因为她投入所以他才……’的因果，把退出困难与造成伤害分开。
不同意诗中判断：允许保留个人意见，但先写准叙述者此刻怎样判断，并注明你的异议超出本句。
【听者同步任务】
只追问主张能否由不爽、贰其行和两侧主语这些原词托住，不提供成品句。
【证据位置】
04D C404区
【回到人物和故事】
讲过婚后困顿后，女子第一次正面说出：自己没有差错，男子的行为却前后不一
【后续真实调用】
C405继续读男子行为如何被概括为无准则、反复；全文第三问把本页列入造成伤害的直接证据
【自然切页句】
这一句已经辨明双方。下一句不再只说一次行为变化，而用‘罔极’和‘二三’把反复无常压进四个字。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【V6.3页ID】C405｜士也罔极，二三其德｜5分钟
【本页不可替代的意义】
借原句与直白改写的替换听读，先读准罔极、二三，再让学生用自己的声音和现代话说明反复无常的力度
【删除本页会失去什么】
删除会丢失二三的准确活用和语言力度，也会使男子反复被误成一次情绪变化，削弱后文证据链
【相邻合并测试】
不能并入C404：本页的核心是词语替换和听觉检验，C404的核心是责任主张与证据质询，两种注意活动不能同时完成
【教师逐字稿】
先读原句：‘士也罔极，二三其德。’罔极是没有准则。二三如果只按数量理解成两三件事，整句会变窄；这里是反复无常。请听我再读一句直白改写：‘他的行为多次改变。’两句都能传达意思，但哪一种更让你听见无定、反复或咬住不放的感觉？先写自己的听感，不必迎合原句一定更好。（等待。）现在把二三译成一个有动作感的现代短语，再用这个理解重读原句。同桌只说：我是否在二三附近听见了反复？没有听见也如实说。读者只改一次停顿或重音。（等待改读。）最后命名：二三本是数词，这里活用来写反复无常。它把‘贰其行’推进一步——不是偶然变过一次，而是行为没有准则、品德一再反复。
【场面与走位】
屏幕中心是原句，底部只放一条直白改写作为听觉实验；教师不展示最佳朗读符号。
（准确读原句）
（教师读直白改写）
（个人写真实听感）
（写二三现代短语）
（同桌定位二三听感）
（读者只改一次并重读）
（教师后置命名活用）
【时间盒】
原句释义和改句听读：65秒；个人听感与现代短语：75秒；同桌定位反馈：50秒；个人改读与抽样：55秒；后置命名、故事回接与转场：55秒
【现场分支】
解释成两三次：回到罔极与教材注释，把数量改为反复无常的行为状态。
认为改写更清楚：允许保留，同时补说原句在节奏、压缩或动作感上是否仍有增加。
夸张表演：收回音量，只在二三附近改一次停顿或重音，让原词而非表情承担力度。
【听者同步任务】
只定位二三附近是否传出反复和无定，不评价感情是否丰富。
【证据位置】
04D C405区
【回到人物和故事】
女子的判断继续加重：男子并非偶然改变一次，而是行为没有准则，品德一再反复
【后续真实调用】
C406把本句接回责任判断；第五章C503和第六章C604分别以至暴、违誓检验这种反复模式
【自然切页句】
桑叶落了，日子写了，责任也说清了。现在撤去这些局部提示，把五句诗重新讲成她婚后回望中的一段话。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【V6.3页ID】C406｜把第四章讲成一段：桑叶落下以后｜5分钟
【本页不可替代的意义】
完整重读后撤去诗文与学习单，用自然旁白把景物、经历、责任和反复接成连续章意，并写入六章轨道第四格
【删除本页会失去什么】
没有撤答重建，前五页仍会散成意象、时间和责任知识片段，不能证明学生获得了连续的第四章故事
【相邻合并测试】
不能并入C405：C405仍在单句和替换支架下理解二三，本页切换为全支架撤除、章内重建和跨章接续
【教师逐字稿】
第四章五句已经逐句走过。先完整重读一遍，让桑叶的荣枯、多年的长度、淇水的水势和后两句的声音各自落稳。（读完。）现在合上教材，把03C和04D都翻到背面，同桌互看桌面没有原诗，我按B键熄暗屏幕。用四十秒把第四章讲给同桌听，只沿三步往前走：桑叶怎样变；她过着怎样的日子；她最后怎样说自己，又怎样说男子。听者讲完以后只报一个真正断点，没有就说完整。交换。（等待。）讲述者只开教材找到漏掉的一句，立即合书补说。现在只翻回04D，在故事轨道第四格写一句自己的章意。谁愿意读？（引用两条，修事实顺序，不替换学生语言。）第四章从枯黄桑叶走进多年贫苦和淇水，女子再明明白白地说：自己没有差错，男子却前后不一、反复无常。下一章，‘三岁’不再只写食贫，还要写她怎样日复一日地生活。
【场面与走位】
屏幕先供完整重读，随后合书、翻背全部卡片并熄屏；检索后只短暂开教材定位，最后恢复04D写第四格。
（完整重读第四章）
（合书并翻背全部材料）
（同桌互查桌面）
（按B键熄屏）
（双方各讲四十秒）
（只开教材定位后合书补说）
（写故事轨道第四格）
【时间盒】
完整重读第四章：50秒；撤去教材材料和投影：35秒；双方四十秒旁白：95秒；听者补缺与返诗补说：45秒；写第四格、分享和转场：75秒
【现场分支】
只报手法：把比兴、对照、活用改成桑叶、食贫、淇水和谁的行为怎样变化。
把经历当伤害原因：重新分开：经历说明她承受什么；不爽/贰/二三说明谁应为行为负责。
听者代讲：只指出断点位置，把回诗和补说权还给原讲述者。
【听者同步任务】
只核对桑叶变化、婚后经历、责任判断三层是否连成一段，不代讲章意。
【证据位置】
04D C406区和故事轨道第四格
【回到人物和故事】
女子从枯黄桑叶讲到多年贫苦与淇水，又由经历转为判断：自己无过，男子的行为却前后不一、反复无常
【后续真实调用】
第五章C501从第四格继续，C503用至暴检验反复模式；全文第一问读取六章轨道，第三问读取责任证据链
【自然切页句】
第四格写下了多年食贫与男子反复。第五章会把‘多年’拆成每天，又让粗暴、讥笑和独自悲悼进入同一间屋子。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第四章｜桑叶落下以后，诗写了哪些生活？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　4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078992"/>
            <a:ext cx="10579608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3335">
            <a:solidFill>
              <a:srgbClr val="E5DA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371600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B58A3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051560" y="2029968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自我徂尔，三岁食贫。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051560" y="2688336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051560" y="3346704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女也不爽，士贰其行。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051560" y="4005072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3995928" y="555955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66D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读完以后，只留下两处原文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234440" y="5925312"/>
            <a:ext cx="9720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桑叶的新样子　｜　一句你听来像在判断的话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58A35"/>
          </a:solidFill>
          <a:ln w="12700">
            <a:solidFill>
              <a:srgbClr val="B58A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沃若｜黄而陨：原来的想法，经得住这一落吗？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　4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77240" y="1261872"/>
            <a:ext cx="5230368" cy="2286000"/>
          </a:xfrm>
          <a:prstGeom prst="roundRect">
            <a:avLst>
              <a:gd name="adj" fmla="val 2000"/>
            </a:avLst>
          </a:prstGeom>
          <a:solidFill>
            <a:srgbClr val="333A31"/>
          </a:solidFill>
          <a:ln w="13335">
            <a:solidFill>
              <a:srgbClr val="6477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9632" y="1261872"/>
            <a:ext cx="5230368" cy="2286000"/>
          </a:xfrm>
          <a:prstGeom prst="roundRect">
            <a:avLst>
              <a:gd name="adj" fmla="val 2000"/>
            </a:avLst>
          </a:prstGeom>
          <a:solidFill>
            <a:srgbClr val="3D372D"/>
          </a:solidFill>
          <a:ln w="13335">
            <a:solidFill>
              <a:srgbClr val="B58A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554480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E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未落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2176272"/>
            <a:ext cx="4864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E7D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55664" y="1554480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E4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落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382512" y="2176272"/>
            <a:ext cx="4864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E4C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343400" y="3977640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陨：坠落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80360" y="4736592"/>
            <a:ext cx="6428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翻回原来的两种想法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057400" y="5385816"/>
            <a:ext cx="8074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EFE4C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保留、改写，还是撤回？为什么？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三岁食贫｜淇水汤汤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　4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207008"/>
            <a:ext cx="5148072" cy="1938528"/>
          </a:xfrm>
          <a:prstGeom prst="roundRect">
            <a:avLst>
              <a:gd name="adj" fmla="val 2358"/>
            </a:avLst>
          </a:prstGeom>
          <a:solidFill>
            <a:srgbClr val="EFE4D2"/>
          </a:solidFill>
          <a:ln w="13335">
            <a:solidFill>
              <a:srgbClr val="AC8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36208" y="1207008"/>
            <a:ext cx="5148072" cy="1938528"/>
          </a:xfrm>
          <a:prstGeom prst="roundRect">
            <a:avLst>
              <a:gd name="adj" fmla="val 2358"/>
            </a:avLst>
          </a:prstGeom>
          <a:solidFill>
            <a:srgbClr val="DDE9E9"/>
          </a:solidFill>
          <a:ln w="13335">
            <a:solidFill>
              <a:srgbClr val="456F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47088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自我徂尔，三岁食贫。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6391656" y="1847088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徂：往　食贫：过贫苦生活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989320" y="3429000"/>
            <a:ext cx="5285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56F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汤汤 shāng shāng：水势浩大　渐 jiān：浸湿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96112" y="4407408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一句把怎样的日子压在里面？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236208" y="4407408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一句让哪一刻忽然展开？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468880" y="5486400"/>
            <a:ext cx="7251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551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让两句分别响一次，再写你看见的生活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58A35"/>
          </a:solidFill>
          <a:ln w="12700">
            <a:solidFill>
              <a:srgbClr val="B58A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女也不爽，士贰其行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　4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914400" y="1325880"/>
            <a:ext cx="10360152" cy="1417320"/>
          </a:xfrm>
          <a:prstGeom prst="roundRect">
            <a:avLst>
              <a:gd name="adj" fmla="val 3226"/>
            </a:avLst>
          </a:prstGeom>
          <a:solidFill>
            <a:srgbClr val="3A3430"/>
          </a:solidFill>
          <a:ln w="13335">
            <a:solidFill>
              <a:srgbClr val="7551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755648"/>
            <a:ext cx="9720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女也不爽，士贰其行。</a:t>
            </a:r>
            <a:endParaRPr lang="en-US" sz="4300" dirty="0"/>
          </a:p>
        </p:txBody>
      </p:sp>
      <p:sp>
        <p:nvSpPr>
          <p:cNvPr id="7" name="Text 5"/>
          <p:cNvSpPr/>
          <p:nvPr/>
        </p:nvSpPr>
        <p:spPr>
          <a:xfrm>
            <a:off x="2286000" y="3218688"/>
            <a:ext cx="7616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爽：差错　｜　贰：不专一、前后不一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041648" y="4041648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只用这一句，说清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965960" y="4800600"/>
            <a:ext cx="8257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谁怎样？　谁又怎样？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　4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41248" y="1280160"/>
            <a:ext cx="10506456" cy="1325880"/>
          </a:xfrm>
          <a:prstGeom prst="roundRect">
            <a:avLst>
              <a:gd name="adj" fmla="val 3448"/>
            </a:avLst>
          </a:prstGeom>
          <a:solidFill>
            <a:srgbClr val="F0DDD5"/>
          </a:solidFill>
          <a:ln w="13335">
            <a:solidFill>
              <a:srgbClr val="9C45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73352"/>
            <a:ext cx="99029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221992" y="3063240"/>
            <a:ext cx="7744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罔极：没有准则　｜　二三：反复无常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377440" y="3858768"/>
            <a:ext cx="7434072" cy="0"/>
          </a:xfrm>
          <a:prstGeom prst="line">
            <a:avLst/>
          </a:prstGeom>
          <a:noFill/>
          <a:ln w="16510">
            <a:solidFill>
              <a:srgbClr val="E5DA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4233672"/>
            <a:ext cx="8439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766D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若改成：‘他的行为多次改变’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417320" y="5166360"/>
            <a:ext cx="9354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哪一种更让你听见无定与反复？</a:t>
            </a:r>
            <a:endParaRPr lang="en-US" sz="3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58A35"/>
          </a:solidFill>
          <a:ln w="12700">
            <a:solidFill>
              <a:srgbClr val="B58A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把第四章讲成一段：桑叶落下以后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　4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13232" y="1097280"/>
            <a:ext cx="7059168" cy="4700016"/>
          </a:xfrm>
          <a:prstGeom prst="roundRect">
            <a:avLst>
              <a:gd name="adj" fmla="val 973"/>
            </a:avLst>
          </a:prstGeom>
          <a:solidFill>
            <a:srgbClr val="38312A"/>
          </a:solidFill>
          <a:ln w="13335">
            <a:solidFill>
              <a:srgbClr val="B58A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472184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950976" y="2221992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自我徂尔，三岁食贫。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950976" y="2971800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950976" y="372160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女也不爽，士贰其行。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50976" y="447141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8065008" y="1527048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FE4C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桑叶怎样变？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065008" y="2587752"/>
            <a:ext cx="3456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她过着怎样的日子？</a:t>
            </a:r>
            <a:endParaRPr lang="en-US" sz="2450" dirty="0"/>
          </a:p>
        </p:txBody>
      </p:sp>
      <p:sp>
        <p:nvSpPr>
          <p:cNvPr id="13" name="Text 11"/>
          <p:cNvSpPr/>
          <p:nvPr/>
        </p:nvSpPr>
        <p:spPr>
          <a:xfrm>
            <a:off x="8065008" y="3822192"/>
            <a:ext cx="3456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她最后怎样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说两个人？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065008" y="516636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合书以后，把三层连成一段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9808" y="605332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E4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故事轨道｜第四格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926080" y="6272784"/>
            <a:ext cx="7982712" cy="0"/>
          </a:xfrm>
          <a:prstGeom prst="line">
            <a:avLst/>
          </a:prstGeom>
          <a:noFill/>
          <a:ln w="25400">
            <a:solidFill>
              <a:srgbClr val="B58A3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《氓》V6.3第四章课堂课件</dc:title>
  <dc:subject>第四章由婚后经历进入责任判断</dc:subject>
  <dc:creator>语文备课系统</dc:creator>
  <cp:lastModifiedBy>语文备课系统</cp:lastModifiedBy>
  <cp:revision>1</cp:revision>
  <dcterms:created xsi:type="dcterms:W3CDTF">2026-08-13T17:13:30Z</dcterms:created>
  <dcterms:modified xsi:type="dcterms:W3CDTF">2026-08-13T17:13:30Z</dcterms:modified>
</cp:coreProperties>
</file>
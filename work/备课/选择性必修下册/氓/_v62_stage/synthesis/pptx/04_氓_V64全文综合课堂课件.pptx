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【V6.4页ID】S01｜一｜她经历了什么？｜10分钟
【本页不可替代的意义】
让每名学生沿自己的六章母轨道写出六句连续人生，经同桌只查真实断点后形成第一问的个人答案
【删除本页会失去什么】
没有个人六章重建，第一问只剩教师时间轴或小组代表答案，无法证明每名学生真正拥有完整故事
【相邻合并测试】
不能并入S02：本页回答人生发生顺序与因果，S02把其中婚后原句翻成现实日常；能力和产物不同
【教师逐字稿】
第六章结束时，六张章末卡已经按一到六排在桌上。现在回答第一个问题：她经历了什么？请不要抄活动名称，也不要只写‘恋爱、结婚、悲剧、觉醒’。沿六张卡，每章一句，用人物、事情和变化把她的一生写下来。先由每个人独立完成。（等待书写。）现在讲给同桌听，从第一句一直讲到第六句。听者只做一件事：如果故事真的断了，就指出缺的是人物、动作还是转折；如果已经连贯，不要硬贴问号，请说出你听见的最清楚的一处因果。交换。（等待。）作者只在有断点时打开原诗补回；原来准确，就写‘连贯，保留’。最后把六句轻轻收成一段第一问答案。我们听两份不同措辞的作品。（引用现场语言。）末端守住边界：‘亦已焉哉’写她作出停止判断，诗没有继续叙述她怎样离开、后来怎样生活。
【场面与走位】
学生桌面保留C606恢复的六张章末卡，屏幕只有一条章序；个人先写，同桌后听，教师不投影完成时间轴。
（确认六张章末卡按序在桌面）
（个人写六句人生）
（同桌完整倾听）
（只报真实断点或最清楚因果）
（作者按需返诗修订）
（抽样两份完整作品）
【时间盒】
恢复母轨道与读题：70秒；个人六句人生：150秒；同桌互讲与反馈：100秒；作者按需返诗修订：90秒；两份作品与教师后置归纳：130秒；保存第一问并转场：60秒
【现场分支】
只写主题标签：追问每一章谁做了什么、生活怎样改变，把标签改回事情。
没有真实断点：不制造问题，改为指出最清楚的一处前因后果。
结尾写实际离开：退回‘亦已焉哉’，改成作出停止判断；行动与后来生活未写。
【听者同步任务】
从第一章听到第六章，只报一个真实断点；无断点则复述最清楚的一处因果。
【证据位置】
六张章末卡、全文综合学习包S01区和按需修订痕迹
【回到人物和故事】
女子从相识、等待和迁嫁走进多年婚后生活，在失信、粗暴和孤立中回望旧誓，最后作出到此为止的判断
【后续真实调用】
S02从第四、五章抽取婚后日常；S08直接读取本页第一问答案压缩为两句
【自然切页句】
事情已经连起来。现在把第四、第五章的一句诗放进今天的日子里：她婚后的不幸，究竟怎样发生在生活中？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【V6.4页ID】S02｜二｜她婚后的不幸，在生活中是什么样子？｜10分钟
【本页不可替代的意义】
让每名学生把一处婚后原句写成第三人称日常片刻，再由同伴反向配诗检验现实阐释是否仍站在文本上
【删除本页会失去什么】
若直接公布四个概念，学生无法从古诗走向现实生活，也无法检验自己的现代阐释是否仍有原句依据
【相邻合并测试】
不能并入S03：本页先让生活事实可见，下一页才讨论原因和责任；事实未站稳就归因会导致受伤者归责
【教师逐字稿】
第二问换一种语言：她婚后的不幸，在生活中是什么样子？请从第四、第五章选一句，写成二十到三十五字的日常片刻。只谈作品中的第三人称，不讲自己的家庭。不要只写‘她很惨、被压榨、遭背叛’，要让人看见谁在做什么，日子怎样一天天过去。（等待个人写。）交换给同桌。听者不替作者润色，只从这段文字里找回最能托住它的原句；能配回，就把原句写在下面；配不回或看见具体暴力、全部家人拒绝、已经离开等诗中未写内容，才留下问号。（等待。）原作者拿回来：有问号就删去虚构或把话放轻；确实能配回，就写‘可配回，无需改’，不为活动制造修改。我们听三帧不同的日子，再回到原句。（引用作品。）这些日子让贫苦、长期劳作、男子失信粗暴、兄弟不知而笑和女子独自悲悼真正可见。
【场面与走位】
屏幕只显示一个开放的日常片刻入口；学生个人写，同桌反向配诗，原作者拿回修改权。
（个人选择第四或第五章原句）
（写第三人称日常片刻）
（同桌反向配诗）
（只在配不回或越界时标问号）
（作者按需修订或保留）
（分享三份不同片刻）
【时间盒】
回到第四第五章与说明边界：70秒；个人日常片刻：150秒；同桌配诗或标真实问号：100秒；作者按需修订或保留：100秒；三份作品与教师后置归纳：130秒；保存第二问材料并转场：50秒
【现场分支】
只写抽象标签：追问镜头里谁在做什么、一天怎样过去，把概念改成可观察行为。
补写具体伤害：删去诗中未写的方式，退回‘粗暴、失信’及已经写出的生活事实。
完全可以配回：写‘可配回，无需改’，保留准确作品，不强迫制造问题。
【听者同步任务】
只为同伴文字配回原句；配不回或越界才标问号，不替作者重写。
【证据位置】
全文综合学习包S02区的日常片刻、同伴所配原句和作者处理结果
【回到人物和故事】
她的不幸不是一个抽象的‘悲剧’，而是多年贫苦与劳作、伴侣态度改变、外部不理解以及最终独自悲伤的日子
【后续真实调用】
S03读取学生片刻中的事实，区分直接伤害责任、退出困难和诗中不能断言；S08压缩回答第二问
【自然切页句】
日子已经可见。第三问要更谨慎：哪些是婚前值得警惕的征兆，谁直接造成伤害，又是什么让停止变得困难？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【V6.4页ID】S03｜三｜这场婚姻为什么走到这一步？｜12分钟
【本页不可替代的意义】
让每名学生写清婚前警惕、直接伤害责任、停止困难和不能断言四层，同桌只核责任/阻力混淆与证据越界，形成不归责受伤者的第三问答案
【删除本页会失去什么】
若只问一个笼统的‘原因’，学生容易把女子沉溺和未早离开写成男子伤害她的原因，伦理和文本边界都会失守
【相邻合并测试】
不能并入S04：本页解释诗中悲剧如何形成，S04才从旧主题走向个人婚姻理解；事实归因和价值讨论需先后分开
【教师逐字稿】
第三问最容易把不同事情揉成一句。请在纸上分四层写，但不要搬运标签：第一，婚前哪些细节值得警惕；第二，谁用什么行为直接造成伤害；第三，为什么关系已经失衡，她仍那么难停下来；第四，哪些说法超出了诗。每一层旁边都留一个原句。（等待个人写。）现在同桌只查两件事：你有没有把‘她为什么难停’写成‘他为什么伤害她’？你有没有把完整预谋、具体暴力、完整求助史或实际离开写成诗中事实？发现问题只圈出那句话，作者自己移层或改弱；两项都稳妥，就写‘通过，保留’。（等待。）全班只讨论现场真正出现的分歧；没有分歧，就比较两种准确答案怎样引用不同原句。我们守住底线：男子失信、反复、粗暴直接造成伤害；女子的投入、劳作、共同记忆和支持缺失只能解释停止为何更难，不能分担他的责任。‘蚩蚩’、贸丝与谋婚、‘无怒’值得回看，却不足以证明一套完整预谋。
【场面与走位】
学生独立写四层原因段，同桌进行两项边界核查；全班公共讨论只处理真实发生的分歧，不摆四区卡墙。
（重新打开相关原句）
（个人写四层原因段）
（同桌核责任阻力）
（同桌核事实猜测）
（作者按需移层改弱或保留）
（只处理真实分歧）
（教师守住伦理与证据边界）
【时间盒】
恢复证据与说明四层：90秒；个人四层原因段：180秒；同桌双边界核查：140秒；作者按需修订或保留：120秒；真实分歧与教师后置归纳：150秒；保存第三问并转场：40秒
【现场分支】
女子投入被写成伤害原因：追问这是解释他为何伤害，还是她为何难停；移回停止困难，不分担男子责任。
动机和伤害方式越界：若原诗找不到直接证据，改为‘值得警惕’或放入‘诗中不能断言’。
没有真实分歧：不制造争议，比较两份准确答案各自依靠了哪些原句。
【听者同步任务】
只查责任/阻力和事实/猜测两组边界，不替同伴写完整原因段。
【证据位置】
全文综合学习包S03区的四层原因段、双边界核查和作者处理结果
【回到人物和故事】
悲剧既有婚前被忽视的信号，也有婚后明确的失信与粗暴；她的投入和孤立解释为何难以及时停止，却不能解释他为何伤害
【后续真实调用】
S04用本页原因反证共同生活中需要观察的行为；S08读取第三问答案和诗写/未写边界
【自然切页句】
三问已经有了个人答案。现在回到开课时那面文学主题谱：读完《氓》，你愿意替当时的自己补上哪一句？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【V6.4页ID】S04｜读完《氓》，再看开课时的爱情与婚姻主题｜13分钟
【本页不可替代的意义】
让每名学生用《氓》补充、修正或保留开课时的一条主题，并把婚姻理解落到共同生活中可观察的行为
【删除本页会失去什么】
没有本页，O03主题谱成为孤儿产物，婚姻讨论也只剩教师处方，学生没有完成从旧文学经验到个人关系理解的闭环
【相邻合并测试】
不能并入S03：原因解释要求证据分类和伦理边界，本页需要回看旧主题并形成价值判断；两种思考节奏不同
【教师逐字稿】
先不切这页，请看开课时拍下的班级主题谱。（教师投影O03真实主题谱照片，逐项指认两三条本班原话。）这些不是我今天才编的答案，是你们进入《氓》以前真正说过的话。现在切回这一页。请选择自己或同学当时的一条朴素主题，写三行：我原来想到什么；读完《氓》，我愿意补充、修正还是保留什么；把它放进共同生活，我会观察什么行为。旁边写一处原句。行为要能被看见，例如承诺是否经得起行动、劳动和决定是否长期只压在一人身上、造成伤害后是否承担责任、困难时是否有理解与托举；这些只是帮助你把话落地，最终用自己的语言。（等待。）四人依次读一次，听者只问：这处原句真的托得住吗？这个提醒在生活中看得见吗？作者按需修改；原来准确就保留。有真实分歧才带到全班，没有分歧不算失败。全程只谈作品或第三人称，不分享私人家庭与恋爱经历。
【场面与走位】
教师先暂离PPT投影O03真实主题谱照片，再切回本页；学生个人写，四人一次互证，公共阶段只听真实分歧和有文学依据的不同提醒。
（投影O03真实主题谱照片）
（引用本班两三条原话）
（切回S04个人修订入口）
（个人写主题修订链）
（四人各读一次）
（只问原句和行为对应）
（作者按需修订）
（只公开真实分歧）
【时间盒】
重看主题谱照片与引用原话：70秒；个人主题修订链：160秒；四人一次互证：180秒；作者按需修订：120秒；真实分歧、不同提醒与教师归纳：190秒；保存个人提醒并转场：60秒
【现场分支】
只有抽象口号：追问在共同生活中能看见什么行动、分担或回应，再让原诗托住。
小组完全一致：允许一致，各自说明原句与行为即可，不强制制造分歧。
转向私人经历：温和收回作品或第三人称，不采集学生恋爱、婚姻和家庭信息。
【听者同步任务】
只问原句是否托住判断、提醒是否落到可观察行为；不评价私人选择。
【证据位置】
O03主题谱照片、全文综合学习包S04区和四人互证后的个人修订
【回到人物和故事】
《氓》让开课时的爱情与婚姻主题走进共同生活：誓言要由行动验证，长期失衡和伤害不能被投入与旧日美好遮蔽
【后续真实调用】
S08读取本页个人修订链，形成‘我从《氓》带走的一条共同生活提醒及原句’
【自然切页句】
观点已经从旧故事走到《氓》。接下来合上书，看看散在六章里的字词，哪些真正留在了记忆里。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【V6.4页ID】S05｜这些字，离开注释还认得吗？｜8分钟
【本页不可替代的意义】
让学生先合书检索，再用原句校准个人不稳项，并把真实错空项交给S07个人知识清单
【删除本页会失去什么】
没有先检索后核对，无法知道学生真正记住什么；若直接展示整页答案，只会再次产生熟悉感而非掌握
【相邻合并测试】
不能并入S06：本页检验准确记忆和语境义，S06解释写法怎样改变声音、时间和人物处境，认知任务不同
【教师逐字稿】
请合上书，把前面的卡片翻扣。先写三项路标：《诗经》是什么，分哪三类，《氓》收在哪里；再从屏幕十个字词中任选六个，注音或写出本句意思。想不起可以空着，空白比照抄更能告诉你哪里需要回来。（真实等待。）同桌互相抽问三个，只核这个字在本句怎样读、怎样解释，不报分数。现在翻开原诗和自己的批注，用另一种颜色只校正错项和空项，不整页抄。我只处理班级真正出现的共性问题。（按现场错项校准。）请把一个真实不稳项写入S07清单；如果全部准确，不制造星号，选择一个最容易混、但你现在能用原句解释的词。最后在原句中准确读一遍，让字义重新回到人物处境。
【场面与走位】
屏幕只给检索对象；学生合书独立写，同桌三词口测，随后翻开原句以另一颜色只校正错空项。
（合书翻扣材料）
（个人检索三项路标和六个字词）
（同桌三词口测）
（翻开原句核对）
（另一颜色修复错空项）
（选一项进入S07）
（在原句中准确读一次）
【时间盒】
个人合书检索：150秒；同桌三词口测：80秒；翻开原句核对：100秒；错空项当场修复：90秒；共性校准与转场：60秒
【现场分支】
准备整页抄：停笔，只校正自己的错项和空项，保留原稿作为检索证据。
全部准确：不制造错误，选择一个最易混但能用原句解释的词进入个人清单。
仍读不准：在原句旁标音，跟随教师准确读一次，再独立读一次。
【听者同步任务】
同桌只核三个词在本句的音义，不给排名；公开阶段只报告共性错项。
【证据位置】
全文综合学习包S05检索区、原句旁另一颜色修复和待写入S07的一项
【回到人物和故事】
字词不是离开人物的表格：说关系能否脱身，渐写水湿车帷，咥写外面的笑，已写停止判断
【后续真实调用】
S07必须打开本页错空项修复，写入个人知识清单第一栏；S08最后朗读用准确字音完成全诗
【自然切页句】
字词已经回到原句。现在只选三组诗句，看一看：同一个词、同一幅物象，怎样让声音、时间和人物的处境改变。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【V6.4页ID】S06｜这些诗句，为什么非得这样写？｜9分钟
【本页不可替代的意义】
让每名学生从三组原句任选一组形成‘原词关系—声音或时间变化—人物处境’短卡，经同桌用另一组原句检验后交给S07
【删除本页会失去什么】
若只列手法表，全文逐句体验不能沉淀为语文知识；若只讲故事，又没有形成可迁移的形式解释
【相邻合并测试】
不能并入S07：本页仍在生成和互证形式解释，S07撤去原句群后只做个人收束与自我检索
【教师逐字稿】
这一页只选三组，不求把所有手法一网打尽。请选择一组：桑叶从沃若到黄而陨；两声‘于嗟’从斑鸠落到女子；信誓中的‘反、不思’在结尾重新回来。先不要用‘生动形象、表达感情’收尾。写三层：哪些原词彼此相照；声音或时间怎样改变；女子的处境因此怎样被看见。（等待个人短卡。）交换给同桌。听者另选一组原句，试一试同伴的解释方法能不能迁移；只指出原词关系或人物作用断在哪里，不替作者写答案。作者拿回，必要时修订；迁移成立就写‘保留’。（等待。）现在才核对名称：桑叶前后可见比兴和对照，两声于嗟有呼告与反复，反与不思在末章构成词语回环。名字重要，但必须站在原词关系和人物处境之上。把修订后的短卡留给下一页。
【场面与走位】
屏幕只放三组原句和两个文学问题；学生个人写短卡，同桌用另一组诗句做迁移检验，教师最后才命名。
（每人任选一组原句）
（个人写三层短卡）
（同桌交换短卡）
（用另一组原句迁移检验）
（作者按需修订或保留）
（教师后置命名）
（保存修订卡进入S07）
【时间盒】
读三组原句并任选一组：70秒；个人三层短卡：140秒；同桌迁移检验：130秒；作者按需修订：100秒；两份作品与教师后置命名：80秒；保存短卡并转场：20秒
【现场分支】
只报术语：先遮住术语，补出相照的原词、声音或时间变化及人物处境。
只写生动形象：追问哪两个原词形成什么关系，故事因此多发生了什么。
迁移已经成立：写‘保留’，不为了流程制造错误或强制改写。
【听者同步任务】
用另一组原句检验方法是否成立，只报原词关系或人物作用的真实断点。
【证据位置】
全文综合学习包S06短卡、同桌迁移检验和作者处理结果
【回到人物和故事】
诗不是给悲剧贴标签，而让桑叶由荣到落、叹息由物到人、信誓在结尾折返，从写法中显出女子处境的变化
【后续真实调用】
S07打开本页修订短卡，写入个人知识清单第二栏；S08可选其中一处原句作为最值得带走的语言发现
【自然切页句】
字词已经校准，写法也从原句里长出来。现在把这两页真正属于你的东西，收进一张个人书页。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【V6.4页ID】S07｜把字词和写法，收回手中｜7分钟
【本页不可替代的意义】
让每名学生把一个字词语境、一条形式解释和两条文本边界组成个人知识清单，经同桌只查可定位性后完成收束
【删除本页会失去什么】
没有独立知识收束，S05星标和S06短卡仍无真实消费者，最终退出页也会被迫同时承担过多知识和观点
【相邻合并测试】
不能并入S08：本页专门组织学科知识并允许安静检索，S08回答人物三问、关系理解和朗读；合并会使终页过载
【教师逐字稿】
请不要翻到教师总结，先打开你自己的两份痕迹：S05里校正过的字词，S06里修订过的短卡。现在组成一张个人书页。第一栏写一个你已经能读准、说清的字词，并抄回它所在的短句；第二栏写一处写法，讲清原词怎样相照、声音或时间怎样变、人物处境怎样显出；第三栏写一组‘诗写了／诗没有写’。（等待。）交换给同桌，只查三项能不能定位：这个词在哪句，这个写法靠哪两个词，这条边界有没有越过原文。都能定位，就写‘可定位，保留’；有一项找不到，作者自己翻诗补准。（等待。）今天不再增加一张标准知识表。能被你准确找到、解释并守住边界的，才真正属于你。把这张书页留在手边，最后朗读前还要用它校准字音。
【场面与走位】
学生同时打开S05和S06个人材料，屏幕只显示一张书页的三类入口；同桌只做定位核查，教师不公布整页答案。
（打开S05个人修复）
（打开S06修订短卡）
（个人组成三类知识清单）
（同桌只查三项定位）
（作者按需返诗补准）
（准确者保留）
（把清单留在手边）
【时间盒】
打开前两页痕迹与说明书页：60秒；个人三类知识清单：170秒；同桌三项定位核查：80秒；作者按需返诗补准：70秒；保存知识清单并转场：40秒
【现场分支】
S05没有错项：写一个最易混但自己已能用原句解释的词，不制造错误。
形式作用空泛：回到S06短卡，补出相照原词和人物处境。
三项均可定位：写‘可定位，保留’，不强制改动。
【听者同步任务】
只查字词、写法和边界能否定位到原句，不替同伴选择内容。
【证据位置】
全文综合学习包S07个人知识清单、S05修复与S06短卡的回指
【回到人物和故事】
学生不仅知道故事悲剧，还能准确读原句、说明诗怎样组织声音与时间，并辨认诗写到哪里为止
【后续真实调用】
S08朗读前读取字词清单保证准确发音；退出作品可引用本页一处语言发现，不再让S05、S06成为孤儿产物
【自然切页句】
知识已经留在自己的书页。最后回到那位女子：用最少的话回答三问，再留下你愿意带走的一句提醒和一个仍想追问的问题。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【V6.4页ID】S08｜把理解与问题一起带走｜10分钟
【本页不可替代的意义】
让每名学生浓缩回答三问、保存一条共同生活提醒及原句和一个可选问题，经单一事实边界核查后以完整朗读结束
【删除本页会失去什么】
没有个人退出作品和完整朗读，全课成果只停在小组交流与教师归纳，无法知道每名学生最终带走什么
【相邻合并测试】
不能并入S07：S07收束字词、写法和边界，S08回到人物三问与关系理解并完成整诗朗读；合并将终页再次过载
【教师逐字稿】
最后不再增加新知识。请打开S01到S04，用最少的话写完：她从什么走到什么；她婚后的日子让你看见什么；这场婚姻为什么走到这一步。接着写一条你愿意从《氓》带走的共同生活提醒，并让一处诗句托住它。仍有真正想追问的问题，就写下来；此刻没有，可以留白，不为结束制造问号。（安静书写。）同桌只核一个事实边界：有没有把她的投入和困境写成他伤害她的原因，或者把‘亦已焉哉’写成已经实际离开。两项都准确，就写‘边界准确，无需改’；有一项越界，作者自己改。（等待。）我们听三种不同的带走句，不评唯一答案。（引用真实作品。）现在把S07知识清单放在教材旁，扫一眼个人字音提醒。翻回全文，从‘氓之蚩蚩’开始，完整读到‘亦已焉哉’。不要表演教师的结论，让六章的声音和你现在的理解一起走完。（最后一句落下，教师停顿，不追加口号。）
【场面与走位】
学生先安静完成个人退出作品，同桌只做一次事实边界核查；随后翻回教材全文，S07清单放在旁边校准字音，全班连续朗读。
（打开S01至S04个人产物）
（个人写三问与关系提醒）
（可选留下问题）
（同桌只核一个事实边界）
（作者按需修订或保留）
（分享三种不同带走句）
（用S07校准字音）
（最后完整朗读并安静结束）
【时间盒】
个人三问与关系提醒：160秒；同桌单一边界核查：80秒；作者按需修订：70秒；三种不同带走句：80秒；校准字音与最后完整朗读：150秒；停顿、收存与结束：60秒
【现场分支】
责任与困难混淆：将谁造成伤害、什么使停止更难拆开，责任不转给女子。
结尾越界：改为作出停止判断；行动与后来生活仍未写。
没有未解问题：允许留白，不为形式制造问题；把注意留给最后完整朗读。
【听者同步任务】
只核查责任/困难和判断/行动的事实边界；最后朗读时不评价同伴情感。
【证据位置】
全文综合学习包S08退出作品、S07字音清单和最后完整朗读
【回到人物和故事】
女子从相遇、投入和共同生活走到失衡、孤立与停止判断；她的声音进入学生对审慎、责任、平衡、支持和边界的个人思考
【后续真实调用】
作为真实试教后的个人学习证据，用于判断哪些理解已经形成、哪些字词和问题仍需回访，并作为后续课时压缩依据
【自然切页句】
（‘亦已焉哉’落下。教师停顿，不追加口号。）下课。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9875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一｜她经历了什么？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全文综合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51560" y="1170432"/>
            <a:ext cx="10085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沿着桌上的六张章末卡，用六句话，把她的一生讲清。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51560" y="2971800"/>
            <a:ext cx="10058400" cy="0"/>
          </a:xfrm>
          <a:prstGeom prst="line">
            <a:avLst/>
          </a:prstGeom>
          <a:noFill/>
          <a:ln w="25400">
            <a:solidFill>
              <a:srgbClr val="E5DA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514600"/>
            <a:ext cx="868680" cy="868680"/>
          </a:xfrm>
          <a:prstGeom prst="ellipse">
            <a:avLst/>
          </a:prstGeom>
          <a:solidFill>
            <a:srgbClr val="FFFCF7"/>
          </a:solidFill>
          <a:ln w="27940">
            <a:solidFill>
              <a:srgbClr val="AC8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7340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828800" y="2953512"/>
            <a:ext cx="978408" cy="0"/>
          </a:xfrm>
          <a:prstGeom prst="line">
            <a:avLst/>
          </a:prstGeom>
          <a:noFill/>
          <a:ln w="20320">
            <a:solidFill>
              <a:srgbClr val="AC8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07208" y="2514600"/>
            <a:ext cx="868680" cy="868680"/>
          </a:xfrm>
          <a:prstGeom prst="ellipse">
            <a:avLst/>
          </a:prstGeom>
          <a:solidFill>
            <a:srgbClr val="FFFCF7"/>
          </a:solidFill>
          <a:ln w="27940">
            <a:solidFill>
              <a:srgbClr val="456F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07208" y="27340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二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675888" y="2953512"/>
            <a:ext cx="978408" cy="0"/>
          </a:xfrm>
          <a:prstGeom prst="line">
            <a:avLst/>
          </a:prstGeom>
          <a:noFill/>
          <a:ln w="20320">
            <a:solidFill>
              <a:srgbClr val="456F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54296" y="2514600"/>
            <a:ext cx="868680" cy="868680"/>
          </a:xfrm>
          <a:prstGeom prst="ellipse">
            <a:avLst/>
          </a:prstGeom>
          <a:solidFill>
            <a:srgbClr val="FFFCF7"/>
          </a:solidFill>
          <a:ln w="27940">
            <a:solidFill>
              <a:srgbClr val="6477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54296" y="27340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522976" y="2953512"/>
            <a:ext cx="978408" cy="0"/>
          </a:xfrm>
          <a:prstGeom prst="line">
            <a:avLst/>
          </a:prstGeom>
          <a:noFill/>
          <a:ln w="20320">
            <a:solidFill>
              <a:srgbClr val="6477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01384" y="2514600"/>
            <a:ext cx="868680" cy="868680"/>
          </a:xfrm>
          <a:prstGeom prst="ellipse">
            <a:avLst/>
          </a:prstGeom>
          <a:solidFill>
            <a:srgbClr val="FFFCF7"/>
          </a:solidFill>
          <a:ln w="27940">
            <a:solidFill>
              <a:srgbClr val="9C45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1384" y="27340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四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370064" y="2953512"/>
            <a:ext cx="978408" cy="0"/>
          </a:xfrm>
          <a:prstGeom prst="line">
            <a:avLst/>
          </a:prstGeom>
          <a:noFill/>
          <a:ln w="20320">
            <a:solidFill>
              <a:srgbClr val="9C45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48472" y="2514600"/>
            <a:ext cx="868680" cy="868680"/>
          </a:xfrm>
          <a:prstGeom prst="ellipse">
            <a:avLst/>
          </a:prstGeom>
          <a:solidFill>
            <a:srgbClr val="FFFCF7"/>
          </a:solidFill>
          <a:ln w="27940">
            <a:solidFill>
              <a:srgbClr val="7551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8472" y="27340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五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217152" y="2953512"/>
            <a:ext cx="978408" cy="0"/>
          </a:xfrm>
          <a:prstGeom prst="line">
            <a:avLst/>
          </a:prstGeom>
          <a:noFill/>
          <a:ln w="20320">
            <a:solidFill>
              <a:srgbClr val="7551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95560" y="2514600"/>
            <a:ext cx="868680" cy="868680"/>
          </a:xfrm>
          <a:prstGeom prst="ellipse">
            <a:avLst/>
          </a:prstGeom>
          <a:solidFill>
            <a:srgbClr val="FFFCF7"/>
          </a:solidFill>
          <a:ln w="27940">
            <a:solidFill>
              <a:srgbClr val="5148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95560" y="27340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1483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六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920240" y="4096512"/>
            <a:ext cx="8348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哪一步，改变了下一步？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1508760" y="5138928"/>
            <a:ext cx="9171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有断点，回诗补回；没有断点，说出最清楚的一处因果。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9875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二｜她婚后的不幸，在生活中是什么样子？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全文综合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7040880" cy="4480560"/>
          </a:xfrm>
          <a:prstGeom prst="roundRect">
            <a:avLst>
              <a:gd name="adj" fmla="val 1020"/>
            </a:avLst>
          </a:prstGeom>
          <a:solidFill>
            <a:srgbClr val="FFFCF7"/>
          </a:solidFill>
          <a:ln w="13970">
            <a:solidFill>
              <a:srgbClr val="E5DA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55448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从第四、第五章选一句，写成一个能被看见的日常片刻。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1325880" y="2743200"/>
            <a:ext cx="6035040" cy="0"/>
          </a:xfrm>
          <a:prstGeom prst="line">
            <a:avLst/>
          </a:prstGeom>
          <a:noFill/>
          <a:ln w="16510">
            <a:solidFill>
              <a:srgbClr val="456F7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234440" y="3154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谁在做什么？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794760" y="3154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日子怎样一天天过去？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298448" y="4160520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________________________________________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98448" y="4709160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________________________________________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8247888" y="1508760"/>
            <a:ext cx="3108960" cy="3611880"/>
          </a:xfrm>
          <a:prstGeom prst="roundRect">
            <a:avLst>
              <a:gd name="adj" fmla="val 1471"/>
            </a:avLst>
          </a:prstGeom>
          <a:solidFill>
            <a:srgbClr val="DDE9E9"/>
          </a:solidFill>
          <a:ln w="14605">
            <a:solidFill>
              <a:srgbClr val="456F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77072" y="2057400"/>
            <a:ext cx="2450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让同伴从你的文字里，找回原诗。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8613648" y="3794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能配回：保留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配不回：返诗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C4538"/>
          </a:solidFill>
          <a:ln w="12700">
            <a:solidFill>
              <a:srgbClr val="9C45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9875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1E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三｜这场婚姻为什么走到这一步？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FE4D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全文综合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32688" y="135331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FE4D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婚前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148840" y="1545336"/>
            <a:ext cx="548640" cy="0"/>
          </a:xfrm>
          <a:prstGeom prst="line">
            <a:avLst/>
          </a:prstGeom>
          <a:noFill/>
          <a:ln w="31750">
            <a:solidFill>
              <a:srgbClr val="EFE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23444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8F1E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有哪些细节值得警惕？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932688" y="245059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0DDD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婚后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2148840" y="2642616"/>
            <a:ext cx="548640" cy="0"/>
          </a:xfrm>
          <a:prstGeom prst="line">
            <a:avLst/>
          </a:prstGeom>
          <a:noFill/>
          <a:ln w="31750">
            <a:solidFill>
              <a:srgbClr val="F0DD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233172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8F1E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谁直接造成了伤害？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932688" y="354787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DE9E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处境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2148840" y="3739896"/>
            <a:ext cx="548640" cy="0"/>
          </a:xfrm>
          <a:prstGeom prst="line">
            <a:avLst/>
          </a:prstGeom>
          <a:noFill/>
          <a:ln w="31750">
            <a:solidFill>
              <a:srgbClr val="DDE9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342900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8F1E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为什么那么难停下来？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932688" y="464515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ADD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2148840" y="4837176"/>
            <a:ext cx="548640" cy="0"/>
          </a:xfrm>
          <a:prstGeom prst="line">
            <a:avLst/>
          </a:prstGeom>
          <a:noFill/>
          <a:ln w="31750">
            <a:solidFill>
              <a:srgbClr val="EADD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45262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8F1E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诗里还有什么不能武断？</a:t>
            </a:r>
            <a:endParaRPr lang="en-US" sz="3100" dirty="0"/>
          </a:p>
        </p:txBody>
      </p:sp>
      <p:sp>
        <p:nvSpPr>
          <p:cNvPr id="17" name="Text 15"/>
          <p:cNvSpPr/>
          <p:nvPr/>
        </p:nvSpPr>
        <p:spPr>
          <a:xfrm>
            <a:off x="1828800" y="5806440"/>
            <a:ext cx="8531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FE4D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让每一层，都有原句可回。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9875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读完《氓》，再看开课时的爱情与婚姻主题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全文综合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77240" y="1170432"/>
            <a:ext cx="3337560" cy="4709160"/>
          </a:xfrm>
          <a:prstGeom prst="roundRect">
            <a:avLst>
              <a:gd name="adj" fmla="val 1370"/>
            </a:avLst>
          </a:prstGeom>
          <a:solidFill>
            <a:srgbClr val="EFE4D2"/>
          </a:solidFill>
          <a:ln w="13970">
            <a:solidFill>
              <a:srgbClr val="AC8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64208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开课时，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我们曾这样谈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爱情与婚姻……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417320" y="39776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班级主题谱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88720" y="452628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1483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从那面黑板上，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51483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选一句真正说过的话。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26280" y="1325880"/>
            <a:ext cx="6903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读完《氓》，你愿意替当时的自己补上哪一句？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663440" y="2514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我原来想到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0" y="2478024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____________________________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400800" y="2971800"/>
            <a:ext cx="4572000" cy="0"/>
          </a:xfrm>
          <a:prstGeom prst="line">
            <a:avLst/>
          </a:prstGeom>
          <a:noFill/>
          <a:ln w="13970">
            <a:solidFill>
              <a:srgbClr val="E5DA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474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《氓》让我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00800" y="3438144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补充／修正／保留：____________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6400800" y="3931920"/>
            <a:ext cx="4572000" cy="0"/>
          </a:xfrm>
          <a:prstGeom prst="line">
            <a:avLst/>
          </a:prstGeom>
          <a:noFill/>
          <a:ln w="13970">
            <a:solidFill>
              <a:srgbClr val="E5DA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4434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56F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放进共同生活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00800" y="4398264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我会观察：____________________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6400800" y="4892040"/>
            <a:ext cx="4572000" cy="0"/>
          </a:xfrm>
          <a:prstGeom prst="line">
            <a:avLst/>
          </a:prstGeom>
          <a:noFill/>
          <a:ln w="13970">
            <a:solidFill>
              <a:srgbClr val="E5DA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5577840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让一处诗句，托住你的新理解。</a:t>
            </a:r>
            <a:endParaRPr lang="en-US" sz="2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9875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这些字，离开注释还认得吗？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全文综合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60120" y="1170432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《诗经》是什么？　｜　分哪三类？　｜　《氓》收在哪里？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2057400"/>
            <a:ext cx="1783080" cy="896112"/>
          </a:xfrm>
          <a:prstGeom prst="roundRect">
            <a:avLst>
              <a:gd name="adj" fmla="val 5102"/>
            </a:avLst>
          </a:prstGeom>
          <a:solidFill>
            <a:srgbClr val="FFFCF7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267712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愆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3108960" y="2057400"/>
            <a:ext cx="1783080" cy="896112"/>
          </a:xfrm>
          <a:prstGeom prst="roundRect">
            <a:avLst>
              <a:gd name="adj" fmla="val 5102"/>
            </a:avLst>
          </a:prstGeom>
          <a:solidFill>
            <a:srgbClr val="FFFCF7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18688" y="2267712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5303520" y="2057400"/>
            <a:ext cx="1783080" cy="896112"/>
          </a:xfrm>
          <a:prstGeom prst="roundRect">
            <a:avLst>
              <a:gd name="adj" fmla="val 5102"/>
            </a:avLst>
          </a:prstGeom>
          <a:solidFill>
            <a:srgbClr val="FFFCF7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13248" y="2267712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筮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7498080" y="2057400"/>
            <a:ext cx="1783080" cy="896112"/>
          </a:xfrm>
          <a:prstGeom prst="roundRect">
            <a:avLst>
              <a:gd name="adj" fmla="val 5102"/>
            </a:avLst>
          </a:prstGeom>
          <a:solidFill>
            <a:srgbClr val="FFFCF7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07808" y="2267712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说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9692640" y="2057400"/>
            <a:ext cx="1783080" cy="896112"/>
          </a:xfrm>
          <a:prstGeom prst="roundRect">
            <a:avLst>
              <a:gd name="adj" fmla="val 5102"/>
            </a:avLst>
          </a:prstGeom>
          <a:solidFill>
            <a:srgbClr val="FFFCF7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02368" y="2267712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徂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914400" y="3337560"/>
            <a:ext cx="1783080" cy="896112"/>
          </a:xfrm>
          <a:prstGeom prst="roundRect">
            <a:avLst>
              <a:gd name="adj" fmla="val 5102"/>
            </a:avLst>
          </a:prstGeom>
          <a:solidFill>
            <a:srgbClr val="DDE9E9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3547872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汤汤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3108960" y="3337560"/>
            <a:ext cx="1783080" cy="896112"/>
          </a:xfrm>
          <a:prstGeom prst="roundRect">
            <a:avLst>
              <a:gd name="adj" fmla="val 5102"/>
            </a:avLst>
          </a:prstGeom>
          <a:solidFill>
            <a:srgbClr val="DDE9E9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18688" y="3547872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渐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5303520" y="3337560"/>
            <a:ext cx="1783080" cy="896112"/>
          </a:xfrm>
          <a:prstGeom prst="roundRect">
            <a:avLst>
              <a:gd name="adj" fmla="val 5102"/>
            </a:avLst>
          </a:prstGeom>
          <a:solidFill>
            <a:srgbClr val="DDE9E9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13248" y="3547872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咥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>
            <a:off x="7498080" y="3337560"/>
            <a:ext cx="1783080" cy="896112"/>
          </a:xfrm>
          <a:prstGeom prst="roundRect">
            <a:avLst>
              <a:gd name="adj" fmla="val 5102"/>
            </a:avLst>
          </a:prstGeom>
          <a:solidFill>
            <a:srgbClr val="DDE9E9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07808" y="3547872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隰</a:t>
            </a:r>
            <a:endParaRPr lang="en-US" sz="3400" dirty="0"/>
          </a:p>
        </p:txBody>
      </p:sp>
      <p:sp>
        <p:nvSpPr>
          <p:cNvPr id="24" name="Shape 22"/>
          <p:cNvSpPr/>
          <p:nvPr/>
        </p:nvSpPr>
        <p:spPr>
          <a:xfrm>
            <a:off x="9692640" y="3337560"/>
            <a:ext cx="1783080" cy="896112"/>
          </a:xfrm>
          <a:prstGeom prst="roundRect">
            <a:avLst>
              <a:gd name="adj" fmla="val 5102"/>
            </a:avLst>
          </a:prstGeom>
          <a:solidFill>
            <a:srgbClr val="DDE9E9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02368" y="3547872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泮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1280160" y="4965192"/>
            <a:ext cx="9628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先凭记忆读、写、解释；再回到原句相认。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2834640" y="5715000"/>
            <a:ext cx="6519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只修复自己的错项与空项。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47752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9875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这些诗句，为什么非得这样写？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全文综合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074920" y="960120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任选一组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493008" cy="2057400"/>
          </a:xfrm>
          <a:prstGeom prst="roundRect">
            <a:avLst>
              <a:gd name="adj" fmla="val 2222"/>
            </a:avLst>
          </a:prstGeom>
          <a:solidFill>
            <a:srgbClr val="E1E7D9"/>
          </a:solidFill>
          <a:ln w="13970">
            <a:solidFill>
              <a:srgbClr val="6477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19072"/>
            <a:ext cx="30723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53712" y="1234440"/>
            <a:ext cx="3493008" cy="2057400"/>
          </a:xfrm>
          <a:prstGeom prst="roundRect">
            <a:avLst>
              <a:gd name="adj" fmla="val 2222"/>
            </a:avLst>
          </a:prstGeom>
          <a:solidFill>
            <a:srgbClr val="EFE4D2"/>
          </a:solidFill>
          <a:ln w="13970">
            <a:solidFill>
              <a:srgbClr val="AC8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64024" y="1719072"/>
            <a:ext cx="30723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于嗟鸠兮……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于嗟女兮……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8375904" y="1234440"/>
            <a:ext cx="3493008" cy="2057400"/>
          </a:xfrm>
          <a:prstGeom prst="roundRect">
            <a:avLst>
              <a:gd name="adj" fmla="val 2222"/>
            </a:avLst>
          </a:prstGeom>
          <a:solidFill>
            <a:srgbClr val="EADDE1"/>
          </a:solidFill>
          <a:ln w="13970">
            <a:solidFill>
              <a:srgbClr val="7551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86216" y="1719072"/>
            <a:ext cx="30723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信誓旦旦，不思其反。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反是不思，亦已焉哉！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97280" y="388620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原词怎样相照？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5120640" y="388620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声音、时间与人的处境，怎样改变？</a:t>
            </a:r>
            <a:endParaRPr lang="en-US" sz="3100" dirty="0"/>
          </a:p>
        </p:txBody>
      </p:sp>
      <p:sp>
        <p:nvSpPr>
          <p:cNvPr id="14" name="Shape 12"/>
          <p:cNvSpPr/>
          <p:nvPr/>
        </p:nvSpPr>
        <p:spPr>
          <a:xfrm>
            <a:off x="1920240" y="4800600"/>
            <a:ext cx="8321040" cy="0"/>
          </a:xfrm>
          <a:prstGeom prst="line">
            <a:avLst/>
          </a:prstGeom>
          <a:noFill/>
          <a:ln w="15240">
            <a:solidFill>
              <a:srgbClr val="E5DA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5257800"/>
            <a:ext cx="8531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原词关系　→　声音／时间变化　→　人物处境</a:t>
            </a:r>
            <a:endParaRPr lang="en-US" sz="2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5515E"/>
          </a:solidFill>
          <a:ln w="12700">
            <a:solidFill>
              <a:srgbClr val="755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9875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把字词和写法，收回手中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全文综合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14400" y="1143000"/>
            <a:ext cx="10360152" cy="4937760"/>
          </a:xfrm>
          <a:prstGeom prst="roundRect">
            <a:avLst>
              <a:gd name="adj" fmla="val 926"/>
            </a:avLst>
          </a:prstGeom>
          <a:solidFill>
            <a:srgbClr val="FFFCF7"/>
          </a:solidFill>
          <a:ln w="13970">
            <a:solidFill>
              <a:srgbClr val="E5DA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0" y="1481328"/>
            <a:ext cx="4507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我的语文知识书页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417320" y="233172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56F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一个我已读准、说清的字词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166360" y="2295144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____________________________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17320" y="315468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一处我能讲明的写法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166360" y="3118104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____________________________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17320" y="397764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它怎样改变声音、时间或人物处境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66360" y="3941064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____________________________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417320" y="4956048"/>
            <a:ext cx="9326880" cy="0"/>
          </a:xfrm>
          <a:prstGeom prst="line">
            <a:avLst/>
          </a:prstGeom>
          <a:noFill/>
          <a:ln w="15240">
            <a:solidFill>
              <a:srgbClr val="E5DA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08760" y="523036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诗写了：______________________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6126480" y="523036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诗没有写：__________________</a:t>
            </a:r>
            <a:endParaRPr lang="en-US"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9875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1E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把理解与问题一起带走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FE4D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全文综合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51560" y="1234440"/>
            <a:ext cx="10085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1E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她从________走到________。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51560" y="1984248"/>
            <a:ext cx="10085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1E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她婚后的日子，让我看见________。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2734056"/>
            <a:ext cx="10085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1E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这场婚姻走到这一步：________。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051560" y="3657600"/>
            <a:ext cx="10058400" cy="0"/>
          </a:xfrm>
          <a:prstGeom prst="line">
            <a:avLst/>
          </a:prstGeom>
          <a:noFill/>
          <a:ln w="15240">
            <a:solidFill>
              <a:srgbClr val="AC8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4023360"/>
            <a:ext cx="10085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FE4D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我从《氓》带走的一条共同生活提醒：________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051560" y="4700016"/>
            <a:ext cx="10085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8F1E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托住它的诗句：____________________________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51560" y="5376672"/>
            <a:ext cx="10085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我仍愿继续追问：________________（可留白）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920240" y="6080760"/>
            <a:ext cx="8348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1E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最后，从“氓之蚩蚩”完整读到“亦已焉哉”。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《氓》V6.4全文综合课堂课件</dc:title>
  <dc:subject>PptxGenJS Presentation</dc:subject>
  <dc:creator>语文备课系统</dc:creator>
  <cp:lastModifiedBy>语文备课系统</cp:lastModifiedBy>
  <cp:revision>1</cp:revision>
  <dcterms:created xsi:type="dcterms:W3CDTF">2026-08-13T17:07:29Z</dcterms:created>
  <dcterms:modified xsi:type="dcterms:W3CDTF">2026-08-13T17:07:29Z</dcterms:modified>
</cp:coreProperties>
</file>
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【V6.3页ID】S01｜一｜她经历了什么？｜12分钟
【本页不可替代的意义】
让每名学生以一章自然话参与小组六章人生长卷，并通过观众找断点与返诗补说形成连续、可修订的第一问答案
【删除本页会失去什么】
若只有教师时间轴或组长汇报，大多数学生没有组织六章人生，也无法发现局部章意之间的真实断点
【相邻合并测试】
不能并入S02：本页先回答发生顺序，S02才把婚后经历转成现实画面；叙事完整与现实转述是两种能力
【教师逐字稿】
开课的第一问回来了：她经历了什么？请六人一组，把六张故事轨道并在一起。每人守住一章，只在长条纸对应位置写一句自然话，必须有人、事和变化；‘比兴、对照、悲剧、觉醒’不能代替故事。写完先不要解释，把长卷留在桌上，整组移到下一桌。观众从第一章默读到第六章，只贴一个问号：故事最容易在哪里断掉？问号旁只写缺人物、动作还是转折，不替作者补答案。（等待走读。）回到本组，原章作者拿回修改权，只开教材找到那一句，补回自己的位置。最后全组沿长卷连读一次。我们听一条修订后的完整人生。诗写她形成停止判断，没有继续写实际离开；这条边界在长卷末端必须准确。
【场面与走位】
六章空轨道上屏；学生围桌共作长卷、无声走读、返位修订，公共分享只听两条完整长卷。
（每人认领一章）
（个人写章句）
（小组无声拼接）
（全组走读下一桌）
（每组只贴一个断点问号）
（返位后原作者返诗修订）
（连读长卷）
（全班听两条）
【时间盒】
认领与个人章句：150秒；组内拼接与首读：90秒；无声走读找断点：120秒；原作者返诗修订：120秒；组内连读：80秒；全班两条作品与归纳：160秒
【现场分支】
组长包办：立即停止，六处必须保留六种笔迹；原作者拥有修改权。
只写主题标签：追问这一章谁做了什么、处境怎样改变。
结尾写已离开：退回亦已焉哉，改为形成停止判断，行动未写。
【听者同步任务】
观众只找一个叙事断点；全班听作品时核对六章是否从相识连续走到停止判断。
【证据位置】
六章人生长卷＋个人故事轨道
【回到人物和故事】
女子从相识议婚、等待迁嫁，走入食贫劳作、失信粗暴与孤立，回看誓言后形成停止判断
【后续真实调用】
S02把长卷中第四、五章转成现实生活分镜；课末退出条用长卷回答第一问
【自然切页句】
人生长卷已经把事情讲清。第二问不再重复诗句：如果把她婚后的日子拍成纪录片，镜头里究竟会出现什么？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【V6.3页ID】S02｜二｜她婚后的不幸，在生活中是什么样子？｜14分钟
【本页不可替代的意义】
让每名学生把婚后原句转写为无诗词、无抽象标签的现实生活分镜，再由另一组反向配回原句，证明现实阐释没有离开文本
【删除本页会失去什么】
若直接列‘贫困、劳作、背叛、孤立’，学生只接收标签，不能把古诗转成现实生活，也无法检验阐释是否有原句依据
【相邻合并测试】
不能并入S03：本页只回答不幸怎样发生在生活里，不处理为什么发生和谁负责；先保事实才能讨论原因
【教师逐字稿】
第二问要求换一种语言：她婚后的不幸，在现实生活中是什么样子？每个人从第四、第五章选一处原句，写成二十到三十五字的纪录片分镜。不能照抄诗句，也不能只写很惨、压榨、背叛、没有爱；要让观众看见谁在做什么，日子怎样过。只谈第三人称，不讲自己的家庭。（等待个人写。）小组把镜头排在一张胶片墙上，重复的保留更具体的一帧；然后根据你们的画面自己命名两三组，不照抄我的术语。另一组来为每帧配回最能托住它的原句。配不回的打问号，发现身体暴力、所有家人拒绝、已经离开等越界画面也打问号。作者返位，亲自改弱或撤回。（等待。）现在引用现场分镜归纳：长期劳作和时间负担、贫苦生活、伴侣失信与粗暴、理解支持的缺失，构成她婚后的真实处境。归纳从你们的镜头里来，不替代镜头。
【场面与走位】
屏幕只显示空白胶片格和写作边界；学生个人写、组内成墙、跨组配诗、作者返位修订。
（个人选原句）
（写第三人称分镜）
（组内删重排片）
（学生后置命名分组）
（跨组反向配诗）
（标问号）
（作者返位修订或撤回）
（教师引用现场作品归纳）
【时间盒】
个人分镜：150秒；组内删重与排片：145秒；学生命名画面组：80秒；跨组配诗与问号：150秒；作者修订：115秒；公开作品与后置归纳：200秒
【现场分支】
只写抽象标签：追问镜头里谁在做什么、一天从何时到何时、别人怎样回应。
补写具体伤害：删去诗中未写的方式，退回粗暴、失信和已写生活事实。
触及私人经历：立即收回，只谈作品或第三人称分镜。
【听者同步任务】
为镜头配回原句；配不回或越界只标问号，不替作者重写。
【证据位置】
个人胶片卡＋小组纪录片墙
【回到人物和故事】
婚后不幸落在长期家务和时间负担、生活贫苦、伴侣失信粗暴、家人不理解与独自悲悼中
【后续真实调用】
S03将分镜中的伤害责任和退出困难分区；婚姻结构讨论从反面生活结构提出必要支点
【自然切页句】
镜头已经让不幸可见。第三问必须更谨慎：造成伤害的责任、早期警告和她难以停止的条件，不能混成一个‘原因’。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【V6.3页ID】S03｜三｜这场婚姻为什么走到这一步？｜16分钟
【本页不可替代的意义】
通过四区证据分置与公开辩护，严格区分婚前警告、直接伤害责任、使退出更难的条件和诗中不能断言，形成不归责受伤者的原因解释
【删除本页会失去什么】
若只讨论‘原因’，学生极易把女子沉溺、付出和没有早离开混入男子伤害的责任，或把现代猜测当诗中事实
【相邻合并测试】
不能并入S02：S02建立生活事实，本页才进行归因和伦理边界；同时进行会让事实尚未站稳就开始评判
【教师逐字稿】
第三问最容易把不同问题揉成一句。请看四个位置：婚前值得警惕；直接造成伤害；使停止更困难；诗中不能断言。每人从全诗抄一处证据，先独立放一个位置，背面写理由。每张先只落一处，后面允许移动。（等待。）小组选择最有争议的一张。原作者先辩护，听者只问两句：原句直接证明什么？你有没有把‘她为何难以停止’写成‘他为何伤害她’？如果发现混淆，作者亲自移动；仍有分歧就把两种位置并存。（等待。）全班只处理四张真正有争议的卡。我们必须守住：男子的失信、反复和粗暴是直接伤害责任；女子的投入、长期劳作、共同记忆和支持缺失能解释为什么关系难以及时停止，却不能解释或分担他为何伤害她。贸丝来意与无怒等早期细节值得警惕，但诗未证明完整预谋；具体暴力、求助经过、实际离开属于不能断言。现在每人写一段第三问答案，至少包含‘责任在……；之所以难以停止，还因为……；诗没有写明……’三层。
【场面与走位】
教室四面或大桌划出四个空区；每人投卡，小组辩护与移动，全班只处理四张争议卡，最后个人落笔。
（每人抄一张证据卡）
（独立四区投放）
（写背面理由）
（小组选争议卡）
（原作者辩护）
（听者两问质询）
（作者移动或保留）
（全班处理四张）
（个人原因段修订）
【时间盒】
个人证据卡与投放：150秒；小组争议选择：75秒；小组辩护质询移动：190秒；全班四张争议卡：220秒；个人三层原因段：170秒；教师后置边界归纳：155秒
【现场分支】
女子投入被放入伤害原因：立即追问这是解释他为何伤害，还是她为何难以停止；移到退出困难。
动机猜测：若原诗找不到直接证据，降级或移入不能断言。
一张证据跨区：先选它最直接证明的一处；需要跨区时写两条不同推理，不用一张卡含混承担。
【听者同步任务】
只质询直接证明与责任/阻力是否混淆；全班记录自己改变看法的一张卡。
【证据位置】
个人证据卡＋班级四区地图＋个人第三问段
【回到人物和故事】
早期来意差别和无怒值得警惕；男子失信、反复、粗暴直接造成伤害；女子长期投入、共同记忆、支持缺失与处境不等使停止更困难
【后续真实调用】
S04以四区地图为反面证据提出健康关系结构；S07最终三问收纳读取个人原因段
【自然切页句】
三问已经从故事、生活和原因三个层面回答。现在不急着听教师给婚姻处方，让我们以《氓》为反面证据，亲手搭一段值得珍惜的关系结构。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【V6.3页ID】S04｜如果把《氓》说给后来人听｜15分钟
【本页不可替代的意义】
让每名学生从文本反证出健康婚姻不可缺少的结构支点，经小组建模、外圈质询和个人修订形成有文学根基的婚姻观
【删除本页会失去什么】
若教师直接讲‘婚姻避坑指南’，学生只接收正确口号，没有表达、分歧、质询和自我修订，也失去语文课的文本根基
【相邻合并测试】
不能并入S03：S03厘清诗中原因，S04从反面证据走向价值建构；事实审判与规范讨论需先后分开
【教师逐字稿】
现在把《氓》说给后来人听：一段值得珍惜的婚姻，最不能缺少什么？每个人先写一根‘结构梁’，名字可以是尊重、责任、承诺与行动一致、劳动平衡、支持、边界，也可以完全自拟；旁边必须写《氓》的一处反面证据。屏幕上的词只是我口头举例时也不先展示，真正名字来自你们。（等待个人写。）四人组用五根纸梁搭一座关系结构：四人的梁先进入，第五根共同商议。不要为一致而一致，模型旁必须留下一个真实分歧。内圈三组展示，外圈只问：哪根梁缺诗句？哪根梁承重太多，是否掩盖另一种需要？被质询组可以当场移动、改名或保留。（完成鱼缸轮换。）最后每个人把自己的婚姻提醒改写成可观察的行为，而不是‘要有爱、不要恋爱脑’：例如承诺要接受行动检验，劳动与决定不能长期只压在一人身上——但最终句子用你自己的话，并让诗句托住。教师最后只引用你们现场出现的共同点与分歧，不宣布唯一婚姻模板。
【场面与走位】
每人一根纸梁，四人组搭五梁结构；三组进入鱼缸，外圈持质询单；最后个人安静修订。
（个人写结构梁和证据）
（四人组搭五梁模型）
（留下一个真实分歧）
（三组鱼缸展示）
（外圈证据/平衡质询）
（内圈现场移动改名或保留）
（每人最终修订提醒）
（教师引用现场语言归纳）
【时间盒】
个人结构梁：130秒；四人建模与分歧：180秒；鱼缸第一轮：130秒；鱼缸第二轮：130秒；个人提醒修订：110秒；公开三句与教师归纳：220秒
【现场分支】
只有爱等空词：追问在共同生活里能看见什么行动、分担或回应，再让原诗反证。
小组强求一致：模型必须保留一条真实分歧；不同关系理解可并存。
分享私人经历：温和截回作品或第三人称案例，不把课堂变成自我暴露。
【听者同步任务】
外圈只记证据缺口、结构失衡与一句改变自己想法的发言。
【证据位置】
个人结构梁＋小组模型＋外圈质询＋最终婚姻提醒
【回到人物和故事】
《氓》的悲剧不只在选错一个人，也在承诺与行动、劳动与权力、伤害与支持、投入与边界长期失衡
【后续真实调用】
S05—S07知识收纳保存个人婚姻提醒；退出条以诗句和结构支点作答
【自然切页句】
观点已经由你们自己搭起。最后把散在六章里的字词、写法、结构和阅读边界收回手中：不是再听一遍答案，而是先从记忆里找回来。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【V6.3页ID】S05｜合上书，你还认得它们吗？｜8分钟
【本页不可替代的意义】
以先检索后核对的方式收纳《诗经》常识和本课核心字词，暴露个人不稳项而非整页抄写
【删除本页会失去什么】
没有检索，知识只散在逐句活动中；若直接展示整页答案，又不能判断学生真正掌握什么
【相邻合并测试】
不能并入S06：常识字词是准确记忆，写法结构是关系解释，检索对象与反馈不同
【教师逐字稿】
先合书，不看前面的卡片。三分钟内写三块《诗经》路标，再写本课里最容易读错或讲错的字词；想起几个就写几个，写不全可以留空。（等待。）同桌互相出四个词，只问读音和本句意思。现在翻开课文和自己的课堂批注核对。我再把三块路标说一遍：《诗经》是我国最早的诗歌总集，共三百零五篇；分风、雅、颂，《氓》属于《卫风》；全诗以女子第一人称回望婚姻经历。再沿原句检查愆qiān、将qiāng、筮shì、说tuō、徂cú、汤汤shāng shāng、渐jiān、咥xì、隰xí、泮pàn等字词。不要整页抄，只给一个真正不稳的加星，回到那句诗，把读音和意思补在它身边。
【场面与走位】
屏幕始终只有检索邀请；真实等待后，学生翻开原句和课堂批注，以另一颜色校正，教师口头处理三块路标和班级共性错项。
（合书独立检索）
（真实等待三分钟）
（同桌四词互测）
（翻开原句与批注核对）
（学生另一颜色校正）
（星标一个不稳项）
（回原句补语境）
【时间盒】
个人检索：180秒；同桌互测：80秒；切屏核对：65秒；星标与返诗：95秒；共性错项处理：60秒
【现场分支】
准备整页抄：停笔，只校正自己的错空项；不整页抄写，并星标一个。
全部掌握：不制造星标，给同桌出一个语境辨析。
仍读不准：在原句旁标音并准确读一次，课后进入个人复习。
【听者同步任务】
同桌只核四个音义；公开阶段报告班级共性错项，不展示个人排名。
【证据位置】
知识检索页与个人星标
【回到人物和故事】
语言知识回到女子的叙述语境，而不是离开故事的词表
【后续真实调用】
S07总收纳与退出条读取星标；课后只复习个人星标项
【自然切页句】
字词站稳后，再从原句中找出全诗怎样组织声音和时间。下一页先检索例子，再给写法命名。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【V6.3页ID】S06｜这些诗句，为什么这样写？｜9分钟
【本页不可替代的意义】
从学生已体验的原句反向检索比兴、对照、反复、叠词、时间压缩与回环，形成‘原句—形式—作用—人物处境’的可迁移知识
【删除本页会失去什么】
若只列术语，逐句体验不能沉淀为可迁移知识；若只讲故事，又缺少语文学科的形式认识
【相邻合并测试】
不能并入S05：本页需六人互教和作用解释，字词核对页的安静检索无法同时承担
【教师逐字稿】
现在不再听我列手法。六人组每人认领一组：桑叶沃若/黄而陨；不见/既见；两声于嗟；两声靡；信誓/反/不思；六章女子第一人称回望。先独立写：它叫什么不最重要，它让声音、时间、人物或故事发生什么？（等待。）组内每人二十秒教会同伴，听者只追问‘所以人物或故事怎样改变’，不接受‘生动形象、表达感情’结束。最后命名核对：赋、比、兴；对照、反复、呼告、叠词；时间压缩与时间回环；第一人称叙事与抒情交织。每人写一条公式：先找原词关系，再说形式造成的声音/结构变化，最后回到人物处境；换另一处原句验证。
【场面与走位】
屏幕六组原句如六座小岛；学生纸上写形式和作用，六人微讲，不投影成品答案直至后置核对。
（六人各认领一组）
（个人写形式和作用）
（组内六轮20秒微讲）
（听者只追问故事作用）
（教师后置命名核对）
（个人写迁移公式）
（用另一原句验证）
【时间盒】
认领和个人生成：100秒；六人微讲：150秒；组内追问与修订：90秒；教师后置命名：70秒；个人迁移公式：70秒；另一原句验证：60秒
【现场分支】
只报术语：遮住术语，说声音、时间或人物处境具体怎样改变。
只写生动形象：回到哪两个原词形成什么关系，再说明故事新增什么。
同伴讲错：只指出原句与所说关系不匹配，作者返诗自修。
【听者同步任务】
只追问形式是否真正改变声音、结构或人物处境，不补完整答案。
【证据位置】
六组知识卡＋个人迁移公式
【回到人物和故事】
写法不是贴在人物外面的标签，而是桑叶转黄、声音转向、时间拉长、誓言回环的具体方式
【后续真实调用】
S07把知识与三问、解释边界共同收束；迁移到其他叙事诗时使用公式
【自然切页句】
最后一页不再增加新结论：把三问、写法和阅读边界放在一起，看看你能否用一句自己的话带走《氓》。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【V6.3页ID】S07｜把理解和问题一起带走｜7分钟
【本页不可替代的意义】
把三问答案、语文知识、婚姻结构提醒和文本边界整合为个人退出作品，并以最后完整朗读结束而非教师口号
【删除本页会失去什么】
没有个人退出作品，全课成果只停留在小组公共作品和教师归纳，不能知道每名学生最终理解了什么、改了什么
【相邻合并测试】
不能并入S06：知识互教后需要安静的个人综合和最终朗读，不能被术语活动占用
【教师逐字稿】
最后不再增加新知识。请独立完成五句：她从什么走到什么；婚后生活让你看见什么；这场婚姻走到这一步，直接责任在哪里；使她难以停止的条件还有什么；最值得你带走哪一句。每句都要能回看一处原诗或今天的作品。末尾再留一个仍愿继续追问的问题。（安静等待。）同桌只查两条：有没有把她的投入和困境写成他伤害她的原因；有没有把亦已焉哉写成已经实际离开。作者亲自修订。我们听三种不同的带走句，不评统一答案。最后翻回全文，从第一章完整读到亦已焉哉。不表演教师的结论，让六章的声音和你现在的理解一起走完。
【场面与走位】
前半只有五句退出框架；修订后切回全诗，教师退到侧后方，全班完成最后一次连续朗读。
（个人五句退出写作）
（留下一个问题）
（同桌双边界核查）
（作者亲自修订）
（全班听三种带走句）
（切回全文）
（最后完整朗读）
（教师停顿后下课）
【时间盒】
个人退出写作：160秒；同桌边界核查：65秒；作者修订：55秒；三种带走句：55秒；最后完整朗读：70秒；停顿与结束：15秒
【现场分支】
责任阻力混淆：将‘谁造成伤害’与‘为何难停止’拆成两句。
结尾越界：改为作出停止判断，行动与后来生活未写。
仍有问题：保留，不要求全课结束时所有解释封口。
【听者同步任务】
只核查责任/阻力和判断/行动两组边界；最后朗读时不评价同伴情感。
【证据位置】
个人退出作品＋最终朗读
【回到人物和故事】
女子的一生被重新完整看见，同时她的经历进入学生对关系、责任、支持和边界的思考
【后续真实调用】
作为真实试教后的学习证据与下一轮压缩依据；课后只复习个人星标和未解问题
【自然切页句】
（最后一句落下，教师不追加口号，停三秒。）下课。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一｜她经历了什么？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965960" y="1170432"/>
            <a:ext cx="8257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把六章铺成一条人生长卷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2606040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45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15768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462272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6477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318504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9C4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28232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8174736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755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84464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10030968" y="2212848"/>
            <a:ext cx="1572768" cy="1481328"/>
          </a:xfrm>
          <a:prstGeom prst="roundRect">
            <a:avLst>
              <a:gd name="adj" fmla="val 3086"/>
            </a:avLst>
          </a:prstGeom>
          <a:solidFill>
            <a:srgbClr val="FFFCF7"/>
          </a:solidFill>
          <a:ln w="14605">
            <a:solidFill>
              <a:srgbClr val="456F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0696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140696" y="299923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一句自然话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1024128" y="4297680"/>
            <a:ext cx="10149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每人守住一章｜让人、事与变化重新发生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371600" y="5257800"/>
            <a:ext cx="9445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观众只贴一个问号：故事断在哪里？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200400" y="589788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原作者返诗，亲自补回那一步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二｜她婚后的不幸，在生活中是什么样子？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17320" y="1143000"/>
            <a:ext cx="9354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从第四、五章选一句，让它成为一天里的一个片刻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1234440" y="1993392"/>
            <a:ext cx="9720072" cy="2331720"/>
          </a:xfrm>
          <a:prstGeom prst="roundRect">
            <a:avLst>
              <a:gd name="adj" fmla="val 1961"/>
            </a:avLst>
          </a:prstGeom>
          <a:solidFill>
            <a:srgbClr val="38312A"/>
          </a:solidFill>
          <a:ln w="14605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54203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谁在做什么？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089904" y="2450592"/>
            <a:ext cx="0" cy="0"/>
          </a:xfrm>
          <a:prstGeom prst="line">
            <a:avLst/>
          </a:prstGeom>
          <a:noFill/>
          <a:ln w="12700">
            <a:solidFill>
              <a:srgbClr val="E5DA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54203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日子怎样过？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08760" y="3657600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把这一刻，说给没读过《氓》的人听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5212080"/>
            <a:ext cx="7891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另一组会从你的话里，找回那句诗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三｜这场婚姻为什么走到这一步？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1298448"/>
            <a:ext cx="5138928" cy="1417320"/>
          </a:xfrm>
          <a:prstGeom prst="roundRect">
            <a:avLst>
              <a:gd name="adj" fmla="val 3226"/>
            </a:avLst>
          </a:prstGeom>
          <a:solidFill>
            <a:srgbClr val="EFE4D2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773936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婚前值得警惕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27648" y="1298448"/>
            <a:ext cx="5138928" cy="1417320"/>
          </a:xfrm>
          <a:prstGeom prst="roundRect">
            <a:avLst>
              <a:gd name="adj" fmla="val 3226"/>
            </a:avLst>
          </a:prstGeom>
          <a:solidFill>
            <a:srgbClr val="F0DDD5"/>
          </a:solidFill>
          <a:ln w="13970">
            <a:solidFill>
              <a:srgbClr val="9C45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8816" y="1773936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直接造成伤害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5138928" cy="1417320"/>
          </a:xfrm>
          <a:prstGeom prst="roundRect">
            <a:avLst>
              <a:gd name="adj" fmla="val 3226"/>
            </a:avLst>
          </a:prstGeom>
          <a:solidFill>
            <a:srgbClr val="EADDE1"/>
          </a:solidFill>
          <a:ln w="13970">
            <a:solidFill>
              <a:srgbClr val="755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63016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使停止更困难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327648" y="3154680"/>
            <a:ext cx="5138928" cy="1417320"/>
          </a:xfrm>
          <a:prstGeom prst="roundRect">
            <a:avLst>
              <a:gd name="adj" fmla="val 3226"/>
            </a:avLst>
          </a:prstGeom>
          <a:solidFill>
            <a:srgbClr val="DDE9E9"/>
          </a:solidFill>
          <a:ln w="13970">
            <a:solidFill>
              <a:srgbClr val="456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363016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诗中不能断言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97280" y="521208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每张证据只能先落一处；移动必须说理由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51560" y="585216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谁造成伤害？　什么使她更难停止？　不要混在一起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如果把《氓》说给后来人听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9628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一段值得珍惜的婚姻，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9628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最不能缺少什么？</a:t>
            </a:r>
            <a:endParaRPr lang="en-US" sz="4300" dirty="0"/>
          </a:p>
        </p:txBody>
      </p:sp>
      <p:sp>
        <p:nvSpPr>
          <p:cNvPr id="7" name="Shape 5"/>
          <p:cNvSpPr/>
          <p:nvPr/>
        </p:nvSpPr>
        <p:spPr>
          <a:xfrm>
            <a:off x="1097280" y="3794760"/>
            <a:ext cx="9994392" cy="0"/>
          </a:xfrm>
          <a:prstGeom prst="line">
            <a:avLst/>
          </a:prstGeom>
          <a:noFill/>
          <a:ln w="19050">
            <a:solidFill>
              <a:srgbClr val="E5DA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99816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85232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6477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70648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755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56064" y="352044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8312A"/>
          </a:solidFill>
          <a:ln w="13970">
            <a:solidFill>
              <a:srgbClr val="9C4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47504" y="3630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____________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8006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给它起一个名字，再让《氓》中的一句诗替你作证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03120" y="5715000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只谈作品或第三人称案例｜保留真实分歧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合上书，你还认得它们吗？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60120" y="1234440"/>
            <a:ext cx="10268712" cy="3090672"/>
          </a:xfrm>
          <a:prstGeom prst="roundRect">
            <a:avLst>
              <a:gd name="adj" fmla="val 1479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1600200"/>
            <a:ext cx="4233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先凭记忆写下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《诗经》的三块路标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989320" y="24231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最容易读错、讲错的字词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0" y="3657600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三分钟后，再翻开原句相认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560320" y="5074920"/>
            <a:ext cx="7068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只校正自己的错空项，不整页抄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5806440"/>
            <a:ext cx="7159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给一个真正不稳项加星，再回到原句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这些诗句，为什么这样写？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81912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桑叶荣枯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626864" y="1234440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4024" y="1581912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不见／既见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449056" y="1234440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EFE4D2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86216" y="1581912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两声于嗟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04672" y="2715768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EADDE1"/>
          </a:solidFill>
          <a:ln w="12700">
            <a:solidFill>
              <a:srgbClr val="755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06324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靡……靡……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26864" y="2715768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F0DDD5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306324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信誓／反／不思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449056" y="2715768"/>
            <a:ext cx="3401568" cy="1051560"/>
          </a:xfrm>
          <a:prstGeom prst="roundRect">
            <a:avLst>
              <a:gd name="adj" fmla="val 4348"/>
            </a:avLst>
          </a:prstGeom>
          <a:solidFill>
            <a:srgbClr val="FFFCF7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6216" y="306324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第一人称回望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4572000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它叫什么，可以最后再说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057400" y="5486400"/>
            <a:ext cx="8074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先听一听：声音、时间和人物的处境，怎样变了？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把理解和问题一起带走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全文综合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她从________走到________。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她的婚后生活，让我看见________。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这场婚姻走到这一步，责任在________；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使她难以停止的，还有________。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457200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E4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《氓》最值得我带走的一句是：________。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580644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最后一次完整朗读：让六章的声音和你现在的理解一起走完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《氓》V6.3全文综合课堂课件</dc:title>
  <dc:subject>PptxGenJS Presentation</dc:subject>
  <dc:creator>语文备课系统</dc:creator>
  <cp:lastModifiedBy>语文备课系统</cp:lastModifiedBy>
  <cp:revision>1</cp:revision>
  <dcterms:created xsi:type="dcterms:W3CDTF">2026-08-13T15:59:53Z</dcterms:created>
  <dcterms:modified xsi:type="dcterms:W3CDTF">2026-08-13T15:59:53Z</dcterms:modified>
</cp:coreProperties>
</file>
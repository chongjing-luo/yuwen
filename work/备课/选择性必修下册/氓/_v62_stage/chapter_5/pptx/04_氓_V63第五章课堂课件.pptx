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【V6.3页ID】C501｜第五章｜谁在忙碌，谁的声音从外面传来？｜4分钟
【本页不可替代的意义】
让第五章完整响起，由学生先留下一个反复生活动作和一处声音转向内心的原句，形成逐句细读的生活与声场初稿
【删除本页会失去什么】
没有完整章声，后续生活日常、粗暴与孤立会被拆成社会议题，学生不能先从诗中发现外部生活怎样一步步压进内心
【相邻合并测试】
不能并入C502：整章必须在词义和日程支架出现前完整接收，C502才把前两句的长期生活展开为可感时间
【教师逐字稿】
第四章说到男子的行为反复无常。第五章不先讲一个抽象结论，而是把门推开，让我们看见日子怎样过。请让五句诗完整响一遍；读的时候先不圈‘苦’‘惨’这些词，只听谁在做事，谁的声音从外面传来，什么时候声音收进女子心里。（教师范读，学生低声完整再读。）现在才落笔：抄一个会在生活中反复发生的动作；再抄一处你觉得声音已经转入她内心的原句。不确定可以留问号。同桌只核对是否来自第五章，不替对方讲答案。（等待修订。）我们先保留一条大致路径：日常劳作在前，男子和家人的声音进入，最后只剩她静下来思量。每一步究竟怎样写，继续往下走。
【场面与走位】
屏幕只显示第五章全文与两个读后入口；教师不预先染色人物，不投影生活处境分类。
（读取第四章故事轨道第四格）
（教师完整范读）
（学生完整低声读）
（读后才写两项初稿）
（同桌只核对原句来源）
（学生亲自修订）
【时间盒】
承接第四格：25秒；教师和学生完整读章：90秒；个人生成两项初稿：60秒；同桌来源核对和修订：40秒；引用现场原句与转场：25秒
【现场分支】
只写很辛苦：请改回诗中人物实际做的动作，例如起、寐，或抄一整句。
把兄弟理解成所有家人：本页只保留诗中明确的兄弟，不扩大到所有家人。
提前补写身体暴力：先回到‘暴’这一字；具体伤害方式诗中没有写，C503会守住边界。
【听者同步任务】
只核对动作和转折句是否来自第五章，不评价情绪是否深刻。
【证据位置】
05E C501区
【回到人物和故事】
婚后日子不再只是‘食贫’：女子的身体在日复一日劳作，男子的粗暴与家人的笑声出现，她最后独自回望
【后续真实调用】
C502读取生活动作，C503读取男子行为，C504检验外部笑声与内心转折，C505取回两项初稿重建全章
【自然切页句】
先不走向兄弟的笑声。前两句只写一天从什么时候开始、什么时候结束，却说这一天重复了许多年。
【声明边界】桌面排演稿；不声称真实学生已经理解、参与或学会。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【V6.3页ID】C502｜三岁为妇｜夙兴夜寐｜7分钟
【本页不可替代的意义】
借教室两端的早晚站位和‘靡’低声回响，把一天首尾拉开并叠成多年，再由每人写一段不美化劳苦的生活旁白
【删除本页会失去什么】
删除会使前两句只剩词义和勤劳标签，学生无法体验一天如何折进多年，也不能辨认长期投入与关系失衡的差别
【相邻合并测试】
不能并入C503：本页必须让日常时间和劳动事实充分成立，下一页才比较男子愿望满足后的行为变化
【教师逐字稿】
先借注释把两句说成自然话。三岁是多年；靡是没有；室劳是家务劳动；夙是早，兴是起身，夜寐是晚睡，朝在这里是一日。现在请两位同学分站教室前后：一位从‘夙兴’开始，一位在另一端接‘夜寐’；全班不齐读，只在两句末尾低声接出‘靡’。交换一次。听的人闭眼：一天从哪里开始，到哪里结束？哪个字让这种日子不只发生一天？（完成声场与等待。）现在每人写一句第三人称旁白，要同时有一天和多年，不添加具体家务清单。若写成‘贤妻无怨无悔、勤劳是她的美德’，同桌可以圈出美化劳苦或替人物补心情的词，作者自己改回长期家务、早起晚睡、没有一天例外的事实。（等待修订。）诗写她承担多年家务与时间负担；赞许一个人的勤勉，不能让不均衡的劳动从画面里消失。
【场面与走位】
屏幕左右拉开夙兴与夜寐；两位学生在教室两端读，全班只在靡处低声回响，随后个人写生活旁白。
（个人借注释口译）
（教师定点校词）
（两位学生分站早晚两端）
（全班只接两声靡）
（交换两端朗读）
（个人写生活旁白）
（同桌圈美化或补写词）
（作者亲自修订）
【时间盒】
口译与词义校准：90秒；两轮空间声场与闭眼听：100秒；个人生活旁白：85秒；同桌用词核查：55秒；作者修订、分享和转场：90秒
【现场分支】
赞美贤惠盖过负担：允许保留赞许，但另写清劳动是否长期集中、时间是否有休止。
虚构具体家务：删去诗中未写的做饭、洗衣等清单，回到室劳、夙兴、夜寐。
不愿走位：留在座位用手指向早晚两端朗读，并承担闭眼听者任务。
【听者同步任务】
听早晚跨度和靡的无例外感；核查生活旁白是否美化劳苦或虚构细节。
【证据位置】
05E C502区
【回到人物和故事】
她的婚后生活从清早开始，到夜里才结束；这样的日子不是一天，而是多年反复，没有一天例外
【后续真实调用】
C503把长期投入与男子既遂至暴正面对照；全文第二问把这两句转述为现实中的家务和时间负担集中
【自然切页句】
多年这样生活以后，下一句忽然写‘既遂’和‘至于暴’。一个人的愿望满足了，另一个人的日子却走向哪里？
【声明边界】桌面排演稿；不声称真实学生已经理解、参与或学会。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【V6.3页ID】C503｜言既遂矣，至于暴矣｜8分钟
【本页不可替代的意义】
先准确读出愿望满足后态度转粗暴，再用后文事实回看三处早期细节，区分‘值得警惕’与‘足以证明’
【删除本页会失去什么】
没有这页，会失去全文重要的前后回看：要么忽视婚前警告信息，要么用后见之明把可能细节夸成已证实的系统伪装
【相邻合并测试】
不能并入C502：本页需要跨章回看和证据强度判断，前页只建立日常劳动事实；两种思维若同屏会彼此淹没
【教师逐字稿】
先只读当前句。言是助词；既遂，是愿望已经满足；暴，先按课文语境理解为粗暴。请用一句自然话说清谁如愿以后，态度走向哪里。诗没有写具体伤害方式，不用替它补画面。（等待口译。）现在把第一章的批注翻回来。后文会改变我们看开头的眼光，却不允许我们伪造证据。三人一组，各守一处：‘氓之蚩蚩’、‘匪来贸丝，来即我谋’、‘将子无怒’。每人写两句：读到‘至于暴矣’以后，这处细节为什么值得重新看一眼；单凭它仍不足以证明什么。轮换阅读，圈出同伴句子里‘一定、早有预谋、已经暴力’等过强词，作者自己改弱。（等待。）蚩蚩首先只是忠厚的出场印象；贸丝与议婚来意确有差别；无怒让我们看见女子需要安抚或预期愤怒。后文使这些细节成为警告，却不足以单独证明一套完整伪装计划。成熟的阅读既不忽视信号，也不把后见之明写成事实。
【场面与走位】
屏幕上半放当前句，下半只列三处早期原词；学生必须翻回第一章旧批注，三人分守再轮换，不上屏成品结论。
（个人口译当前句）
（教师校准暴的边界）
（翻回第一章旧批注）
（三人各守一处原词）
（写警惕与证明两句）
（轮换圈过强词）
（作者亲自改弱）
（教师引用现场修订）
【时间盒】
当前句口译与边界：80秒；翻检旧批注和三人分守：55秒；个人双边界生成：105秒；轮换核查过强词：75秒；作者修订与公开抽样：75秒；教师后置归纳和转场：90秒
【现场分支】
把暴具体化：删去殴打等诗中未写的方式，退回态度粗暴与行为伤害的文本范围。
断言系统伪装：把‘一定、早有预谋’改为‘后文使此处值得警惕’，再写不足以证明什么。
认为无任何警告：允许保留，但必须说明后文是否改变对来意差别、无怒或出场印象的阅读。
【听者同步任务】
检查警告信息与已证事实是否分开，不替同伴定性人物动机。
【证据位置】
第一章旧批注＋05E C503区
【回到人物和故事】
长期付出之后，女子看见男子如愿后态度恶化；回头再看初见，那些曾被热望盖住的细节开始显出阴影
【后续真实调用】
C505把至暴接回第五章；全文第三问的四区证据板将把婚前警告、直接伤害责任和退出困难分开
【自然切页句】
男子的声音已经变成‘暴’。可当她的处境被家人看见，传回来的又是什么声音？
【声明边界】桌面排演稿；不声称真实学生已经理解、参与或学会。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【V6.3页ID】C504｜兄弟不知，咥其笑矣｜静言思之，躬自悼矣｜7分钟
【本页不可替代的意义】
用克制的外圈低声与中心独读制造一次声场落差，让学生先听见不理解的笑如何把女子推回独自思量，再写第三人称支持处境
【删除本页会失去什么】
删除会把家人讥笑与独自悲悼压成一个标签，学生听不见外部声场如何退去，也容易越界编造完整求助史
【相邻合并测试】
不能并入C503：C503是跨章证据强度，C504是声场与支持处境；合并会使一页既做理性判断又做情绪体验而失焦
【教师逐字稿】
先把两句说准。咥读xì，是笑的样子；言在这里是助词；躬是自身；悼是悲伤。第一遍，教室两侧的同学克制地低读‘兄弟不知，咥其笑矣’，不模仿嘲笑、不做戏；中间一位同学等声音完全停下，再沉默三秒，读‘静言思之，躬自悼矣’。第二遍交换。其余人闭眼，只写外面的声音停下以后，空间里发生了什么。（完成两轮和真实沉默。）现在用第三人称写一句：她身边缺少什么？只谈作品，不讲自己的家庭。同桌只圈诗中没写的求助过程、‘所有家人’和揣测的恶意动机，作者自己改回原句边界。（等待。）诗写兄弟不了解而笑，她随后静思、自悼。我们可以说她缺少理解与托举，却不能说诗已经写出她怎样求助、所有家人怎样拒绝。最沉重的地方也许不是一个更大的声音，而是笑声过去后，只剩她自己。
【场面与走位】
屏幕上下两句之间保留大块暗色留白；两侧低读后必须真实沉默三秒，中心读者不开表演腔。
（个人口译）
（教师校音释义）
（两侧克制低读外句）
（真实沉默三秒）
（中心独读内句）
（交换声场角色）
（个人第三人称写作）
（同桌圈越界事实）
（作者亲自修订）
【时间盒】
口译和词义校准：70秒；两轮声场与沉默：100秒；个人听感与处境句：85秒；同桌事实边界核查：55秒；作者修订、分享和转场：110秒
【现场分支】
笑声表演过火：立刻收低音量，读原句而不扮演恶意，让三秒沉默承担体验。
扩大为所有家人：改回诗中明确的兄弟；更广支持缺失只能标为处境推断。
要求私人分享：取消，始终只谈作品或第三人称处境，不采集家庭经历。
【听者同步任务】
听外声、沉默与内声的空间变化；核查判断是否越过兄弟、不知、笑和躬自悼的证据。
【证据位置】
05E C504区
【回到人物和故事】
男子粗暴之外，兄弟也没有接住她；外面的笑声散去，她只能静下来独自思量、为自己悲伤
【后续真实调用】
C505重建外部劳作—粗暴—笑声—自悼的推进；全文第二问和第三问分别读取支持缺失的表现与退出困难
【自然切页句】
早起晚睡、男子粗暴、兄弟笑过，最后她独自思量。现在撤去局部场景，把这五句讲回同一段生活。
【声明边界】桌面排演稿；不声称真实学生已经理解、参与或学会。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【V6.3页ID】C505｜把第五章讲成一间屋子里的许多年｜5分钟
【本页不可替代的意义】
完整重读后撤去全部支架，用一段生活旁白把多年日常、行为反差、外部笑声和内心自悼连起来，并写入第五格
【删除本页会失去什么】
没有撤答整章重建，前四页仍会散成时间活动、警告分析和声场体验，学生不能形成第五章连续生活
【相邻合并测试】
不能并入C504：C504仍在两句声场中体验支持缺失，本页切换为全支架撤除和章内、跨章重建
【教师逐字稿】
第五章已经逐句走过。请完整重读一遍：夙兴到夜寐不要读成赞美，既遂到暴不要补具体伤害，兄弟的笑声之后留出一点沉默。（读完。）现在合上教材，把所有学习卡翻到背面，同桌互看桌面没有原诗，我按B键熄暗屏幕。用四十秒讲三层：她怎样过日子；男子怎样变化；外面的声音散去，谁留下。听者只报一个真正断点，没有就说完整。交换。（等待。）讲述者只开教材找到遗漏句，立刻合书补说。现在只翻回05E，在故事轨道第五格写自己的自然章意。我们听两条。（引用并修事实边界。）多年日常没有换来尊重，男子粗暴，兄弟不解，她最后独自思量。第六章，她会把今天的处境与早年的偕老、言笑和信誓放在一起核验。
【场面与走位】
屏幕先供完整重读，随后合书、翻背全部材料并熄屏；检索后只开教材定位，最后恢复05E写第五格。
（完整重读第五章）
（合书并翻背全部材料）
（同桌互查桌面）
（按B键熄屏）
（双方各讲四十秒）
（只开教材定位后合书补说）
（写故事轨道第五格）
【时间盒】
完整重读第五章：50秒；撤去教材材料和投影：35秒；双方四十秒旁白：95秒；听者补缺与返诗补说：45秒；写第五格、分享和转场：75秒
【现场分支】
只报悲惨勤劳等标签：改成谁做什么、谁怎样变化、外面的声音之后谁独自留下。
扩大暴或家人范围：退回粗暴、兄弟不知而笑的原文范围，不补具体伤害和全部家人。
听者代讲：只报断点位置，把回诗和补说权还给讲述者。
【听者同步任务】
只核对日常、男子变化、外声与内心三层是否连成生活，不代讲章意。
【证据位置】
05E C505区和故事轨道第五格
【回到人物和故事】
女子多年承担家务、早起晚睡；男子如愿后转粗暴，兄弟不理解而笑，最后只剩她静思自悼
【后续真实调用】
第六章C601从第五格进入回望盟誓；全文第一问读取六章轨道，第二问读取生活负担、关系伤害和支持缺失
【自然切页句】
第五格只剩她静下来思量。第六章，她将把现在与少年言笑、偕老愿望和当初的信誓一一放回眼前。
【声明边界】桌面排演稿；不声称真实学生已经理解、参与或学会。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0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241F"/>
          </a:solidFill>
          <a:ln w="12700">
            <a:solidFill>
              <a:srgbClr val="2924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347472"/>
            <a:ext cx="9464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第五章｜谁在忙碌，谁的声音从外面传来？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9857232" y="457200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50" b="1" dirty="0">
                <a:solidFill>
                  <a:srgbClr val="9C45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第五章　5 / 6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804672" y="1078992"/>
            <a:ext cx="10579608" cy="4251960"/>
          </a:xfrm>
          <a:prstGeom prst="roundRect">
            <a:avLst>
              <a:gd name="adj" fmla="val 1075"/>
            </a:avLst>
          </a:prstGeom>
          <a:solidFill>
            <a:srgbClr val="FFFCF7"/>
          </a:solidFill>
          <a:ln w="13335">
            <a:solidFill>
              <a:srgbClr val="E5DAC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1371600"/>
            <a:ext cx="1008583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50" b="1" dirty="0">
                <a:solidFill>
                  <a:srgbClr val="AC8550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三岁为妇，靡室劳矣。</a:t>
            </a:r>
            <a:endParaRPr lang="en-US" sz="3150" dirty="0"/>
          </a:p>
        </p:txBody>
      </p:sp>
      <p:sp>
        <p:nvSpPr>
          <p:cNvPr id="7" name="Text 5"/>
          <p:cNvSpPr/>
          <p:nvPr/>
        </p:nvSpPr>
        <p:spPr>
          <a:xfrm>
            <a:off x="1051560" y="2029968"/>
            <a:ext cx="1008583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50" b="1" dirty="0">
                <a:solidFill>
                  <a:srgbClr val="AC8550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夙兴夜寐，靡有朝矣。</a:t>
            </a:r>
            <a:endParaRPr lang="en-US" sz="3150" dirty="0"/>
          </a:p>
        </p:txBody>
      </p:sp>
      <p:sp>
        <p:nvSpPr>
          <p:cNvPr id="8" name="Text 6"/>
          <p:cNvSpPr/>
          <p:nvPr/>
        </p:nvSpPr>
        <p:spPr>
          <a:xfrm>
            <a:off x="1051560" y="2688336"/>
            <a:ext cx="1008583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5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言既遂矣，至于暴矣。</a:t>
            </a:r>
            <a:endParaRPr lang="en-US" sz="3150" dirty="0"/>
          </a:p>
        </p:txBody>
      </p:sp>
      <p:sp>
        <p:nvSpPr>
          <p:cNvPr id="9" name="Text 7"/>
          <p:cNvSpPr/>
          <p:nvPr/>
        </p:nvSpPr>
        <p:spPr>
          <a:xfrm>
            <a:off x="1051560" y="3346704"/>
            <a:ext cx="1008583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5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兄弟不知，咥其笑矣。</a:t>
            </a:r>
            <a:endParaRPr lang="en-US" sz="3150" dirty="0"/>
          </a:p>
        </p:txBody>
      </p:sp>
      <p:sp>
        <p:nvSpPr>
          <p:cNvPr id="10" name="Text 8"/>
          <p:cNvSpPr/>
          <p:nvPr/>
        </p:nvSpPr>
        <p:spPr>
          <a:xfrm>
            <a:off x="1051560" y="4005072"/>
            <a:ext cx="1008583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5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静言思之，躬自悼矣。</a:t>
            </a:r>
            <a:endParaRPr lang="en-US" sz="3150" dirty="0"/>
          </a:p>
        </p:txBody>
      </p:sp>
      <p:sp>
        <p:nvSpPr>
          <p:cNvPr id="11" name="Text 9"/>
          <p:cNvSpPr/>
          <p:nvPr/>
        </p:nvSpPr>
        <p:spPr>
          <a:xfrm>
            <a:off x="3995928" y="5559552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50" b="1" dirty="0">
                <a:solidFill>
                  <a:srgbClr val="766D6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读完以后，只留下两处原文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1234440" y="5925312"/>
            <a:ext cx="97200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7551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一个反复的生活动作　｜　声音转向内心的原句</a:t>
            </a:r>
            <a:endParaRPr lang="en-US" sz="2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0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241F"/>
          </a:solidFill>
          <a:ln w="12700">
            <a:solidFill>
              <a:srgbClr val="2924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347472"/>
            <a:ext cx="9464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三岁为妇｜夙兴夜寐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9857232" y="457200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50" b="1" dirty="0">
                <a:solidFill>
                  <a:srgbClr val="9C45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第五章　5 / 6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804672" y="1234440"/>
            <a:ext cx="5138928" cy="1938528"/>
          </a:xfrm>
          <a:prstGeom prst="roundRect">
            <a:avLst>
              <a:gd name="adj" fmla="val 2358"/>
            </a:avLst>
          </a:prstGeom>
          <a:solidFill>
            <a:srgbClr val="EFE4D2"/>
          </a:solidFill>
          <a:ln w="13335">
            <a:solidFill>
              <a:srgbClr val="AC85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36208" y="1234440"/>
            <a:ext cx="5138928" cy="1938528"/>
          </a:xfrm>
          <a:prstGeom prst="roundRect">
            <a:avLst>
              <a:gd name="adj" fmla="val 2358"/>
            </a:avLst>
          </a:prstGeom>
          <a:solidFill>
            <a:srgbClr val="EADDE1"/>
          </a:solidFill>
          <a:ln w="13335">
            <a:solidFill>
              <a:srgbClr val="7551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847088"/>
            <a:ext cx="4846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三岁为妇，靡室劳矣。</a:t>
            </a:r>
            <a:endParaRPr lang="en-US" sz="3100" dirty="0"/>
          </a:p>
        </p:txBody>
      </p:sp>
      <p:sp>
        <p:nvSpPr>
          <p:cNvPr id="8" name="Text 6"/>
          <p:cNvSpPr/>
          <p:nvPr/>
        </p:nvSpPr>
        <p:spPr>
          <a:xfrm>
            <a:off x="6391656" y="1847088"/>
            <a:ext cx="4846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夙兴夜寐，靡有朝矣。</a:t>
            </a:r>
            <a:endParaRPr lang="en-US" sz="3100" dirty="0"/>
          </a:p>
        </p:txBody>
      </p:sp>
      <p:sp>
        <p:nvSpPr>
          <p:cNvPr id="9" name="Text 7"/>
          <p:cNvSpPr/>
          <p:nvPr/>
        </p:nvSpPr>
        <p:spPr>
          <a:xfrm>
            <a:off x="932688" y="3493008"/>
            <a:ext cx="4956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C855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靡：没有　室劳：家务劳动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080760" y="3493008"/>
            <a:ext cx="5285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50" b="1" dirty="0">
                <a:solidFill>
                  <a:srgbClr val="7551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夙：早　兴：起身　夜寐：晚睡　朝：一日</a:t>
            </a:r>
            <a:endParaRPr lang="en-US" sz="2150" dirty="0"/>
          </a:p>
        </p:txBody>
      </p:sp>
      <p:sp>
        <p:nvSpPr>
          <p:cNvPr id="11" name="Text 9"/>
          <p:cNvSpPr/>
          <p:nvPr/>
        </p:nvSpPr>
        <p:spPr>
          <a:xfrm>
            <a:off x="868680" y="4480560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AC8550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一天从哪里开始，到哪里结束？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6236208" y="4480560"/>
            <a:ext cx="5074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7551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哪个字让它不只发生一天？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2487168" y="5541264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5148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让‘夙兴—夜寐’在教室里拉开一次</a:t>
            </a:r>
            <a:endParaRPr lang="en-US" sz="2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82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5515E"/>
          </a:solidFill>
          <a:ln w="12700">
            <a:solidFill>
              <a:srgbClr val="7551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347472"/>
            <a:ext cx="9464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言既遂矣，至于暴矣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9857232" y="457200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50" b="1" dirty="0">
                <a:solidFill>
                  <a:srgbClr val="F6F0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第五章　5 / 6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841248" y="1207008"/>
            <a:ext cx="10506456" cy="1152144"/>
          </a:xfrm>
          <a:prstGeom prst="roundRect">
            <a:avLst>
              <a:gd name="adj" fmla="val 3968"/>
            </a:avLst>
          </a:prstGeom>
          <a:solidFill>
            <a:srgbClr val="3C3130"/>
          </a:solidFill>
          <a:ln w="13335">
            <a:solidFill>
              <a:srgbClr val="9C453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1536192"/>
            <a:ext cx="99029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0DDD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言既遂矣，至于暴矣。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2423160" y="2724912"/>
            <a:ext cx="7342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E5DAC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既遂：愿望已经满足　｜　暴：粗暴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777240" y="3675888"/>
            <a:ext cx="3429000" cy="987552"/>
          </a:xfrm>
          <a:prstGeom prst="roundRect">
            <a:avLst>
              <a:gd name="adj" fmla="val 4630"/>
            </a:avLst>
          </a:prstGeom>
          <a:solidFill>
            <a:srgbClr val="38312A"/>
          </a:solidFill>
          <a:ln w="13335">
            <a:solidFill>
              <a:srgbClr val="64775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6968" y="3977640"/>
            <a:ext cx="32095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氓之蚩蚩</a:t>
            </a:r>
            <a:endParaRPr lang="en-US" sz="2500" dirty="0"/>
          </a:p>
        </p:txBody>
      </p:sp>
      <p:sp>
        <p:nvSpPr>
          <p:cNvPr id="10" name="Shape 8"/>
          <p:cNvSpPr/>
          <p:nvPr/>
        </p:nvSpPr>
        <p:spPr>
          <a:xfrm>
            <a:off x="4562856" y="3675888"/>
            <a:ext cx="3429000" cy="987552"/>
          </a:xfrm>
          <a:prstGeom prst="roundRect">
            <a:avLst>
              <a:gd name="adj" fmla="val 4630"/>
            </a:avLst>
          </a:prstGeom>
          <a:solidFill>
            <a:srgbClr val="38312A"/>
          </a:solidFill>
          <a:ln w="13335">
            <a:solidFill>
              <a:srgbClr val="AC85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72584" y="3977640"/>
            <a:ext cx="32095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匪来贸丝，来即我谋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8348472" y="3675888"/>
            <a:ext cx="3429000" cy="987552"/>
          </a:xfrm>
          <a:prstGeom prst="roundRect">
            <a:avLst>
              <a:gd name="adj" fmla="val 4630"/>
            </a:avLst>
          </a:prstGeom>
          <a:solidFill>
            <a:srgbClr val="38312A"/>
          </a:solidFill>
          <a:ln w="13335">
            <a:solidFill>
              <a:srgbClr val="7551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58200" y="3977640"/>
            <a:ext cx="32095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将子无怒</a:t>
            </a:r>
            <a:endParaRPr lang="en-US" sz="2500" dirty="0"/>
          </a:p>
        </p:txBody>
      </p:sp>
      <p:sp>
        <p:nvSpPr>
          <p:cNvPr id="14" name="Text 12"/>
          <p:cNvSpPr/>
          <p:nvPr/>
        </p:nvSpPr>
        <p:spPr>
          <a:xfrm>
            <a:off x="1143000" y="5394960"/>
            <a:ext cx="99029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ADDE1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哪些值得重新看一眼？　哪些仍不足以证明？</a:t>
            </a:r>
            <a:endParaRPr lang="en-US" sz="3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82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5515E"/>
          </a:solidFill>
          <a:ln w="12700">
            <a:solidFill>
              <a:srgbClr val="7551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347472"/>
            <a:ext cx="9464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兄弟不知，咥其笑矣｜静言思之，躬自悼矣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9857232" y="457200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50" b="1" dirty="0">
                <a:solidFill>
                  <a:srgbClr val="F6F0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第五章　5 / 6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1188720" y="1417320"/>
            <a:ext cx="98115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ADDE1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兄弟不知，咥其笑矣。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3749040" y="2240280"/>
            <a:ext cx="4690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50" b="1" dirty="0">
                <a:solidFill>
                  <a:srgbClr val="E5DAC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咥 xì：笑的样子</a:t>
            </a:r>
            <a:endParaRPr lang="en-US" sz="2150" dirty="0"/>
          </a:p>
        </p:txBody>
      </p:sp>
      <p:sp>
        <p:nvSpPr>
          <p:cNvPr id="7" name="Shape 5"/>
          <p:cNvSpPr/>
          <p:nvPr/>
        </p:nvSpPr>
        <p:spPr>
          <a:xfrm>
            <a:off x="2423160" y="3090672"/>
            <a:ext cx="7342632" cy="0"/>
          </a:xfrm>
          <a:prstGeom prst="line">
            <a:avLst/>
          </a:prstGeom>
          <a:noFill/>
          <a:ln w="13970">
            <a:solidFill>
              <a:srgbClr val="766D6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0" y="3822192"/>
            <a:ext cx="98115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静言思之，躬自悼矣。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3749040" y="4681728"/>
            <a:ext cx="4690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50" b="1" dirty="0">
                <a:solidFill>
                  <a:srgbClr val="E5DAC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躬：自身　｜　悼：悲伤</a:t>
            </a:r>
            <a:endParaRPr lang="en-US" sz="2150" dirty="0"/>
          </a:p>
        </p:txBody>
      </p:sp>
      <p:sp>
        <p:nvSpPr>
          <p:cNvPr id="10" name="Text 8"/>
          <p:cNvSpPr/>
          <p:nvPr/>
        </p:nvSpPr>
        <p:spPr>
          <a:xfrm>
            <a:off x="1188720" y="5623560"/>
            <a:ext cx="9811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ADDE1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外面的声音停下以后，她身边还剩下什么？</a:t>
            </a:r>
            <a:endParaRPr lang="en-US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82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5515E"/>
          </a:solidFill>
          <a:ln w="12700">
            <a:solidFill>
              <a:srgbClr val="7551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347472"/>
            <a:ext cx="9464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把第五章讲成一间屋子里的许多年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9857232" y="457200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50" b="1" dirty="0">
                <a:solidFill>
                  <a:srgbClr val="F6F0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第五章　5 / 6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713232" y="1097280"/>
            <a:ext cx="7059168" cy="4700016"/>
          </a:xfrm>
          <a:prstGeom prst="roundRect">
            <a:avLst>
              <a:gd name="adj" fmla="val 973"/>
            </a:avLst>
          </a:prstGeom>
          <a:solidFill>
            <a:srgbClr val="38312A"/>
          </a:solidFill>
          <a:ln w="13335">
            <a:solidFill>
              <a:srgbClr val="7551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0976" y="1472184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三岁为妇，靡室劳矣。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950976" y="2221992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夙兴夜寐，靡有朝矣。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950976" y="2971800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言既遂矣，至于暴矣。</a:t>
            </a:r>
            <a:endParaRPr lang="en-US" sz="2900" dirty="0"/>
          </a:p>
        </p:txBody>
      </p:sp>
      <p:sp>
        <p:nvSpPr>
          <p:cNvPr id="9" name="Text 7"/>
          <p:cNvSpPr/>
          <p:nvPr/>
        </p:nvSpPr>
        <p:spPr>
          <a:xfrm>
            <a:off x="950976" y="3721608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兄弟不知，咥其笑矣。</a:t>
            </a:r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950976" y="4471416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静言思之，躬自悼矣。</a:t>
            </a:r>
            <a:endParaRPr lang="en-US" sz="2900" dirty="0"/>
          </a:p>
        </p:txBody>
      </p:sp>
      <p:sp>
        <p:nvSpPr>
          <p:cNvPr id="11" name="Text 9"/>
          <p:cNvSpPr/>
          <p:nvPr/>
        </p:nvSpPr>
        <p:spPr>
          <a:xfrm>
            <a:off x="8065008" y="1527048"/>
            <a:ext cx="3456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EFE4D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她怎样过日子？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8065008" y="2697480"/>
            <a:ext cx="3456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男子怎样变化？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8065008" y="3822192"/>
            <a:ext cx="345643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EADDE1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外声散去，</a:t>
            </a:r>
            <a:endParaRPr lang="en-US" sz="2500" dirty="0"/>
          </a:p>
          <a:p>
            <a:pPr algn="ctr" indent="0" marL="0">
              <a:buNone/>
            </a:pPr>
            <a:r>
              <a:rPr lang="en-US" sz="2500" b="1" dirty="0">
                <a:solidFill>
                  <a:srgbClr val="EADDE1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谁留下？</a:t>
            </a:r>
            <a:endParaRPr lang="en-US" sz="2500" dirty="0"/>
          </a:p>
        </p:txBody>
      </p:sp>
      <p:sp>
        <p:nvSpPr>
          <p:cNvPr id="14" name="Text 12"/>
          <p:cNvSpPr/>
          <p:nvPr/>
        </p:nvSpPr>
        <p:spPr>
          <a:xfrm>
            <a:off x="8065008" y="5166360"/>
            <a:ext cx="3456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5DAC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合书以后，只讲这三层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49808" y="6053328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DDE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故事轨道｜第五格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2926080" y="6272784"/>
            <a:ext cx="7982712" cy="0"/>
          </a:xfrm>
          <a:prstGeom prst="line">
            <a:avLst/>
          </a:prstGeom>
          <a:noFill/>
          <a:ln w="25400">
            <a:solidFill>
              <a:srgbClr val="75515E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erif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《氓》V6.3第五章课堂课件</dc:title>
  <dc:subject>PptxGenJS Presentation</dc:subject>
  <dc:creator>语文备课系统</dc:creator>
  <cp:lastModifiedBy>语文备课系统</cp:lastModifiedBy>
  <cp:revision>1</cp:revision>
  <dcterms:created xsi:type="dcterms:W3CDTF">2026-08-13T17:11:02Z</dcterms:created>
  <dcterms:modified xsi:type="dcterms:W3CDTF">2026-08-13T17:11:02Z</dcterms:modified>
</cp:coreProperties>
</file>
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【V6.3页ID】C601｜第六章｜她把哪些旧事重新放回眼前？｜4分钟
【本页不可替代的意义】
让第六章完整响起，由学生先标一处回到过去的原句和一处真正收束全诗的原句，建立回望—核验—停止的初稿
【删除本页会失去什么】
若没有完整章读，末句会被抽成励志口号，学生看不见停止判断是在回望和核验旧事之后形成
【相邻合并测试】
不能并入C602：整章未知声音必须先于老字解释发生，C602才聚焦一个词的前后回环
【教师逐字稿】
第五章最后，她静下来，只能独自思量。第六章会不会立刻斩断过去？请先不要只等最后一句，让五句完整地走一次。读时听一听：她把哪些旧事重新放回眼前，哪一句才真正把全诗收住。（教师完整范读，学生再低声完整读。）现在才落笔：抄一处回到过去的原句，再抄一处真正收束全诗的原句；在末句旁只留一个你最初听见的声音词，听不准就留问号。同桌只核对是不是原句、时间是否真的回到过去，不替对方命名情绪。（等待。）我们先不把末句叫成觉醒或离开。女子要先重新经过偕老、边界、少年言笑和誓言，结尾才会到来。
【场面与走位】
屏幕只呈现第六章全文和两个读后入口；教师不突出末句，学生落笔前不染色时间层。
（读取第五格）
（教师完整范读）
（学生完整低声读）
（读后才摘过去句和收束句）
（同桌只核对来源与时间）
（学生亲自修订）
【时间盒】
承接第五格：25秒；教师和学生完整读章：90秒；个人两项初稿：60秒；同桌来源核对和修订：40秒；引用原句与转场：25秒
【现场分支】
只等亦已焉哉：先抄一处更早的旧事句，让停止之前的核验过程保留下来。
直接写已经离开：退回原句，只写收束声音；是否实际离开待C605区分。
情绪词互相不同：保留疲惫、怨、清醒等不同初听，不以投票选唯一。
【听者同步任务】
只核对原句和时间位置，不替同伴给末句定性。
【证据位置】
06F C601区
【回到人物和故事】
独自思量以后，女子重新看向偕老愿望、少年欢笑与当初誓言，核验它们如何走到今天
【后续真实调用】
C602读取偕老句，C603读取边界句，C604读取旧事，C605读取结尾声音，C606整章重建
【自然切页句】
先看第一个回环：同一个‘老’字，一边是愿望，一边为什么成了怨？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【V6.3页ID】C602｜及尔偕老｜老使我怨｜5分钟
【本页不可替代的意义】
借两人接读同一个老字，让学生用停顿和重音亲耳发现同词在两个时间层中意义翻转
【删除本页会失去什么】
删除会让首句只剩译文，学生无法从同词回环体验愿望如何在现实中反折，也削弱下一句无边之感
【相邻合并测试】
不能并入C603：本页核心是同词声音翻转，下一页核心是两种解释比较；需要不同证据状态
【教师逐字稿】
先把句子说成自然话。及是同、跟；偕老是共同到老。现在两人一组，一人读‘及尔偕老’，另一人紧接‘老使我怨’。两人的声音必须在同一个‘老’字上交接，交换再来一次。听的人闭眼，只写：第一个老落在怎样的生活愿望里，第二个老落在怎样的现实感受里。（等待对读。）读者只根据反馈改一次停顿或重音，不需要哭腔。我们听一组第二遍。同一个字没有变，时间和生活却变了：曾经盼共同到老，如今想到这样的未来，老去只会使她怨。诗不是另起一句说失望，而让旧愿从同一个字里折回来。
【场面与走位】
屏幕把原句在老字处形成铰链；两名学生以同一个字交接，听者闭眼定位愿望与现实。
（个人自然口译）
（教师校准及与偕老）
（双人以老字接读）
（交换角色再读）
（听者写两层生活）
（读者只改一次）
（呈现一组第二遍）
【时间盒】
口译与词义：60秒；两轮接读：70秒；听者写两层生活：55秒；单点改读和抽样：65秒；后置归纳与转场：50秒
【现场分支】
只说都是年老：保留字面，再补前半的愿望语气和后半的怨意语境。
表演过度：收回哭腔，只改老字前后的一处停顿或重音。
没有听出翻转：分别把偕老和怨按住再读，听者只定位两个词的方向。
【听者同步任务】
只听同一老字前后的愿望与现实是否转折，不示范标准读法。
【证据位置】
06F C602区
【回到人物和故事】
她曾想与他共同到老，如今想到这样的未来，首先升起的却是怨
【后续真实调用】
C603比较有岸/有泮反衬的是心意无常还是怨苦无边；C606重建章意
【自然切页句】
愿望与怨已经撞在一起。下一句忽然说淇水有岸、低湿地有边——究竟在反衬什么没有边？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【V6.3页ID】C603｜淇则有岸，隰则有泮｜6分钟
【本页不可替代的意义】
用两条竞争解释在全班证据席中比较它们各自怎样接前后文，允许学生排序而不封唯一答案
【删除本页会失去什么】
删除会把有岸有泮变成孤立译文或现代口号，学生既不知道两种教材解释，也不能学习如何比较多义诗句
【相邻合并测试】
不能并入C602：本页需要个人双解释和小组证据比较，时间与社会结构均不同于同词对读
【教师逐字稿】
先把字面说准：隰读xí，是低湿的地方；泮读pàn，同畔，是边、岸。淇水有岸，低湿地有边。请先独立写一种可能：诗为什么在偕老与怨之后忽然说自然有界？你的解释要接回前一句或后面的回忆。（等待首解。）四人组轮流只读自己的解释和所接原句；听到不同想法，再补第二种。组内不要投票，把两种解释分别问清：它靠哪个词，怎样接前后文？最后每个人给更能说服自己的一个轻轻加圈，也可以并列，但要写保留理由。（等待。）教材允许两种理解：可反衬男子心意无常、没有限制；也可反衬女子若偕老将产生无边怨苦。它们不是随意猜测，都要经过全章语境。这里不要直接改写成现代口号‘做人要有边界’；先让诗自己的怨、反与信誓说话。
【场面与走位】
屏幕只显示原句、词义和开放问题；学生先个人写，四人组交流时屏幕不出现两种成品解释，教师最后才归纳。
（个人字面口译）
（教师校音释义）
（个人写第一种解释）
（四人轮读证据）
（每人补第二种解释）
（个人排序或并列）
（教师后置多解）
【时间盒】
口译与词义：55秒；个人第一种解释：75秒；四人证据轮读：85秒；个人补解和排序：70秒；公开两种衔接：35秒；教师后置归纳：40秒
【现场分支】
直接写现代边界：追问原句在偕老、怨和后文誓言之间怎样衔接，先恢复诗内意义。
只有一种解释：先保留，听见同伴或教师后再补第二种，不要求假装认同。
用人数判对错：取消表决，只比较各自接哪一句、靠哪个词。
【听者同步任务】
只追问解释的前后文落点和原词，不替全班选唯一答案。
【证据位置】
06F C603区
【回到人物和故事】
女子看见自然万物都有边界，却感到人的反复或自己的怨苦仿佛没有边
【后续真实调用】
C606允许旁白保留所选解释；全文知识收纳将本句作为多义比兴/反衬示例
【自然切页句】
自然边界之后，时间突然退回少年。她为什么在最痛的时候，还把当初的言笑和信誓完整地记起？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【V6.3页ID】C604｜总角之宴｜信誓旦旦｜6分钟
【本页不可替代的意义】
借‘旧日相册—今日核验’双栏，让学生保存一份真实美好，同时用后文事实说明它不能替后来的行为免责
【删除本页会失去什么】
删除会使结尾变成忘掉过去才能停止，或把美好回忆变成继续承受的理由，失去全诗复杂真实
【相邻合并测试】
不能并入C605：本页必须先保存旧日经验并完成行为核验，下一页才有资格读停止判断及其声音
【教师逐字稿】
先把词说准：总角是少年时代；宴是欢乐；晏晏是和悦的样子；旦旦是诚恳的样子；反是违背。现在把纸分成两栏：左边只写她确实记住了什么，右边只写今天核验出了什么行为事实。不要先判断当初内心是真是假。（等待。）同桌交换，各找一种越界：如果写‘过去全是假的’，问言笑晏晏在叙述者记忆里是否真实；如果写‘曾经美好，所以还应该坚持’，问不思其反能否被过去抵消。作者自己改成一句能同时容纳两件真的话。（等待。）我们听两句。她保存少年欢乐和当初信誓，也确认后来行为违背。共同记忆可以解释为什么难以割舍，却不能替失信免责。正因为她记得信誓旦旦，‘反’才如此清楚。
【场面与走位】
屏幕左右为旧日相册和今日核验；学生个人先写，教师不讨论男子当初主观真伪，只守经验与行为事实。
（个人口译两句）
（教师校词）
（个人完成旧日/今日双栏）
（同桌圈两类越界词）
（作者写双真相句）
（公开听两句）
（教师后置责任边界）
【时间盒】
口译与词义：70秒；个人双栏：85秒；同桌越界核查：55秒；作者修订：55秒；公开抽样与归纳：65秒；转场：30秒
【现场分支】
断言过去全假：把主观动机改为叙述者确实保存的言笑晏晏与信誓旦旦。
美好成为继续理由：补回不思其反，区分为何难舍与后来行为责任。
追问当初誓言真假：允许保留问题，诗只提供誓言呈现与后来违背，不直接证明当初心理。
【听者同步任务】
只核查是否抹除真实记忆或用记忆替后来免责，不判断当初动机。
【证据位置】
06F C604区
【回到人物和故事】
她没有删除曾经的欢乐和誓言，正因为记得清楚，后来违背才被看得更清楚
【后续真实调用】
C605以信誓/反/不思回环形成停止判断；全文第三问区分沉没投入与造成伤害
【自然切页句】
旧日没有被删掉，违誓也没有被稀释。最后一句便不再是突然的口号：她把‘反’和‘不思’再说一次，然后说‘亦已焉哉’。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【V6.3页ID】C605｜反是不思，亦已焉哉｜7分钟
【本页不可替代的意义】
先从两句重复词读出核验链，再让两种声线完成公开盲听与个人二次选择，最终准确写出停止判断而非补造行动
【删除本页会失去什么】
删除会让结尾事实、声音和伦理边界混为一谈：或只剩励志决绝，或把停止判断误写成已完成离开
【相邻合并测试】
不能并入C604：旧日记忆和违誓核验必须先完成，末句才可进行双声体验与事实边界判断
【教师逐字稿】
把两句并在一起读。圈出回来一次又一次的词：信誓、反、不思。‘是’指这，指誓言；‘已’是止、了结；焉、哉两个语气词连用，加强收束。请先用自然话写清：她经过什么核验，才说到此为止？（等待。）现在做两种声音实验。同一句‘反是不思，亦已焉哉’，第一遍读得疲惫、克制，像把许多话沉下去；第二遍读得清醒、决绝，像判断终于站稳。两人轮换，听者闭眼，只报实际听见什么，以及在已、焉、哉哪处听见；不要评谁最好。（等待双声与改读。）每个人最后可以选择一种，也可以写两种声音先后交叠，再只改一处。最后写边界：诗写出了什么，没有继续写什么。请把‘她已经离家并开始新生活’改回文本：她形成停止这段关系的判断；怎样实际离开、后来怎样生活，诗没有叙述。她的清醒不因现实行动未写而减少，阅读的诚实也不能因我们希望她离开就补写结局。
【场面与走位】
屏幕两句并列；学生先圈回环词和写判断链，双人完成两种声音的盲听，边界写在学习单，不上屏预给。
（并读两句并圈回环词）
（个人写判断形成链）
（双人第一种声线）
（交换第二种声线）
（听者只报听感位置）
（个人选择或融合并改读）
（写诗写/未写边界）
【时间盒】
词义与回环定位：70秒；个人判断链：70秒；双声盲听：100秒；个人改读：55秒；事实边界写作：65秒；分享归纳与转场：60秒
【现场分支】
只读爽快决绝：保留，再试一次疲惫克制，比较已、焉、哉的收束是否多出层次。
只读无力悲伤：保留痛与倦，再回到已的停止义，看判断是否已经形成。
补写实际离开：将事实降回形成停止判断；行动方式和后来生活标为诗未写。
【听者同步任务】
只报实际听见的声音及原词位置，不选择最佳演法；核查停止判断与实际行动是否混淆。
【证据位置】
06F C605区
【回到人物和故事】
回看欢乐与誓言、确认违背之后，她终于说：这段关系到此为止
【后续真实调用】
C606撤答重建第六章与故事轨道终格；全文第一问写到停止判断，第三问讨论停止后可能面对的结构阻力
【自然切页句】
结尾已经逐字走到。现在收起所有局部解释，看看能否从偕老愿望一路讲到亦已焉哉，并把六章故事真正合拢。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【V6.3页ID】C606｜把第六章讲成她最后一次回望｜7分钟
【本页不可替代的意义】
完整重读后撤去全部支架，用四十秒旁白讲清旧愿—旧事—核验—停止，再恢复六张章末卡排成一条母轨道并连说六章
【删除本页会失去什么】
没有撤答重建，第六章仍会散成多义句与朗读活动，全诗也不能从相识迁嫁连续走到停止判断
【相邻合并测试】
不能并入C605：C605在两句支架下完成声音和边界，本页切换为全支架撤除、全章与全诗重建
【教师逐字稿】
第六章已经逐句走过。请完整重读一遍，让老字的反折、自然边界、少年言笑、信誓与末句依次回来。（读完。）现在合上教材，翻背全部学习卡，同桌互看桌面没有原诗，我按B键熄暗屏幕。用四十秒讲三层：旧愿怎样反折；她重新看见什么；最后作出怎样的判断。听者只报一个断点，没有就说完整。交换。（等待。）讲述者只开教材找遗漏句，合书补说。现在翻回06F写第六格。（等待。）接下来恢复真实材料：从个人故事夹中取出第一至第六章六张章末卡，按章序在桌面排成一列。跨课时由每组材料袋收存，下一课课前原组返还；此刻若缺一张，不凭记忆假装齐全，向同桌借读对应章意，在临时便笺补一个替代格。请先自己沿六格低声连说六十秒，再讲给同桌听；听者只指出一个真正断点，没有断点就说出最清楚的一处因果，不制造错误。作者只在有断点时返诗补说。（等待。）谁愿意让全班听一段六章人生？（引用，修事实边界。）她不是忘掉过去才停止，而是把过去与今天一一核验以后，说出亦已焉哉。诗写停止判断，没有写完现实行动。六张卡保持原序，下一页第一问会直接读取这条母轨道。
【场面与走位】
屏幕先供完整重读；第六章检索时撤去教材、全部卡片和投影。完成第六格后，学生从个人故事夹恢复六张章末卡，按一至六章横向排成真实母轨道；屏幕只显示章序，不显示六个假作品框。
（完整重读第六章）
（合书翻背全部材料）
（按B键熄屏）
（双方各讲四十秒）
（返诗定位后合书补说）
（写第六格）
（从故事夹恢复六张章末卡并按序排开）
（个人先沿六格低声连说）
（同桌沿母轨道互讲并按真实断点反馈）
（全班听一段完整作品）
【时间盒】
完整重读：45秒；撤去支架：30秒；双方旁白：90秒；返诗补说：35秒；写第六格：35秒；恢复六张卡并排成母轨道：30秒；个人低声连说与同桌互讲：115秒；真实断点反馈、全班作品与转场：40秒
【现场分支】
只讲末句：从末句往前找它依赖的旧愿、旧事和违誓核验。
把过去全抹掉：补回总角言笑和信誓，它们真实存在但不替后来免责。
写成实际离开：改回形成停止判断；现实行动未写。
章末卡缺失：借同桌核对对应章意，在临时便笺补一个替代格；课后再补齐个人故事夹。
【听者同步任务】
先核对旧愿、旧事、核验、停止是否连成过程；六章互讲时只报一个真实断点或最清楚的因果，并检查是否越过实际行动边界。
【证据位置】
06F C606区、按序排开的六张章末卡、临时缺卡便笺和六章连讲
【回到人物和故事】
她把曾经的偕老、言笑和信誓一一看清，在违誓事实前作出到此为止的判断
【后续真实调用】
全文S01直接读取桌面六章母轨道回答经历；S02/S03读取生活与责任证据；末句边界贯穿现实讨论
【自然切页句】
六张卡保持原序。下一页先沿这条人生轨道回答：她经历了什么？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第六章｜她把哪些旧事重新放回眼前？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79608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371600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51560" y="2029968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51560" y="2688336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051560" y="3346704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051560" y="4005072"/>
            <a:ext cx="10085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反是不思，亦已焉哉。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995928" y="55595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66D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读完以后，只留下两处原文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371600" y="5925312"/>
            <a:ext cx="9445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一处回到过去　｜　一处真正收束全诗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及尔偕老｜老使我怨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41248" y="1298448"/>
            <a:ext cx="5230368" cy="1975104"/>
          </a:xfrm>
          <a:prstGeom prst="roundRect">
            <a:avLst>
              <a:gd name="adj" fmla="val 2315"/>
            </a:avLst>
          </a:prstGeom>
          <a:solidFill>
            <a:srgbClr val="333A3D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44768" y="1298448"/>
            <a:ext cx="5230368" cy="1975104"/>
          </a:xfrm>
          <a:prstGeom prst="roundRect">
            <a:avLst>
              <a:gd name="adj" fmla="val 2315"/>
            </a:avLst>
          </a:prstGeom>
          <a:solidFill>
            <a:srgbClr val="3D3134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89280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382512" y="189280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老使我怨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43200" y="3867912"/>
            <a:ext cx="670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及：同、跟　｜　偕老：共同到老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4800600"/>
            <a:ext cx="9902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同一个‘老’，前后两次落在怎样不同的生活里？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36392" y="5696712"/>
            <a:ext cx="5916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让两个声音在这个字上交接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1280160"/>
          </a:xfrm>
          <a:prstGeom prst="roundRect">
            <a:avLst>
              <a:gd name="adj" fmla="val 3571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618488"/>
            <a:ext cx="9848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1828800" y="2907792"/>
            <a:ext cx="8531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隰 xí：低湿的地方　｜　泮 pàn：同‘畔’，边、岸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3950208"/>
            <a:ext cx="9902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7551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为什么在‘偕老／怨’之后，忽然写淇与隰的岸和泮？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828800" y="4882896"/>
            <a:ext cx="8531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它怎样接前句，也怎样照见后文？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总角之宴｜信誓旦旦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5257800" cy="3337560"/>
          </a:xfrm>
          <a:prstGeom prst="roundRect">
            <a:avLst>
              <a:gd name="adj" fmla="val 1370"/>
            </a:avLst>
          </a:prstGeom>
          <a:solidFill>
            <a:srgbClr val="333A31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53912" y="1234440"/>
            <a:ext cx="5257800" cy="3337560"/>
          </a:xfrm>
          <a:prstGeom prst="roundRect">
            <a:avLst>
              <a:gd name="adj" fmla="val 1370"/>
            </a:avLst>
          </a:prstGeom>
          <a:solidFill>
            <a:srgbClr val="3D3330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54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E7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她记住的旧日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2331720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428232" y="1554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E4D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如今再看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09360" y="2331720"/>
            <a:ext cx="4946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05840" y="5029200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总角：少年　宴：欢乐　晏晏：和悦　｜　旦旦：诚恳　反：违背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1920240" y="5696712"/>
            <a:ext cx="8348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记忆是真的；后来什么也是真的？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9808" y="1261872"/>
            <a:ext cx="5330952" cy="2148840"/>
          </a:xfrm>
          <a:prstGeom prst="roundRect">
            <a:avLst>
              <a:gd name="adj" fmla="val 2128"/>
            </a:avLst>
          </a:prstGeom>
          <a:solidFill>
            <a:srgbClr val="343A3C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1261872"/>
            <a:ext cx="5257800" cy="2148840"/>
          </a:xfrm>
          <a:prstGeom prst="roundRect">
            <a:avLst>
              <a:gd name="adj" fmla="val 2128"/>
            </a:avLst>
          </a:prstGeom>
          <a:solidFill>
            <a:srgbClr val="3D3134"/>
          </a:solidFill>
          <a:ln w="13335">
            <a:solidFill>
              <a:srgbClr val="7551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75104"/>
            <a:ext cx="4965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355080" y="197510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51560" y="3904488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是：这，指誓言　｜　已：止、了结　｜　焉、哉：连用加强收束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472744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哪些词一再回来？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336792" y="472744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再把末句读成两种声音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108960" y="5641848"/>
            <a:ext cx="5971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你分别听见什么？</a:t>
            </a:r>
            <a:endParaRPr lang="en-US" sz="2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把第六章讲成她最后一次回望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　6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59168" cy="4700016"/>
          </a:xfrm>
          <a:prstGeom prst="roundRect">
            <a:avLst>
              <a:gd name="adj" fmla="val 973"/>
            </a:avLst>
          </a:prstGeom>
          <a:solidFill>
            <a:srgbClr val="38312A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72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50976" y="2221992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50976" y="2971800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50976" y="3721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50976" y="4471416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065008" y="15270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旧愿怎样反折？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065008" y="269748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她重新看见什么？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065008" y="3822192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最后作出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EADDE1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怎样的判断？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065008" y="516636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DAC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合书以后，只讲这三层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" y="605332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E9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故事轨道｜第六格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6272784"/>
            <a:ext cx="7982712" cy="0"/>
          </a:xfrm>
          <a:prstGeom prst="line">
            <a:avLst/>
          </a:prstGeom>
          <a:noFill/>
          <a:ln w="25400">
            <a:solidFill>
              <a:srgbClr val="456F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5989320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→　第二章　→　第三章　→　第四章　→　第五章　→　第六章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《氓》V6.3第六章课堂课件</dc:title>
  <dc:subject>PptxGenJS Presentation</dc:subject>
  <dc:creator>语文备课系统</dc:creator>
  <cp:lastModifiedBy>语文备课系统</cp:lastModifiedBy>
  <cp:revision>1</cp:revision>
  <dcterms:created xsi:type="dcterms:W3CDTF">2026-08-13T17:11:02Z</dcterms:created>
  <dcterms:modified xsi:type="dcterms:W3CDTF">2026-08-13T17:11:02Z</dcterms:modified>
</cp:coreProperties>
</file>
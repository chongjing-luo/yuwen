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【模块课件】M1-P1｜母版P2
【页码与模块】P2｜模块一·从旧故事走进初见
【连续课堂剧本】
【承接上一页】教师站在屏幕侧面，让标题和末句静置八秒，不用开场说明淹没诗句。
【教师原话】“先轻声读‘反是不思，亦已焉哉’。你听见的是疲惫、愤怒、清醒，还是暂时说不清？不用证明，只在纸角留下一个词或问号。”
【学生动作与等待】学生静默十秒后落笔；教师不点名检查情绪，只确认每个人拥有进入作品的方式。
【可能回应与接话】如果有人立即说‘觉醒’或‘渣男’，教师回应：“把它保存成猜想；我们要看六章能不能给这个词足够重量。”如果无人落笔，允许写问号。
【可观察证据】一个初始声音词或问号。
【明确切页句】“在走进这个更早的故事前，先从我们已经认识的关系故事出发。”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【模块课件】M1-P2｜母版P3
【页码与模块】P3｜模块一·从旧故事走进初见
【连续课堂剧本】
【承接上一页】教师把封面末句留在黑板右上角，转身指向三部已经学过的作品，不解释它们与《氓》的关系。
【教师原话】“先别回答大道理。三部作品里选你最熟的一部，闭眼三秒，找回一个人物动作、一幅场景或一句原文。想到了，就把作品名轻轻圈住。”
【学生动作与等待】学生静默检索三十秒，只圈选一部作品；教师观察是否人人有入口，不点名检查记忆优劣。
【可能回应与接话】如果学生说‘都忘了’，教师给场景入口：城角等待、反对包办婚姻、娜拉关门；只唤回记忆，不代替学生作判断。
【可观察证据】圈定一部作品，并在记忆中找到一个可说的场景或行动。
【明确切页句】“把那一幕留住。下一页只做一件事：先说发生了什么，再说你怎么看。”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【模块课件】M1-P3｜母版P4
【页码与模块】P4｜模块一·从旧故事走进初见
【连续课堂剧本】
【承接上一页】教师确认学生已经各自选定作品，把屏幕切成‘人物行动/原句’和‘我的判断’两条空线。
【教师原话】“先写上面一行：人物做了什么，或者原文怎么说。写完再碰下面一行：这段关系的幸福或困境，取决于什么？不要把判断写在证据前面。”
【学生动作与等待】学生独立书写四十秒；同桌各用四十秒说完整的‘因为……所以我认为……’，听者只追问一次‘依据在哪里’。
【可能回应与接话】若只有‘真爱、封建、独立’等标签，教师说：“把镜头拉近，哪一个动作让你这样判断？”若证据和判断不相干，请学生保留判断但重新找证据。
【可观察证据】一处人物行动或原句，以及一条由它支撑的关系判断。
【明确切页句】“三部作品不必得出同一个答案。我们只把被作品证明的关系条件带到一起看。”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【模块课件】M1-P4｜母版P5
【页码与模块】P5｜模块一·从旧故事走进初见
【连续课堂剧本】
【承接上一页】教师把刚才学生说出的证据词写在三张便签旁，只保留作品能够支撑的部分。
【教师原话】“看这三句话：真实了解、尊重与行动、平衡支持与边界。它们不是给《氓》准备的答案，只是旧故事留给我们的三个追问。哪一句最需要长期观察，而不能靠一次承诺证明？”
【学生动作与等待】学生先独立选择一句并说明理由，再听两名同学给出不同选择；教师允许分歧，不把三句排成固定优先级。
【可能回应与接话】若学生急着套用到《氓》，教师说：“先把它放在门口；等我们听完当事人的六章叙述，再决定哪些能进入文本。”
【可观察证据】从旧作品提出一个关系条件，同时明确它尚不是《氓》的结论。
【明确切页句】“旧故事已经把问题打开。现在换成《氓》自己的三道问题，让六章原文来决定答案。”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【模块课件】M1-P5｜母版P6
【页码与模块】P6｜模块一·从旧故事走进初见
【连续课堂剧本】
【承接上一页】教师收起旧作品的答案，只留下三个要跟随女子走完六章的问题。
【教师原话】“今天只追着三件事走：她经历了什么，她的日子苦在哪里，这场婚姻为什么走到这一步。现在不必答全，让六章原诗慢慢把答案交给我们。”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【模块课件】M1-P6｜母版P7
【页码与模块】P7｜模块一·从旧故事走进初见
【连续课堂剧本】
【承接上一页】教师收起旧作品的答案，只留下三个要跟随女子走完六章的问题。
【教师原话】“请把这道问题读一遍：她怎样从“送子涉淇”一步步走到“亦已焉哉”？ 写下此刻最朴素的猜想。可以只有几个字，也可以诚实地留下空白。”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【模块课件】M1-P7｜母版P8
【页码与模块】P8｜模块一·从旧故事走进初见
【连续课堂剧本】
【承接上一页】教师收起旧作品的答案，只留下三个要跟随女子走完六章的问题。
【教师原话】“请把这道问题读一遍：她婚后的日子，究竟苦在哪里？ 写下此刻最朴素的猜想。可以只有几个字，也可以诚实地留下空白。”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【模块课件】M1-P8｜母版P9
【页码与模块】P9｜模块一·从旧故事走进初见
【连续课堂剧本】
【承接上一页】教师收起旧作品的答案，只留下三个要跟随女子走完六章的问题。
【教师原话】“请把这道问题读一遍：这场婚姻为什么会走到这一步？谁应为伤害负责？当她说出“亦已焉哉”，还要面对哪些阻力？ 写下此刻最朴素的猜想。可以只有几个字，也可以诚实地留下空白。”
【学生动作与等待】静默读题20秒；独立写下短猜想或问号40秒。总用时1分钟。
【可能回应与接话】如果学生立即给出完整主题，教师回应：“先把这句话保存；六章之后再看它是否经得住原诗。”若一时无话可写，允许留下问号。
【可观察证据】三道问题各有一个初始短句或诚实空白。
【明确切页句】“问题已经在场。现在先完整听她说，不在半路拦住她。”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【模块课件】M1-P9｜母版P10
【页码与模块】P10｜模块一·从旧故事走进初见
【连续课堂剧本】
【承接上一页】教师请学生把笔先放平，只留下耳朵和眼睛。
【教师原话】“这一遍不翻译、不回答三问。只让眼睛跟着诗句走，哪一句真正拉住你，再轻点一下。”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【可观察证据】一次不中断整体接收和一处初读停顿/问号。
【明确切页句】教师不说话，直接无声切到下半首。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【模块课件】M1-P10｜母版P11
【页码与模块】P11｜模块一·从旧故事走进初见
【连续课堂剧本】
【承接上一页】教师请学生把笔先放平，只留下耳朵和眼睛。
【教师原话】“这一遍不翻译、不回答三问。只让眼睛跟着诗句走，哪一句真正拉住你，再轻点一下。”
【学生动作与等待】教师或全班连续朗读本页内容；本页结束只无声切到下一半，不作口头插入。全部读完后静默十五秒。
【可能回应与接话】出现漏读时教师只用手势从自然句首带回；有人急着解释时，教师以手势示意保存。没有停顿点也可写“尚未找到”。
【可观察证据】一次不中断整体接收和一处初读停顿/问号。
【明确切页句】“完整声音先保留下来。现在从必要的出处和节奏支架开始，再进入第一章。”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【模块课件】M1-P11｜母版P12
【页码与模块】P12｜模块一·从旧故事走进初见
【连续课堂剧本】
【承接上一页】全文最后一个字落下后，教师不立即提问，保留十五秒安静，再让屏幕只出现一句空白。
【教师原话】“不要选‘最重要’的一句，只抄刚才真正让你停了一下的那句。下面接着写‘我听见……’‘我看见……’或‘我想问……’。写不出判断也没关系，先保存停顿。”
【学生动作与等待】学生独立抄写并续写一分钟；教师安静巡视，不要求分享私人联想。完成者与同桌只读原句和自己的句首，不互相评价。
【可能回应与接话】若学生说‘没有哪句’，允许写‘尚未找到’并提出一个问号；若直接写‘渣男、恋爱脑、觉醒’，教师只问：“是哪几个字让你先这样猜？”
【可观察证据】一处初读停顿原句，以及一条感受、画面或真实问题。
【明确切页句】“先不解释这处停顿。给这首诗装上三块最小的路标，我们就从第一章开始逐句走。”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【模块课件】M1-P12｜母版P13
【页码与模块】P13｜模块一·从旧故事走进初见
【连续课堂剧本】
【承接上一页】教师把学生的初读停顿保留在学习单上，只给作品补一张足够使用的名片。
【教师原话】“请把三行依次读出来：最早的诗歌总集，三百零五篇；风、雅、颂；《氓》属于《卫风》。最后一行更重要——接下来六章，是谁在回望自己的婚姻经历？”
【学生动作与等待】全班齐读前两行，一名学生回答叙述者；教师用不超过四十秒补充‘风’与地域民歌传统，不展开文学史串讲。
【可能回应与接话】若答‘作者’，教师改问“诗里说‘我’的是谁”；若把《卫风》说成体裁，教师指出它是十五国风之一，够用即止。
【可观察证据】能说出《诗经》305篇、风雅颂、《氓》属《卫风》，并确认女子第一人称回望。
【明确切页句】“知道谁在说，还要听见她怎样说。先用四言节奏把第一章读顺。”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【模块课件】M1-P13｜母版P14
【页码与模块】P14｜模块一·从旧故事走进初见
【连续课堂剧本】
【承接上一页】教师不先讲‘四言为主’的定义，直接用手指沿两组停顿带读。
【教师原话】“听我读一遍：氓之／蚩蚩，抱布／贸丝。第二遍请跟进来。注意‘来即我谋’不要拆成逐字点读，让一句话保持行动。”
【学生动作与等待】教师范读一次，全班齐读一次，同桌互读一次；第二遍尝试不看斜线保持自然语意。
【可能回应与接话】若机械二二停顿切断语意，教师用‘谁—做什么’重新连读；赋、比、兴和反复、叠词此时只听见，不抢先报术语。
【可观察证据】能用四言基本节奏读顺两组诗句，同时保持句意连续。
【明确切页句】“节奏已经能托住句子。再扫清十个容易绊住声音的字，故事就可以开始。”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【模块课件】M1-P14｜母版P15
【页码与模块】P15｜模块一·从旧故事走进初见
【连续课堂剧本】
【承接上一页】教师把全诗难字压缩成四行，只处理读音，不在此处提前解释所有意义。
【教师原话】“我指哪一组，就先自己默读，再一起出声。第一组——愆、将、垝垣；第二组——筮、说、徂。‘说’在这里读tuō，先在旁边写下音，不急着背释义。”
【学生动作与等待】学生先默读十秒，随教师指示分组齐读；两人互查一次，最后教师随机指三词让全班迅速回读。
【可能回应与接话】对‘汤汤、渐、咥、泮’的误读只即时示范并再读，不用惩罚性齐抄；个别学生可在教材旁标拼音。
【可观察证据】十个易错字能在诗句中准确发音，并知道具体释义将在原句处解决。
【明确切页句】“字音不再挡路。现在让第一章完整出现，先看一场关系怎样开始。”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【模块课件】M1-P15｜母版P16
【页码与模块】P16｜模块一·从旧故事走进初见
【连续课堂剧本】
【承接上一页】教师收起文学常识与字音支架，让屏幕只保留第一章的故事位置。
【教师原话】“第一章的标题是‘相识、求婚与婚期’。先不要判断谁好谁坏，只追踪两个人做了什么、说了什么。等五组诗句走完，再回头判断这次接近给你怎样的印象。”
【学生动作与等待】学生翻到第一章，用手指从首句滑到章末，预览人物称谓和对话位置；教师等待十秒。
【可能回应与接话】若有人立即给出‘伪装、恋爱脑、警告信号’，教师说：“把它暂存为猜想；第一次观看只记录行动，全文后再核验。”
【可观察证据】准备以行动顺序进入第一章，并保留而不抢跑现代判断。
【明确切页句】“从‘氓之蚩蚩，抱布贸丝’开始。先让整章声音在场。”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【模块课件】M1-P16｜母版P17
【页码与模块】P17｜模块一·从旧故事走进初见
【连续课堂剧本】
【承接上一页】教师在进入第一章逐句解释前，先让一章完整出现。
【教师原话】“先完整读第一章，遇到人物动作就轻点桌面，遇到声音变化就停半拍。暂时不翻译，也不要求现在讲出章意。”
【学生动作与等待】全班按四言节奏完整朗读一次；学生只在人物动作处轻点桌面，在声音变化处停半拍，不闭书、不提前概括。
【可能回应与接话】若朗读漏行，教师只从自然句首带回；若学生急着解释主题，教师提醒先保存停顿，逐句教学后再形成连续章意。
【可观察证据】一次不中断的章读，以及对本章动作或声音变化的一处初步标记。
【明确切页句】“整章声音已经在场，接下来逐句把行动和意思照亮。”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【模块课件】M1-P17｜母版P18
【页码与模块】P18｜模块一·从旧故事走进初见
【连续课堂剧本】
【承接上一页】教师指向第一章 1/5和累计行动链，不让这句脱离整章。
【教师原话】“先读：‘氓之蚩蚩，抱布贸丝’。谁在做什么？”【等回答后】“用现代汉语说就是：那个人看起来忠厚，抱着布来换丝。 关键词只处理氓 méng：这里指男子；蚩蚩：忠厚的样子；贸：交换。”教师随后补充：“男子以贸丝的姿态出现并接近。”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【可观察证据】准确口译“氓之蚩蚩，抱布贸丝”并指出：男子以贸丝的姿态出现并接近。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【模块课件】M1-P18｜母版P19
【页码与模块】P19｜模块一·从旧故事走进初见
【连续课堂剧本】
【承接上一页】教师指向第一章 2/5和累计行动链，不让这句脱离整章。
【教师原话】“先读：‘匪来贸丝，来即我谋’。谁在做什么？”【等回答后】“译意先不出现；请借关键词把它说完整。 关键词只处理匪：同“非”；即：走近、到；谋：商量，这里指商量婚事。”教师随后补充：“叙述揭开贸丝背后的求婚来意。”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【可观察证据】准确口译“匪来贸丝，来即我谋”并指出：叙述揭开贸丝背后的求婚来意。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【模块课件】M1-P19｜母版P20
【页码与模块】P20｜模块一·从旧故事走进初见
【连续课堂剧本】
【承接上一页】上一页已确认“匪来贸丝，来即我谋”的基本意思，本页只增加一个关键观察。
【教师原话】“请把译意先放下，再读原句。你看见的形式是：“匪……来……”否定转折，使真实目的突然显出。 它怎样改变我们对处境的理解？”教师在学生回应后用边界语收束：“第一次读可以感到主动热烈；全文后再问：间接接近是否也需要更审慎地观察？文本能证明来意有别，不能证明完整人格是有计划伪装。”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表面来意与真实来意有别；Q3 初期信息有限。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【模块课件】M1-P20｜母版P21
【页码与模块】P21｜模块一·从旧故事走进初见
【连续课堂剧本】
【承接上一页】教师指向第一章 3/5和累计行动链，不让这句脱离整章。
【教师原话】“先读：‘送子涉淇，至于顿丘’。谁在做什么？”【等回答后】“用现代汉语说就是：我送你渡过淇水，一直送到顿丘。 关键词只处理涉：渡过；至于：到达。”教师随后补充：“女子把男子送过淇水，送到顿丘。”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【可观察证据】准确口译“送子涉淇，至于顿丘”并指出：女子把男子送过淇水，送到顿丘。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【模块课件】M1-P21｜母版P22
【页码与模块】P22｜模块一·从旧故事走进初见
【连续课堂剧本】
【承接上一页】教师指向第一章 4/5和累计行动链，不让这句脱离整章。
【教师原话】“先读：‘匪我愆期，子无良媒’。谁在做什么？”【等回答后】“用现代汉语说就是：不是我故意拖延，是你没有合适的媒人。 关键词只处理愆 qiān：拖延；良媒：合适的媒人。”教师随后补充：“女子解释未能立即成婚的原因。”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【可观察证据】准确口译“匪我愆期，子无良媒”并指出：女子解释未能立即成婚的原因。
【明确切页句】“这一步已经接回行动链，继续读下一句。”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【模块课件】M1-P22｜母版P23
【页码与模块】P23｜模块一·从旧故事走进初见
【连续课堂剧本】
【承接上一页】教师指向第一章 5/5和累计行动链，不让这句脱离整章。
【教师原话】“先读：‘将子无怒，秋以为期’。谁在做什么？”【等回答后】“译意先不出现；请借关键词把它说完整。 关键词只处理将 qiāng：愿、请；以……为：把……定作。”教师随后补充：“女子安抚对方，同时给出明确婚期。”
【学生动作与等待】学生先独立借注释口译二十秒，再与同桌互查主语、动作和结果；教师只纠正事实、字音和关键古义。
【可能回应与接话】如果误译，教师把句子拆成“谁—做什么—结果”；如果只读译文，要求重新读原句。情绪解释必须晚于基本意思。
【可观察证据】准确口译“将子无怒，秋以为期”并指出：女子安抚对方，同时给出明确婚期。
【明确切页句】“基本意思已经站稳。下一页不重复翻译，只看这句为何写得如此有力量。”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【模块课件】M1-P23｜母版P24
【页码与模块】P24｜模块一·从旧故事走进初见
【连续课堂剧本】
【承接上一页】上一页已确认“将子无怒，秋以为期”的基本意思，本页只增加一个关键观察。
【教师原话】“请把译意先放下，再读原句。你看见的形式是：祈请语气与承诺并置，使关系张力进入声音。 它怎样改变我们对处境的理解？”教师在学生回应后用边界语收束：““无怒”提示男子的愤怒已经进入现场或女子预期，但程度未写明。它是全文后需要重评的模糊细节，不足以反推女子当时已经掌握全部风险。”
【学生动作与等待】学生圈出形成对照、反复、语气或意象的原词，独立写一句“形式使我看见……”，再与同桌交换。
【可能回应与接话】如果只报手法名，追问“哪两个词、使哪个人物时刻更可见”；如果推断过强，教师区分文本事实、合理推断和文本不能证明。
【可观察证据】一条“原词—形式—处境”解释，且不越过边界：Q2 她需要安抚对方情绪；Q3 全文后重评“无怒”。
【明确切页句】“手法不是另一套知识，它已经把人物行动照得更清楚。回到本章继续走。”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【模块课件】M1-P24｜母版P25
【页码与模块】P25｜模块一·从旧故事走进初见
【连续课堂剧本】
【承接上一页】教师把本章讲解暂时停住，只保留活动所需原句和空白。
【教师原话】“从“蚩蚩、贸丝、谋、无怒”中任选两处：只看第一章，你怎样理解男子的接近方式？ 产出只要一张图、一组朗读标记或一句判断，不需要长篇发言。”
【学生动作与等待】学生独立准备六十秒，再同桌或四人组交流两分钟；记录者只写原句依据和一句产出。
【可能回应与接话】若讨论离开原文，教师只问“这来自哪句”；若出现不同答案，先检查证据和推理强度，不强求统一；若涉及私人经历，提醒只谈作品或第三人称案例。
【可观察证据】一份未被预制答案覆盖的学生产出。
【明确切页句】“请先保留你们的版本，下一页才出现共同核对。”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【模块课件】M1-P25｜母版P26
【页码与模块】P26｜模块一·从旧故事走进初见
【连续课堂剧本】
【承接上一页】教师确认学生已经形成个人或小组产出，才切到回收页。
【教师原话】“先别抄屏幕。请用你自己的产出核对：憨厚、主动、热烈、执着，都可能是第一次阅读的真实印象。；“贸丝/谋”“无怒”留下了尚未解释完的细节。；等读完婚后经历，再回来判断这些细节的意义。 哪一点需要修改？”
【学生动作与等待】学生用另一颜色修改一处，二十秒后自愿读出“我保留/修正了……因为……”。
【可能回应与接话】若讨论离开原文，教师只问“这来自哪句”；若出现不同答案，先检查证据和推理强度，不强求统一；若涉及私人经历，提醒只谈作品或第三人称案例。
【可观察证据】一处可见修订和一条有原句依据的阶段结论。
【明确切页句】“活动留下的不是热闹，而是一条可以放回整章的证据。现在完整重读本章。”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【模块课件】M1-P26｜母版P27
【页码与模块】P27｜模块一·从旧故事走进初见
【连续课堂剧本】
【承接上一页】教师把第一章五组诗句重新放回同一页。
【教师原话】“现在完整重读第一章。读完不用列点，请用一口气讲清：接近 → 求婚 → 远送 → 说明条件 → 约定婚期之间怎样连接？”
【学生动作与等待】全班按四言节奏完整重读；学生闭书二十秒，向同桌连续口述章意，听者只补遗漏的行动。
【可能回应与接话】如果口述变成主题标签，教师指向行动链；如果顺序混乱，让学生回到本页逐句寻找。可接受多种情绪，但事件顺序必须准确。
【可观察证据】一次完整章读和一句连续章意：“男子以贸丝为表面来意接近并求婚；女子远送、说明媒妁条件，又在安抚中约定秋期。”
【明确切页句】“这一章的证据先保存，故事继续向下一章走。”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3611880" y="10972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她怎样走到“亦已焉哉”？</a:t>
            </a:r>
            <a:endParaRPr lang="en-US" sz="4300" dirty="0"/>
          </a:p>
        </p:txBody>
      </p:sp>
      <p:sp>
        <p:nvSpPr>
          <p:cNvPr id="7" name="Shape 5"/>
          <p:cNvSpPr/>
          <p:nvPr/>
        </p:nvSpPr>
        <p:spPr>
          <a:xfrm>
            <a:off x="960120" y="3246120"/>
            <a:ext cx="10195560" cy="1325880"/>
          </a:xfrm>
          <a:prstGeom prst="roundRect">
            <a:avLst>
              <a:gd name="adj" fmla="val 4138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3593592"/>
            <a:ext cx="94640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A4413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60120" y="52303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《诗经·卫风》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你记得哪一种关系？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938528"/>
            <a:ext cx="640080" cy="64008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《静女》｜相遇与等待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4413504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0976" y="1938528"/>
            <a:ext cx="640080" cy="64008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9264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《小二黑结婚》｜选择与阻力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004048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1520" y="1938528"/>
            <a:ext cx="640080" cy="64008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9808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《玩偶之家（节选）》｜婚内结构与离开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选择最熟悉的一篇。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从一部作品开始回忆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195560" cy="1234440"/>
          </a:xfrm>
          <a:prstGeom prst="roundRect">
            <a:avLst>
              <a:gd name="adj" fmla="val 4444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372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这段关系的幸福或困境，取决于什么？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10195560" cy="1920240"/>
          </a:xfrm>
          <a:prstGeom prst="roundRect">
            <a:avLst>
              <a:gd name="adj" fmla="val 285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657600"/>
            <a:ext cx="9281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人物行动/原句：________________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我的判断：______________________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三种故事，一道尚未结束的问题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0432" y="1938528"/>
            <a:ext cx="640080" cy="64008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相遇的欣悦，需要真实了解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4413504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D8E7EA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60976" y="1938528"/>
            <a:ext cx="640080" cy="64008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9264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婚姻的选择，需要尊重与行动</a:t>
            </a:r>
            <a:endParaRPr lang="en-US" sz="2900" dirty="0"/>
          </a:p>
        </p:txBody>
      </p:sp>
      <p:sp>
        <p:nvSpPr>
          <p:cNvPr id="13" name="Shape 11"/>
          <p:cNvSpPr/>
          <p:nvPr/>
        </p:nvSpPr>
        <p:spPr>
          <a:xfrm>
            <a:off x="8004048" y="1600200"/>
            <a:ext cx="3334512" cy="3611880"/>
          </a:xfrm>
          <a:prstGeom prst="roundRect">
            <a:avLst>
              <a:gd name="adj" fmla="val 1645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1520" y="1938528"/>
            <a:ext cx="640080" cy="64008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9808" y="2788920"/>
            <a:ext cx="260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共同生活，需要平衡、支持与边界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这些是回忆入口，不是《氓》的预制答案。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8412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带着三个问题走完六章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1801368" y="1828800"/>
            <a:ext cx="1234440" cy="123444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0136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1440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她经历了什么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504688" y="1828800"/>
            <a:ext cx="1234440" cy="1234440"/>
          </a:xfrm>
          <a:prstGeom prst="ellipse">
            <a:avLst/>
          </a:prstGeom>
          <a:solidFill>
            <a:srgbClr val="4D7481"/>
          </a:solidFill>
          <a:ln w="12700">
            <a:solidFill>
              <a:srgbClr val="4D74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她的日子苦在哪里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208008" y="1828800"/>
            <a:ext cx="1234440" cy="1234440"/>
          </a:xfrm>
          <a:prstGeom prst="ellipse">
            <a:avLst/>
          </a:prstGeom>
          <a:solidFill>
            <a:srgbClr val="A44132"/>
          </a:solidFill>
          <a:ln w="12700">
            <a:solidFill>
              <a:srgbClr val="A4413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08008" y="208483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21040" y="318211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这场婚姻为什么走到这一步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先保存问题，六章之后再回答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问题一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她怎样从“送子涉淇”一步步走到“亦已焉哉”？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先写一个不超过15字的猜想；证据可以空着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问题二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0469880" cy="3246120"/>
          </a:xfrm>
          <a:prstGeom prst="roundRect">
            <a:avLst>
              <a:gd name="adj" fmla="val 169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48840"/>
            <a:ext cx="9464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她婚后的日子，究竟苦在哪里？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1097280" y="52303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先写一个不超过15字的猜想；证据可以空着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问题三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谁伤害了她？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3337560" y="16550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诗把哪些行为清楚地写在男子身上？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337560" y="2560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写下此刻最朴素的猜想，也可以留下问号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68680" y="3538728"/>
            <a:ext cx="10469880" cy="1664208"/>
          </a:xfrm>
          <a:prstGeom prst="roundRect">
            <a:avLst>
              <a:gd name="adj" fmla="val 3297"/>
            </a:avLst>
          </a:prstGeom>
          <a:solidFill>
            <a:srgbClr val="EED8D1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721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停止以后呢？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337560" y="368503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她说出“亦已焉哉”，还会面对哪些现实阻力？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337560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写下此刻最朴素的猜想，也可以留下问号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乘彼垝垣，以望复关。不见复关，泣涕涟涟。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既见复关，载笑载言。尔卜尔筮，体无咎言。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桑之未落，其叶沃若。于嗟鸠兮，无食桑葚！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于嗟女兮，无与士耽！士之耽兮，犹可说也。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桑之落矣，其黄而陨。自我徂尔，三岁食贫。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淇水汤汤，渐车帷裳。女也不爽，士贰其行。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401312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82F28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7344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三岁为妇，靡室劳矣。夙兴夜寐，靡有朝矣。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言既遂矣，至于暴矣。兄弟不知，咥其笑矣。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52816" y="1417320"/>
            <a:ext cx="3395472" cy="4526280"/>
          </a:xfrm>
          <a:prstGeom prst="roundRect">
            <a:avLst>
              <a:gd name="adj" fmla="val 1616"/>
            </a:avLst>
          </a:prstGeom>
          <a:solidFill>
            <a:srgbClr val="322A24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8848" y="1755648"/>
            <a:ext cx="28834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及尔偕老，老使我怨。淇则有岸，隰则有泮。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总角之宴，言笑晏晏。信誓旦旦，不思其反。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哪一句把你留了下来？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0241280" cy="3566160"/>
          </a:xfrm>
          <a:prstGeom prst="roundRect">
            <a:avLst>
              <a:gd name="adj" fmla="val 1538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03120"/>
            <a:ext cx="932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抄下一句；写“我听见/我看见/我想问……”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645920" y="3246120"/>
            <a:ext cx="8823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“____________________________”</a:t>
            </a:r>
            <a:endParaRPr lang="en-US" sz="3100" dirty="0"/>
          </a:p>
          <a:p>
            <a:pPr algn="ctr" indent="0" marL="0">
              <a:buNone/>
            </a:pPr>
            <a:r>
              <a:rPr lang="en-US" sz="31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我______________________________</a:t>
            </a:r>
            <a:endParaRPr lang="en-US" sz="3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《诗经》与《卫风》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2412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104644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1595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19072"/>
            <a:ext cx="93268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我国最早的诗歌总集｜305篇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3102864"/>
            <a:ext cx="102412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3607308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6621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221736"/>
            <a:ext cx="93268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风、雅、颂｜《氓》属于《卫风》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4605528"/>
            <a:ext cx="102412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5109972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516483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724400"/>
            <a:ext cx="93268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女子第一人称回望婚姻经历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先借四言节奏走进声音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2412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0574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氓之/蚩蚩，抱布/贸丝。</a:t>
            </a:r>
            <a:endParaRPr lang="en-US" sz="3700" dirty="0"/>
          </a:p>
          <a:p>
            <a:pPr algn="ctr"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匪来/贸丝，来即/我谋。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1143000" y="3886200"/>
            <a:ext cx="9784080" cy="672084"/>
          </a:xfrm>
          <a:prstGeom prst="roundRect">
            <a:avLst>
              <a:gd name="adj" fmla="val 8163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4168" y="4057650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411251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4005072"/>
            <a:ext cx="8869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赋、比、兴到相应诗句再命名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143000" y="4722876"/>
            <a:ext cx="9784080" cy="672084"/>
          </a:xfrm>
          <a:prstGeom prst="roundRect">
            <a:avLst>
              <a:gd name="adj" fmla="val 8163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44168" y="4894326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4168" y="494919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4841748"/>
            <a:ext cx="88696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反复、叠词先在朗读中听见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让字音先通行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1916811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97167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1719072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愆 qiān｜将 qiāng｜垝垣 guǐ yuán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727198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3043809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098673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846070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筮 shì｜说 tuō｜徂 cú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4400" y="3854196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170807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225671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973068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汤汤 shāng shāng｜渐 jiān｜咥 xì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4400" y="4981194"/>
            <a:ext cx="10241280" cy="962406"/>
          </a:xfrm>
          <a:prstGeom prst="roundRect">
            <a:avLst>
              <a:gd name="adj" fmla="val 5701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5297805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5352669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00200" y="5100066"/>
            <a:ext cx="9326880" cy="724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隰 xí｜泮 pàn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故事从一次接近开始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241280" cy="2194560"/>
          </a:xfrm>
          <a:prstGeom prst="roundRect">
            <a:avLst>
              <a:gd name="adj" fmla="val 2500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359152"/>
            <a:ext cx="9601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B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第一章｜相识、求婚与婚期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先看见行动，再判断关系。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第一章｜相识、求婚与婚期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先完整朗读，再逐句照亮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1/5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那个人看起来忠厚，抱着布来换丝。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氓 méng：这里指男子；蚩蚩：忠厚的样子；贸：交换。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2/5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2/5｜读懂关键变化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来即我谋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并非真来换丝，而是来找我商量婚事。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“匪……来……”否定转折，使真实目的突然显出。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第一次读可以感到主动热烈；全文后再问：间接接近是否也需要更审慎地观察？文本能证明来意有别，不能证明完整人格是有计划伪装。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3/5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我送你渡过淇水，一直送到顿丘。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涉：渡过；至于：到达。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4/5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1828800"/>
          </a:xfrm>
          <a:prstGeom prst="roundRect">
            <a:avLst>
              <a:gd name="adj" fmla="val 3000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280160" y="2761488"/>
            <a:ext cx="9646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不是我故意拖延，是你没有合适的媒人。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1097280" y="3657600"/>
            <a:ext cx="10012680" cy="1417320"/>
          </a:xfrm>
          <a:prstGeom prst="roundRect">
            <a:avLst>
              <a:gd name="adj" fmla="val 387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4041648"/>
            <a:ext cx="9281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愆 qiān：拖延；良媒：合适的媒人。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5/5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10469880" cy="3154680"/>
          </a:xfrm>
          <a:prstGeom prst="roundRect">
            <a:avLst>
              <a:gd name="adj" fmla="val 173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47088"/>
            <a:ext cx="9646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1371600" y="3127248"/>
            <a:ext cx="9464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借注释口译：谁在做什么？</a:t>
            </a:r>
            <a:endParaRPr lang="en-US" sz="2900" dirty="0"/>
          </a:p>
        </p:txBody>
      </p:sp>
      <p:sp>
        <p:nvSpPr>
          <p:cNvPr id="10" name="Shape 8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B68B4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 · 5/5｜读懂关键变化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166360" cy="3611880"/>
          </a:xfrm>
          <a:prstGeom prst="roundRect">
            <a:avLst>
              <a:gd name="adj" fmla="val 1519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166420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秋以为期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278892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请你不要生气，就把秋天定作婚期。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1234440" y="37033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祈请语气与承诺并置，使关系张力进入声音。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074920" cy="3611880"/>
          </a:xfrm>
          <a:prstGeom prst="roundRect">
            <a:avLst>
              <a:gd name="adj" fmla="val 1519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8308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这句使我们看见……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395728"/>
            <a:ext cx="43434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“无怒”提示男子的愤怒已经进入现场或女子预期，但程度未写明。它是全文后需要重评的模糊细节，不足以反推女子当时已经掌握全部风险。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13816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944368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074920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48072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205472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EDE3D5"/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说明条件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336024" y="5715000"/>
            <a:ext cx="2057400" cy="475488"/>
          </a:xfrm>
          <a:prstGeom prst="roundRect">
            <a:avLst>
              <a:gd name="adj" fmla="val 7692"/>
            </a:avLst>
          </a:prstGeom>
          <a:solidFill>
            <a:srgbClr val="B68B4C"/>
          </a:solidFill>
          <a:ln w="12700">
            <a:solidFill>
              <a:srgbClr val="B68B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09176" y="58521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约定婚期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10716768" y="320040"/>
            <a:ext cx="804672" cy="310896"/>
          </a:xfrm>
          <a:prstGeom prst="ellipse">
            <a:avLst/>
          </a:prstGeom>
          <a:solidFill>
            <a:srgbClr val="EFE1C5"/>
          </a:solidFill>
          <a:ln w="12700">
            <a:solidFill>
              <a:srgbClr val="EFE1C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11082528" y="493776"/>
            <a:ext cx="566928" cy="228600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第一次看：这些行动给你什么印象？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10469880" cy="1508760"/>
          </a:xfrm>
          <a:prstGeom prst="roundRect">
            <a:avLst>
              <a:gd name="adj" fmla="val 3636"/>
            </a:avLst>
          </a:prstGeom>
          <a:solidFill>
            <a:srgbClr val="FCF8F0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74520"/>
            <a:ext cx="9555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从“蚩蚩、贸丝、谋、无怒”中任选两处：只看第一章，你怎样理解男子的接近方式？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051560" y="3401568"/>
            <a:ext cx="10104120" cy="1965960"/>
          </a:xfrm>
          <a:prstGeom prst="roundRect">
            <a:avLst>
              <a:gd name="adj" fmla="val 2791"/>
            </a:avLst>
          </a:prstGeom>
          <a:solidFill>
            <a:srgbClr val="EFE1C5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858768"/>
            <a:ext cx="9189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原词：__________　我此刻的理解：________________</a:t>
            </a:r>
            <a:endParaRPr lang="en-US" sz="2900" dirty="0"/>
          </a:p>
          <a:p>
            <a:pPr algn="ctr" indent="0" marL="0">
              <a:buNone/>
            </a:pPr>
            <a:r>
              <a:rPr lang="en-US" sz="290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原词：__________　我仍想追问：________________</a:t>
            </a:r>
            <a:endParaRPr lang="en-US" sz="2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1323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先保存第一印象，不急着定性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013204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680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憨厚、主动、热烈、执着，都可能是第一次阅读的真实印象。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68680" y="3011424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FCF8F0"/>
          </a:solidFill>
          <a:ln w="15240">
            <a:solidFill>
              <a:srgbClr val="EBDC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515868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5707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130296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“贸丝/谋”“无怒”留下了尚未解释完的细节。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868680" y="4514088"/>
            <a:ext cx="10469880" cy="1338072"/>
          </a:xfrm>
          <a:prstGeom prst="roundRect">
            <a:avLst>
              <a:gd name="adj" fmla="val 4100"/>
            </a:avLst>
          </a:prstGeom>
          <a:solidFill>
            <a:srgbClr val="EFE1C5"/>
          </a:solidFill>
          <a:ln w="15240">
            <a:solidFill>
              <a:srgbClr val="EFE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5018532"/>
            <a:ext cx="329184" cy="329184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0733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32960"/>
            <a:ext cx="9555480" cy="110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等读完婚后经历，再回来判断这些细节的意义。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05840" y="6016752"/>
            <a:ext cx="10104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先核对自己的产出，再修改一处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9692640" y="320040"/>
            <a:ext cx="1920240" cy="777240"/>
          </a:xfrm>
          <a:prstGeom prst="ellipse">
            <a:avLst/>
          </a:prstGeom>
          <a:solidFill>
            <a:srgbClr val="63744A"/>
          </a:solidFill>
          <a:ln w="12700">
            <a:solidFill>
              <a:srgbClr val="63744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10469880" y="932688"/>
            <a:ext cx="1234440" cy="475488"/>
          </a:xfrm>
          <a:prstGeom prst="ellipse">
            <a:avLst/>
          </a:prstGeom>
          <a:solidFill>
            <a:srgbClr val="B68B4C"/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71632" y="6419088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704088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第一章｜完整重读，连成一句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10469880" cy="3611880"/>
          </a:xfrm>
          <a:prstGeom prst="roundRect">
            <a:avLst>
              <a:gd name="adj" fmla="val 1519"/>
            </a:avLst>
          </a:prstGeom>
          <a:solidFill>
            <a:srgbClr val="332B25"/>
          </a:solidFill>
          <a:ln w="15240">
            <a:solidFill>
              <a:srgbClr val="B68B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56232"/>
            <a:ext cx="9555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氓之蚩蚩，抱布贸丝。匪来贸丝，来即我谋。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送子涉淇，至于顿丘。匪我愆期，子无良媒。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dirty="0">
                <a:solidFill>
                  <a:srgbClr val="F5EBDD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1005840" y="53492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1C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接近 → 求婚 → 远送 → 说明条件 → 约定婚期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《氓》V5模块一：从旧故事走进初见</dc:title>
  <dc:subject>《氓》V5全文逐句教学母版</dc:subject>
  <dc:creator>语文备课系统</dc:creator>
  <cp:lastModifiedBy>语文备课系统</cp:lastModifiedBy>
  <cp:revision>1</cp:revision>
  <dcterms:created xsi:type="dcterms:W3CDTF">2026-08-11T13:56:36Z</dcterms:created>
  <dcterms:modified xsi:type="dcterms:W3CDTF">2026-08-11T13:56:36Z</dcterms:modified>
</cp:coreProperties>
</file>
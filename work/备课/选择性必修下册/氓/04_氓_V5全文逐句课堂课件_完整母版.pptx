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【页码与模块】P1｜完整母版教师索引
【连续课堂剧本】
【承接上一页】本页为隐藏的教师导航页，不进入学生正常放映路径。
【教师原话】“请在备课或续课时选择对应模块入口；实际课堂优先打开五个模块子课件。”
【学生动作与等待】教师在课前点击模块入口或核对母版页码；课堂开始前直接进入封面页。
【可能回应与接话】本页不设计学生回应，也不作为课堂内容；若临时从母版授课，确认跳转后立即进入对应模块。
【可观察证据】教师能够从母版直达五个模块入口。
【明确切页句】教师进入所需模块；若从头授课，切到下一页《氓》封面。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【页码与模块】P2｜模块一·从旧故事走进初见
【连续课堂剧本】
【承接上一页】教师站在屏幕侧面，让标题和末句静置八秒，不用开场说明淹没诗句。
【教师原话】“先轻声读‘反是不思，亦已焉哉’。你听见的是疲惫、愤怒、清醒，还是暂时说不清？不用证明，只在纸角留下一个词或问号。”
【学生动作与等待】学生静默十秒后落笔；教师不点名检查情绪，只确认每个人拥有进入作品的方式。
【可能回应与接话】如果有人立即说‘觉醒’或‘渣男’，教师回应：“把它保存成猜想；我们要看六章能不能给这个词足够重量。”如果无人落笔，允许写问号。
【可观察证据】一个初始声音词或问号。
【明确切页句】“在走进这个更早的故事前，先从我们已经认识的关系故事出发。”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【页码与模块】P3｜模块一·从旧故事走进初见
【连续课堂剧本】
【承接上一页】教师把封面末句留在黑板右上角，转身指向三部已经学过的作品，不解释它们与《氓》的关系。
【教师原话】“先别回答大道理。三部作品里选你最熟的一部，闭眼三秒，找回一个人物动作、一幅场景或一句原文。想到了，就把作品名轻轻圈住。”
【学生动作与等待】学生静默检索三十秒，只圈选一部作品；教师观察是否人人有入口，不点名检查记忆优劣。
【可能回应与接话】如果学生说‘都忘了’，教师给场景入口：城角等待、反对包办婚姻、娜拉关门；只唤回记忆，不代替学生作判断。
【可观察证据】圈定一部作品，并在记忆中找到一个可说的场景或行动。
【明确切页句】“把那一幕留住。下一页只做一件事：先说发生了什么，再说你怎么看。”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【页码与模块】P4｜模块一·从旧故事走进初见
【连续课堂剧本】
【承接上一页】教师确认学生已经各自选定作品，把屏幕切成‘人物行动/原句’和‘我的判断’两条空线。
【教师原话】“先写上面一行：人物做了什么，或者原文怎么说。写完再碰下面一行：这段关系的幸福或困境，取决于什么？不要把判断写在证据前面。”
【学生动作与等待】学生独立书写四十秒；同桌各用四十秒说完整的‘因为……所以我认为……’，听者只追问一次‘依据在哪里’。
【可能回应与接话】若只有‘真爱、封建、独立’等标签，教师说：“把镜头拉近，哪一个动作让你这样判断？”若证据和判断不相干，请学生保留判断但重新找证据。
【可观察证据】一处人物行动或原句，以及一条由它支撑的关系判断。
【明确切页句】“三部作品不必得出同一个答案。我们只把被作品证明的关系条件带到一起看。”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【页码与模块】P5｜模块一·从旧故事走进初见
【连续课堂剧本】
【承接上一页】教师把刚才学生说出的证据词写在三张便签旁，只保留作品能够支撑的部分。
【教师原话】“看这三句话：真实了解、尊重与行动、平衡支持与边界。它们不是给《氓》准备的答案，只是旧故事留给我们的三个追问。哪一句最需要长期观察，而不能靠一次承诺证明？”
【学生动作与等待】学生先独立选择一句并说明理由，再听两名同学给出不同选择；教师允许分歧，不把三句排成固定优先级。
【可能回应与接话】若学生急着套用到《氓》，教师说：“先把它放在门口；等我们听完当事人的六章叙述，再决定哪些能进入文本。”
【可观察证据】从旧作品提出一个关系条件，同时明确它尚不是《氓》的结论。
【明确切页句】“旧故事已经把问题打开。现在换成《氓》自己的三道问题，让六章原文来决定答案。”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【页码与模块】P6｜模块一·从旧故事走进初见
【连续课堂剧本】
【承接上一页】教师收起旧作品的答案，只留下三个要跟随女子走完六章的问题。
【教师原话】“今天只追着三件事走：她经历了什么，她的日子苦在哪里，这场婚姻为什么走到这一步。现在不必答全，让六章原诗慢慢把答案交给我们。”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【页码与模块】P7｜模块一·从旧故事走进初见
【连续课堂剧本】
【承接上一页】教师收起旧作品的答案，只留下三个要跟随女子走完六章的问题。
【教师原话】“请把这道问题读一遍：她怎样从“送子涉淇”一步步走到“亦已焉哉”？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【页码与模块】P8｜模块一·从旧故事走进初见
【连续课堂剧本】
【承接上一页】教师收起旧作品的答案，只留下三个要跟随女子走完六章的问题。
【教师原话】“请把这道问题读一遍：她婚后的日子，究竟苦在哪里？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【页码与模块】P9｜模块一·从旧故事走进初见
【连续课堂剧本】
【承接上一页】教师收起旧作品的答案，只留下三个要跟随女子走完六章的问题。
【教师原话】“请把这道问题读一遍：这场婚姻为什么会走到这一步？谁应为伤害负责？当她说出“亦已焉哉”，还要面对哪些阻力？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【页码与模块】P10｜模块一·从旧故事走进初见
【连续课堂剧本】
【承接上一页】教师请学生把笔先放平，只留下耳朵和眼睛。
【教师原话】“这一遍不翻译、不回答三问。只让眼睛跟着诗句走，哪一句真正拉住你，再轻点一下。”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【可观察证据】一次不中断整体接收和一处初读停顿/问号。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【页码与模块】P11｜模块一·从旧故事走进初见
【连续课堂剧本】
【承接上一页】教师请学生把笔先放平，只留下耳朵和眼睛。
【教师原话】“这一遍不翻译、不回答三问。只让眼睛跟着诗句走，哪一句真正拉住你，再轻点一下。”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【可观察证据】一次不中断整体接收和一处初读停顿/问号。
【明确切页句】“完整声音先保留下来。现在从必要的出处和节奏支架开始，再进入第一章。”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【页码与模块】P12｜模块一·从旧故事走进初见
【连续课堂剧本】
【承接上一页】全文最后一个字落下后，教师不立即提问，保留十五秒安静，再让屏幕只出现一句空白。
【教师原话】“不要选‘最重要’的一句，只抄刚才真正让你停了一下的那句。下面接着写‘我听见……’‘我看见……’或‘我想问……’。写不出判断也没关系，先保存停顿。”
【学生动作与等待】学生独立抄写并续写一分钟；教师安静巡视，不要求分享私人联想。完成者与同桌只读原句和自己的句首，不互相评价。
【可能回应与接话】若学生说‘没有哪句’，允许写‘尚未找到’并提出一个问号；若直接写‘渣男、恋爱脑、觉醒’，教师只问：“是哪几个字让你先这样猜？”
【可观察证据】一处初读停顿原句，以及一条感受、画面或真实问题。
【明确切页句】“先不解释这处停顿。给这首诗装上三块最小的路标，我们就从第一章开始逐句走。”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【页码与模块】P13｜模块一·从旧故事走进初见
【连续课堂剧本】
【承接上一页】教师把学生的初读停顿保留在学习单上，只给作品补一张足够使用的名片。
【教师原话】“请把三行依次读出来：最早的诗歌总集，三百零五篇；风、雅、颂；《氓》属于《卫风》。最后一行更重要——接下来六章，是谁在回望自己的婚姻经历？”
【学生动作与等待】全班齐读前两行，一名学生回答叙述者；教师用不超过四十秒补充‘风’与地域民歌传统，不展开文学史串讲。
【可能回应与接话】若答‘作者’，教师改问“诗里说‘我’的是谁”；若把《卫风》说成体裁，教师指出它是十五国风之一，够用即止。
【可观察证据】能说出《诗经》305篇、风雅颂、《氓》属《卫风》，并确认女子第一人称回望。
【明确切页句】“知道谁在说，还要听见她怎样说。先用四言节奏把第一章读顺。”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【页码与模块】P14｜模块一·从旧故事走进初见
【连续课堂剧本】
【承接上一页】教师不先讲‘四言为主’的定义，直接用手指沿两组停顿带读。
【教师原话】“听我读一遍：氓之／蚩蚩，抱布／贸丝。第二遍请跟进来。注意‘来即我谋’不要拆成逐字点读，让一句话保持行动。”
【学生动作与等待】教师范读一次，全班齐读一次，同桌互读一次；第二遍尝试不看斜线保持自然语意。
【可能回应与接话】若机械二二停顿切断语意，教师用‘谁—做什么’重新连读；赋、比、兴和反复、叠词此时只听见，不抢先报术语。
【可观察证据】能用四言基本节奏读顺两组诗句，同时保持句意连续。
【明确切页句】“节奏已经能托住句子。再扫清十个容易绊住声音的字，故事就可以开始。”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【页码与模块】P15｜模块一·从旧故事走进初见
【连续课堂剧本】
【承接上一页】教师把全诗难字压缩成四行，只处理读音，不在此处提前解释所有意义。
【教师原话】“我指哪一组，就先自己默读，再一起出声。第一组——愆、将、垝垣；第二组——筮、说、徂。‘说’在这里读tuō，先在旁边写下音，不急着背释义。”
【学生动作与等待】学生先默读十秒，随教师指示分组齐读；两人互查一次，最后教师随机指三词让全班迅速回读。
【可能回应与接话】对‘汤汤、渐、咥、泮’的误读只即时示范并再读，不用惩罚性齐抄；个别学生可在教材旁标拼音。
【可观察证据】十个易错字能在诗句中准确发音，并知道具体释义将在原句处解决。
【明确切页句】“字音不再挡路。现在让第一章完整出现，先看一场关系怎样开始。”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【页码与模块】P16｜模块一·从旧故事走进初见
【连续课堂剧本】
【承接上一页】教师收起文学常识与字音支架，让屏幕只保留第一章的故事位置。
【教师原话】“第一章的标题是‘相识、求婚与婚期’。先不要判断谁好谁坏，只追踪两个人做了什么、说了什么。等五组诗句走完，再回头判断这次接近给你怎样的印象。”
【学生动作与等待】学生翻到第一章，用手指从首句滑到章末，预览人物称谓和对话位置；教师等待十秒。
【可能回应与接话】若有人立即给出‘伪装、恋爱脑、警告信号’，教师说：“把它暂存为猜想；第一次观看只记录行动，全文后再核验。”
【可观察证据】准备以行动顺序进入第一章，并保留而不抢跑现代判断。
【明确切页句】“从‘氓之蚩蚩，抱布贸丝’开始。先让整章声音在场。”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【页码与模块】P17｜模块一·从旧故事走进初见
【连续课堂剧本】
【承接上一页】教师在进入第一章逐句解释前，先让一章完整出现。
【教师原话】“先完整读第一章，遇到人物动作就轻点桌面，遇到声音变化就停半拍。暂时不翻译，也不要求现在讲出章意。”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【页码与模块】P18｜模块一·从旧故事走进初见
【连续课堂剧本】
【承接上一页】教师指向第一章 1/5和累计行动链，不让这句脱离整章。
【教师原话】“先读：‘氓之蚩蚩，抱布贸丝’。谁在做什么？”【等回答后】“用现代汉语说就是：那个人看起来忠厚，抱着布来换丝。 关键词只处理氓 méng：这里指男子；蚩蚩：忠厚的样子；贸：交换。”教师随后补充：“男子以贸丝的姿态出现并接近。”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【可观察证据】准确口译“氓之蚩蚩，抱布贸丝”并指出：男子以贸丝的姿态出现并接近。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【页码与模块】P19｜模块一·从旧故事走进初见
【连续课堂剧本】
【承接上一页】教师指向第一章 2/5和累计行动链，不让这句脱离整章。
【教师原话】“先读：‘匪来贸丝，来即我谋’。谁在做什么？”【等回答后】“译意先不出现；请借关键词把它说完整。 关键词只处理匪：同“非”；即：走近、到；谋：商量，这里指商量婚事。”教师随后补充：“叙述揭开贸丝背后的求婚来意。”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【可观察证据】准确口译“匪来贸丝，来即我谋”并指出：叙述揭开贸丝背后的求婚来意。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【页码与模块】P20｜模块一·从旧故事走进初见
【连续课堂剧本】
【承接上一页】上一页已确认“匪来贸丝，来即我谋”的基本意思，本页只增加一个关键观察。
【教师原话】“请把译意先放下，再读原句。你看见的形式是：“匪……来……”否定转折，使真实目的突然显出。 它怎样改变我们对处境的理解？”教师在学生回应后用边界语收束：“第一次读可以感到主动热烈；全文后再问：间接接近是否也需要更审慎地观察？文本能证明来意有别，不能证明完整人格是有计划伪装。”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表面来意与真实来意有别；Q3 初期信息有限。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【页码与模块】P21｜模块一·从旧故事走进初见
【连续课堂剧本】
【承接上一页】教师指向第一章 3/5和累计行动链，不让这句脱离整章。
【教师原话】“先读：‘送子涉淇，至于顿丘’。谁在做什么？”【等回答后】“用现代汉语说就是：我送你渡过淇水，一直送到顿丘。 关键词只处理涉：渡过；至于：到达。”教师随后补充：“女子把男子送过淇水，送到顿丘。”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【可观察证据】准确口译“送子涉淇，至于顿丘”并指出：女子把男子送过淇水，送到顿丘。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【页码与模块】P22｜模块一·从旧故事走进初见
【连续课堂剧本】
【承接上一页】教师指向第一章 4/5和累计行动链，不让这句脱离整章。
【教师原话】“先读：‘匪我愆期，子无良媒’。谁在做什么？”【等回答后】“用现代汉语说就是：不是我故意拖延，是你没有合适的媒人。 关键词只处理愆 qiān：拖延；良媒：合适的媒人。”教师随后补充：“女子解释未能立即成婚的原因。”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【可观察证据】准确口译“匪我愆期，子无良媒”并指出：女子解释未能立即成婚的原因。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【页码与模块】P23｜模块一·从旧故事走进初见
【连续课堂剧本】
【承接上一页】教师指向第一章 5/5和累计行动链，不让这句脱离整章。
【教师原话】“先读：‘将子无怒，秋以为期’。谁在做什么？”【等回答后】“译意先不出现；请借关键词把它说完整。 关键词只处理将 qiāng：愿、请；以……为：把……定作。”教师随后补充：“女子安抚对方，同时给出明确婚期。”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【可观察证据】准确口译“将子无怒，秋以为期”并指出：女子安抚对方，同时给出明确婚期。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【页码与模块】P24｜模块一·从旧故事走进初见
【连续课堂剧本】
【承接上一页】上一页已确认“将子无怒，秋以为期”的基本意思，本页只增加一个关键观察。
【教师原话】“请把译意先放下，再读原句。你看见的形式是：祈请语气与承诺并置，使关系张力进入声音。 它怎样改变我们对处境的理解？”教师在学生回应后用边界语收束：““无怒”提示男子的愤怒已经进入现场或女子预期，但程度未写明。它是全文后需要重评的模糊细节，不足以反推女子当时已经掌握全部风险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她需要安抚对方情绪；Q3 全文后重评“无怒”。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【页码与模块】P25｜模块一·从旧故事走进初见
【连续课堂剧本】
【承接上一页】教师把本章讲解暂时停住，只保留活动所需原句和空白。
【教师原话】“从“蚩蚩、贸丝、谋、无怒”中任选两处：只看第一章，你怎样理解男子的接近方式？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【页码与模块】P26｜模块一·从旧故事走进初见
【连续课堂剧本】
【承接上一页】教师确认学生已经形成个人或小组产出，才切到回收页。
【教师原话】“先别抄屏幕。请用你自己的产出核对：憨厚、主动、热烈、执着，都可能是第一次阅读的真实印象。；“贸丝/谋”“无怒”留下了尚未解释完的细节。；等读完婚后经历，再回来判断这些细节的意义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【页码与模块】P27｜模块一·从旧故事走进初见
【连续课堂剧本】
【承接上一页】教师把第一章五组诗句重新放回同一页。
【教师原话】“现在完整重读第一章。读完不用列点，请用一口气讲清：接近 → 求婚 → 远送 → 说明条件 → 约定婚期之间怎样连接？”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【可观察证据】一次完整章读和一句连续章意：“男子以贸丝为表面来意接近并求婚；女子远送、说明媒妁条件，又在安抚中约定秋期。”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【页码与模块】P28｜模块二·等待与回望中的劝诫
【连续课堂剧本】
【承接上一页】教师在新的内容模块开始时，不用复习题轰炸学生，只恢复故事位置。
【教师原话】“上次故事走到这里：相识议婚｜女子远送并约定秋期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【页码与模块】P29｜模块二·等待与回望中的劝诫
【连续课堂剧本】
【承接上一页】教师在进入第二章逐句解释前，先让一章完整出现。
【教师原话】“先完整读第二章，遇到人物动作就轻点桌面，遇到声音变化就停半拍。暂时不翻译，也不要求现在讲出章意。”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【页码与模块】P30｜模块二·等待与回望中的劝诫
【连续课堂剧本】
【承接上一页】教师指向第二章 1/5和累计行动链，不让这句脱离整章。
【教师原话】“先读：‘乘彼垝垣，以望复关’。谁在做什么？”【等回答后】“用现代汉语说就是：登上那堵残破的墙，来眺望复关。 关键词只处理乘：登上；垝垣 guǐ yuán：残破的墙；以：来。”教师随后补充：“女子登高远望。”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【可观察证据】准确口译“乘彼垝垣，以望复关”并指出：女子登高远望。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【页码与模块】P31｜模块二·等待与回望中的劝诫
【连续课堂剧本】
【承接上一页】教师指向第二章 2/5和累计行动链，不让这句脱离整章。
【教师原话】“先读：‘不见复关，泣涕涟涟’。谁在做什么？”【等回答后】“译意先不出现；请借关键词把它说完整。 关键词只处理泣涕：流泪；涟涟：泪流不断的样子。”教师随后补充：“未见来人，女子哭泣。”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【可观察证据】准确口译“不见复关，泣涕涟涟”并指出：未见来人，女子哭泣。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【页码与模块】P32｜模块二·等待与回望中的劝诫
【连续课堂剧本】
【承接上一页】上一页已确认“不见复关，泣涕涟涟”的基本意思，本页只增加一个关键观察。
【教师原话】“请把译意先放下，再读原句。你看见的形式是：“不见”触发“泣”；叠词“涟涟”延长情绪。 它怎样改变我们对处境的理解？”教师在学生回应后用边界语收束：“不要只说“痴情”。先读出“不见”这一条件，再听“涟涟”怎样把等待拉长。”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情绪高度受关系进展牵动。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【页码与模块】P33｜模块二·等待与回望中的劝诫
【连续课堂剧本】
【承接上一页】教师指向第二章 3/5和累计行动链，不让这句脱离整章。
【教师原话】“先读：‘既见复关，载笑载言’。谁在做什么？”【等回答后】“译意先不出现；请借关键词把它说完整。 关键词只处理既：已经；载……载……：又……又……。”教师随后补充：“见到来人后，女子转哭为笑。”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【可观察证据】准确口译“既见复关，载笑载言”并指出：见到来人后，女子转哭为笑。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【页码与模块】P34｜模块二·等待与回望中的劝诫
【连续课堂剧本】
【承接上一页】上一页已确认“既见复关，载笑载言”的基本意思，本页只增加一个关键观察。
【教师原话】“请把译意先放下，再读原句。你看见的形式是：“不见/既见”“泣/笑”正面对照；反复“载”加强动作。 它怎样改变我们对处境的理解？”教师在学生回应后用边界语收束：“把前后两句连读：同一个“见”字改变情绪速度。诗没有解释全部心理，却用动作让依赖感可听见。”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等待出现转折；Q3 情感投入很深。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【页码与模块】P35｜模块二·等待与回望中的劝诫
【连续课堂剧本】
【承接上一页】教师指向第二章 4/5和累计行动链，不让这句脱离整章。
【教师原话】“先读：‘尔卜尔筮，体无咎言’。谁在做什么？”【等回答后】“用现代汉语说就是：你用龟甲、蓍草占卜，卦象没有不吉利的话。 关键词只处理卜：用火灼龟甲看裂纹；筮 shì：用蓍草占卜；体：卦象；咎：灾祸。”教师随后补充：“男子以当时婚俗方式确认吉凶。”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【可观察证据】准确口译“尔卜尔筮，体无咎言”并指出：男子以当时婚俗方式确认吉凶。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【页码与模块】P36｜模块二·等待与回望中的劝诫
【连续课堂剧本】
【承接上一页】教师指向第二章 5/5和累计行动链，不让这句脱离整章。
【教师原话】“先读：‘以尔车来，以我贿迁’。谁在做什么？”【等回答后】“用现代汉语说就是：你用车来接我，我带着财物嫁过去。 关键词只处理贿：财物，这里指嫁妆；迁：迁往男子家。”教师随后补充：“男子来迎，女子携财物迁嫁。”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【可观察证据】准确口译“以尔车来，以我贿迁”并指出：男子来迎，女子携财物迁嫁。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【页码与模块】P37｜模块二·等待与回望中的劝诫
【连续课堂剧本】
【承接上一页】教师把本章讲解暂时停住，只保留活动所需原句和空白。
【教师原话】“排列“望—不见—泣—见—笑—迁”，为前半和后半各设计一种速度、停顿与重音。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【页码与模块】P38｜模块二·等待与回望中的劝诫
【连续课堂剧本】
【承接上一页】教师确认学生已经形成个人或小组产出，才切到回收页。
【教师原话】“先别抄屏幕。请用你自己的产出核对：望—不见—泣：视线受阻，时间和声音都被拉长。；见—笑—言：信息突然改变，情绪快速释放。；迁嫁不是孤立事件，而是等待获得确定后的行动结果。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【页码与模块】P39｜模块二·等待与回望中的劝诫
【连续课堂剧本】
【承接上一页】教师把第二章五组诗句重新放回同一页。
【教师原话】“现在完整重读第二章。读完不用列点，请用一口气讲清：登墙望 → 不见而泣 → 既见而笑 → 卜筮 → 迁嫁之间怎样连接？”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【可观察证据】一次完整章读和一句连续章意：“女子的视线和情绪围绕复关迅速变化；卜筮无不吉后，她带着财物乘车迁嫁。”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【页码与模块】P40｜模块二·等待与回望中的劝诫
【连续课堂剧本】
【承接上一页】教师在进入第三章逐句解释前，先让一章完整出现。
【教师原话】“先完整读第三章，遇到人物动作就轻点桌面，遇到声音变化就停半拍。暂时不翻译，也不要求现在讲出章意。”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【页码与模块】P41｜模块二·等待与回望中的劝诫
【连续课堂剧本】
【承接上一页】教师指向第三章 1/5和累计行动链，不让这句脱离整章。
【教师原话】“先读：‘桑之未落，其叶沃若’。谁在做什么？”【等回答后】“译意先不出现；请借关键词把它说完整。 关键词只处理沃若：润泽鲜嫩的样子。”教师随后补充：“叙事暂停，镜头转向丰润桑叶。”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【可观察证据】准确口译“桑之未落，其叶沃若”并指出：叙事暂停，镜头转向丰润桑叶。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【页码与模块】P42｜模块二·等待与回望中的劝诫
【连续课堂剧本】
【承接上一页】上一页已确认“桑之未落，其叶沃若”的基本意思，本页只增加一个关键观察。
【教师原话】“请把译意先放下，再读原句。你看见的形式是：兴，也可引发比的联想；意义须由上下文筛选。 它怎样改变我们对处境的理解？”教师在学生回应后用边界语收束：“先感受色泽和质地，再命名“比兴”。桑叶可以联想到青春、感情或关系状态，但没有固定的一对一密码。”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婚前或青春阶段的可能联想。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【页码与模块】P43｜模块二·等待与回望中的劝诫
【连续课堂剧本】
【承接上一页】教师指向第三章 2/5和累计行动链，不让这句脱离整章。
【教师原话】“先读：‘于嗟鸠兮，无食桑葚’。谁在做什么？”【等回答后】“用现代汉语说就是：唉，斑鸠啊，不要贪吃桑葚。 关键词只处理于嗟 xū jiē：感叹词；鸠：斑鸠；桑葚：桑树果实。”教师随后补充：“诗中声音转为对斑鸠的呼告。”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【可观察证据】准确口译“于嗟鸠兮，无食桑葚”并指出：诗中声音转为对斑鸠的呼告。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【页码与模块】P44｜模块二·等待与回望中的劝诫
【连续课堂剧本】
【承接上一页】教师指向第三章 3/5和累计行动链，不让这句脱离整章。
【教师原话】“先读：‘于嗟女兮，无与士耽’。谁在做什么？”【等回答后】“译意先不出现；请借关键词把它说完整。 关键词只处理耽：沉溺。”教师随后补充：“劝诫对象由斑鸠转为女子。”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【可观察证据】准确口译“于嗟女兮，无与士耽”并指出：劝诫对象由斑鸠转为女子。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【页码与模块】P45｜模块二·等待与回望中的劝诫
【连续课堂剧本】
【承接上一页】上一页已确认“于嗟女兮，无与士耽”的基本意思，本页只增加一个关键观察。
【教师原话】“请把译意先放下，再读原句。你看见的形式是：“于嗟”反复；由物到人的类比推进。 它怎样改变我们对处境的理解？”教师在学生回应后用边界语收束：““耽”不是嘲笑爱得深，而是回望者对失去判断空间的警惕。现代所说的确认偏向只能到全文后再使用，不能把她的投入变成男子粗暴的原因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情感沉溺后的处境；Q3 投入使停止更难。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【页码与模块】P46｜模块二·等待与回望中的劝诫
【连续课堂剧本】
【承接上一页】教师指向第三章 4/5和累计行动链，不让这句脱离整章。
【教师原话】“先读：‘士之耽兮，犹可说也’。谁在做什么？”【等回答后】“用现代汉语说就是：男子沉溺情爱，尚且可以脱身。 关键词只处理说 tuō：同“脱”，摆脱。”教师随后补充：“叙述者开始比较男女沉溺后的处境。”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【可观察证据】准确口译“士之耽兮，犹可说也”并指出：叙述者开始比较男女沉溺后的处境。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【页码与模块】P47｜模块二·等待与回望中的劝诫
【连续课堂剧本】
【承接上一页】教师指向第三章 5/5和累计行动链，不让这句脱离整章。
【教师原话】“先读：‘女之耽兮，不可说也’。谁在做什么？”【等回答后】“用现代汉语说就是：女子沉溺情爱，往往难以脱身。 关键词只处理说 tuō：同“脱”；不可：难以。”教师随后补充：“劝诫最终落回女子自身处境。”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【可观察证据】准确口译“女之耽兮，不可说也”并指出：劝诫最终落回女子自身处境。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【页码与模块】P48｜模块二·等待与回望中的劝诫
【连续课堂剧本】
【承接上一页】教师把本章讲解暂时停住，只保留活动所需原句和空白。
【教师原话】“先写“沃若”的颜色、质地和生命状态，再提出两种可能联想；暂不选择唯一答案。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【页码与模块】P49｜模块二·等待与回望中的劝诫
【连续课堂剧本】
【承接上一页】教师确认学生已经形成个人或小组产出，才切到回收页。
【教师原话】“先别抄屏幕。请用你自己的产出核对：桑叶先是可感的颜色、质地和生命状态。；青春、情感、关系都可以成为联想方向。；第四章“黄而陨”出现后，再用位置、对照和叙事筛选。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【页码与模块】P50｜模块二·等待与回望中的劝诫
【连续课堂剧本】
【承接上一页】教师把第三章五组诗句重新放回同一页。
【教师原话】“现在完整重读第三章。读完不用列点，请用一口气讲清：桑叶丰润 → 劝鸠勿食 → 劝女勿耽 → 比较男女处境之间怎样连接？”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【可观察证据】一次完整章读和一句连续章意：“叙事暂时停下，回望中的女子由桑叶和斑鸠起兴，转向对情感沉溺及其不平等后果的劝诫。”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【页码与模块】P51｜模块三·婚后事实与长期处境
【连续课堂剧本】
【承接上一页】教师在新的内容模块开始时，不用复习题轰炸学生，只恢复故事位置。
【教师原话】“上次故事走到这里：相识议婚 → 等待迁嫁 → 回望中的劝诫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【页码与模块】P52｜模块三·婚后事实与长期处境
【连续课堂剧本】
【承接上一页】教师在进入第四章逐句解释前，先让一章完整出现。
【教师原话】“先完整读第四章，遇到人物动作就轻点桌面，遇到声音变化就停半拍。暂时不翻译，也不要求现在讲出章意。”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【页码与模块】P53｜模块三·婚后事实与长期处境
【连续课堂剧本】
【承接上一页】教师指向第四章 1/5和累计行动链，不让这句脱离整章。
【教师原话】“先读：‘桑之落矣，其黄而陨’。谁在做什么？”【等回答后】“译意先不出现；请借关键词把它说完整。 关键词只处理陨：坠落。”教师随后补充：“桑叶状态由丰润转为枯黄坠落。”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【可观察证据】准确口译“桑之落矣，其黄而陨”并指出：桑叶状态由丰润转为枯黄坠落。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【页码与模块】P54｜模块三·婚后事实与长期处境
【连续课堂剧本】
【承接上一页】上一页已确认“桑之落矣，其黄而陨”的基本意思，本页只增加一个关键观察。
【教师原话】“请把译意先放下，再读原句。你看见的形式是：与“其叶沃若”形成色彩、状态和位置对照。 它怎样改变我们对处境的理解？”教师在学生回应后用边界语收束：“把第三章的“沃若”和此处“黄而陨”并置：青春、感情、关系状态都获得更多语境支持，但仍不能把桑叶压成一个固定答案。”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婚后转折；意象解释须保持开放。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【页码与模块】P55｜模块三·婚后事实与长期处境
【连续课堂剧本】
【承接上一页】教师指向第四章 2/5和累计行动链，不让这句脱离整章。
【教师原话】“先读：‘自我徂尔，三岁食贫’。谁在做什么？”【等回答后】“用现代汉语说就是：自从我嫁到你家，多年来生活贫苦。 关键词只处理徂 cú：往；尔：你家；三岁：多年；食贫：过贫苦生活。”教师随后补充：“女子回顾迁嫁后的长期贫困。”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【可观察证据】准确口译“自我徂尔，三岁食贫”并指出：女子回顾迁嫁后的长期贫困。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【页码与模块】P56｜模块三·婚后事实与长期处境
【连续课堂剧本】
【承接上一页】教师指向第四章 3/5和累计行动链，不让这句脱离整章。
【教师原话】“先读：‘淇水汤汤，渐车帷裳’。谁在做什么？”【等回答后】“用现代汉语说就是：淇水浩荡，浸湿了车上的帷幔。 关键词只处理汤汤 shāng shāng：水势浩大；渐 jiān：浸湿；帷裳：车旁帷幔。”教师随后补充：“回忆中的车经过淇水，帷幔被浸湿。”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【可观察证据】准确口译“淇水汤汤，渐车帷裳”并指出：回忆中的车经过淇水，帷幔被浸湿。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【页码与模块】P57｜模块三·婚后事实与长期处境
【连续课堂剧本】
【承接上一页】教师指向第四章 4/5和累计行动链，不让这句脱离整章。
【教师原话】“先读：‘女也不爽，士贰其行’。谁在做什么？”【等回答后】“译意先不出现；请借关键词把它说完整。 关键词只处理爽：差错；贰：不专一、前后不一。”教师随后补充：“叙述者从经历陈述转为明确责任判断。”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【可观察证据】准确口译“女也不爽，士贰其行”并指出：叙述者从经历陈述转为明确责任判断。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【页码与模块】P58｜模块三·婚后事实与长期处境
【连续课堂剧本】
【承接上一页】上一页已确认“女也不爽，士贰其行”的基本意思，本页只增加一个关键观察。
【教师原话】“请把译意先放下，再读原句。你看见的形式是：“女/士”“不爽/贰”并置，责任由语言直接显出。 它怎样改变我们对处境的理解？”教师在学生回应后用边界语收束：“这不是旁观者替她判定，而是第一人称回望中的自我辨明。先区分“食贫、渡水”等经历事实，再看“不爽/贰”怎样作出责任判断。”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婚前婚后不一；Q3 男子失信责任。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【页码与模块】P59｜模块三·婚后事实与长期处境
【连续课堂剧本】
【承接上一页】教师指向第四章 5/5和累计行动链，不让这句脱离整章。
【教师原话】“先读：‘士也罔极，二三其德’。谁在做什么？”【等回答后】“用现代汉语说就是：男子的行为没有准则，品德反复无常。 关键词只处理罔极：没有准则；二三：反复无常，这里是数词活用。”教师随后补充：“女子进一步概括男子反复的行为。”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【可观察证据】准确口译“士也罔极，二三其德”并指出：女子进一步概括男子反复的行为。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【页码与模块】P60｜模块三·婚后事实与长期处境
【连续课堂剧本】
【承接上一页】教师把本章讲解暂时停住，只保留活动所需原句和空白。
【教师原话】“把本章诗句放入“经历事实”和“责任判断”两栏，并说明判断由哪组对照形成。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【页码与模块】P61｜模块三·婚后事实与长期处境
【连续课堂剧本】
【承接上一页】教师确认学生已经形成个人或小组产出，才切到回收页。
【教师原话】“先别抄屏幕。请用你自己的产出核对：食贫、淇水、车帷被浸，是叙述中的经历。；“女也不爽，士贰其行”直接辨明双方责任。；现代评价可以继续讨论，但必须先站稳诗中的事实和判断。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【页码与模块】P62｜模块三·婚后事实与长期处境
【连续课堂剧本】
【承接上一页】教师把第四章五组诗句重新放回同一页。
【教师原话】“现在完整重读第四章。读完不用列点，请用一口气讲清：桑叶坠落 → 多年食贫 → 渡淇回忆 → 辨明责任 → 指出反复之间怎样连接？”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【可观察证据】一次完整章读和一句连续章意：“桑叶由丰润转为枯黄，婚后贫困和渡淇场景进入回忆；叙述者明确指出自己无过而男子反复失信。”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【页码与模块】P63｜模块三·婚后事实与长期处境
【连续课堂剧本】
【承接上一页】教师在进入第五章逐句解释前，先让一章完整出现。
【教师原话】“先完整读第五章，遇到人物动作就轻点桌面，遇到声音变化就停半拍。暂时不翻译，也不要求现在讲出章意。”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【页码与模块】P64｜模块三·婚后事实与长期处境
【连续课堂剧本】
【承接上一页】教师指向第五章 1/5和累计行动链，不让这句脱离整章。
【教师原话】“先读：‘三岁为妇，靡室劳矣’。谁在做什么？”【等回答后】“用现代汉语说就是：多年来做妻子，家里的劳苦没有不做的。 关键词只处理靡：没有；室劳：家务劳动。”教师随后补充：“女子长期承担家庭劳动。”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【可观察证据】准确口译“三岁为妇，靡室劳矣”并指出：女子长期承担家庭劳动。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【页码与模块】P65｜模块三·婚后事实与长期处境
【连续课堂剧本】
【承接上一页】教师指向第五章 2/5和累计行动链，不让这句脱离整章。
【教师原话】“先读：‘夙兴夜寐，靡有朝矣’。谁在做什么？”【等回答后】“译意先不出现；请借关键词把它说完整。 关键词只处理夙：早；兴：起身；夜寐：晚睡；朝：一日。”教师随后补充：“一天的早晚被重复为多年的生活。”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【可观察证据】准确口译“夙兴夜寐，靡有朝矣”并指出：一天的早晚被重复为多年的生活。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【页码与模块】P66｜模块三·婚后事实与长期处境
【连续课堂剧本】
【承接上一页】上一页已确认“夙兴夜寐，靡有朝矣”的基本意思，本页只增加一个关键观察。
【教师原话】“请把译意先放下，再读原句。你看见的形式是：早/夜对举；“靡”反复；以一日写多年。 它怎样改变我们对处境的理解？”教师在学生回应后用边界语收束：“把这句还原成二十四小时：不是偶尔辛苦，而是“没有一天不是这样”。时间结构让单边负担比抽象的“勤劳”更可感。”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持续劳动；Q3 长期生活投入。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【页码与模块】P67｜模块三·婚后事实与长期处境
【连续课堂剧本】
【承接上一页】教师指向第五章 3/5和累计行动链，不让这句脱离整章。
【教师原话】“先读：‘言既遂矣，至于暴矣’。谁在做什么？”【等回答后】“译意先不出现；请借关键词把它说完整。 关键词只处理言：助词；遂：如愿、满足；暴：粗暴。”教师随后补充：“男子在婚后愿望满足后态度恶化。”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【可观察证据】准确口译“言既遂矣，至于暴矣”并指出：男子在婚后愿望满足后态度恶化。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【页码与模块】P68｜模块三·婚后事实与长期处境
【连续课堂剧本】
【承接上一页】上一页已确认“言既遂矣，至于暴矣”的基本意思，本页只增加一个关键观察。
【教师原话】“请把译意先放下，再读原句。你看见的形式是：“既……至于……”把前后反差压在一句中。 它怎样改变我们对处境的理解？”教师在学生回应后用边界语收束：““暴”首先按教材语境理解为粗暴，不擅自补写具体身体伤害；但任何粗暴和人格伤害都不能由她的信任、投入或未及时停止来解释。”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婚前婚后反差与粗暴伤害；Q3 男子直接责任。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【页码与模块】P69｜模块三·婚后事实与长期处境
【连续课堂剧本】
【承接上一页】教师指向第五章 4/5和累计行动链，不让这句脱离整章。
【教师原话】“先读：‘兄弟不知，咥其笑矣’。谁在做什么？”【等回答后】“用现代汉语说就是：家人不了解我的处境，反而讥笑我。 关键词只处理咥 xì：笑的样子。”教师随后补充：“家人进入叙事，却没有提供理解。”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【可观察证据】准确口译“兄弟不知，咥其笑矣”并指出：家人进入叙事，却没有提供理解。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【页码与模块】P70｜模块三·婚后事实与长期处境
【连续课堂剧本】
【承接上一页】教师指向第五章 5/5和累计行动链，不让这句脱离整章。
【教师原话】“先读：‘静言思之，躬自悼矣’。谁在做什么？”【等回答后】“用现代汉语说就是：静下来想这些事，只能独自悲伤。 关键词只处理言：助词；躬：自身；悼：悲伤。”教师随后补充：“女子从外部劳作和冲突转入独自反思。”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【可观察证据】准确口译“静言思之，躬自悼矣”并指出：女子从外部劳作和冲突转入独自反思。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【页码与模块】P71｜模块三·婚后事实与长期处境
【连续课堂剧本】
【承接上一页】教师把本章讲解暂时停住，只保留活动所需原句和空白。
【教师原话】“把她婚后的一天写成三个时刻，再圈出诗没有告诉我们的地方。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【页码与模块】P72｜模块三·婚后事实与长期处境
【连续课堂剧本】
【承接上一页】教师确认学生已经形成个人或小组产出，才切到回收页。
【教师原话】“先别抄屏幕。请用你自己的产出核对：长期家务与早起晚睡，使一方持续承担生活成本。；粗暴与家人不解叠加，关系外的支持并未出现。；诗没有写她是否求助，也没有写具体退出条件；这些空白不能被想当然填满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【页码与模块】P73｜模块三·婚后事实与长期处境
【连续课堂剧本】
【承接上一页】教师把第五章五组诗句重新放回同一页。
【教师原话】“现在完整重读第五章。读完不用列点，请用一口气讲清：多年为妇 → 早起晚睡 → 遭遇粗暴 → 家人讥笑 → 独自悲悼之间怎样连接？”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【可观察证据】一次完整章读和一句连续章意：“多年劳动被压进日复一日的早起晚睡；男子愿望满足后转为粗暴，家人不理解，女子只能独自反思悲悼。”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【页码与模块】P74｜模块四·回望六章，把她的日子讲出来
【连续课堂剧本】
【承接上一页】教师在新的内容模块开始时，不用复习题轰炸学生，只恢复故事位置。
【教师原话】“上次故事走到这里：婚后食贫、长期劳动、粗暴与家人不解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【页码与模块】P75｜模块四·回望六章，把她的日子讲出来
【连续课堂剧本】
【承接上一页】教师在进入第六章逐句解释前，先让一章完整出现。
【教师原话】“先完整读第六章，遇到人物动作就轻点桌面，遇到声音变化就停半拍。暂时不翻译，也不要求现在讲出章意。”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【页码与模块】P76｜模块四·回望六章，把她的日子讲出来
【连续课堂剧本】
【承接上一页】教师指向第六章 1/5和累计行动链，不让这句脱离整章。
【教师原话】“先读：‘及尔偕老，老使我怨’。谁在做什么？”【等回答后】“用现代汉语说就是：原想同你白头到老，如今想到老去却使我怨恨。 关键词只处理及：同、跟；偕老：共同到老；怨：怨恨。”教师随后补充：“旧日偕老愿望与现实正面碰撞。”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【可观察证据】准确口译“及尔偕老，老使我怨”并指出：旧日偕老愿望与现实正面碰撞。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【页码与模块】P77｜模块四·回望六章，把她的日子讲出来
【连续课堂剧本】
【承接上一页】教师指向第六章 2/5和累计行动链，不让这句脱离整章。
【教师原话】“先读：‘淇则有岸，隰则有泮’。谁在做什么？”【等回答后】“用现代汉语说就是：淇水尚且有岸，低湿地尚且有边。 关键词只处理隰 xí：低湿的地方；泮 pàn：同“畔”，边、岸。”教师随后补充：“由自然边界转入关系或怨苦的反衬。”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【可观察证据】准确口译“淇则有岸，隰则有泮”并指出：由自然边界转入关系或怨苦的反衬。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【页码与模块】P78｜模块四·回望六章，把她的日子讲出来
【连续课堂剧本】
【承接上一页】教师指向第六章 3/5和累计行动链，不让这句脱离整章。
【教师原话】“先读：‘总角之宴，言笑晏晏’。谁在做什么？”【等回答后】“用现代汉语说就是：回想少年时代一起欢乐，言谈笑语和悦。 关键词只处理总角：少年时代；宴：欢乐；晏晏：和悦的样子。”教师随后补充：“叙述跳回少年共同记忆。”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【可观察证据】准确口译“总角之宴，言笑晏晏”并指出：叙述跳回少年共同记忆。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【页码与模块】P79｜模块四·回望六章，把她的日子讲出来
【连续课堂剧本】
【承接上一页】教师指向第六章 4/5和累计行动链，不让这句脱离整章。
【教师原话】“先读：‘信誓旦旦，不思其反’。谁在做什么？”【等回答后】“译意先不出现；请借关键词把它说完整。 关键词只处理旦旦：诚恳的样子；反：违背。”教师随后补充：“女子核验当初誓言与后来行为。”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【可观察证据】准确口译“信誓旦旦，不思其反”并指出：女子核验当初誓言与后来行为。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【页码与模块】P80｜模块四·回望六章，把她的日子讲出来
【连续课堂剧本】
【承接上一页】上一页已确认“信誓旦旦，不思其反”的基本意思，本页只增加一个关键观察。
【教师原话】“请把译意先放下，再读原句。你看见的形式是：誓言/违誓对照；“不思”进入结尾回环。 它怎样改变我们对处境的理解？”教师在学生回应后用边界语收束：“结尾不是突然“觉醒”。她先调回总角、言笑和誓言，再用后来行为逐项核验；判断由长期经历形成。”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承诺与行动断裂；Q3 失信责任。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【页码与模块】P81｜模块四·回望六章，把她的日子讲出来
【连续课堂剧本】
【承接上一页】教师指向第六章 5/5和累计行动链，不让这句脱离整章。
【教师原话】“先读：‘反是不思，亦已焉哉’。谁在做什么？”【等回答后】“译意先不出现；请借关键词把它说完整。 关键词只处理是：这，指誓言；已：止、了结；焉、哉：语气词连用。”教师随后补充：“女子形成停止这段关系的判断。”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【可观察证据】准确口译“反是不思，亦已焉哉”并指出：女子形成停止这段关系的判断。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【页码与模块】P82｜模块四·回望六章，把她的日子讲出来
【连续课堂剧本】
【承接上一页】上一页已确认“反是不思，亦已焉哉”的基本意思，本页只增加一个关键观察。
【教师原话】“请把译意先放下，再读原句。你看见的形式是：“反/不思”回环；语气词强化收束。 它怎样改变我们对处境的理解？”教师在学生回应后用边界语收束：““亦已”可以有疲惫克制和清醒决绝两种声音。诗写出了判断，没有继续叙述现实行动；朗读可以多解，事实边界必须一致。”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核验违誓后作出停止判断；实际离开与退出条件未写。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【页码与模块】P83｜模块四·回望六章，把她的日子讲出来
【连续课堂剧本】
【承接上一页】教师把本章讲解暂时停住，只保留活动所需原句和空白。
【教师原话】“设计A“疲惫克制”和B“清醒决绝”两版：标出停顿、重音、速度，并为每版写一条经历依据。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【页码与模块】P84｜模块四·回望六章，把她的日子讲出来
【连续课堂剧本】
【承接上一页】教师确认学生已经形成个人或小组产出，才切到回收页。
【教师原话】“先别抄屏幕。请用你自己的产出核对：疲惫克制：多年投入、劳作、孤立使“已”带着耗尽。；清醒决绝：核验反复与违誓后，“已”成为明确判断。；诗写出停止判断，是否实际离开及其现实条件仍保持开放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【页码与模块】P85｜模块四·回望六章，把她的日子讲出来
【连续课堂剧本】
【承接上一页】教师把第六章五组诗句重新放回同一页。
【教师原话】“现在完整重读第六章。读完不用列点，请用一口气讲清：偕老愿望破裂 → 自然边界反衬 → 回忆少年 → 核验违誓 → 作出停止判断之间怎样连接？”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【可观察证据】一次完整章读和一句连续章意：“女子将偕老愿望、少年欢笑与当下违誓并置，核验男子“不思其反”，最终说出“亦已焉哉”。”
【明确切页句】“六章已经逐句走完。现在让整首诗重新连成一个声音。”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【页码与模块】P86｜模块四·回望六章，把她的日子讲出来
【连续课堂剧本】
【承接上一页】教师确认六章已经逐句走完，现在把所有分析暂时放下。
【教师原话】“从第一章一直读到第六章，中间不提问。读到初读停顿点时轻按纸面，等最后一句结束再回看。”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【可观察证据】一次不中断全文重读以及初读点的保留或变化。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【页码与模块】P87｜模块四·回望六章，把她的日子讲出来
【连续课堂剧本】
【承接上一页】教师确认六章已经逐句走完，现在把所有分析暂时放下。
【教师原话】“从第一章一直读到第六章，中间不提问。读到初读停顿点时轻按纸面，等最后一句结束再回看。”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【可观察证据】一次不中断全文重读以及初读点的保留或变化。
【明确切页句】“六章重新连成了一首诗。现在翻回最初的停顿点，看你的判断保留、修正还是推翻。”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【页码与模块】P88｜模块四·回望六章，把她的日子讲出来
【连续课堂剧本】
【承接上一页】教师让全文重读后的安静再停几秒，请学生翻回第一次听读时留下的句子或问号。
【教师原话】“先读当时的自己，不忙着否定。现在请在旁边写：我仍保留什么，什么已经改变；再添一句后来读到的诗，说明它为什么改变了你。”
【学生动作与等待】找回初读记录30秒；独立写下变化与新增诗句1分钟；同桌只交换新增证据30秒。总用时2分钟。
【可能回应与接话】若学生只把‘痴情’改成‘清醒’，教师追问：“是哪一章让这个词变重了？”若判断没有变化，只要能说明诗句依据，也允许保留。
【可观察证据】初读记录仍可辨认，旁边有一处变化说明和一处新增原诗。
【明确切页句】“变化已经写在纸上。现在不看我的概括，由你们把她的六章重新讲成一生。”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【页码与模块】P89｜模块四·回望六章，把她的日子讲出来
【连续课堂剧本】
【承接上一页】教师把开课时的三问重新投出，请学生先看自己当初写下的短句。
【教师原话】“六章已经读完。先别急着听我的结论：她怎样走到结尾，她的日子苦在哪里，这场婚姻为什么走到这一步——接下来要由你们把故事重新讲出来。”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【明确切页句】“三问重新回来了。下一页，先把第一问读完整，再让六章拥有自己的讲述者。”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【页码与模块】P90｜模块四·回望六章，把她的日子讲出来
【连续课堂剧本】
【承接上一页】教师把开课时的三问重新投出，请学生先看自己当初写下的短句。
【教师原话】“我们回到原来的问题：她怎样从“送子涉淇”一步步走到“亦已焉哉”？ 先读自己最初那句话，等会儿用讲述和讨论让它变得更完整。”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【明确切页句】“问题重新打开了。下一页，让六章分别拥有自己的讲述者。”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【页码与模块】P91｜模块四·回望六章，把她的日子讲出来
【连续课堂剧本】
【承接上一页】教师把六章并排呈现，不给阶段答案，只给每组一章和一个讲述位置。
【教师原话】“每组认领一章。先各自在章旁写一句：这一章，她经历了什么。然后把几个人的句子放在一起，选出最能接住上一章、又能把故事送往下一章的说法。”
【学生动作与等待】每名学生独立重读本组一章并写一句1分20秒；小组轮流读句子并合成讲述2分钟；确定讲述者与原诗40秒。总用时4分钟。
【可能回应与接话】若组内直接抄章意，教师问：“她在这里做了什么、心里有什么变化？”若一人包办，要求每名学生先读自己的句子再合成。
【可观察证据】每名学生一条章内经历短句；每组一段共同讲述和一处原诗。
【明确切页句】“故事已经有了六位讲述者。下一页把每段话收紧成三句，让它既准确，又有人物的温度。”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【页码与模块】P92｜模块四·回望六章，把她的日子讲出来
【连续课堂剧本】
【承接上一页】各组已经找到了本章发生的事，教师把注意力转向人物声音和前后衔接。
【教师原话】“三句话就够：第一句说她经历了什么；第二句说她的心境或认识怎样变；第三句让一处原诗开口。读给组员听，哪一句像论文，哪一句听不见人，就把它改掉。”
【学生动作与等待】小组写成三句话1分10秒；全组朗读并删去生硬概念1分10秒；与相邻章小组试接首尾40秒。总用时3分钟。
【可能回应与接话】若出现‘完成关系结构转变’一类抽象话，教师请学生换成动作和处境；若擅自补写情节，请回到原诗删改。
【可观察证据】六段可在三十秒内讲完、含行动、心境和原诗的讲述稿。
【明确切页句】“六段话已经能首尾相接。接下来，请让她的一生在教室里真正走一遍。”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【页码与模块】P93｜模块四·回望六章，把她的日子讲出来
【连续课堂剧本】
【承接上一页】教师走到屏幕侧面，把讲台让给六组；其余学生翻到‘故事守门人’位置。
【教师原话】“从第一章开始，每组不超过三十秒。台下的同学不是等答案：记下一处你听得最清楚的转折，也记下一处仍没说清的空缺。每两章讲完，可以向讲述者追问一次。”
【学生动作与等待】六组依次接力，听众同步记录转折与空缺4分钟；每两章一次追问、讲述者回应并补一句2分钟。总用时6分钟。
【可能回应与接话】若追问变成评价表演，教师把它拉回“她为什么这样做”“这一步把她带向哪里”“前文哪处到这里变了意味”；若故事断裂，让相邻两组共同补一句过桥话。
【可观察证据】六段公开讲述、每名听众的转折与空缺记录、至少一次由追问促成的现场补充。
【明确切页句】“故事已经完整走过一遍，但哪一步最重要，我们未必同意。把你的判断单独写下来。”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【页码与模块】P94｜模块四·回望六章，把她的日子讲出来
【连续课堂剧本】
【承接上一页】接力讲述结束，教师不公布所谓标准转折，只把几个可能发生改变的时刻重新留在学生记忆中。
【教师原话】“六章里不只有一个转折。请先选出你认为最重要的一步，再写清：这一处怎样把她带向后来的生活。”
【学生动作与等待】每名学生独立写出转折判断和诗句1分20秒；四人组寻找不同答案1分20秒；全班听取两种相左判断并追问1分20秒。总用时4分钟。
【可能回应与接话】若学生认为第一章已经决定一切，追问文本能否证明宿命；若认为只有‘至于暴矣’才是转折，追问此前的投入和失衡是否已经改变处境。
【可观察证据】每名学生一条‘重要转折—诗句—影响’判断；全班保留至少两种有证据的答案。
【明确切页句】“转折可以有分歧，故事顺序不能散。把同伴提醒你的那一步补回自己的讲述。”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【页码与模块】P95｜模块四·回望六章，把她的日子讲出来
【连续课堂剧本】
【承接上一页】教师指向刚才由六组共同讲出的板书，屏幕只给出故事骨架，不替学生解释每一步。
【教师原话】“读一遍你现在写出的她的一生。若刚才有人让你看见了一处遗漏，就把它添进去；若你仍坚持自己的转折，也请把那句诗留在旁边。”
【学生动作与等待】个人补回遗漏或改写连接1分30秒；同桌互读完整故事45秒；全班用一句话回答第一问45秒。总用时3分钟。
【可能回应与接话】若学生把第三章当成新的事件，教师提醒那是多年后的回望之声；若只剩八个标签，请重新说出至少一个具体动作。
【可观察证据】一段能够从‘送子涉淇’讲到‘亦已焉哉’的个人叙述，以及一处受同伴影响的可见修订。
【明确切页句】“我们已经知道她经历了什么。接下来，不再站在故事外面概括，去看看这些年究竟是怎样的日子。”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【页码与模块】P96｜模块四·回望六章，把她的日子讲出来
【连续课堂剧本】
【承接上一页】教师把开课时的三问重新投出，请学生先看自己当初写下的短句。
【教师原话】“我们回到原来的问题：她婚后的日子，究竟苦在哪里？ 先读自己最初那句话，等会儿用讲述和讨论让它变得更完整。”
【学生动作与等待】找回初始短句20秒；默读问题并圈出最想回答的部分20秒；写下一处准备使用的诗句20秒。总用时1分钟。
【可能回应与接话】如果回答仍只有‘痴情、负心、觉醒’，教师问：“你准备讲哪一个生活时刻？”若证据不足，允许保留问题，不催成统一答案。
【可观察证据】原有短句仍可辨认，旁边添有一处准备进入活动的原诗。
【明确切页句】“问题重新打开了。下一页，请从她婚后的日子里选一幕真正看见的生活。”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【页码与模块】P97｜模块四·回望六章，把她的日子讲出来
【连续课堂剧本】
【承接上一页】教师把概括性的故事骨架收起，屏幕出现五个可进入的生活时刻。
【教师原话】“选一个你最能看见的时刻：天还没亮、终于停下劳作、丈夫态度已经改变、兄弟的笑声响起，或她独自静下来。只谈作品；你可以只写旁白，不必表演。先别抄诗，把它在脑中看成一幕生活。”
【学生动作与等待】每名学生独立选择并写下看见的动作1分10秒；按选择进入小组35秒；组内说明为什么选这一幕1分15秒。总用时3分钟。
【可能回应与接话】若学生虚构具体暴力或对白，教师说：“可以想象气氛，不能替诗补写事实。”若只写‘她很惨’，追问此刻她正在做什么。
【可观察证据】每名学生一个生活时刻、一项具体动作和一处准备回查的原诗。
【明确切页句】“画面已经出现。现在把它讲给一个从没读过《氓》的人听。”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【页码与模块】P98｜模块四·回望六章，把她的日子讲出来
【连续课堂剧本】
【承接上一页】各组已经选定时刻，教师给出旁白、定格或双人讲述三种呈现方式。
【教师原话】“四十秒以内，让今天的人听懂她过着怎样的生活。可以只用第三人称旁白，不必表演；但必须留一处原诗作根，诗里没有的对白和伤害方式，不要替她编出来。”
【学生动作与等待】小组共同写出生活镜头2分5秒；分配讲述、定格和引诗1分25秒；完整试演并删去无据细节1分30秒。总用时5分钟。
【可能回应与接话】若呈现变成搞笑表演，教师把语气带回人物处境；若全部照译原文，追问“今天的人怎样听懂这种生活”。
【可观察证据】每组一段四十秒以内、以原诗为根且不虚构伤害细节的生活镜头。
【明确切页句】“表演者已经准备好。听的人也有任务：既要听见生活，也要守住原诗。”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【页码与模块】P99｜模块四·回望六章，把她的日子讲出来
【连续课堂剧本】
【承接上一页】教师请各组依次呈现，屏幕只保留听众的两道追问。
【教师原话】“每组呈现以后，台下先别评价好不好。请回答：哪一句诗托住了这一幕？哪一处只是合理想象，不能当成诗里明写的事实？”
【学生动作与等待】各组公开呈现，听众同步记录原诗与想象边界3分20秒；听众追问、呈现组回应并现场改一句1分40秒。总用时5分钟。
【可能回应与接话】若听众只报诗句不解释，追问原词如何变成生活动作；若把推断当事实，教师请全班翻回原诗确认。
【可观察证据】公开生活镜头、听众的诗句依据和边界判断，以及至少一处现场修改。
【明确切页句】“几幕生活合在一起，才是她所谓的多年。请各自写一句：她的苦，不只是什么，更是什么。”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【页码与模块】P100｜模块四·回望六章，把她的日子讲出来
【连续课堂剧本】
【承接上一页】生活镜头结束，教师撤下表演提示，让学生独自面对一句尚未写完的话。
【教师原话】“不要把刚才五幕重新列一遍。请把它们压成一句有层次的话：她的苦，不只是______，更是______。两个空格之间，应当有你真正看见的加深。”
【学生动作与等待】学生独立写一句1分30秒；同桌互读并追问一处诗句45秒；自愿读出不同层次的表达45秒。总用时3分钟。
【可能回应与接话】若写成‘不只是穷，更是惨’，教师追问生活中的具体失衡；若只责怪她爱得深，请回到劳动、粗暴与家人讥笑。
【可观察证据】每名学生一条同时包含生活负担和关系伤害的总结句，并能指出原诗来源。
【明确切页句】“先读自己的话，再听全班刚才共同看见了哪些重量。”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【页码与模块】P101｜模块四·回望六章，把她的日子讲出来
【连续课堂剧本】
【承接上一页】教师从学生刚才的表达中选择有代表性的原话写在板书上，屏幕只留下三个等待现场补写的位置。
【教师原话】“请用刚才真正出现过的话补全这三处：她的一天怎样过，别人怎样待她，她身边的人怎样回应。每补一处，都在旁边写下托住它的原诗；没有出现过的话，不替全班编出来。”
【学生动作与等待】全班用学生原话现场补全三处并添原诗1分30秒；个人对照板书修改自己的句子45秒；两人互读修改前后并保留有证据的差异45秒。总用时3分钟。
【可能回应与接话】若学生的原句已经完整，允许不改，只在旁边添诗句；若出现整齐划一的答案，教师请保留不同表达。
【可观察证据】每名学生一条最终生活处境句及其原诗；至少一处可见的增加、删改或有理由的保留。
【明确切页句】“她的日子已经被看见。下一步先辨明谁造成了伤害，再看她说出停止后会面对哪些阻力。”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【页码与模块】P102｜模块五·辨明伤害，把提醒留给后来人
【连续课堂剧本】
【承接上一页】教师在新的内容模块开始时，不用复习题轰炸学生，只恢复故事位置。
【教师原话】“上次故事走到这里：谁应为伤害负责？
她说出“亦已焉哉”以后，还会面对哪些阻力？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【可观察证据】能够说清上次停点，并指出本次要分开回答的两个问题。
【明确切页句】“故事和生活已经被看见。现在先辨明谁造成伤害，再看她说出停止后会面对哪些阻力。”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【页码与模块】P103｜模块五·辨明伤害，把提醒留给后来人
【连续课堂剧本】
【承接上一页】教师把开课时的三问重新投出，请学生先看自己当初写下的短句。
【教师原话】“请把第三问慢慢读完：这场婚姻为什么会走到这一步？谁应为伤害负责？当她说出“亦已焉哉”，还要面对哪些阻力？ 这两件事别混在一起——谁做出了伤害，她说出停止以后还会遇到什么。”
【学生动作与等待】找回初始短句40秒；默读问题并圈出最想回答的部分40秒；写下一处准备使用的诗句40秒。总用时2分钟。
【可能回应与接话】如果回答仍只有‘负心、觉醒’，教师问：“哪一句能判断他的行为？哪一句能说明她面对的处境？”若证据不足，允许保留问题，不催成统一答案。
【可观察证据】原有短句仍可辨认，旁边添有一处准备进入活动的原诗。
【明确切页句】“问题重新打开了。下一页，先从原诗里辨明谁应为伤害负责。”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【页码与模块】P104｜模块五·辨明伤害，把提醒留给后来人
【连续课堂剧本】
【承接上一页】教师将‘她过得很苦’暂时放下，屏幕只留下四处诗中直接指向男子行为的话。
【教师原话】“请从四句里选你认为最有力的一句，写清：他应当为哪一项行为负责？诗中的依据是什么？最后把原诗读出来。”
【学生动作与等待】每名学生独立选择并写句子1分10秒；小组轮流读出判断1分10秒；小组选出最能守住诗意的一句40秒。总用时3分钟。
【可能回应与接话】若回答转去评价女子，教师问：“这句话回答的是她的处境，还是他的行为责任？”若补写男子心理动机，请回到行为本身。
【可观察证据】每名学生一条责任判断；每组一条以原诗为依据、不归咎受伤者的公开表达。
【明确切页句】“判断写出来还不够，要经得住别人的追问。下一页，另一组来问证据。”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【页码与模块】P105｜模块五·辨明伤害，把提醒留给后来人
【连续课堂剧本】
【承接上一页】每组已经形成一句责任判断，教师指定相邻组交换并追问。
【教师原话】“听完对方的句子，只追问一件事：你说的是诗中明写的行为，还是替人物补出的动机？被问的小组必须回到原句回答，可以当场改词。”
【学生动作与等待】各组公开读出责任判断1分钟；另一组追问事实或动机1分钟；原组回到诗句回应并修改1分钟。总用时3分钟。
【可能回应与接话】若追问变成替男子辩护，教师重申只审查证据强度；若学生认为‘恋爱脑导致被伤害’，请分开‘她面对哪些现实阻力’与‘谁选择伤害’。
【可观察证据】一次组际追问、一处原诗回应和一条经过质询的责任表达。
【明确切页句】“诗没有写出他的全部心理，却把他的行为写得很清楚。把这份清楚留住。”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【页码与模块】P106｜模块五·辨明伤害，把提醒留给后来人
【连续课堂剧本】
【承接上一页】组际质询结束，教师按诗中出现的行为依次指向四句，不为男子补写动机。
【教师原话】“‘贰其行’、‘二三其德’、‘至于暴矣’、‘不思其反’，这些词各自指向怎样的行为？用动词回答，不用心理诊断。”
【学生动作与等待】全班逐句说出行为40秒；个人检查自己的责任句是否混入女子投入40秒；教师以四句原诗收束40秒。总用时2分钟。
【可能回应与接话】若只说‘渣’，要求换成失信、反复、粗暴、违誓等可由诗句指认的行为；若说得过满，提醒文本未写男子动机。
【可观察证据】四处原诗与四项行为对应；个人责任句不含对受伤者的归责。
【明确切页句】“责任说清以后，另一个问题才可以被认真理解：当她说出‘亦已焉哉’，转身还会面对什么？”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【页码与模块】P107｜模块五·辨明伤害，把提醒留给后来人
【连续课堂剧本】
【承接上一页】教师明确这是理解处境，不是重新分配责任；四组分别接过一个贴近人物的问题。
【教师原话】“四组各守一个问题：最初哪些事情尚未展开；她已经交付了什么；受伤时谁真正接住她；在那个时代，女子离开容易吗。先找诗，再用自己的话说。”
【学生动作与等待】每名学生在本组问题下独立找诗句1分20秒；四个小组合并证据并写解释2分钟；准备回应听众质疑40秒。总用时4分钟。
【可能回应与接话】若把诗未写的制度细节说成事实，教师请改成时代处境的谨慎判断；若把投入说成男子伤害的原因，再次分开两个问题。
【可观察证据】四组分别形成一条‘人物问题—原诗—解释’，每名学生参与找句或表述。
【明确切页句】“四个问题不是四个格子，而是四种真实的阻力。请讲给其他组听，让他们来补足。”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【页码与模块】P108｜模块五·辨明伤害，把提醒留给后来人
【连续课堂剧本】
【承接上一页】四组已完成准备，教师依次邀请发言；其余三组承担补诗、质疑和连接任务。
【教师原话】“每组先读诗，再解释。听众要做三件事之一：补一处诗，质疑一句说得太满的话，或把这个回答和另一个组连接起来。”
【学生动作与等待】四组依次呈现1分40秒；听众补充、质疑或连接1分40秒；原组回应并改写一句40秒。总用时4分钟。
【可能回应与接话】若台下只等教师总结，教师随机请一组选择“补诗/质疑/连接”；若结论互相矛盾，先检查两边是否谈的是不同阶段。
【可观察证据】四项公开解释、至少三次听众介入，以及一处因同伴意见发生的修改。
【明确切页句】“现在我们能说清，不是一件东西拦住她，而是许多现实一起压在她身上。”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【页码与模块】P109｜模块五·辨明伤害，把提醒留给后来人
【连续课堂剧本】
【承接上一页】教师不显示预先写好的结论，屏幕只留下四组问题与等待现场补入的原话。
【教师原话】“请把四组真正说出的答案补在屏幕或板书上，每一处都添一行原诗。再从中选一处最容易被旁观者忽略的阻力，用自己的话说。”
【学生动作与等待】个人选取最易被忽略的困难并写句子1分钟；同桌补一处原诗30秒；全班听两种不同解释30秒。总用时2分钟。
【可能回应与接话】若句子替她断言此前已经想离开，教师追问诗能证明到哪一步；若忽略时代性，回到‘士可说/女不可说’。
【可观察证据】每名学生一条对现实阻力的解释及原诗，不将阻力转写为责任。
【明确切页句】“理解这些现实阻力，并不等于伤害可以被原谅。这条界线必须单独说清。”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【页码与模块】P110｜模块五·辨明伤害，把提醒留给后来人
【连续课堂剧本】
【承接上一页】教师将两个问题左右分开，让学生先各自读一遍，再读中间的结论。
【教师原话】“她说出停止判断后会面对哪些阻力，和他为什么失信、粗暴，不是同一道题。她的迁嫁、劳作、孤立与时代处境可以说明阻力，却不能制造、减轻或合理化他的伤害。”
【学生动作与等待】学生默读两个问题40秒；用自己的话向同桌复述界线40秒；检查并改掉此前可能出现的归责句40秒。总用时2分钟。
【可能回应与接话】若学生问她是否毫无选择，教师说明可以讨论选择，但选择空间不等于施害责任；若有人分享私人经历，允许停止并转回作品。
【可观察证据】能够分别回答‘谁造成伤害’与‘她说出停止后会面对哪些阻力’，且没有因果偷换。
【明确切页句】“责任和困境分开以后，我们才能重新回到最初那场看似热烈的相遇。”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【页码与模块】P111｜模块五·辨明伤害，把提醒留给后来人
【连续课堂剧本】
【承接上一页】教师重新投出第一章四个细节，让学生把初读印象和全文结局放在同一张纸上。
【教师原话】“当初只读第一章，你看见怎样的男子？现在读到结局，哪些细节值得多看一眼？最后还要问：哪些判断可以想到，却不能说得太满？”
【学生动作与等待】个人重读四处原词并写初见/再看1分钟；小组寻找彼此判断强弱的差别1分钟；全班讨论；听众记下一处要追问的证据并提出追问1分钟。总用时3分钟。
【可能回应与接话】若断言男子有计划伪装完整人格，教师追问诗能证明到哪一步；若把‘无怒’直接等同婚前暴力，提醒只能确认怒意进入关系现场。
【可观察证据】至少一条初读与再读的判断变化，以及一条对判断强度的说明。
【明确切页句】“回头看可以让我们更警醒，也容易让人把后来知道的事强塞回最初。下一页把能说和不能说满的地方分清。”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【页码与模块】P112｜模块五·辨明伤害，把提醒留给后来人
【连续课堂剧本】
【承接上一页】教师依据刚才的争议，把第一章的明写、可想和不可断言分别放好。
【教师原话】“诗明写：贸丝只是表面来意，‘蚩蚩’是当时所见的样子，女子说过‘无怒’。我们可以想到初期印象与后来行为的反差；却不能断言他怎样策划，也不能责怪她为什么没有预知全部后来。”
【学生动作与等待】学生把自己一句话放到‘明写/可想/不能说满’1分钟；同桌检查是否需要降一档语气30秒；个人完成可见修订30秒。总用时2分钟。
【可能回应与接话】若学生说‘恋爱脑’，教师接话：“这个词可以提醒今天的读者：投入感情时，也要长久观察一个人的言行。但它不能替背叛和粗暴分担责任，更不能倒过来责怪她没有预知后来。”
【可观察证据】一处对第一章判断强度的准确修订，能区分明写、可想与不能断言。
【明确切页句】“到这里，我们不仅读懂了她，也开始知道怎样看待一段共同生活。现在把话交给全班。”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【页码与模块】P113｜模块五·辨明伤害，把提醒留给后来人
【连续课堂剧本】
【承接上一页】教师说明只谈作品或第三人称案例，不追问任何同学的私人关系；圆桌从《氓》的反面经验出发。
【教师原话】“如果把《氓》说给后来人听，你认为一段值得珍惜的婚姻，最不能缺少什么？先说你的判断，再说诗中哪一处让你这样想。”
【学生动作与等待】个人独立形成观点和原诗1分钟；四人圆桌依次发言、不得打断1分钟；小组寻找共同点和保留分歧1分钟。总用时3分钟。
【可能回应与接话】若讨论变成空泛鸡汤，教师追问诗中反面经验；若要求同学分享私人经历，立即制止并转回作品或第三人称案例。
【可观察证据】每名学生一次有原诗依据的婚姻观点；每组一个共同点和一个可保留分歧。
【明确切页句】“观点已经在圆桌上出现。现在不要替别人概括，只写你真正愿意留下的一句提醒。”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【页码与模块】P114｜模块五·辨明伤害，把提醒留给后来人
【连续课堂剧本】
【承接上一页】圆桌讨论暂停，教师让教室安静下来，屏幕只保留四个可选句首。
【教师原话】“从四个句首里选一个，也可以不用它们。把一句提醒留给后来人：不要写口号，要让人看见怎样的行动才值得相信，怎样的生活不能由一个人独自承担。”
【学生动作与等待】每名学生独立写一句1分30秒；为句子补一处《氓》的反面依据45秒；默读并删去空泛词45秒。总用时3分钟。
【可能回应与接话】若写成‘擦亮眼睛’等单向劝诫，教师追问关系双方应怎样行动；若只写‘要相爱’，追问怎样在岁月中看见相爱。
【可观察证据】每名学生一句具体、有原诗根基且不归责受伤者的婚姻提醒。
【明确切页句】“句子已经属于你。下一页，先让同桌真正听见，再决定哪一句值得进入全班的声音。”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【页码与模块】P115｜模块五·辨明伤害，把提醒留给后来人
【连续课堂剧本】
【承接上一页】每名学生已经完成一句提醒，教师不先展示自己的总结，只给分享留下空白。
【教师原话】“两人互读，不评价成熟不成熟，只告诉对方：哪一个词最有力量，哪一处还可以更具体。各自修改后，再选一句你们最想让全班听见的话。”
【学生动作与等待】同桌互读并指出有力量/需具体处1分20秒；个人修改40秒；各桌推选并向全班分享1分20秒；教师原样记录学生关键词40秒。总用时4分钟。
【可能回应与接话】若全班句子趋同，教师邀请一条不同意见；若出现指责受伤者或美化忍耐，追问它能否经得住《氓》的多年生活。
【可观察证据】一次同伴反馈、一处个人修改和多条进入全班板书的学生原话。
【明确切页句】“屏幕还留着空白。最后请用全班刚才真正说出的意思，把它补完。”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【页码与模块】P116｜模块五·辨明伤害，把提醒留给后来人
【连续课堂剧本】
【承接上一页】教师保留学生板书，屏幕显示四句尚未完成的话，等待全班原话进入。
【教师原话】“请从刚才的板书中选择最准确的词，把这四句补完：怎样看一个人，怎样共同生活，受伤时怎样得到支持，想要停止伤害时应当守住什么。有分歧，就把两种有证据的说法都留下。”
【学生动作与等待】全班从学生板书中为四句话选词30秒；学生指出说得过满之处并保留分歧30秒；教师只记录学生原话和对应诗句30秒；个人修订并写下自己的最终版本30秒。总用时2分钟。
【可能回应与接话】若学生认为离开并非唯一选择，教师保留讨论，但重申伤害不能被忍耐合理化；若收束过于整齐，以学生有证据的异议修正。
【可观察证据】四句由学生原话与原诗共同完成的班级收束，以及每名学生最终保留的婚姻提醒。
【明确切页句】“现实的提醒已经从诗里生长出来。最后把故事、字词和写法收回原诗，再让六章完整响一次。”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【页码与模块】P117｜模块五·辨明伤害，把提醒留给后来人
【连续课堂剧本】
【承接上一页】教师不再重讲全文，把主动权交给学生检索。
【教师原话】“不看答案：用六个动作写出叙事结构，再写人物认识怎样变化。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【页码与模块】P118｜模块五·辨明伤害，把提醒留给后来人
【连续课堂剧本】
【承接上一页】教师不再重讲全文，把主动权交给学生检索。
【教师原话】“知识收纳｜故事与人物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【页码与模块】P119｜模块五·辨明伤害，把提醒留给后来人
【连续课堂剧本】
【承接上一页】教师不再重讲全文，把主动权交给学生检索。
【教师原话】“找出本课最容易误读、误解的八个字词，并说明《氓》属于哪一类诗。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【页码与模块】P120｜模块五·辨明伤害，把提醒留给后来人
【连续课堂剧本】
【承接上一页】教师不再重讲全文，把主动权交给学生检索。
【教师原话】“知识收纳｜字词与《诗经》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【页码与模块】P121｜模块五·辨明伤害，把提醒留给后来人
【连续课堂剧本】
【承接上一页】教师不再重讲全文，把主动权交给学生检索。
【教师原话】“各找一组原句说明：桑叶、淇水、对照、反复怎样参与理解。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【页码与模块】P122｜模块五·辨明伤害，把提醒留给后来人
【连续课堂剧本】
【承接上一页】教师不再重讲全文，把主动权交给学生检索。
【教师原话】“知识收纳｜意象与写法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【页码与模块】P123｜模块五·辨明伤害，把提醒留给后来人
【连续课堂剧本】
【承接上一页】教师不再重讲全文，把主动权交给学生检索。
【教师原话】“用一条证据回答每问，再写出可迁移到其他叙事诗的阅读顺序。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【页码与模块】P124｜模块五·辨明伤害，把提醒留给后来人
【连续课堂剧本】
【承接上一页】教师不再重讲全文，把主动权交给学生检索。
【教师原话】“知识收纳｜三问与阅读方法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【页码与模块】P125｜模块五·辨明伤害，把提醒留给后来人
【连续课堂剧本】
【承接上一页】知识收纳完成，教师把板书和分析暂时放下，让全诗以完整声音结束。
【教师原话】“这是最后一次完整朗读。不要表演结论，只让六章的声音和你现在的理解一起走到‘亦已焉哉’。”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【可观察证据】一次不中断的最终朗读，以及读法或理解相对初读的一处变化。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【页码与模块】P126｜模块五·辨明伤害，把提醒留给后来人
【连续课堂剧本】
【承接上一页】知识收纳完成，教师把板书和分析暂时放下，让全诗以完整声音结束。
【教师原话】“这是最后一次完整朗读。不要表演结论，只让六章的声音和你现在的理解一起走到‘亦已焉哉’。”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【可观察证据】一次不中断的最终朗读，以及读法或理解相对初读的一处变化。
【明确切页句】“声音停在这里。最后只写下你能证明的理解，以及你仍愿意保留的问题。”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【页码与模块】P127｜模块五·辨明伤害，把提醒留给后来人
【连续课堂剧本】
【承接上一页】全文最后一次朗读结束，教师让屏幕只留下结尾和两个空格。
【教师原话】“请完成两句：我现在最愿意用______理解她；我仍愿意保留的问题是______。不要求同一种声音，也不要求公开分享。”
【学生动作与等待】学生静默一分钟完成退出条；愿意者读出问题。教师收取或拍照保存，不现场给所有问题盖章。
【可能回应与接话】若无人分享，教师允许问题随学生离开；若答案仍是单一标签，只追问一处跨章证据。
【可观察证据】一个最终理解词、一处跨章依据和一个保留问题。
【明确切页句】“我们没有把她的多年经历缩成口号。请带着你能证明的理解和仍愿意追问的地方离开。”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8.xml"/><Relationship Id="rId3" Type="http://schemas.openxmlformats.org/officeDocument/2006/relationships/slide" Target="slide51.xml"/><Relationship Id="rId4" Type="http://schemas.openxmlformats.org/officeDocument/2006/relationships/slide" Target="slide74.xml"/><Relationship Id="rId5" Type="http://schemas.openxmlformats.org/officeDocument/2006/relationships/slide" Target="slide10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《氓》V5完整母版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04672" y="1481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教师导航 · 本页隐藏，不进入学生正常放映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14400" y="2084832"/>
            <a:ext cx="10241280" cy="603504"/>
          </a:xfrm>
          <a:prstGeom prst="roundRect">
            <a:avLst>
              <a:gd name="adj" fmla="val 7576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40280" y="2212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从旧故事走进初见</a:t>
            </a:r>
            <a:endParaRPr lang="en-US" sz="2500" dirty="0"/>
          </a:p>
        </p:txBody>
      </p:sp>
      <p:sp>
        <p:nvSpPr>
          <p:cNvPr id="10" name="Text 8">
            <a:hlinkClick r:id="rId1" tooltip="" action="ppaction://hlinksldjump"/>
          </p:cNvPr>
          <p:cNvSpPr/>
          <p:nvPr/>
        </p:nvSpPr>
        <p:spPr>
          <a:xfrm>
            <a:off x="7863840" y="224942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u="sng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47分钟 · 母版P2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10241280" cy="603504"/>
          </a:xfrm>
          <a:prstGeom prst="roundRect">
            <a:avLst>
              <a:gd name="adj" fmla="val 7576"/>
            </a:avLst>
          </a:prstGeom>
          <a:solidFill>
            <a:srgbClr val="3A322B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0175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2990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等待与回望中的劝诫</a:t>
            </a:r>
            <a:endParaRPr lang="en-US" sz="2500" dirty="0"/>
          </a:p>
        </p:txBody>
      </p:sp>
      <p:sp>
        <p:nvSpPr>
          <p:cNvPr id="14" name="Text 12">
            <a:hlinkClick r:id="rId2" tooltip="" action="ppaction://hlinksldjump"/>
          </p:cNvPr>
          <p:cNvSpPr/>
          <p:nvPr/>
        </p:nvSpPr>
        <p:spPr>
          <a:xfrm>
            <a:off x="7863840" y="302666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u="sng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49分钟 · 母版P28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39312"/>
            <a:ext cx="10241280" cy="603504"/>
          </a:xfrm>
          <a:prstGeom prst="roundRect">
            <a:avLst>
              <a:gd name="adj" fmla="val 7576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947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40280" y="3767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婚后事实与长期处境</a:t>
            </a:r>
            <a:endParaRPr lang="en-US" sz="2500" dirty="0"/>
          </a:p>
        </p:txBody>
      </p:sp>
      <p:sp>
        <p:nvSpPr>
          <p:cNvPr id="18" name="Text 16">
            <a:hlinkClick r:id="rId3" tooltip="" action="ppaction://hlinksldjump"/>
          </p:cNvPr>
          <p:cNvSpPr/>
          <p:nvPr/>
        </p:nvSpPr>
        <p:spPr>
          <a:xfrm>
            <a:off x="7863840" y="380390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u="sng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52分钟 · 母版P51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416552"/>
            <a:ext cx="10241280" cy="603504"/>
          </a:xfrm>
          <a:prstGeom prst="roundRect">
            <a:avLst>
              <a:gd name="adj" fmla="val 7576"/>
            </a:avLst>
          </a:prstGeom>
          <a:solidFill>
            <a:srgbClr val="3A322B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72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40280" y="4544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回望六章，把她的日子讲出来</a:t>
            </a:r>
            <a:endParaRPr lang="en-US" sz="2500" dirty="0"/>
          </a:p>
        </p:txBody>
      </p:sp>
      <p:sp>
        <p:nvSpPr>
          <p:cNvPr id="22" name="Text 20">
            <a:hlinkClick r:id="rId4" tooltip="" action="ppaction://hlinksldjump"/>
          </p:cNvPr>
          <p:cNvSpPr/>
          <p:nvPr/>
        </p:nvSpPr>
        <p:spPr>
          <a:xfrm>
            <a:off x="7863840" y="458114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u="sng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69分钟 · 母版P74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5193792"/>
            <a:ext cx="10241280" cy="603504"/>
          </a:xfrm>
          <a:prstGeom prst="roundRect">
            <a:avLst>
              <a:gd name="adj" fmla="val 7576"/>
            </a:avLst>
          </a:prstGeom>
          <a:solidFill>
            <a:srgbClr val="332B25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34924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40280" y="5321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辨明伤害，把提醒留给后来人</a:t>
            </a:r>
            <a:endParaRPr lang="en-US" sz="2500" dirty="0"/>
          </a:p>
        </p:txBody>
      </p:sp>
      <p:sp>
        <p:nvSpPr>
          <p:cNvPr id="26" name="Text 24">
            <a:hlinkClick r:id="rId5" tooltip="" action="ppaction://hlinksldjump"/>
          </p:cNvPr>
          <p:cNvSpPr/>
          <p:nvPr/>
        </p:nvSpPr>
        <p:spPr>
          <a:xfrm>
            <a:off x="7863840" y="535838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u="sng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57分钟 · 母版P102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3611880" y="10972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她怎样走到“亦已焉哉”？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10195560" cy="1325880"/>
          </a:xfrm>
          <a:prstGeom prst="roundRect">
            <a:avLst>
              <a:gd name="adj" fmla="val 4138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593592"/>
            <a:ext cx="9464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60120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《诗经·卫风》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你记得哪一种关系？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938528"/>
            <a:ext cx="640080" cy="64008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《静女》｜相遇与等待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4413504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0976" y="1938528"/>
            <a:ext cx="640080" cy="64008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9264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《小二黑结婚》｜选择与阻力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004048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1520" y="1938528"/>
            <a:ext cx="640080" cy="64008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9808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《玩偶之家（节选）》｜婚内结构与离开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选择最熟悉的一篇。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从一部作品开始回忆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195560" cy="1234440"/>
          </a:xfrm>
          <a:prstGeom prst="roundRect">
            <a:avLst>
              <a:gd name="adj" fmla="val 4444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372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这段关系的幸福或困境，取决于什么？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0195560" cy="1920240"/>
          </a:xfrm>
          <a:prstGeom prst="roundRect">
            <a:avLst>
              <a:gd name="adj" fmla="val 285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657600"/>
            <a:ext cx="9281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人物行动/原句：________________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我的判断：______________________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三种故事，一道尚未结束的问题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938528"/>
            <a:ext cx="640080" cy="64008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相遇的欣悦，需要真实了解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4413504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0976" y="1938528"/>
            <a:ext cx="640080" cy="64008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9264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婚姻的选择，需要尊重与行动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004048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1520" y="1938528"/>
            <a:ext cx="640080" cy="64008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9808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共同生活，需要平衡、支持与边界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这些是回忆入口，不是《氓》的预制答案。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带着三个问题走完六章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01368" y="1828800"/>
            <a:ext cx="1234440" cy="123444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504688" y="1828800"/>
            <a:ext cx="1234440" cy="123444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她的日子苦在哪里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208008" y="1828800"/>
            <a:ext cx="1234440" cy="123444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800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2104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这场婚姻为什么走到这一步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先保存问题，六章之后再回答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问题一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她怎样从“送子涉淇”一步步走到“亦已焉哉”？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先写一个不超过15字的猜想；证据可以空着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问题二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她婚后的日子，究竟苦在哪里？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先写一个不超过15字的猜想；证据可以空着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问题三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谁伤害了她？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337560" y="16550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诗把哪些行为清楚地写在男子身上？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写下此刻最朴素的猜想，也可以留下问号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538728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停止以后呢？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337560" y="36850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她说出“亦已焉哉”，还会面对哪些现实阻力？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33756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写下此刻最朴素的猜想，也可以留下问号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哪一句把你留了下来？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0241280" cy="3566160"/>
          </a:xfrm>
          <a:prstGeom prst="roundRect">
            <a:avLst>
              <a:gd name="adj" fmla="val 1538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03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抄下一句；写“我听见/我看见/我想问……”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45920" y="3246120"/>
            <a:ext cx="8823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“____________________________”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我______________________________</a:t>
            </a:r>
            <a:endParaRPr lang="en-US" sz="3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《诗经》与《卫风》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104644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1595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19072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我国最早的诗歌总集｜305篇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3102864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3607308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6621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221736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风、雅、颂｜《氓》属于《卫风》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4605528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5109972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51648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724400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女子第一人称回望婚姻经历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先借四言节奏走进声音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57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氓之/蚩蚩，抱布/贸丝。</a:t>
            </a:r>
            <a:endParaRPr lang="en-US" sz="3700" dirty="0"/>
          </a:p>
          <a:p>
            <a:pPr algn="ctr"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匪来/贸丝，来即/我谋。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1143000" y="3886200"/>
            <a:ext cx="9784080" cy="672084"/>
          </a:xfrm>
          <a:prstGeom prst="roundRect">
            <a:avLst>
              <a:gd name="adj" fmla="val 8163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4057650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411251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005072"/>
            <a:ext cx="8869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赋、比、兴到相应诗句再命名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143000" y="4722876"/>
            <a:ext cx="9784080" cy="672084"/>
          </a:xfrm>
          <a:prstGeom prst="roundRect">
            <a:avLst>
              <a:gd name="adj" fmla="val 8163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4168" y="4894326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494919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841748"/>
            <a:ext cx="8869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反复、叠词先在朗读中听见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让字音先通行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916811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97167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19072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qiān｜将 qiāng｜垝垣 guǐ yuán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727198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3043809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09867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846070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筮 shì｜说 tuō｜徂 cú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854196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170807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22567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73068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shāng｜渐 jiān｜咥 xì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4400" y="4981194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5297805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535266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100066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xí｜泮 pàn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故事从一次接近开始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第一章｜相识、求婚与婚期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先看见行动，再判断关系。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第一章｜相识、求婚与婚期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那个人看起来忠厚，抱着布来换丝。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氓 méng：这里指男子；蚩蚩：忠厚的样子；贸：交换。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来即我谋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并非真来换丝，而是来找我商量婚事。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“匪……来……”否定转折，使真实目的突然显出。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第一次读可以感到主动热烈；全文后再问：间接接近是否也需要更审慎地观察？文本能证明来意有别，不能证明完整人格是有计划伪装。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我送你渡过淇水，一直送到顿丘。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涉：渡过；至于：到达。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不是我故意拖延，是你没有合适的媒人。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qiān：拖延；良媒：合适的媒人。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5/5｜读懂关键变化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秋以为期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请你不要生气，就把秋天定作婚期。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祈请语气与承诺并置，使关系张力进入声音。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“无怒”提示男子的愤怒已经进入现场或女子预期，但程度未写明。它是全文后需要重评的模糊细节，不足以反推女子当时已经掌握全部风险。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第一次看：这些行动给你什么印象？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从“蚩蚩、贸丝、谋、无怒”中任选两处：只看第一章，你怎样理解男子的接近方式？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　我此刻的理解：________________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　我仍想追问：________________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先保存第一印象，不急着定性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憨厚、主动、热烈、执着，都可能是第一次阅读的真实印象。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“贸丝/谋”“无怒”留下了尚未解释完的细节。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等读完婚后经历，再回来判断这些细节的意义。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 → 求婚 → 远送 → 说明条件 → 约定婚期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相识议婚｜女子远送并约定秋期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第二章将进入等待、卜筮与迁嫁。</a:t>
            </a:r>
            <a:endParaRPr lang="en-US" sz="2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第二章｜等待、占卜与迁嫁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登上那堵残破的墙，来眺望复关。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乘：登上；垝垣 guǐ yuán：残破的墙；以：来。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泣涕涟涟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看不见复关，就泪流不断。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“不见”触发“泣”；叠词“涟涟”延长情绪。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不要只说“痴情”。先读出“不见”这一条件，再听“涟涟”怎样把等待拉长。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载笑载言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已经看见复关，便又笑又说。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“不见/既见”“泣/笑”正面对照；反复“载”加强动作。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把前后两句连读：同一个“见”字改变情绪速度。诗没有解释全部心理，却用动作让依赖感可听见。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你用龟甲、蓍草占卜，卦象没有不吉利的话。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卜：用火灼龟甲看裂纹；筮 shì：用蓍草占卜；体：卦象；咎：灾祸。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你用车来接我，我带着财物嫁过去。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贿：财物，这里指嫁妆；迁：迁往男子家。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让等待拥有两种速度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排列“望—不见—泣—见—笑—迁”，为前半和后半各设计一种速度、停顿与重音。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慢下来的一处：__________　因为：________________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加快的一处：__________　因为：________________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动作顺序就是情绪过程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望—不见—泣：视线受阻，时间和声音都被拉长。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见—笑—言：信息突然改变，情绪快速释放。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迁嫁不是孤立事件，而是等待获得确定后的行动结果。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 → 不见而泣 → 既见而笑 → 卜筮 → 迁嫁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第三章｜桑叶、斑鸠与回望中的劝诫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1/5｜读懂关键变化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其叶沃若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桑叶还没有落下时，叶子润泽鲜嫩。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兴，也可引发比的联想；意义须由上下文筛选。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先感受色泽和质地，再命名“比兴”。桑叶可以联想到青春、感情或关系状态，但没有固定的一对一密码。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唉，斑鸠啊，不要贪吃桑葚。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jiē：感叹词；鸠：斑鸠；桑葚：桑树果实。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无与士耽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唉，女子啊，不要同男子沉溺情爱。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“于嗟”反复；由物到人的类比推进。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“耽”不是嘲笑爱得深，而是回望者对失去判断空间的警惕。现代所说的确认偏向只能到全文后再使用，不能把她的投入变成男子粗暴的原因。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男子沉溺情爱，尚且可以脱身。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 tuō：同“脱”，摆脱。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女子沉溺情爱，往往难以脱身。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 tuō：同“脱”；不可：难以。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桑叶首先让你看见什么？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先写“沃若”的颜色、质地和生命状态，再提出两种可能联想；暂不选择唯一答案。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感官词：__________ / 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可能联想A：____________　依据：____________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可能联想B：____________　依据：____________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把解释保存成假设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桑叶先是可感的颜色、质地和生命状态。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青春、情感、关系都可以成为联想方向。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第四章“黄而陨”出现后，再用位置、对照和叙事筛选。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 → 劝鸠勿食 → 劝女勿耽 → 比较男女处境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 → 等待迁嫁 → 回望中的劝诫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第四、五章将进入婚后事实。</a:t>
            </a:r>
            <a:endParaRPr lang="en-US" sz="2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第四章｜桑叶转黄与责任判断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1/5｜读懂关键变化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其黄而陨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桑叶落下，已经枯黄坠落。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与“其叶沃若”形成色彩、状态和位置对照。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把第三章的“沃若”和此处“黄而陨”并置：青春、感情、关系状态都获得更多语境支持，但仍不能把桑叶压成一个固定答案。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自从我嫁到你家，多年来生活贫苦。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徂 cú：往；尔：你家；三岁：多年；食贫：过贫苦生活。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淇水浩荡，浸湿了车上的帷幔。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shāng：水势浩大；渐 jiān：浸湿；帷裳：车旁帷幔。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4/5｜读懂关键变化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士贰其行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女子没有差错，男子的行为却前后不一。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“女/士”“不爽/贰”并置，责任由语言直接显出。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这不是旁观者替她判定，而是第一人称回望中的自我辨明。先区分“食贫、渡水”等经历事实，再看“不爽/贰”怎样作出责任判断。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男子的行为没有准则，品德反复无常。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罔极：没有准则；二三：反复无常，这里是数词活用。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多年食贫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渡淇回忆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辨明责任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指出反复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哪些是事实，哪些是责任判断？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把本章诗句放入“经历事实”和“责任判断”两栏，并说明判断由哪组对照形成。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经历事实：____________________________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责任判断：____________________________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语言依据：____________________________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事实与判断并不混在一起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食贫、淇水、车帷被浸，是叙述中的经历。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“女也不爽，士贰其行”直接辨明双方责任。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现代评价可以继续讨论，但必须先站稳诗中的事实和判断。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桑叶坠落 → 多年食贫 → 渡淇回忆 → 辨明责任 → 指出反复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第五章｜长期劳动、粗暴与孤立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多年来做妻子，家里的劳苦没有不做的。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靡：没有；室劳：家务劳动。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靡有朝矣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早起晚睡，没有一天不是这样。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早/夜对举；“靡”反复；以一日写多年。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把这句还原成二十四小时：不是偶尔辛苦，而是“没有一天不是这样”。时间结构让单边负担比抽象的“勤劳”更可感。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至于暴矣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你的愿望满足以后，竟然变得粗暴。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“既……至于……”把前后反差压在一句中。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4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“暴”首先按教材语境理解为粗暴，不擅自补写具体身体伤害；但任何粗暴和人格伤害都不能由她的信任、投入或未及时停止来解释。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家人不了解我的处境，反而讥笑我。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咥 xì：笑的样子。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374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静下来想这些事，只能独自悲伤。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言：助词；躬：自身；悼：悲伤。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早起晚睡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遭遇粗暴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家人讥笑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63744A"/>
          </a:solidFill>
          <a:ln w="12700">
            <a:solidFill>
              <a:srgbClr val="637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独自悲悼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EE5D1"/>
          </a:solidFill>
          <a:ln w="12700">
            <a:solidFill>
              <a:srgbClr val="DEE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把“多年”还原成一天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把她婚后的一天写成三个时刻，再圈出诗没有告诉我们的地方。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EE5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天还没亮：________　白日：________　夜深：________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哪一句诗使你这样写：________________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哪一处只是想象：____________________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时间表让失衡变得可见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长期家务与早起晚睡，使一方持续承担生活成本。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粗暴与家人不解叠加，关系外的支持并未出现。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EE5D1"/>
          </a:solidFill>
          <a:ln w="15240">
            <a:solidFill>
              <a:srgbClr val="DEE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诗没有写她是否求助，也没有写具体退出条件；这些空白不能被想当然填满。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637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多年为妇 → 早起晚睡 → 遭遇粗暴 → 家人讥笑 → 独自悲悼</a:t>
            </a:r>
            <a:endParaRPr lang="en-US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婚后食贫、长期劳动、粗暴与家人不解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第六章回到旧日誓言。</a:t>
            </a:r>
            <a:endParaRPr lang="en-US" sz="2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第六章｜回望盟誓与作出停止判断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原想同你白头到老，如今想到老去却使我怨恨。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及：同、跟；偕老：共同到老；怨：怨恨。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淇水尚且有岸，低湿地尚且有边。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xí：低湿的地方；泮 pàn：同“畔”，边、岸。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回想少年时代一起欢乐，言谈笑语和悦。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总角：少年时代；宴：欢乐；晏晏：和悦的样子。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4/5｜读懂关键变化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当初誓言诚恳，没想到你竟会违背。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誓言/违誓对照；“不思”进入结尾回环。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结尾不是突然“觉醒”。她先调回总角、言笑和誓言，再用后来行为逐项核验；判断由长期经历形成。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 · 5/5｜读懂关键变化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亦已焉哉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你违背誓言而不念旧情，那就到此为止吧。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“反/不思”回环；语气词强化收束。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“亦已”可以有疲惫克制和清醒决绝两种声音。诗写出了判断，没有继续叙述现实行动；朗读可以多解，事实边界必须一致。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自然边界反衬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回忆少年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核验违誓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A44132"/>
          </a:solidFill>
          <a:ln w="12700">
            <a:solidFill>
              <a:srgbClr val="A44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作出停止判断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把“亦已”读出两种声音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设计A“疲惫克制”和B“清醒决绝”两版：标出停顿、重音、速度，并为每版写一条经历依据。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A版：停顿____ 重音____ 速度____ 依据____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B版：停顿____ 重音____ 速度____ 依据____</a:t>
            </a:r>
            <a:endParaRPr lang="en-US" sz="2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声音可以不同，证据必须完整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疲惫克制：多年投入、劳作、孤立使“已”带着耗尽。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清醒决绝：核验反复与违誓后，“已”成为明确判断。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诗写出停止判断，是否实际离开及其现实条件仍保持开放。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偕老愿望破裂 → 自然边界反衬 → 回忆少年 → 核验违誓 → 作出停止判断</a:t>
            </a:r>
            <a:endParaRPr lang="en-US" sz="2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再次完整朗读｜第一至第三章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再次完整朗读｜第四至第六章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回到最初的停顿点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3840480"/>
          </a:xfrm>
          <a:prstGeom prst="roundRect">
            <a:avLst>
              <a:gd name="adj" fmla="val 1429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31720"/>
            <a:ext cx="9555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我的初读判断：__________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现在：□保留　□修正　□推翻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因为新增证据：________________</a:t>
            </a:r>
            <a:endParaRPr lang="en-US" sz="3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六章读完，再问这三件事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801368" y="1828800"/>
            <a:ext cx="1234440" cy="123444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0136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504688" y="1828800"/>
            <a:ext cx="1234440" cy="123444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她的日子苦在哪里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208008" y="1828800"/>
            <a:ext cx="1234440" cy="123444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800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这场婚姻为什么走到这一步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带着六章诗句，重新回答</a:t>
            </a:r>
            <a:endParaRPr lang="en-US" sz="2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她怎样从“送子涉淇”一步步走到“亦已焉哉”？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回看最初的猜想：保留 / 修正 / 推翻</a:t>
            </a:r>
            <a:endParaRPr lang="en-US" sz="2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六章，六位讲述者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每组认领一章：先各写一句，再把几个人的句子合成一段讲述。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276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350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240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相识、求婚与婚期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190488" y="2057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276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350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2240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等待、占卜与迁嫁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868680" y="3200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419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　桑叶、斑鸠与回望中的劝诫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6190488" y="3200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419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9168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　桑叶转黄与责任判断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868680" y="4343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" y="4562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4636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4526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长期劳动、粗暴与孤立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6190488" y="43434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562856"/>
            <a:ext cx="402336" cy="402336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636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59168" y="4526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回望盟誓与作出停止判断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1097280" y="57424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先让每个人写一句，再把几个人的句子合成一段。</a:t>
            </a:r>
            <a:endParaRPr lang="en-US" sz="2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三句话，把这一章讲活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914400" y="13990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每组不超过30秒。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14400" y="2304288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66395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188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她经历了什么？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400" y="3517392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87705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9319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36264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她的心境或认识怎样变化？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14400" y="4730496"/>
            <a:ext cx="10241280" cy="1048512"/>
          </a:xfrm>
          <a:prstGeom prst="roundRect">
            <a:avLst>
              <a:gd name="adj" fmla="val 5233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5090160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1450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849368"/>
            <a:ext cx="932688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哪一句诗最能托住这段讲述？</a:t>
            </a:r>
            <a:endParaRPr lang="en-US" sz="2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把她的一生讲出来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六组依次接力；每两章讲完，可以追问一次。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听众：记下一处最清楚的转折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听众：记下一处仍没说清的空缺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追问：她为什么这样做？这一步把她带向哪里？</a:t>
            </a:r>
            <a:endParaRPr lang="en-US" sz="2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哪一步让她的生活明显转向？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六章不只有一个转折；先选出你认为最重要的一步。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我认为重要的转折是________，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因为诗中写道________，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从这里以后________。</a:t>
            </a:r>
            <a:endParaRPr lang="en-US" sz="3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她从“送子涉淇”走到“亦已焉哉”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69880" cy="2148840"/>
          </a:xfrm>
          <a:prstGeom prst="roundRect">
            <a:avLst>
              <a:gd name="adj" fmla="val 2553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74520"/>
            <a:ext cx="9738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相识远送 → 等待迁嫁 → 婚后食贫 → 日复一日的劳作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失信粗暴 → 家人讥笑 → 回望旧誓 → ‘亦已焉哉’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60120" y="4041648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419709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4251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4160520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把同伴提醒你的那一步补回自己的讲述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" y="4846320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" y="50017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50566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965192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对哪一步最重要，仍可保留不同判断</a:t>
            </a:r>
            <a:endParaRPr lang="en-US" sz="2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她婚后的日子，究竟苦在哪里？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回看最初的猜想：保留 / 修正 / 推翻</a:t>
            </a:r>
            <a:endParaRPr lang="en-US" sz="2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让诗句重新长成日子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只谈作品；选择一个你最能看见的生活时刻。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0370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52167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一个天还没亮的清晨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2830982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297728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02575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949854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一个她终于停下劳作的夜晚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3604565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750869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723437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一个她已经感到丈夫态度改变的时刻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8680" y="4378147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4524451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7291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497019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一次她面对兄弟讥笑的时刻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68680" y="5151730"/>
            <a:ext cx="10469880" cy="608990"/>
          </a:xfrm>
          <a:prstGeom prst="roundRect">
            <a:avLst>
              <a:gd name="adj" fmla="val 9009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" y="529803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5346497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270602"/>
            <a:ext cx="955548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一个她独自静下来回想的时刻</a:t>
            </a:r>
            <a:endParaRPr lang="en-US" sz="2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把这一幕讲给今天的人听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四十秒以内，可以只用第三人称旁白，不必表演。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让人看见她正在怎样生活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留一处原诗作根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不替诗补写具体伤害和对白</a:t>
            </a:r>
            <a:endParaRPr lang="en-US" sz="2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听见生活，也守住原诗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每组呈现以后，听众回答两问。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769364"/>
          </a:xfrm>
          <a:prstGeom prst="roundRect">
            <a:avLst>
              <a:gd name="adj" fmla="val 3101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777490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83235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哪一句诗托住了这一幕？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991356"/>
            <a:ext cx="10469880" cy="1769364"/>
          </a:xfrm>
          <a:prstGeom prst="roundRect">
            <a:avLst>
              <a:gd name="adj" fmla="val 31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110228"/>
            <a:ext cx="955548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哪一处只是合理想象，不能当成诗中明写？</a:t>
            </a:r>
            <a:endParaRPr lang="en-US" sz="27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ED8D1"/>
          </a:solidFill>
          <a:ln w="12700">
            <a:solidFill>
              <a:srgbClr val="EED8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她的苦，不只是一件事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让第二层比第一层更深。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她的不幸，不只是________________，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更是____________________________。</a:t>
            </a:r>
            <a:endParaRPr lang="en-US" sz="3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把刚才看见的日子留下来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只用刚才真正出现过的学生原话补写；每一处都添上原诗。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她的一天怎样度过：________________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丈夫怎样待她：____________________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ED8D1"/>
          </a:solidFill>
          <a:ln w="15240">
            <a:solidFill>
              <a:srgbClr val="EED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她身边的人怎样回应：______________</a:t>
            </a:r>
            <a:endParaRPr lang="en-US" sz="27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故事讲完，判断还要说清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谁应为伤害负责？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她说出“亦已焉哉”以后，还会面对哪些阻力？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先说谁造成伤害，再说她还会遇到什么；责任不能推给她。</a:t>
            </a:r>
            <a:endParaRPr lang="en-US" sz="2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谁伤害了她？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337560" y="16550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诗把哪些行为清楚地写在男子身上？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3375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读一读最初那句话，再用六章诗句回答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" y="3538728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3A322B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停止以后呢？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337560" y="36850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她说出“亦已焉哉”，还会面对哪些现实阻力？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333756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读一读最初那句话，再用六章诗句回答</a:t>
            </a:r>
            <a:endParaRPr lang="en-US" sz="2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先把责任说清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从四句中选择你认为最有力的一句。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84708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39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190488" y="184708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039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868680" y="287121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63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190488" y="287121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063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1051560" y="4187952"/>
            <a:ext cx="10104120" cy="1417320"/>
          </a:xfrm>
          <a:prstGeom prst="roundRect">
            <a:avLst>
              <a:gd name="adj" fmla="val 3871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517136"/>
            <a:ext cx="9189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我认为他应为________负责。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诗中的依据是________________。</a:t>
            </a:r>
            <a:endParaRPr lang="en-US" sz="2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让判断经得住追问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你说的是诗中明写的行为，还是替人物补出的动机？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另一组只追问这一件事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发言组必须回到原句回答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可以当场改掉一个说得太满的词</a:t>
            </a:r>
            <a:endParaRPr lang="en-US" sz="2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诗把这些行为写得很清楚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诗没有写出他的全部心理，却没有模糊他的行为。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3A322B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贰其行：失信　　二三其德：反复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至于暴矣：粗暴　　不思其反：违背誓言</a:t>
            </a:r>
            <a:endParaRPr lang="en-US" sz="3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她要停下这段关系，会面对什么？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四组各守一个问题：先找诗，再用自己的话说。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最初，哪些事情还没有展开？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为这段关系，她已经交付了什么？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她受伤时，身边有没有人真正接住她？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在她所处的时代，女子离开一段婚姻容易吗？</a:t>
            </a:r>
            <a:endParaRPr lang="en-US" sz="2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哪些东西绊住了她的脚步？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每组先读诗，再解释；听众选择一种方式回应。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补一处诗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质疑一句说得太满的话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把这个回答和另一个组连接起来</a:t>
            </a:r>
            <a:endParaRPr lang="en-US" sz="2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把她面对的阻力写在诗句旁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用四组刚才真正说出的原话现场补全；每一处都添上原诗。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最初，哪些事情尚未展开：____________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她已经交付了什么：__________________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受伤时，谁真正接住了她：____________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时代给女子留下多少选择：____________</a:t>
            </a:r>
            <a:endParaRPr lang="en-US" sz="2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理解阻力，不替伤害开脱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谁造成伤害，她还会遇到什么，要分开说。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3A322B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迁嫁、劳作、孤立与时代处境，会使她作出停止判断后面对更多阻力；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却不能制造、减轻或合理化他的失信与粗暴。</a:t>
            </a:r>
            <a:endParaRPr lang="en-US" sz="3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回到最初的热烈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读到结局以后，哪些细节值得多看一眼？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哪些判断仍不能说得太满？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听别人发言时，记下一处你想追问的证据。</a:t>
            </a:r>
            <a:endParaRPr lang="en-US" sz="3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回头看，也不能把话说满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99339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4825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诗明写：贸丝只是表面来意；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‘蚩蚩’是初见的样子；她劝他‘无怒’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68680" y="2999232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129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66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18104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可以想到：初见形象与婚后行动反差明显；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‘贸丝 / 谋’、‘无怒’值得重看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68680" y="4517136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2920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840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6008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不能断言：他有意伪装整个人格；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‘无怒’不等于婚前施暴；也不能说她早已看清后来</a:t>
            </a:r>
            <a:endParaRPr lang="en-US" sz="2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如果把《氓》说给后来人听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一段值得珍惜的婚姻，最不能缺少什么？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先说你的判断，再说诗中哪一处让你这样想。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只谈作品或第三人称案例。</a:t>
            </a:r>
            <a:endParaRPr lang="en-US" sz="3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把一句提醒留给后来人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可以选一个句首，也可以写自己的句子。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不要只听一个人怎样许诺，还要看________。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两个人共同生活，不能总让一个人________。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当伤害发生时，________。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一段值得珍惜的婚姻，应当________。</a:t>
            </a:r>
            <a:endParaRPr lang="en-US" sz="2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让彼此的句子被听见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同桌互读：哪一个词最有力量？哪一处还可以更具体？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修改以后，各桌选一句最想让全班听见的话。</a:t>
            </a:r>
            <a:endParaRPr lang="en-US" sz="3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诗没有替后来人写完答案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4160520"/>
          </a:xfrm>
          <a:prstGeom prst="roundRect">
            <a:avLst>
              <a:gd name="adj" fmla="val 1319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74520"/>
            <a:ext cx="9464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怎样看一个人：________________________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怎样共同生活：________________________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受伤时怎样得到支持：__________________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想要停止伤害时，应当守住：____________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80644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用班级刚才真正写出的句子现场补全；有证据的分歧可以并存。</a:t>
            </a:r>
            <a:endParaRPr lang="en-US" sz="2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知识检索｜故事与人物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不看答案：用六个动作写出叙事结构，再写人物认识怎样变化。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知识收纳｜故事与人物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相识议婚—等待迁嫁—婚后食贫—长期劳作—失信孤立—停止判断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期待—投入—承受—自悼—核验违誓—形成停止判断</a:t>
            </a:r>
            <a:endParaRPr lang="en-US" sz="2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知识检索｜字词与《诗经》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找出本课最容易误读、误解的八个字词，并说明《氓》属于哪一类诗。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知识收纳｜字词与《诗经》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《诗经》305篇；风、雅、颂；《氓》属于《卫风》；以四言为主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qiān｜将 qiāng｜筮 shì｜说 tuō｜徂 cú｜汤汤 shāng shāng｜渐 jiān｜咥 xì｜隰 xí｜泮 pàn</a:t>
            </a:r>
            <a:endParaRPr lang="en-US" sz="2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知识检索｜意象与写法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各找一组原句说明：桑叶、淇水、对照、反复怎样参与理解。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知识收纳｜意象与写法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2844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33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桑叶｜沃若/黄而陨：比兴、状态对照，意义由语境筛选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68680" y="3041904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6158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164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60776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淇水｜三处语言连接空间与回望，方向不强行补写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68680" y="4575048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9473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1495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93920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赋、比、兴｜对照、反复、叠词、呼告｜时间压缩、时间回环、第一人称回望</a:t>
            </a:r>
            <a:endParaRPr lang="en-US" sz="25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知识检索｜三问与阅读方法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用一条证据回答每问，再写出可迁移到其他叙事诗的阅读顺序。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知识收纳｜三问与阅读方法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她怎样走到结尾｜她的日子苦在哪里｜谁造成伤害、她还要面对什么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准确释义 → 追踪行动 → 听见声音 → 观察写法 → 用证据判断 → 联系真实生活</a:t>
            </a:r>
            <a:endParaRPr lang="en-US" sz="2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最后一次完整朗读｜第一至第三章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最后一次完整朗读｜第四至第六章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把理解和问题一起带走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377440"/>
            <a:ext cx="9235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我现在最愿意用________理解她，因为________。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我仍愿意保留的问题是________________。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53949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1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《氓》V5全文逐句课堂课件（完整母版）</dc:title>
  <dc:subject>《氓》V5全文逐句教学母版</dc:subject>
  <dc:creator>语文备课系统</dc:creator>
  <cp:lastModifiedBy>语文备课系统</cp:lastModifiedBy>
  <cp:revision>1</cp:revision>
  <dcterms:created xsi:type="dcterms:W3CDTF">2026-08-11T13:56:35Z</dcterms:created>
  <dcterms:modified xsi:type="dcterms:W3CDTF">2026-08-11T13:56:35Z</dcterms:modified>
</cp:coreProperties>
</file>
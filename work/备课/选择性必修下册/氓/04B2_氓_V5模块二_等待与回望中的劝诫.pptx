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【模块课件】M2-P1｜母版P28
【页码与模块】P28｜模块二·等待与回望中的劝诫
【连续课堂剧本】
【承接上一页】教师在新的内容模块开始时，不用复习题轰炸学生，只恢复故事位置。
【教师原话】“上次故事走到这里：相识议婚｜女子远送并约定秋期 请用十五秒找到最后读懂的一句，再看今天要继续进入哪里。”
【学生动作与等待】学生翻到对应诗句，先自己复述，再由一名学生用不超过三十秒连接前后。
【可能回应与接话】若遗忘，教师给行动链首尾词；若复述过长，只保留人物行动和未回答的问题。
【可观察证据】能够说清上次停点、本次起点和尚未回答的问题。
【明确切页句】“位置恢复了，让下一章完整出现。”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【模块课件】M2-P2｜母版P29
【页码与模块】P29｜模块二·等待与回望中的劝诫
【连续课堂剧本】
【承接上一页】教师在进入第二章逐句解释前，先让一章完整出现。
【教师原话】“先完整读第二章，遇到人物动作就轻点桌面，遇到声音变化就停半拍。暂时不翻译，也不要求现在讲出章意。”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【模块课件】M2-P3｜母版P30
【页码与模块】P30｜模块二·等待与回望中的劝诫
【连续课堂剧本】
【承接上一页】教师指向第二章 1/5和累计行动链，不让这句脱离整章。
【教师原话】“先读：‘乘彼垝垣，以望复关’。谁在做什么？”【等回答后】“用现代汉语说就是：登上那堵残破的墙，来眺望复关。 关键词只处理乘：登上；垝垣 guǐ yuán：残破的墙；以：来。”教师随后补充：“女子登高远望。”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【可观察证据】准确口译“乘彼垝垣，以望复关”并指出：女子登高远望。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【模块课件】M2-P4｜母版P31
【页码与模块】P31｜模块二·等待与回望中的劝诫
【连续课堂剧本】
【承接上一页】教师指向第二章 2/5和累计行动链，不让这句脱离整章。
【教师原话】“先读：‘不见复关，泣涕涟涟’。谁在做什么？”【等回答后】“译意先不出现；请借关键词把它说完整。 关键词只处理泣涕：流泪；涟涟：泪流不断的样子。”教师随后补充：“未见来人，女子哭泣。”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【可观察证据】准确口译“不见复关，泣涕涟涟”并指出：未见来人，女子哭泣。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【模块课件】M2-P5｜母版P32
【页码与模块】P32｜模块二·等待与回望中的劝诫
【连续课堂剧本】
【承接上一页】上一页已确认“不见复关，泣涕涟涟”的基本意思，本页只增加一个关键观察。
【教师原话】“请把译意先放下，再读原句。你看见的形式是：“不见”触发“泣”；叠词“涟涟”延长情绪。 它怎样改变我们对处境的理解？”教师在学生回应后用边界语收束：“不要只说“痴情”。先读出“不见”这一条件，再听“涟涟”怎样把等待拉长。”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情绪高度受关系进展牵动。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【模块课件】M2-P6｜母版P33
【页码与模块】P33｜模块二·等待与回望中的劝诫
【连续课堂剧本】
【承接上一页】教师指向第二章 3/5和累计行动链，不让这句脱离整章。
【教师原话】“先读：‘既见复关，载笑载言’。谁在做什么？”【等回答后】“译意先不出现；请借关键词把它说完整。 关键词只处理既：已经；载……载……：又……又……。”教师随后补充：“见到来人后，女子转哭为笑。”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【可观察证据】准确口译“既见复关，载笑载言”并指出：见到来人后，女子转哭为笑。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【模块课件】M2-P7｜母版P34
【页码与模块】P34｜模块二·等待与回望中的劝诫
【连续课堂剧本】
【承接上一页】上一页已确认“既见复关，载笑载言”的基本意思，本页只增加一个关键观察。
【教师原话】“请把译意先放下，再读原句。你看见的形式是：“不见/既见”“泣/笑”正面对照；反复“载”加强动作。 它怎样改变我们对处境的理解？”教师在学生回应后用边界语收束：“把前后两句连读：同一个“见”字改变情绪速度。诗没有解释全部心理，却用动作让依赖感可听见。”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【可观察证据】一条“原词—形式—处境”解释，且不越过边界：Q1 等待出现转折；Q3 情感投入很深。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【模块课件】M2-P8｜母版P35
【页码与模块】P35｜模块二·等待与回望中的劝诫
【连续课堂剧本】
【承接上一页】教师指向第二章 4/5和累计行动链，不让这句脱离整章。
【教师原话】“先读：‘尔卜尔筮，体无咎言’。谁在做什么？”【等回答后】“用现代汉语说就是：你用龟甲、蓍草占卜，卦象没有不吉利的话。 关键词只处理卜：用火灼龟甲看裂纹；筮 shì：用蓍草占卜；体：卦象；咎：灾祸。”教师随后补充：“男子以当时婚俗方式确认吉凶。”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【可观察证据】准确口译“尔卜尔筮，体无咎言”并指出：男子以当时婚俗方式确认吉凶。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【模块课件】M2-P9｜母版P36
【页码与模块】P36｜模块二·等待与回望中的劝诫
【连续课堂剧本】
【承接上一页】教师指向第二章 5/5和累计行动链，不让这句脱离整章。
【教师原话】“先读：‘以尔车来，以我贿迁’。谁在做什么？”【等回答后】“用现代汉语说就是：你用车来接我，我带着财物嫁过去。 关键词只处理贿：财物，这里指嫁妆；迁：迁往男子家。”教师随后补充：“男子来迎，女子携财物迁嫁。”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【可观察证据】准确口译“以尔车来，以我贿迁”并指出：男子来迎，女子携财物迁嫁。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【模块课件】M2-P10｜母版P37
【页码与模块】P37｜模块二·等待与回望中的劝诫
【连续课堂剧本】
【承接上一页】教师把本章讲解暂时停住，只保留活动所需原句和空白。
【教师原话】“排列“望—不见—泣—见—笑—迁”，为前半和后半各设计一种速度、停顿与重音。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【模块课件】M2-P11｜母版P38
【页码与模块】P38｜模块二·等待与回望中的劝诫
【连续课堂剧本】
【承接上一页】教师确认学生已经形成个人或小组产出，才切到回收页。
【教师原话】“先别抄屏幕。请用你自己的产出核对：望—不见—泣：视线受阻，时间和声音都被拉长。；见—笑—言：信息突然改变，情绪快速释放。；迁嫁不是孤立事件，而是等待获得确定后的行动结果。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【模块课件】M2-P12｜母版P39
【页码与模块】P39｜模块二·等待与回望中的劝诫
【连续课堂剧本】
【承接上一页】教师把第二章五组诗句重新放回同一页。
【教师原话】“现在完整重读第二章。读完不用列点，请用一口气讲清：登墙望 → 不见而泣 → 既见而笑 → 卜筮 → 迁嫁之间怎样连接？”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【可观察证据】一次完整章读和一句连续章意：“女子的视线和情绪围绕复关迅速变化；卜筮无不吉后，她带着财物乘车迁嫁。”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【模块课件】M2-P13｜母版P40
【页码与模块】P40｜模块二·等待与回望中的劝诫
【连续课堂剧本】
【承接上一页】教师在进入第三章逐句解释前，先让一章完整出现。
【教师原话】“先完整读第三章，遇到人物动作就轻点桌面，遇到声音变化就停半拍。暂时不翻译，也不要求现在讲出章意。”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【模块课件】M2-P14｜母版P41
【页码与模块】P41｜模块二·等待与回望中的劝诫
【连续课堂剧本】
【承接上一页】教师指向第三章 1/5和累计行动链，不让这句脱离整章。
【教师原话】“先读：‘桑之未落，其叶沃若’。谁在做什么？”【等回答后】“译意先不出现；请借关键词把它说完整。 关键词只处理沃若：润泽鲜嫩的样子。”教师随后补充：“叙事暂停，镜头转向丰润桑叶。”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【可观察证据】准确口译“桑之未落，其叶沃若”并指出：叙事暂停，镜头转向丰润桑叶。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【模块课件】M2-P15｜母版P42
【页码与模块】P42｜模块二·等待与回望中的劝诫
【连续课堂剧本】
【承接上一页】上一页已确认“桑之未落，其叶沃若”的基本意思，本页只增加一个关键观察。
【教师原话】“请把译意先放下，再读原句。你看见的形式是：兴，也可引发比的联想；意义须由上下文筛选。 它怎样改变我们对处境的理解？”教师在学生回应后用边界语收束：“先感受色泽和质地，再命名“比兴”。桑叶可以联想到青春、感情或关系状态，但没有固定的一对一密码。”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【可观察证据】一条“原词—形式—处境”解释，且不越过边界：Q1 婚前或青春阶段的可能联想。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【模块课件】M2-P16｜母版P43
【页码与模块】P43｜模块二·等待与回望中的劝诫
【连续课堂剧本】
【承接上一页】教师指向第三章 2/5和累计行动链，不让这句脱离整章。
【教师原话】“先读：‘于嗟鸠兮，无食桑葚’。谁在做什么？”【等回答后】“用现代汉语说就是：唉，斑鸠啊，不要贪吃桑葚。 关键词只处理于嗟 xū jiē：感叹词；鸠：斑鸠；桑葚：桑树果实。”教师随后补充：“诗中声音转为对斑鸠的呼告。”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【可观察证据】准确口译“于嗟鸠兮，无食桑葚”并指出：诗中声音转为对斑鸠的呼告。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【模块课件】M2-P17｜母版P44
【页码与模块】P44｜模块二·等待与回望中的劝诫
【连续课堂剧本】
【承接上一页】教师指向第三章 3/5和累计行动链，不让这句脱离整章。
【教师原话】“先读：‘于嗟女兮，无与士耽’。谁在做什么？”【等回答后】“译意先不出现；请借关键词把它说完整。 关键词只处理耽：沉溺。”教师随后补充：“劝诫对象由斑鸠转为女子。”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【可观察证据】准确口译“于嗟女兮，无与士耽”并指出：劝诫对象由斑鸠转为女子。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【模块课件】M2-P18｜母版P45
【页码与模块】P45｜模块二·等待与回望中的劝诫
【连续课堂剧本】
【承接上一页】上一页已确认“于嗟女兮，无与士耽”的基本意思，本页只增加一个关键观察。
【教师原话】“请把译意先放下，再读原句。你看见的形式是：“于嗟”反复；由物到人的类比推进。 它怎样改变我们对处境的理解？”教师在学生回应后用边界语收束：““耽”不是嘲笑爱得深，而是回望者对失去判断空间的警惕。现代所说的确认偏向只能到全文后再使用，不能把她的投入变成男子粗暴的原因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情感沉溺后的处境；Q3 投入使停止更难。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【模块课件】M2-P19｜母版P46
【页码与模块】P46｜模块二·等待与回望中的劝诫
【连续课堂剧本】
【承接上一页】教师指向第三章 4/5和累计行动链，不让这句脱离整章。
【教师原话】“先读：‘士之耽兮，犹可说也’。谁在做什么？”【等回答后】“用现代汉语说就是：男子沉溺情爱，尚且可以脱身。 关键词只处理说 tuō：同“脱”，摆脱。”教师随后补充：“叙述者开始比较男女沉溺后的处境。”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【可观察证据】准确口译“士之耽兮，犹可说也”并指出：叙述者开始比较男女沉溺后的处境。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【模块课件】M2-P20｜母版P47
【页码与模块】P47｜模块二·等待与回望中的劝诫
【连续课堂剧本】
【承接上一页】教师指向第三章 5/5和累计行动链，不让这句脱离整章。
【教师原话】“先读：‘女之耽兮，不可说也’。谁在做什么？”【等回答后】“用现代汉语说就是：女子沉溺情爱，往往难以脱身。 关键词只处理说 tuō：同“脱”；不可：难以。”教师随后补充：“劝诫最终落回女子自身处境。”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【可观察证据】准确口译“女之耽兮，不可说也”并指出：劝诫最终落回女子自身处境。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【模块课件】M2-P21｜母版P48
【页码与模块】P48｜模块二·等待与回望中的劝诫
【连续课堂剧本】
【承接上一页】教师把本章讲解暂时停住，只保留活动所需原句和空白。
【教师原话】“先写“沃若”的颜色、质地和生命状态，再提出两种可能联想；暂不选择唯一答案。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【模块课件】M2-P22｜母版P49
【页码与模块】P49｜模块二·等待与回望中的劝诫
【连续课堂剧本】
【承接上一页】教师确认学生已经形成个人或小组产出，才切到回收页。
【教师原话】“先别抄屏幕。请用你自己的产出核对：桑叶先是可感的颜色、质地和生命状态。；青春、情感、关系都可以成为联想方向。；第四章“黄而陨”出现后，再用位置、对照和叙事筛选。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【模块课件】M2-P23｜母版P50
【页码与模块】P50｜模块二·等待与回望中的劝诫
【连续课堂剧本】
【承接上一页】教师把第三章五组诗句重新放回同一页。
【教师原话】“现在完整重读第三章。读完不用列点，请用一口气讲清：桑叶丰润 → 劝鸠勿食 → 劝女勿耽 → 比较男女处境之间怎样连接？”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【可观察证据】一次完整章读和一句连续章意：“叙事暂时停下，回望中的女子由桑叶和斑鸠起兴，转向对情感沉溺及其不平等后果的劝诫。”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故事走到这里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相识议婚｜女子远送并约定秋期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第二章将进入等待、卜筮与迁嫁。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第二章｜等待、占卜与迁嫁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登上那堵残破的墙，来眺望复关。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乘：登上；垝垣 guǐ yuán：残破的墙；以：来。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2/5｜读懂关键变化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泣涕涟涟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看不见复关，就泪流不断。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“不见”触发“泣”；叠词“涟涟”延长情绪。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不要只说“痴情”。先读出“不见”这一条件，再听“涟涟”怎样把等待拉长。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3/5｜读懂关键变化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载笑载言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已经看见复关，便又笑又说。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“不见/既见”“泣/笑”正面对照；反复“载”加强动作。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把前后两句连读：同一个“见”字改变情绪速度。诗没有解释全部心理，却用动作让依赖感可听见。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你用龟甲、蓍草占卜，卦象没有不吉利的话。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卜：用火灼龟甲看裂纹；筮 shì：用蓍草占卜；体：卦象；咎：灾祸。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你用车来接我，我带着财物嫁过去。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贿：财物，这里指嫁妆；迁：迁往男子家。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不见而泣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既见而笑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卜筮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让等待拥有两种速度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排列“望—不见—泣—见—笑—迁”，为前半和后半各设计一种速度、停顿与重音。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慢下来的一处：__________　因为：________________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加快的一处：__________　因为：________________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动作顺序就是情绪过程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8E7EA"/>
          </a:solidFill>
          <a:ln w="15240">
            <a:solidFill>
              <a:srgbClr val="D8E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望—不见—泣：视线受阻，时间和声音都被拉长。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见—笑—言：信息突然改变，情绪快速释放。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8E7EA"/>
          </a:solidFill>
          <a:ln w="15240">
            <a:solidFill>
              <a:srgbClr val="D8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迁嫁不是孤立事件，而是等待获得确定后的行动结果。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登墙望 → 不见而泣 → 既见而笑 → 卜筮 → 迁嫁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第三章｜桑叶、斑鸠与回望中的劝诫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1/5｜读懂关键变化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其叶沃若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桑叶还没有落下时，叶子润泽鲜嫩。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兴，也可引发比的联想；意义须由上下文筛选。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先感受色泽和质地，再命名“比兴”。桑叶可以联想到青春、感情或关系状态，但没有固定的一对一密码。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唉，斑鸠啊，不要贪吃桑葚。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于嗟 xū jiē：感叹词；鸠：斑鸠；桑葚：桑树果实。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3/5｜读懂关键变化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无与士耽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唉，女子啊，不要同男子沉溺情爱。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“于嗟”反复；由物到人的类比推进。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“耽”不是嘲笑爱得深，而是回望者对失去判断空间的警惕。现代所说的确认偏向只能到全文后再使用，不能把她的投入变成男子粗暴的原因。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男子沉溺情爱，尚且可以脱身。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 tuō：同“脱”，摆脱。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4D7481"/>
          </a:solidFill>
          <a:ln w="12700">
            <a:solidFill>
              <a:srgbClr val="4D74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D748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女子沉溺情爱，往往难以脱身。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 tuō：同“脱”；不可：难以。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700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劝鸠勿食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4019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334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劝女勿耽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03386" y="5715000"/>
            <a:ext cx="2590038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6538" y="5852160"/>
            <a:ext cx="2443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比较男女处境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D8E7EA"/>
          </a:solidFill>
          <a:ln w="12700">
            <a:solidFill>
              <a:srgbClr val="D8E7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桑叶首先让你看见什么？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先写“沃若”的颜色、质地和生命状态，再提出两种可能联想；暂不选择唯一答案。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感官词：__________ / 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可能联想A：____________　依据：____________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可能联想B：____________　依据：____________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把解释保存成假设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8E7EA"/>
          </a:solidFill>
          <a:ln w="15240">
            <a:solidFill>
              <a:srgbClr val="D8E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桑叶先是可感的颜色、质地和生命状态。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青春、情感、关系都可以成为联想方向。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D8E7EA"/>
          </a:solidFill>
          <a:ln w="15240">
            <a:solidFill>
              <a:srgbClr val="D8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第四章“黄而陨”出现后，再用位置、对照和叙事筛选。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4D74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桑叶丰润 → 劝鸠勿食 → 劝女勿耽 → 比较男女处境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《氓》V5模块二：等待与回望中的劝诫</dc:title>
  <dc:subject>《氓》V5全文逐句教学母版</dc:subject>
  <dc:creator>语文备课系统</dc:creator>
  <cp:lastModifiedBy>语文备课系统</cp:lastModifiedBy>
  <cp:revision>1</cp:revision>
  <dcterms:created xsi:type="dcterms:W3CDTF">2026-08-11T13:56:36Z</dcterms:created>
  <dcterms:modified xsi:type="dcterms:W3CDTF">2026-08-11T13:56:36Z</dcterms:modified>
</cp:coreProperties>
</file>
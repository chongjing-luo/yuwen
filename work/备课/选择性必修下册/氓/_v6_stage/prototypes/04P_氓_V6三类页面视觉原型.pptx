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【V6页ID】N003｜四个人，把记得的故事说给彼此听｜6分钟
【教师逐字稿】
四个人先沿一个方向定一、二、三、四号，再选一位执笔人。等我说开始，一号先说，依次轮到四号，一个都不少。轮到你，只需二十秒：报篇名，用一句平常话说它写了什么；听别人时，听见自己没想到的作品或意思，就在旁边勾一下。执笔人只记篇名和短语，轮到自己时由下一位代记。（等待四轮完成。）现在每个人圈两项想带进全班的内容；没有新增，也请如实勾‘暂无新增’，再从全组作品谱里选两项。比较四个人的圈选，每组领取两张贡献卡，分别写清‘篇名＋它写了什么’，再补上组号、卡号和最初说出这项内容的同学号码，请这位同学亲手写卡或在卡上签认。尽量让两张卡来自两位同学；若两项确实都来自同一人，就如实写同一个号码。
【场面与走位】
四人小组围绕一张作品谱坐定。屏幕突出编号轮说、说者与听者动作，以及本页最终要留下的两张贡献卡。教师先把全部口令说完再计时，空白贡献卡在轮说结束后发下。
（各组定号并选执笔人）
（口令说完后启动六分钟计时）
（巡视四人是否逐一开口）
（确认听者边听边勾）
（四轮后每人圈两项）
（分发两张带来源栏的贡献卡）
（核对原提议者号与签认后交代表）
【时间盒】
定号、选执笔人与听清口令：45秒；四人轮说与同步听记：100秒；执笔人补齐小组作品谱：35秒；每人圈两项或诚实标暂无新增：40秒；比较圈选并书写两张带来源贡献卡：105秒；原提议者签认并交代表：35秒
【现场分支】
duplicate_work：四人说到同一篇时，不强迫换作品；教师提示‘可以补一个前面没有说到的主题，但仍只用自然话。’
memory_blank：仍无作品者先完整听一位同伴，再从听到的作品中选一篇写下自己记得的情节；不允许同伴代写。
one_student_dominates：有人超时详讲时，教师轻点计时器说‘先把这一篇留在二十秒里，让下一位也有声音。’
【听者同步任务】
听见自己未想到的作品或主题就勾；四轮结束后，每人留下两项选择，暂无新增者如实标记并从小组作品谱选择两项。执笔人只写篇名和短语，轮到自己发言时由下一位代记；入选内容由原提议者写卡或签认。
【证据位置】
学习单A·小组作品谱、个人两项圈选与贡献卡来源；两张带组号－卡号－原提议者号－签认栏的磁贴贡献卡
【自然切页句】
四个人的作品谱已经成形。每组带着两张卡，让全班看见更宽的故事版图。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【V6页ID】N008｜第一次完整听读｜第一至第三章｜3分钟
【教师逐字稿】
这一遍先不翻译，也不齐读，也不回答刚才的三个问题。眼睛跟着屏幕，耳朵听她把话说下去；哪一句让你停了一下，就用笔在教材原句旁点一个点，也可以画一个问号。我会用光点停在正在读的一行开头，走神了就从光点处回来。读到第三章我会无声换页，我们不中断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【场面与走位】
教师请学生握笔但不抄写，自己站到侧后方连续朗读；屏幕标明眼随声走、不齐读、用笔在教材原句旁留一点。教师只把光点停在正在朗读的一行开头，帮助走神者找回，不逐字追光。读至第三章末只无声翻页。
（示意不作答、不齐读）
（光点随朗读停在当前行开头）
（连续朗读前三章）
（无声切到N009）
（不在页尾停讲）
【时间盒】
说明第一次听读方式：20秒；连续朗读第一至第三章：150秒；无声换页缓冲：10秒
【现场分支】
mispronunciation：出现漏读或误读时，教师只在自然句首轻声带回，不停下来讲字音。
overinterpretation：有人举手想解释时，教师以手势示意把问题留在教材旁，朗读继续。
【听者同步任务】
眼睛随原诗移动；遇到让自己停下的诗句，用笔在教材原句旁点一个点或画问号；不讨论、不翻译。
【证据位置】
教材原句旁
【自然切页句】
（无声切页，不说转场句。）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【V6页ID】N012｜先借四言节奏走进声音｜2分钟
【教师逐字稿】
知道谁在说，还要先把她的话读顺。斜线只提示基本节奏，不能把‘抱布贸丝’这样的动作切碎。先看屏幕，听我读前两句，大家跟读一遍。现在，看教材。同桌互读一次，再诚实选择一条路：若停顿需要调整，听者只问‘谁做什么’，读者带着完整动作再读，并标出改动；若原本已经读顺，不必故意改错，请圈出一句里的连续动作，再完整读给同桌听。两条路都在读懂声音，不分高低。
【场面与走位】
屏幕以两行带节奏斜线的原诗为绝对视觉中心，并明示斜线不切碎动作。第一次跟读后，教师说出约定触发词‘看教材’，学生转到教材第一章开头的无斜线原句，再由听者提问、读者重读。
（教师范读）
（全班看屏幕跟读）
（教师明确说‘看教材’）
（学生转看无斜线原句）
（同桌判断需要调整或原本读顺）
（分别完成修订或连续动作圈画）
（双方重读）
【时间盒】
教师范读并说明斜线用途：25秒；全班跟读：20秒；转看教材并同桌互读：35秒；两条诚实路径的反馈与标记：25秒；双方带着语意重读：15秒
【现场分支】
mechanical_pause：学生一字一顿时，听者不直接读答案，只问‘谁做什么？’让说者带完整动作重读。
already_fluent：学生原本读顺时，不要求制造修改；请他圈出‘抱—贸’或‘来—谋’等连续动作，并把动作关系读给同桌听。
word_question：有人追问‘蚩蚩、贸丝’时，教师说‘问题留下，下一步就在这两句里逐词解决’，不打断本页节奏体验。
【听者同步任务】
先诚实判断同桌是否需要调整；需要时用‘谁做什么’帮助重读，原本读顺时复述自己听见的连续动作。
【证据位置】
学习单B·第一章节奏标记
【自然切页句】
声音已经走顺。下一步就从‘氓之蚩蚩，抱布贸丝’开始，看一次接近究竟怎样发生。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把四个人的故事放在一起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12252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自定1号｜按号轮说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03320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453128" y="1280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276088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25896" y="1280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48856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8856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98664" y="1280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21624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49808" y="1993392"/>
            <a:ext cx="10680192" cy="0"/>
          </a:xfrm>
          <a:prstGeom prst="line">
            <a:avLst/>
          </a:prstGeom>
          <a:noFill/>
          <a:ln w="15240">
            <a:solidFill>
              <a:srgbClr val="E7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304288"/>
            <a:ext cx="5102352" cy="2103120"/>
          </a:xfrm>
          <a:prstGeom prst="roundRect">
            <a:avLst>
              <a:gd name="adj" fmla="val 2609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63347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轮到我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097280" y="3218688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15—20秒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1097280" y="3803904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篇名＋它写了什么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09360" y="2304288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63347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听别人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656832" y="312724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听见新内容就勾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656832" y="3657600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有勾项，圈一项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656832" y="4005072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暂无新增，从作品谱圈一项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1024128" y="4773168"/>
            <a:ext cx="10131552" cy="640080"/>
          </a:xfrm>
          <a:prstGeom prst="roundRect">
            <a:avLst>
              <a:gd name="adj" fmla="val 8571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4946904"/>
            <a:ext cx="947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执笔人记全组作品谱；轮到自己时，下一位代记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148840" y="5824728"/>
            <a:ext cx="7891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作品重复？可以补一个不同主题。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80760" y="356616"/>
            <a:ext cx="5458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眼随声走｜不齐读｜用笔在教材原句旁留一点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58368" y="749808"/>
            <a:ext cx="10881360" cy="0"/>
          </a:xfrm>
          <a:prstGeom prst="line">
            <a:avLst/>
          </a:prstGeom>
          <a:noFill/>
          <a:ln w="13970">
            <a:solidFill>
              <a:srgbClr val="E7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96112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9F4EA"/>
          </a:solidFill>
          <a:ln w="12700">
            <a:solidFill>
              <a:srgbClr val="F9F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51560"/>
            <a:ext cx="73152" cy="1371600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03327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71600" y="1042416"/>
            <a:ext cx="98115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95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44368"/>
            <a:ext cx="73152" cy="1371600"/>
          </a:xfrm>
          <a:prstGeom prst="rect">
            <a:avLst/>
          </a:prstGeom>
          <a:solidFill>
            <a:srgbClr val="4E7480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92608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371600" y="2935224"/>
            <a:ext cx="98115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950" dirty="0"/>
          </a:p>
        </p:txBody>
      </p:sp>
      <p:sp>
        <p:nvSpPr>
          <p:cNvPr id="14" name="Shape 12"/>
          <p:cNvSpPr/>
          <p:nvPr/>
        </p:nvSpPr>
        <p:spPr>
          <a:xfrm>
            <a:off x="658368" y="4681728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9F4EA"/>
          </a:solidFill>
          <a:ln w="12700">
            <a:solidFill>
              <a:srgbClr val="F9F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837176"/>
            <a:ext cx="73152" cy="1371600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481888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371600" y="4828032"/>
            <a:ext cx="98115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先借四言节奏走进声音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9808" y="1225296"/>
            <a:ext cx="10698480" cy="2926080"/>
          </a:xfrm>
          <a:prstGeom prst="roundRect">
            <a:avLst>
              <a:gd name="adj" fmla="val 1875"/>
            </a:avLst>
          </a:prstGeom>
          <a:solidFill>
            <a:srgbClr val="FFFCF6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82496"/>
            <a:ext cx="9912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氓之／蚩蚩，抱布／贸丝。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43000" y="2697480"/>
            <a:ext cx="9912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匪来／贸丝，来即／我谋。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154680" y="3712464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／只提示节奏，不切碎完整动作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" y="44988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屏幕跟读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840480" y="44988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听到“看教材”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48272" y="449884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教材第一章开头｜无斜线原句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27248" y="44805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36208" y="44805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68680" y="5084064"/>
            <a:ext cx="10405872" cy="0"/>
          </a:xfrm>
          <a:prstGeom prst="line">
            <a:avLst/>
          </a:prstGeom>
          <a:noFill/>
          <a:ln w="13970">
            <a:solidFill>
              <a:srgbClr val="E7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394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听者问：谁做什么？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85232" y="543153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36208" y="5394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读者带着完整动作再读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072384" y="6062472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在路标卡写下重读后改动的一处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《氓》V6三类页面视觉原型</dc:title>
  <dc:subject>《氓》V6三类页面视觉原型</dc:subject>
  <dc:creator>语文备课系统</dc:creator>
  <cp:lastModifiedBy>语文备课系统</cp:lastModifiedBy>
  <cp:revision>1</cp:revision>
  <dcterms:created xsi:type="dcterms:W3CDTF">2026-08-15T05:48:28Z</dcterms:created>
  <dcterms:modified xsi:type="dcterms:W3CDTF">2026-08-15T05:48:28Z</dcterms:modified>
</cp:coreProperties>
</file>
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【V6页ID】N002｜想起哪些爱情或婚姻故事？｜2分钟
【教师逐字稿】
先不和同桌商量。请从初中到高中读过的语文课文或整本书里，想一想哪些写过爱情或婚姻。先写一篇；还能想起，就继续往下添，不设三篇上限。每篇只用一句平常话说它写了什么。（安静等待六十秒，巡视，不报篇名。）如果纸上还是空的，现在可以翻本班篇目目录，也可以举手领一张只写篇名的提示条；下一轮先听一位同伴再补，也算真实的开始。
【场面与走位】
屏幕与无课名回忆单都只显主任务。纸质篇名提示条扣放在讲台；60秒后教师口头开放恢复路径，屏幕不变化。
（分发无课名回忆单）
（计时60秒）
（口头开放三条恢复路径）
（对举手者递送只写篇名的纸卡）
【时间盒】
读题并说明尽量多想、只写朴素主题：20秒；个人静默检索：60秒；按需提供恢复路径：20秒；继续书写并检查每人至少有一项：15秒；准备轮说：5秒
【现场分支】
memory_blank：60秒仍空白者可翻目录、领篇名提示条，或先在下一环节听一位同伴后补；教师不替他写主题。
film_or_tv：若学生写影视作品，教师自然问‘它有没有你读过的文学原作？’；能定位原作就收入，不能定位则暂记‘相邻故事’，不批评也不展开。
overanalysis：若学生开始分析婚姻结构，教师说‘先收回来，这里只说作品写了什么，更深的判断留到读完今天的新篇以后。’
【听者同步任务】
此时不听别人，先完成自己的检索；先写完者再补一种不同的故事。
【证据位置】
学习单·旧故事清单
【自然切页句】
每个人手里已经有了故事。现在让四个人的记忆碰在一起。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【V6页ID】N003｜四个人，把记得的故事说给彼此听｜6分钟
【教师逐字稿】
四个人先沿一个方向定一、二、三、四号，再选一位执笔人。等我说开始，一号先说，依次轮到四号，一个都不少。轮到你，只需二十秒：报篇名，用一句平常话说它写了什么；听别人时，听见自己没想到的作品或意思，就在旁边勾一下。执笔人只记篇名和短语，轮到自己时由下一位代记。（等待四轮完成。）现在每个人圈两项想带进全班的内容；没有新增，也请如实勾‘暂无新增’，再从全组作品谱里选两项。比较四个人的圈选，每组领取两张贡献卡，分别写清‘篇名＋它写了什么’，再补上组号、卡号和最初说出这项内容的同学号码，请这位同学亲手写卡或在卡上签认。尽量让两张卡来自两位同学；若两项确实都来自同一人，就如实写同一个号码。
【场面与走位】
四人小组围绕一张作品谱坐定。屏幕突出编号轮说、说者与听者动作，以及本页最终要留下的两张贡献卡。教师先把全部口令说完再计时，空白贡献卡在轮说结束后发下。
（各组定号并选执笔人）
（口令说完后启动六分钟计时）
（巡视四人是否逐一开口）
（确认听者边听边勾）
（四轮后每人圈两项）
（分发两张带来源栏的贡献卡）
（核对原提议者号与签认后交代表）
【时间盒】
定号、选执笔人与听清口令：45秒；四人轮说与同步听记：100秒；执笔人补齐小组作品谱：35秒；每人圈两项或诚实标暂无新增：40秒；比较圈选并书写两张带来源贡献卡：105秒；原提议者签认并交代表：35秒
【现场分支】
duplicate_work：四人说到同一篇时，不强迫换作品；教师提示‘可以补一个前面没有说到的主题，但仍只用自然话。’
memory_blank：仍无作品者先完整听一位同伴，再从听到的作品中选一篇写下自己记得的情节；不允许同伴代写。
one_student_dominates：有人超时详讲时，教师轻点计时器说‘先把这一篇留在二十秒里，让下一位也有声音。’
【听者同步任务】
听见自己未想到的作品或主题就勾；四轮结束后，每人留下两项选择，暂无新增者如实标记并从小组作品谱选择两项。执笔人只写篇名和短语，轮到自己发言时由下一位代记；入选内容由原提议者写卡或签认。
【证据位置】
学习单A·小组作品谱、个人两项圈选与贡献卡来源；两张带组号－卡号－原提议者号－签认栏的磁贴贡献卡
【自然切页句】
四个人的作品谱已经成形。每组带着两张卡，让全班看见更宽的故事版图。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【V6页ID】N004｜让更多故事走到全班面前｜6分钟
【教师逐字稿】
请让代表拿好两张贡献卡。轮到本组，先把两张都贴上去，再用二十秒说明其中一处新增或不同。卡墙还没有这篇或这层意思，就把它说清；卡墙已有相同内容，就把卡贴近一些，说出相同在哪里、有没有一点不同。若核对后确实完全重复，直接说‘暂无新增’也很好——这说明你们认真听见了别人。台下也有两条同样真实的路：听见新增，就记下一项；暂时没有新增，就核对一张重复卡，看它究竟补没补出不同说法，把核对结果留在纸上。现在从第一组开始。
【场面与走位】
讲台侧边预留磁贴板。屏幕先让全班一眼看见共同动作‘贴两张卡—说一处—听众留一个结果’，代表与听众的诚实分支缩成次级提示。每组代表拿着两张贡献卡排成短队。
（确认八组共十六张贡献卡已写清并编号）
（逐组贴两张卡后启动20秒）
（每组结束留换组时间）
（巡视听众是否选择并完成一条真实路径）
【时间盒】
确认上一轮两张贡献卡与听众任务：20秒；八组贴两卡、表达与换组：300秒；听众核对补记与异常缓冲：40秒
【现场分支】
duplicate_work：若卡片篇名已出现，教师不让学生退回，追问‘你们补的是不同的哪一点？’说清后仍可贴在原卡附近。
no_new_content：若核对后确实完全重复，代表可以说‘暂无新增’，并把卡贴在相同卡旁；教师回应‘谢谢你认真核对’，不追逼伪造不同。
time_overrun：发言到20秒仍未说完，教师说‘卡片替你把余下的话留住’，立即请下一组贴卡，不挪用后面核对时间。
board_congestion：若卡片集中一角，教师只请代表贴到空处，暂不边听边分类，避免教师动作暗示预制答案。
【听者同步任务】
听见新增时记下一项自己未想到的内容；暂无新增时核对一张重复卡是否真的补了新说法，并在学习单留下核对结果。
【证据位置】
学习单·我未想到的一项；黑板或磁贴板现场区
【自然切页句】
先别急着给这些卡下结论。我们站远一点，看一看它们彼此靠近或分开的地方。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【V6页ID】N005｜我们读过的爱情与婚姻故事｜7分钟
【教师逐字稿】
先安静看这些卡，不急着套上现成的词。请每个人先在学习单上写下两张卡号：你觉得它们在说相近、相反或者可以相互补充的事，再给这组关系起一个临时名字。（等待书写。）现在请三位同学依次上台；每人移动一组卡，读出卡上的几个字，再说明为什么这样放、为什么这样命名。台下每个人都要核对：有卡片原话支持，就暂时保留；名字说得太满，就提出一个更贴近卡片的名字；证据不足，就要求移回。上台的同学根据大家的证据，在卡墙上完成保留、改名或移回。（三轮完成后，教师只复述现场已经出现的两三条线索。）如果现场只有两条站得住，我们就只留下两条；没有卡片支持的词，我不替大家补。把这面卡墙和你纸上的修订保存好，读完今天的新故事后，我们还会回来。现在，请把目光交给屏幕。
【场面与走位】
PPT只显示‘每人连接—三人举证—全班反馈并由原提议者修订’三项学生动作。教师退到卡墙侧面，活动开始后弱化投影，把解释权先让给真实卡片和学生命名。
（全班静看30秒）
（每人在学习单连接两张卡并临时命名）
（邀请三名学生依次移动、命名、举证）
（全班对每组执行保留、改名或移回）
（教师只复述现场已有线索）
（拍照并核对文字可读）
【时间盒】
静看约十六张卡：30秒；每人连接、写卡号与临时名字：75秒；三名学生移动、命名并引用卡片文字：150秒；全班核对及原提议者可见修订：90秒；教师只复述现场已经出现的线索：45秒；拍照或补记：30秒
【现场分支】
silence：无人愿意先上台时，教师不报主题词；从学习单随机抽取一组卡号，请作者先坐着读出两张卡的原话，再决定自己上台或委托同伴移动，作者仍负责命名。
misclassification：学生把两张卡放在一起但理由牵强时，教师请全班只核对卡上的句子：‘哪几个字支持它们相近？’证据不足就把卡移回。
time_overrun：现场出现更多分类时，只保留两三条最有作品依据的线，其余写入学习单‘不同之处’，不把导入变成深度主题课。
【听者同步任务】
每人先提交一组连接；公开移动时核对卡上文字，选择保留、改名或移回并写一句理由；原提议者依据反馈留下修订痕迹。
【证据位置】
黑板或磁贴板主题谱；学习单·卡号、临时名字与保留／改名／移回记录
【自然切页句】
这面卡墙先留着。现在请把目光交给屏幕——今天的新故事，直到此刻才揭开题名。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【V6页ID】N001｜氓｜1分钟
【教师逐字稿】
刚才那面卡墙，让许多爱情与婚姻故事在教室里相遇。今天，我们再认识一位更早的讲述者。她的故事，收在《诗经·卫风》里，题目只有一个字——氓。这个字在这里读méng。请翻到课文，找到第一句‘氓之蚩蚩’；先别往结尾赶，让她自己把六章说完。
【场面与走位】
班级主题谱已经留在卡墙上。教师完成现场小结后停两秒，再切到纯题名页；这是课堂第一次出现《氓》篇名。
（确认揭题前屏幕与纸张均无《氓》篇名）
（从卡墙侧边切到纯题名页）
（读准méng并报出处）
（巡视确认全班翻到第一句）
【时间盒】
从卡墙转身并留出揭题停顿：10秒；揭示题名、正音与出处：20秒；学生翻书定位第一句：25秒；转入三问：5秒
【现场分支】
silence：教室尚未安静时不提高音量讲解，只停在题名页，等大多数人翻到文本后再说出处。
wrong_page：有人翻错单元时，教师只报页码或走近指认，不让已定位学生齐声催促。
【听者同步任务】
核对题名、出处和第一句，确认自己面对的是同一文本。
【证据位置】
教材题名旁
【自然切页句】
题目只有一个字，故事却走过六章。我们先用三个问题陪她走一遍。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【V6页ID】N007｜读完六章，再回答｜1分钟
【教师逐字稿】
题目很短，故事却要走过六章。请先看这三个问题：她经历了什么？婚后的不幸，在日子里怎样发生？这场婚姻为什么走到这一步？此刻不要抢答，也不必猜结论，只在最想追踪的一问旁做个记号。我们先完整听她说，再逐章读懂，六章讲完以后回到这里。
【场面与走位】
教师保留卡墙，不另放转场图。切到三问页后先完整说出转场，再给学生静默读题和做一处标记。
（从卡墙转身面向三问）
（完整说转场台词）
（静默等待）
（只确认标记，不收答案）
【时间盒】
承接卡墙并转入女子回望：25秒；学生静默读三问：20秒；标记最想追踪的一问：10秒；说明此刻不回答并准备听读：5秒
【现场分支】
premature_answer：学生立即说‘因为男方变心’，教师回应‘先把这句话留在心里，六章以后用原诗检验；现在只选一问跟着走。’
pronoun_confusion：若有人问‘她是谁’，教师只回到转场：‘诗中用“我”说话的女子；我们马上完整听她自己说。’
【听者同步任务】
听清‘现在不回答’，只保存个人追踪重点，不替同桌作答。
【证据位置】
学习单·三问导航
【自然切页句】
三个问题先放在这里。接下来不中途拦住她，让六章一次说完。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【V6页ID】N008｜第一次完整听读｜第一至第三章｜3分钟
【教师逐字稿】
这一遍先不翻译，也不齐读，也不回答刚才的三个问题。眼睛跟着屏幕，耳朵听她把话说下去；哪一句让你停了一下，就用笔在教材原句旁点一个点，也可以画一个问号。我会用光点停在正在读的一行开头，走神了就从光点处回来。读到第三章我会无声换页，我们不中断。现在从‘氓之蚩蚩’开始。
氓之蚩蚩，抱布贸丝。匪来贸丝，来即我谋。送子涉淇，至于顿丘。匪我愆期，子无良媒。将子无怒，秋以为期。
乘彼垝垣，以望复关。不见复关，泣涕涟涟。既见复关，载笑载言。尔卜尔筮，体无咎言。以尔车来，以我贿迁。
桑之未落，其叶沃若。于嗟鸠兮，无食桑葚！于嗟女兮，无与士耽！士之耽兮，犹可说也。女之耽兮，不可说也！
【场面与走位】
教师请学生握笔但不抄写，自己站到侧后方连续朗读；屏幕标明眼随声走、不齐读、用笔在教材原句旁留一点。教师只把光点停在正在朗读的一行开头，帮助走神者找回，不逐字追光。读至第三章末只无声翻页。
（示意不作答、不齐读）
（光点随朗读停在当前行开头）
（连续朗读前三章）
（无声切到N009）
（不在页尾停讲）
【时间盒】
说明第一次听读方式：20秒；连续朗读第一至第三章：150秒；无声换页缓冲：10秒
【现场分支】
mispronunciation：出现漏读或误读时，教师只在自然句首轻声带回，不停下来讲字音。
overinterpretation：有人举手想解释时，教师以手势示意把问题留在教材旁，朗读继续。
【听者同步任务】
眼睛随原诗移动；遇到让自己停下的诗句，用笔在教材原句旁点一个点或画问号；不讨论、不翻译。
【证据位置】
教材原句旁
【自然切页句】
（无声切页，不说转场句。）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【V6页ID】N009｜第一次完整听读｜第四至第六章｜3分钟
【教师逐字稿】
桑之落矣，其黄而陨。自我徂尔，三岁食贫。淇水汤汤，渐车帷裳。女也不爽，士贰其行。士也罔极，二三其德。三岁为妇，靡室劳矣。夙兴夜寐，靡有朝矣。言既遂矣，至于暴矣。兄弟不知，咥其笑矣。静言思之，躬自悼矣。及尔偕老，老使我怨。淇则有岸，隰则有泮。总角之宴，言笑晏晏。信誓旦旦，不思其反。反是不思，亦已焉哉！
【场面与走位】
屏幕无缝接上后三章。教师保持同一声音和站位，读完末句后让教室安静十五秒。
（连续朗读第四至第六章）
（末句后静默）
（示意学生确认一处停顿）
（再切活动页）
【时间盒】
连续朗读第四至第六章：145秒；末句后的静默：15秒；确认个人停顿或尚未找到：15秒；转入书写：5秒
【现场分支】
no_initial_mark：没有停顿处的学生不被追问感受，只在教材旁留空，下一页可诚实写‘尚未找到’。
laughter_or_comment：末句后有人立即评论或发笑，教师不训斥，只以手势守住十五秒安静，再让评论进入下一页的‘我想问’。
【听者同步任务】
一直听到末句；静默后才确认停顿，不借同伴的选择代替自己。
【证据位置】
教材原句旁
【自然切页句】
声音先停在这里。现在只保存一句真正把你留住的话。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【V6页ID】N010｜哪一句把你留了下来？｜3分钟
【教师逐字稿】
如果有一句把你留了下来，就抄下它，再接一句自然话：我听见、我看见，或者我想问。如果暂时没有，也请如实写‘尚未找到’，听同桌说完以后再决定要不要补一句。两个人都要说一次；听的人补记一个自己原先没有注意到的地方。
【场面与走位】
屏幕切到四行简短任务，教师不点名示范感受。学生先独立写，再与同桌交换；教师在过道安静巡视。
（留出独立书写）
（成对交流各一次）
（提醒听者补记差异）
（不公开私人经历）
【时间盒】
说明诚实分支和三种句首：25秒；个人抄句与续写：70秒；同桌各说一次：60秒；听者补记并收束：25秒
【现场分支】
no_initial_mark：学生写‘尚未找到’时教师不纠正；请他先完整听同桌，再决定是否补一句或保留原样。
overinterpretation：出现‘恋爱脑、渣男、觉醒’等标签时，教师不在初听阶段争论，只问‘是哪几个字先让你这样猜？’没有原句就暂存为问题。
private_disclosure：学生转向私人经历时，教师温和说‘可以只谈诗句或第三人称故事’，不要求继续公开。
【听者同步任务】
同桌说完前不评价；听后只补记一个自己没有注意到的声音、画面或疑问。
【证据位置】
学习单·第一次完整听读
【自然切页句】
这张初读卡先不改。等六章逐句读完，我们回来看看同一句是不是变了。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【V6页ID】N011｜《诗经》与《卫风》｜2分钟
【物理状态】给答态｜75秒
【教师逐字稿】
刚才我们先听见了六章。现在只补三块够用的路标：第一，《诗经》是我国最早的诗歌总集，共三百零五篇；第二，它分风、雅、颂，《氓》属于《卫风》；第三，诗里是一位女子用‘我’回望自己的婚姻经历。请看屏幕，也把三个词写在路标卡上：三百零五、《卫风》、女子第一人称。（等待书写。）先把三块路标说清，下一屏再把答案收起来。
【场面与走位】
初听交流后才分发路标卡。教师站到屏幕侧边，按一、二、三指认三块知识；学生只写三个定位词。
（分发路标卡）
（依次解释三项定位）
（等待学生写下三个词）
（确认多数人写完后再切屏）
【时间盒】
分发路标卡并朗读解释三项定位：45秒；路标卡写305、卫风、女子第一人称：30秒
【现场分支】
fact_confusion：把《卫风》说成作者或体裁时，教师只纠正为‘十五国风之一，《氓》属于《卫风》’，不展开文学史。
【听者同步任务】
听清三项必要知识，把‘305、卫风、女子第一人称’写在自己的路标卡上；此时不抢先复述。
【证据位置】
学习单B·三块最小路标
【自然切页句】
三个词写好以后，把卡片轻轻扣住；我也把屏幕上的答案收起来。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【V6页ID】N011｜《诗经》与《卫风》｜2分钟
【物理状态】撤答态｜45秒
【教师逐字稿】
屏幕上的答案已经收起，路标卡也先扣住。现在只看三个问题：这是怎样的一部诗歌总集？《氓》属于哪一部分？谁在回望什么？同桌一人先说，另一人只核对；说完交换。若第三问只答了‘一个女子’，听者不要报答案，只问：她在做什么，回望什么？
【场面与走位】
教师切到无答案的检索屏后离开屏幕中央；确认学生扣住卡片，再让同桌开始。答案不在本屏或教师口头重新给出。
（确认已经真实切到撤答屏）
（示意学生扣住路标卡）
（同桌一人复述、一人核对）
（交换并作最小纠正）
【时间盒】
同桌各说谁在回望什么：30秒；核对并转入声音：15秒
【现场分支】
narrator_confusion：说成‘作者回忆’时，教师只指向诗中‘我’，追问‘诗里用“我”说话的是谁？’，不重新朗读整块答案。
【听者同步任务】
听同桌回答‘谁在回望什么’，只核对人物、动作和对象是否齐全，再核对三个定位词；核对后交换。
【证据位置】
学习单B·三块最小路标；同桌口头检索
【自然切页句】
知道谁在说，还要听见她怎样说。我们先借四言节奏走进第一章。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【V6页ID】N012｜先借四言节奏走进声音｜2分钟
【教师逐字稿】
知道谁在说，还要先把她的话读顺。斜线只提示基本节奏，不能把‘抱布贸丝’这样的动作切碎。先看屏幕，听我读前两句，大家跟读一遍。现在，看教材。同桌互读一次，再诚实选择一条路：若停顿需要调整，听者只问‘谁做什么’，读者带着完整动作再读，并标出改动；若原本已经读顺，不必故意改错，请圈出一句里的连续动作，再完整读给同桌听。两条路都在读懂声音，不分高低。
【场面与走位】
屏幕以两行带节奏斜线的原诗为绝对视觉中心，并明示斜线不切碎动作。第一次跟读后，教师说出约定触发词‘看教材’，学生转到教材第一章开头的无斜线原句，再由听者提问、读者重读。
（教师范读）
（全班看屏幕跟读）
（教师明确说‘看教材’）
（学生转看无斜线原句）
（同桌判断需要调整或原本读顺）
（分别完成修订或连续动作圈画）
（双方重读）
【时间盒】
教师范读并说明斜线用途：25秒；全班跟读：20秒；转看教材并同桌互读：35秒；两条诚实路径的反馈与标记：25秒；双方带着语意重读：15秒
【现场分支】
mechanical_pause：学生一字一顿时，听者不直接读答案，只问‘谁做什么？’让说者带完整动作重读。
already_fluent：学生原本读顺时，不要求制造修改；请他圈出‘抱—贸’或‘来—谋’等连续动作，并把动作关系读给同桌听。
word_question：有人追问‘蚩蚩、贸丝’时，教师说‘问题留下，下一步就在这两句里逐词解决’，不打断本页节奏体验。
【听者同步任务】
先诚实判断同桌是否需要调整；需要时用‘谁做什么’帮助重读，原本读顺时复述自己听见的连续动作。
【证据位置】
学习单B·第一章节奏标记
【自然切页句】
声音已经走顺。下一步就从‘氓之蚩蚩，抱布贸丝’开始，看一次接近究竟怎样发生。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7231F"/>
          </a:solidFill>
          <a:ln w="12700">
            <a:solidFill>
              <a:srgbClr val="2723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想起哪些爱情或婚姻故事？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49808" y="1234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从初中到高中，尽量多写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7818120" y="1078992"/>
            <a:ext cx="3520440" cy="859536"/>
          </a:xfrm>
          <a:prstGeom prst="roundRect">
            <a:avLst>
              <a:gd name="adj" fmla="val 6383"/>
            </a:avLst>
          </a:prstGeom>
          <a:solidFill>
            <a:srgbClr val="F1DCD5"/>
          </a:solidFill>
          <a:ln w="12700">
            <a:solidFill>
              <a:srgbClr val="A84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65008" y="1234440"/>
            <a:ext cx="3026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A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至少一篇</a:t>
            </a:r>
            <a:endParaRPr lang="en-US" sz="1950" dirty="0"/>
          </a:p>
          <a:p>
            <a:pPr algn="ctr" indent="0" marL="0">
              <a:buNone/>
            </a:pPr>
            <a:r>
              <a:rPr lang="en-US" sz="1950" b="1" dirty="0">
                <a:solidFill>
                  <a:srgbClr val="A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篇名＋它写了什么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14400" y="217627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18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481328" y="2560320"/>
            <a:ext cx="9253728" cy="0"/>
          </a:xfrm>
          <a:prstGeom prst="line">
            <a:avLst/>
          </a:prstGeom>
          <a:noFill/>
          <a:ln w="15240">
            <a:solidFill>
              <a:srgbClr val="A84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72768" y="2020824"/>
            <a:ext cx="8979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766E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篇名　　　　　　　　　它写了什么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914400" y="2889504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18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481328" y="3273552"/>
            <a:ext cx="9253728" cy="0"/>
          </a:xfrm>
          <a:prstGeom prst="line">
            <a:avLst/>
          </a:prstGeom>
          <a:noFill/>
          <a:ln w="15240">
            <a:solidFill>
              <a:srgbClr val="E7DC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72768" y="2734056"/>
            <a:ext cx="8979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914400" y="3602736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18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481328" y="3986784"/>
            <a:ext cx="9253728" cy="0"/>
          </a:xfrm>
          <a:prstGeom prst="line">
            <a:avLst/>
          </a:prstGeom>
          <a:noFill/>
          <a:ln w="15240">
            <a:solidFill>
              <a:srgbClr val="E7DC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72768" y="3447288"/>
            <a:ext cx="8979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914400" y="431596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18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481328" y="4700016"/>
            <a:ext cx="9253728" cy="0"/>
          </a:xfrm>
          <a:prstGeom prst="line">
            <a:avLst/>
          </a:prstGeom>
          <a:noFill/>
          <a:ln w="15240">
            <a:solidFill>
              <a:srgbClr val="E7DC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72768" y="4160520"/>
            <a:ext cx="8979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914400" y="502920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18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481328" y="5413248"/>
            <a:ext cx="9253728" cy="0"/>
          </a:xfrm>
          <a:prstGeom prst="line">
            <a:avLst/>
          </a:prstGeom>
          <a:noFill/>
          <a:ln w="15240">
            <a:solidFill>
              <a:srgbClr val="E7DC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72768" y="4873752"/>
            <a:ext cx="8979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1847088" y="587044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74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先独立回想｜还能想起，就继续往下添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7231F"/>
          </a:solidFill>
          <a:ln w="12700">
            <a:solidFill>
              <a:srgbClr val="2723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四个人，把记得的故事说给彼此听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49808" y="122529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自定1号｜按号轮说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703320" y="1133856"/>
            <a:ext cx="658368" cy="658368"/>
          </a:xfrm>
          <a:prstGeom prst="ellipse">
            <a:avLst/>
          </a:prstGeom>
          <a:solidFill>
            <a:srgbClr val="FFFCF6"/>
          </a:solidFill>
          <a:ln w="20320">
            <a:solidFill>
              <a:srgbClr val="A84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03320" y="1307592"/>
            <a:ext cx="658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A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453128" y="128016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18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276088" y="1133856"/>
            <a:ext cx="658368" cy="658368"/>
          </a:xfrm>
          <a:prstGeom prst="ellipse">
            <a:avLst/>
          </a:prstGeom>
          <a:solidFill>
            <a:srgbClr val="FFFCF6"/>
          </a:solidFill>
          <a:ln w="20320">
            <a:solidFill>
              <a:srgbClr val="A84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76088" y="1307592"/>
            <a:ext cx="658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A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025896" y="128016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18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848856" y="1133856"/>
            <a:ext cx="658368" cy="658368"/>
          </a:xfrm>
          <a:prstGeom prst="ellipse">
            <a:avLst/>
          </a:prstGeom>
          <a:solidFill>
            <a:srgbClr val="FFFCF6"/>
          </a:solidFill>
          <a:ln w="20320">
            <a:solidFill>
              <a:srgbClr val="A84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48856" y="1307592"/>
            <a:ext cx="658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A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598664" y="128016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18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421624" y="1133856"/>
            <a:ext cx="658368" cy="658368"/>
          </a:xfrm>
          <a:prstGeom prst="ellipse">
            <a:avLst/>
          </a:prstGeom>
          <a:solidFill>
            <a:srgbClr val="FFFCF6"/>
          </a:solidFill>
          <a:ln w="20320">
            <a:solidFill>
              <a:srgbClr val="A84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21624" y="1307592"/>
            <a:ext cx="658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A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749808" y="1993392"/>
            <a:ext cx="10680192" cy="0"/>
          </a:xfrm>
          <a:prstGeom prst="line">
            <a:avLst/>
          </a:prstGeom>
          <a:noFill/>
          <a:ln w="15240">
            <a:solidFill>
              <a:srgbClr val="E7DC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2304288"/>
            <a:ext cx="5102352" cy="2103120"/>
          </a:xfrm>
          <a:prstGeom prst="roundRect">
            <a:avLst>
              <a:gd name="adj" fmla="val 2609"/>
            </a:avLst>
          </a:prstGeom>
          <a:solidFill>
            <a:srgbClr val="F1DCD5"/>
          </a:solidFill>
          <a:ln w="12700">
            <a:solidFill>
              <a:srgbClr val="A84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2633472"/>
            <a:ext cx="4407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A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轮到我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1097280" y="3218688"/>
            <a:ext cx="4407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723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15—20秒</a:t>
            </a:r>
            <a:endParaRPr lang="en-US" sz="2900" dirty="0"/>
          </a:p>
        </p:txBody>
      </p:sp>
      <p:sp>
        <p:nvSpPr>
          <p:cNvPr id="20" name="Text 18"/>
          <p:cNvSpPr/>
          <p:nvPr/>
        </p:nvSpPr>
        <p:spPr>
          <a:xfrm>
            <a:off x="1097280" y="3803904"/>
            <a:ext cx="4407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篇名＋它写了什么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6309360" y="2304288"/>
            <a:ext cx="5120640" cy="2103120"/>
          </a:xfrm>
          <a:prstGeom prst="roundRect">
            <a:avLst>
              <a:gd name="adj" fmla="val 2609"/>
            </a:avLst>
          </a:prstGeom>
          <a:solidFill>
            <a:srgbClr val="E1E7D9"/>
          </a:solidFill>
          <a:ln w="12700">
            <a:solidFill>
              <a:srgbClr val="6477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56832" y="2633472"/>
            <a:ext cx="4425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6477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听别人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6656832" y="3127248"/>
            <a:ext cx="4425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723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听见新内容就勾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6656832" y="3602736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B443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每人圈两项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656832" y="3968496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B443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暂无新增，也从作品谱选两项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1024128" y="4608576"/>
            <a:ext cx="10131552" cy="1115568"/>
          </a:xfrm>
          <a:prstGeom prst="roundRect">
            <a:avLst>
              <a:gd name="adj" fmla="val 4918"/>
            </a:avLst>
          </a:prstGeom>
          <a:solidFill>
            <a:srgbClr val="DCE9EA"/>
          </a:solidFill>
          <a:ln w="12700">
            <a:solidFill>
              <a:srgbClr val="4E74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98448" y="4773168"/>
            <a:ext cx="9582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4E748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四轮后｜每人圈两项  →  每组写两张贡献卡</a:t>
            </a:r>
            <a:endParaRPr lang="en-US" sz="2500" dirty="0"/>
          </a:p>
        </p:txBody>
      </p:sp>
      <p:sp>
        <p:nvSpPr>
          <p:cNvPr id="28" name="Text 26"/>
          <p:cNvSpPr/>
          <p:nvPr/>
        </p:nvSpPr>
        <p:spPr>
          <a:xfrm>
            <a:off x="1572768" y="5230368"/>
            <a:ext cx="9034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4B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卡面写清：组号－卡号－原提议者号｜原提议者签认</a:t>
            </a:r>
            <a:endParaRPr lang="en-US" sz="2050" dirty="0"/>
          </a:p>
        </p:txBody>
      </p:sp>
      <p:sp>
        <p:nvSpPr>
          <p:cNvPr id="29" name="Text 27"/>
          <p:cNvSpPr/>
          <p:nvPr/>
        </p:nvSpPr>
        <p:spPr>
          <a:xfrm>
            <a:off x="1874520" y="5879592"/>
            <a:ext cx="8439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766E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执笔人记全组作品谱；轮到自己时，下一位代记｜共 6 分钟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7231F"/>
          </a:solidFill>
          <a:ln w="12700">
            <a:solidFill>
              <a:srgbClr val="2723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让更多故事走到全班面前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41248" y="1170432"/>
            <a:ext cx="3319272" cy="749808"/>
          </a:xfrm>
          <a:prstGeom prst="roundRect">
            <a:avLst>
              <a:gd name="adj" fmla="val 7317"/>
            </a:avLst>
          </a:prstGeom>
          <a:solidFill>
            <a:srgbClr val="E7DCCB"/>
          </a:solidFill>
          <a:ln w="12700">
            <a:solidFill>
              <a:srgbClr val="B18B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2416" y="138988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18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99616" y="1353312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每组贴两张卡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4544568" y="1170432"/>
            <a:ext cx="3319272" cy="749808"/>
          </a:xfrm>
          <a:prstGeom prst="roundRect">
            <a:avLst>
              <a:gd name="adj" fmla="val 7317"/>
            </a:avLst>
          </a:prstGeom>
          <a:solidFill>
            <a:srgbClr val="F1DCD5"/>
          </a:solidFill>
          <a:ln w="12700">
            <a:solidFill>
              <a:srgbClr val="A84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45736" y="138988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202936" y="1353312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20秒说一处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8247888" y="1170432"/>
            <a:ext cx="3319272" cy="749808"/>
          </a:xfrm>
          <a:prstGeom prst="roundRect">
            <a:avLst>
              <a:gd name="adj" fmla="val 7317"/>
            </a:avLst>
          </a:prstGeom>
          <a:solidFill>
            <a:srgbClr val="DCE9EA"/>
          </a:solidFill>
          <a:ln w="12700">
            <a:solidFill>
              <a:srgbClr val="4E74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49056" y="138988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74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906256" y="1353312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听众留一个结果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841248" y="2212848"/>
            <a:ext cx="4983480" cy="1371600"/>
          </a:xfrm>
          <a:prstGeom prst="roundRect">
            <a:avLst>
              <a:gd name="adj" fmla="val 4000"/>
            </a:avLst>
          </a:prstGeom>
          <a:solidFill>
            <a:srgbClr val="DCE9EA"/>
          </a:solidFill>
          <a:ln w="12700">
            <a:solidFill>
              <a:srgbClr val="4E74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33856" y="2423160"/>
            <a:ext cx="4398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4E748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卡墙还没有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1984248" y="2834640"/>
            <a:ext cx="2697480" cy="0"/>
          </a:xfrm>
          <a:prstGeom prst="line">
            <a:avLst/>
          </a:prstGeom>
          <a:noFill/>
          <a:ln w="13970">
            <a:solidFill>
              <a:srgbClr val="4E74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2926080"/>
            <a:ext cx="42153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B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说清：篇名＋它写了什么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6373368" y="2212848"/>
            <a:ext cx="4983480" cy="1371600"/>
          </a:xfrm>
          <a:prstGeom prst="roundRect">
            <a:avLst>
              <a:gd name="adj" fmla="val 4000"/>
            </a:avLst>
          </a:prstGeom>
          <a:solidFill>
            <a:srgbClr val="E1E7D9"/>
          </a:solidFill>
          <a:ln w="12700">
            <a:solidFill>
              <a:srgbClr val="6477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65976" y="2423160"/>
            <a:ext cx="4398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64775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卡墙已有相同内容</a:t>
            </a:r>
            <a:endParaRPr lang="en-US" sz="2300" dirty="0"/>
          </a:p>
        </p:txBody>
      </p:sp>
      <p:sp>
        <p:nvSpPr>
          <p:cNvPr id="19" name="Shape 17"/>
          <p:cNvSpPr/>
          <p:nvPr/>
        </p:nvSpPr>
        <p:spPr>
          <a:xfrm>
            <a:off x="7516368" y="2834640"/>
            <a:ext cx="2697480" cy="0"/>
          </a:xfrm>
          <a:prstGeom prst="line">
            <a:avLst/>
          </a:prstGeom>
          <a:noFill/>
          <a:ln w="13970">
            <a:solidFill>
              <a:srgbClr val="6477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57416" y="2926080"/>
            <a:ext cx="42153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4B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说清相同或不同</a:t>
            </a:r>
            <a:endParaRPr lang="en-US" sz="1950" dirty="0"/>
          </a:p>
          <a:p>
            <a:pPr algn="ctr" indent="0" marL="0">
              <a:buNone/>
            </a:pPr>
            <a:r>
              <a:rPr lang="en-US" sz="1950" b="1" dirty="0">
                <a:solidFill>
                  <a:srgbClr val="4B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完全重复：说“暂无新增”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868680" y="3822192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18B5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台下每个人｜留下一个听见的结果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841248" y="4279392"/>
            <a:ext cx="4983480" cy="1170432"/>
          </a:xfrm>
          <a:prstGeom prst="roundRect">
            <a:avLst>
              <a:gd name="adj" fmla="val 4688"/>
            </a:avLst>
          </a:prstGeom>
          <a:solidFill>
            <a:srgbClr val="DCE9EA"/>
          </a:solidFill>
          <a:ln w="12700">
            <a:solidFill>
              <a:srgbClr val="4E74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15568" y="4526280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4E748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有新增</a:t>
            </a:r>
            <a:endParaRPr lang="en-US" sz="2300" dirty="0"/>
          </a:p>
        </p:txBody>
      </p:sp>
      <p:sp>
        <p:nvSpPr>
          <p:cNvPr id="24" name="Text 22"/>
          <p:cNvSpPr/>
          <p:nvPr/>
        </p:nvSpPr>
        <p:spPr>
          <a:xfrm>
            <a:off x="2395728" y="443484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4B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记下一项自己未想到的内容</a:t>
            </a:r>
            <a:endParaRPr lang="en-US" sz="1850" dirty="0"/>
          </a:p>
        </p:txBody>
      </p:sp>
      <p:sp>
        <p:nvSpPr>
          <p:cNvPr id="25" name="Shape 23"/>
          <p:cNvSpPr/>
          <p:nvPr/>
        </p:nvSpPr>
        <p:spPr>
          <a:xfrm>
            <a:off x="6373368" y="4279392"/>
            <a:ext cx="4983480" cy="1170432"/>
          </a:xfrm>
          <a:prstGeom prst="roundRect">
            <a:avLst>
              <a:gd name="adj" fmla="val 4688"/>
            </a:avLst>
          </a:prstGeom>
          <a:solidFill>
            <a:srgbClr val="F1DCD5"/>
          </a:solidFill>
          <a:ln w="12700">
            <a:solidFill>
              <a:srgbClr val="A84A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47688" y="4526280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A84A3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暂无新增</a:t>
            </a:r>
            <a:endParaRPr lang="en-US" sz="2300" dirty="0"/>
          </a:p>
        </p:txBody>
      </p:sp>
      <p:sp>
        <p:nvSpPr>
          <p:cNvPr id="27" name="Text 25"/>
          <p:cNvSpPr/>
          <p:nvPr/>
        </p:nvSpPr>
        <p:spPr>
          <a:xfrm>
            <a:off x="7927848" y="443484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4B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核对一张重复卡：它真的补了不同说法吗？</a:t>
            </a:r>
            <a:endParaRPr lang="en-US" sz="1850" dirty="0"/>
          </a:p>
        </p:txBody>
      </p:sp>
      <p:sp>
        <p:nvSpPr>
          <p:cNvPr id="28" name="Text 26"/>
          <p:cNvSpPr/>
          <p:nvPr/>
        </p:nvSpPr>
        <p:spPr>
          <a:xfrm>
            <a:off x="2761488" y="597103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66E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八组公开、贴卡、换组与补记｜共 6 分钟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82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18B52"/>
          </a:solidFill>
          <a:ln w="12700">
            <a:solidFill>
              <a:srgbClr val="B18B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我们读过的爱情与婚姻故事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14300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7DCC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请看教室里的作品卡墙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199339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18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85623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每人先连一组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371600" y="2633472"/>
            <a:ext cx="2697480" cy="0"/>
          </a:xfrm>
          <a:prstGeom prst="line">
            <a:avLst/>
          </a:prstGeom>
          <a:noFill/>
          <a:ln w="27940">
            <a:solidFill>
              <a:srgbClr val="B18B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2980944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E7DCC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写两张卡号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E7DCC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给它临时命名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4562856" y="199339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74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184648" y="185623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三位同学上台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5184648" y="2633472"/>
            <a:ext cx="2697480" cy="0"/>
          </a:xfrm>
          <a:prstGeom prst="line">
            <a:avLst/>
          </a:prstGeom>
          <a:noFill/>
          <a:ln w="27940">
            <a:solidFill>
              <a:srgbClr val="4E74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84648" y="2980944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E7DCC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移动卡片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E7DCC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读出卡上依据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8375904" y="199339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7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997696" y="185623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全班核对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8997696" y="2633472"/>
            <a:ext cx="2697480" cy="0"/>
          </a:xfrm>
          <a:prstGeom prst="line">
            <a:avLst/>
          </a:prstGeom>
          <a:noFill/>
          <a:ln w="27940">
            <a:solidFill>
              <a:srgbClr val="6477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97696" y="2980944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E7DCC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每人写理由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E7DCC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提议者当场改定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572768" y="5650992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DCC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保留／改名／移回｜只留下卡片原话能够托住的联系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82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18B52"/>
          </a:solidFill>
          <a:ln w="12700">
            <a:solidFill>
              <a:srgbClr val="B18B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25296"/>
            <a:ext cx="105430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</a:t>
            </a:r>
            <a:endParaRPr lang="en-US" sz="10400" dirty="0"/>
          </a:p>
        </p:txBody>
      </p:sp>
      <p:sp>
        <p:nvSpPr>
          <p:cNvPr id="4" name="Text 2"/>
          <p:cNvSpPr/>
          <p:nvPr/>
        </p:nvSpPr>
        <p:spPr>
          <a:xfrm>
            <a:off x="3291840" y="3986784"/>
            <a:ext cx="5605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E7DCC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《诗经·卫风》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069080" y="5760720"/>
            <a:ext cx="4050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C8BFB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翻到题名，找到第一句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7231F"/>
          </a:solidFill>
          <a:ln w="12700">
            <a:solidFill>
              <a:srgbClr val="2723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读完六章，再回答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14400" y="1435608"/>
            <a:ext cx="713232" cy="713232"/>
          </a:xfrm>
          <a:prstGeom prst="ellipse">
            <a:avLst/>
          </a:prstGeom>
          <a:solidFill>
            <a:srgbClr val="B18B52"/>
          </a:solidFill>
          <a:ln w="12700">
            <a:solidFill>
              <a:srgbClr val="B18B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18488"/>
            <a:ext cx="7132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993392" y="1325880"/>
            <a:ext cx="8823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她经历了什么？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1993392" y="2587752"/>
            <a:ext cx="8458200" cy="0"/>
          </a:xfrm>
          <a:prstGeom prst="line">
            <a:avLst/>
          </a:prstGeom>
          <a:noFill/>
          <a:ln w="12700">
            <a:solidFill>
              <a:srgbClr val="E7DC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008376"/>
            <a:ext cx="713232" cy="713232"/>
          </a:xfrm>
          <a:prstGeom prst="ellipse">
            <a:avLst/>
          </a:prstGeom>
          <a:solidFill>
            <a:srgbClr val="4E7480"/>
          </a:solidFill>
          <a:ln w="12700">
            <a:solidFill>
              <a:srgbClr val="4E74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191256"/>
            <a:ext cx="7132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二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993392" y="2898648"/>
            <a:ext cx="8823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她婚后的不幸，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在生活中是什么样子？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993392" y="4160520"/>
            <a:ext cx="8458200" cy="0"/>
          </a:xfrm>
          <a:prstGeom prst="line">
            <a:avLst/>
          </a:prstGeom>
          <a:noFill/>
          <a:ln w="12700">
            <a:solidFill>
              <a:srgbClr val="E7DC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4581144"/>
            <a:ext cx="713232" cy="713232"/>
          </a:xfrm>
          <a:prstGeom prst="ellipse">
            <a:avLst/>
          </a:prstGeom>
          <a:solidFill>
            <a:srgbClr val="A84A3A"/>
          </a:solidFill>
          <a:ln w="12700">
            <a:solidFill>
              <a:srgbClr val="A84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764024"/>
            <a:ext cx="7132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993392" y="4471416"/>
            <a:ext cx="8823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这场婚姻为什么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走到这一步？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246120" y="6144768"/>
            <a:ext cx="56967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766E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此刻只选一问做记号，不急着回答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7231F"/>
          </a:solidFill>
          <a:ln w="12700">
            <a:solidFill>
              <a:srgbClr val="2723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926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A84A3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第一次完整听读｜第一至第三章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080760" y="356616"/>
            <a:ext cx="5458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4B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眼随声走｜不齐读｜用笔在教材原句旁留一点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658368" y="749808"/>
            <a:ext cx="10881360" cy="0"/>
          </a:xfrm>
          <a:prstGeom prst="line">
            <a:avLst/>
          </a:prstGeom>
          <a:noFill/>
          <a:ln w="13970">
            <a:solidFill>
              <a:srgbClr val="E7DC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896112"/>
            <a:ext cx="10881360" cy="1691640"/>
          </a:xfrm>
          <a:prstGeom prst="roundRect">
            <a:avLst>
              <a:gd name="adj" fmla="val 3243"/>
            </a:avLst>
          </a:prstGeom>
          <a:solidFill>
            <a:srgbClr val="F9F4EA"/>
          </a:solidFill>
          <a:ln w="12700">
            <a:solidFill>
              <a:srgbClr val="F9F4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051560"/>
            <a:ext cx="73152" cy="1371600"/>
          </a:xfrm>
          <a:prstGeom prst="rect">
            <a:avLst/>
          </a:prstGeom>
          <a:solidFill>
            <a:srgbClr val="B18B52"/>
          </a:solidFill>
          <a:ln w="12700">
            <a:solidFill>
              <a:srgbClr val="B18B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033272"/>
            <a:ext cx="612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B18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417320" y="1042416"/>
            <a:ext cx="976579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950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氓之蚩蚩，抱布贸丝。匪来贸丝，来即我谋。</a:t>
            </a:r>
            <a:endParaRPr lang="en-US" sz="2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950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送子涉淇，至于顿丘。匪我愆期，子无良媒。</a:t>
            </a:r>
            <a:endParaRPr lang="en-US" sz="2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950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将子无怒，秋以为期。</a:t>
            </a:r>
            <a:endParaRPr lang="en-US" sz="2950" dirty="0"/>
          </a:p>
        </p:txBody>
      </p:sp>
      <p:sp>
        <p:nvSpPr>
          <p:cNvPr id="10" name="Shape 8"/>
          <p:cNvSpPr/>
          <p:nvPr/>
        </p:nvSpPr>
        <p:spPr>
          <a:xfrm>
            <a:off x="658368" y="2788920"/>
            <a:ext cx="10881360" cy="1691640"/>
          </a:xfrm>
          <a:prstGeom prst="roundRect">
            <a:avLst>
              <a:gd name="adj" fmla="val 3243"/>
            </a:avLst>
          </a:prstGeom>
          <a:solidFill>
            <a:srgbClr val="FFFCF6"/>
          </a:solidFill>
          <a:ln w="12700">
            <a:solidFill>
              <a:srgbClr val="FFF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944368"/>
            <a:ext cx="73152" cy="1371600"/>
          </a:xfrm>
          <a:prstGeom prst="rect">
            <a:avLst/>
          </a:prstGeom>
          <a:solidFill>
            <a:srgbClr val="4E7480"/>
          </a:solidFill>
          <a:ln w="12700">
            <a:solidFill>
              <a:srgbClr val="4E74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2926080"/>
            <a:ext cx="612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4E74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第二章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417320" y="2935224"/>
            <a:ext cx="976579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950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乘彼垝垣，以望复关。不见复关，泣涕涟涟。</a:t>
            </a:r>
            <a:endParaRPr lang="en-US" sz="2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950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既见复关，载笑载言。尔卜尔筮，体无咎言。</a:t>
            </a:r>
            <a:endParaRPr lang="en-US" sz="2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950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以尔车来，以我贿迁。</a:t>
            </a:r>
            <a:endParaRPr lang="en-US" sz="2950" dirty="0"/>
          </a:p>
        </p:txBody>
      </p:sp>
      <p:sp>
        <p:nvSpPr>
          <p:cNvPr id="14" name="Shape 12"/>
          <p:cNvSpPr/>
          <p:nvPr/>
        </p:nvSpPr>
        <p:spPr>
          <a:xfrm>
            <a:off x="658368" y="4681728"/>
            <a:ext cx="10881360" cy="1691640"/>
          </a:xfrm>
          <a:prstGeom prst="roundRect">
            <a:avLst>
              <a:gd name="adj" fmla="val 3243"/>
            </a:avLst>
          </a:prstGeom>
          <a:solidFill>
            <a:srgbClr val="F9F4EA"/>
          </a:solidFill>
          <a:ln w="12700">
            <a:solidFill>
              <a:srgbClr val="F9F4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4837176"/>
            <a:ext cx="73152" cy="1371600"/>
          </a:xfrm>
          <a:prstGeom prst="rect">
            <a:avLst/>
          </a:prstGeom>
          <a:solidFill>
            <a:srgbClr val="647752"/>
          </a:solidFill>
          <a:ln w="12700">
            <a:solidFill>
              <a:srgbClr val="6477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4818888"/>
            <a:ext cx="612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6477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第三章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417320" y="4828032"/>
            <a:ext cx="976579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950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桑之未落，其叶沃若。于嗟鸠兮，无食桑葚！</a:t>
            </a:r>
            <a:endParaRPr lang="en-US" sz="2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950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于嗟女兮，无与士耽！士之耽兮，犹可说也。</a:t>
            </a:r>
            <a:endParaRPr lang="en-US" sz="2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950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女之耽兮，不可说也！</a:t>
            </a:r>
            <a:endParaRPr lang="en-US" sz="2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7231F"/>
          </a:solidFill>
          <a:ln w="12700">
            <a:solidFill>
              <a:srgbClr val="2723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926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A84A3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第一次完整听读｜第四至第六章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080760" y="356616"/>
            <a:ext cx="5458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4B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眼随声走｜不齐读｜用笔在教材原句旁留一点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658368" y="749808"/>
            <a:ext cx="10881360" cy="0"/>
          </a:xfrm>
          <a:prstGeom prst="line">
            <a:avLst/>
          </a:prstGeom>
          <a:noFill/>
          <a:ln w="13970">
            <a:solidFill>
              <a:srgbClr val="E7DC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896112"/>
            <a:ext cx="10881360" cy="1691640"/>
          </a:xfrm>
          <a:prstGeom prst="roundRect">
            <a:avLst>
              <a:gd name="adj" fmla="val 3243"/>
            </a:avLst>
          </a:prstGeom>
          <a:solidFill>
            <a:srgbClr val="F9F4EA"/>
          </a:solidFill>
          <a:ln w="12700">
            <a:solidFill>
              <a:srgbClr val="F9F4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051560"/>
            <a:ext cx="73152" cy="1371600"/>
          </a:xfrm>
          <a:prstGeom prst="rect">
            <a:avLst/>
          </a:prstGeom>
          <a:solidFill>
            <a:srgbClr val="B18B52"/>
          </a:solidFill>
          <a:ln w="12700">
            <a:solidFill>
              <a:srgbClr val="B18B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033272"/>
            <a:ext cx="612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B18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第四章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417320" y="1042416"/>
            <a:ext cx="976579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950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桑之落矣，其黄而陨。自我徂尔，三岁食贫。</a:t>
            </a:r>
            <a:endParaRPr lang="en-US" sz="2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950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淇水汤汤，渐车帷裳。女也不爽，士贰其行。</a:t>
            </a:r>
            <a:endParaRPr lang="en-US" sz="2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950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士也罔极，二三其德。</a:t>
            </a:r>
            <a:endParaRPr lang="en-US" sz="2950" dirty="0"/>
          </a:p>
        </p:txBody>
      </p:sp>
      <p:sp>
        <p:nvSpPr>
          <p:cNvPr id="10" name="Shape 8"/>
          <p:cNvSpPr/>
          <p:nvPr/>
        </p:nvSpPr>
        <p:spPr>
          <a:xfrm>
            <a:off x="658368" y="2788920"/>
            <a:ext cx="10881360" cy="1691640"/>
          </a:xfrm>
          <a:prstGeom prst="roundRect">
            <a:avLst>
              <a:gd name="adj" fmla="val 3243"/>
            </a:avLst>
          </a:prstGeom>
          <a:solidFill>
            <a:srgbClr val="FFFCF6"/>
          </a:solidFill>
          <a:ln w="12700">
            <a:solidFill>
              <a:srgbClr val="FFF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944368"/>
            <a:ext cx="73152" cy="1371600"/>
          </a:xfrm>
          <a:prstGeom prst="rect">
            <a:avLst/>
          </a:prstGeom>
          <a:solidFill>
            <a:srgbClr val="4E7480"/>
          </a:solidFill>
          <a:ln w="12700">
            <a:solidFill>
              <a:srgbClr val="4E74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2926080"/>
            <a:ext cx="612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4E74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第五章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417320" y="2935224"/>
            <a:ext cx="976579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950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三岁为妇，靡室劳矣。夙兴夜寐，靡有朝矣。</a:t>
            </a:r>
            <a:endParaRPr lang="en-US" sz="2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950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言既遂矣，至于暴矣。兄弟不知，咥其笑矣。</a:t>
            </a:r>
            <a:endParaRPr lang="en-US" sz="2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950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静言思之，躬自悼矣。</a:t>
            </a:r>
            <a:endParaRPr lang="en-US" sz="2950" dirty="0"/>
          </a:p>
        </p:txBody>
      </p:sp>
      <p:sp>
        <p:nvSpPr>
          <p:cNvPr id="14" name="Shape 12"/>
          <p:cNvSpPr/>
          <p:nvPr/>
        </p:nvSpPr>
        <p:spPr>
          <a:xfrm>
            <a:off x="658368" y="4681728"/>
            <a:ext cx="10881360" cy="1691640"/>
          </a:xfrm>
          <a:prstGeom prst="roundRect">
            <a:avLst>
              <a:gd name="adj" fmla="val 3243"/>
            </a:avLst>
          </a:prstGeom>
          <a:solidFill>
            <a:srgbClr val="F9F4EA"/>
          </a:solidFill>
          <a:ln w="12700">
            <a:solidFill>
              <a:srgbClr val="F9F4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4837176"/>
            <a:ext cx="73152" cy="1371600"/>
          </a:xfrm>
          <a:prstGeom prst="rect">
            <a:avLst/>
          </a:prstGeom>
          <a:solidFill>
            <a:srgbClr val="647752"/>
          </a:solidFill>
          <a:ln w="12700">
            <a:solidFill>
              <a:srgbClr val="6477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4818888"/>
            <a:ext cx="612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6477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第六章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417320" y="4828032"/>
            <a:ext cx="976579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950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及尔偕老，老使我怨。淇则有岸，隰则有泮。</a:t>
            </a:r>
            <a:endParaRPr lang="en-US" sz="2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950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总角之宴，言笑晏晏。信誓旦旦，不思其反。</a:t>
            </a:r>
            <a:endParaRPr lang="en-US" sz="2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950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反是不思，亦已焉哉！</a:t>
            </a:r>
            <a:endParaRPr lang="en-US" sz="2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7231F"/>
          </a:solidFill>
          <a:ln w="12700">
            <a:solidFill>
              <a:srgbClr val="2723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把第一次听见的《氓》留在纸上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41248" y="1389888"/>
            <a:ext cx="4983480" cy="2788920"/>
          </a:xfrm>
          <a:prstGeom prst="roundRect">
            <a:avLst>
              <a:gd name="adj" fmla="val 1967"/>
            </a:avLst>
          </a:prstGeom>
          <a:solidFill>
            <a:srgbClr val="DCE9EA"/>
          </a:solidFill>
          <a:ln w="12700">
            <a:solidFill>
              <a:srgbClr val="4E74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61288" y="1874520"/>
            <a:ext cx="4343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4E748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有一句把我留住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1984248" y="2660904"/>
            <a:ext cx="2697480" cy="0"/>
          </a:xfrm>
          <a:prstGeom prst="line">
            <a:avLst/>
          </a:prstGeom>
          <a:noFill/>
          <a:ln w="16510">
            <a:solidFill>
              <a:srgbClr val="4E74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2889504"/>
            <a:ext cx="41056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2723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抄下它，再接一句</a:t>
            </a:r>
            <a:endParaRPr lang="en-US" sz="2250" dirty="0"/>
          </a:p>
          <a:p>
            <a:pPr algn="ctr" indent="0" marL="0">
              <a:buNone/>
            </a:pPr>
            <a:r>
              <a:rPr lang="en-US" sz="2250" b="1" dirty="0">
                <a:solidFill>
                  <a:srgbClr val="2723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我听见／我看见／我想问……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373368" y="1389888"/>
            <a:ext cx="4983480" cy="2788920"/>
          </a:xfrm>
          <a:prstGeom prst="roundRect">
            <a:avLst>
              <a:gd name="adj" fmla="val 1967"/>
            </a:avLst>
          </a:prstGeom>
          <a:solidFill>
            <a:srgbClr val="F1DCD5"/>
          </a:solidFill>
          <a:ln w="12700">
            <a:solidFill>
              <a:srgbClr val="A84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93408" y="1874520"/>
            <a:ext cx="4343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A84A3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尚未找到</a:t>
            </a:r>
            <a:endParaRPr lang="en-US" sz="3100" dirty="0"/>
          </a:p>
        </p:txBody>
      </p:sp>
      <p:sp>
        <p:nvSpPr>
          <p:cNvPr id="10" name="Shape 8"/>
          <p:cNvSpPr/>
          <p:nvPr/>
        </p:nvSpPr>
        <p:spPr>
          <a:xfrm>
            <a:off x="7516368" y="2660904"/>
            <a:ext cx="2697480" cy="0"/>
          </a:xfrm>
          <a:prstGeom prst="line">
            <a:avLst/>
          </a:prstGeom>
          <a:noFill/>
          <a:ln w="16510">
            <a:solidFill>
              <a:srgbClr val="A84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12280" y="2889504"/>
            <a:ext cx="41056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2723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如实写下</a:t>
            </a:r>
            <a:endParaRPr lang="en-US" sz="2250" dirty="0"/>
          </a:p>
          <a:p>
            <a:pPr algn="ctr" indent="0" marL="0">
              <a:buNone/>
            </a:pPr>
            <a:r>
              <a:rPr lang="en-US" sz="2250" b="1" dirty="0">
                <a:solidFill>
                  <a:srgbClr val="2723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先听同桌，再决定补一句或保留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868680" y="4681728"/>
            <a:ext cx="10442448" cy="0"/>
          </a:xfrm>
          <a:prstGeom prst="line">
            <a:avLst/>
          </a:prstGeom>
          <a:noFill/>
          <a:ln w="13970">
            <a:solidFill>
              <a:srgbClr val="E7DC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5084064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477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同桌各说一次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73168" y="511149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B18B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5650992" y="508406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A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听的人补记一个不同之处</a:t>
            </a:r>
            <a:endParaRPr lang="en-US" sz="2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7231F"/>
          </a:solidFill>
          <a:ln w="12700">
            <a:solidFill>
              <a:srgbClr val="2723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《诗经》与《卫风》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389888"/>
            <a:ext cx="3429000" cy="2962656"/>
          </a:xfrm>
          <a:prstGeom prst="roundRect">
            <a:avLst>
              <a:gd name="adj" fmla="val 1852"/>
            </a:avLst>
          </a:prstGeom>
          <a:solidFill>
            <a:srgbClr val="E7DCCB"/>
          </a:solidFill>
          <a:ln w="12700">
            <a:solidFill>
              <a:srgbClr val="B18B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83664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18B5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305篇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389888" y="2761488"/>
            <a:ext cx="2112264" cy="0"/>
          </a:xfrm>
          <a:prstGeom prst="line">
            <a:avLst/>
          </a:prstGeom>
          <a:noFill/>
          <a:ln w="15240">
            <a:solidFill>
              <a:srgbClr val="B18B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3090672"/>
            <a:ext cx="2660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B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我国最早的诗歌总集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553712" y="1389888"/>
            <a:ext cx="3429000" cy="2962656"/>
          </a:xfrm>
          <a:prstGeom prst="roundRect">
            <a:avLst>
              <a:gd name="adj" fmla="val 1852"/>
            </a:avLst>
          </a:prstGeom>
          <a:solidFill>
            <a:srgbClr val="DCE9EA"/>
          </a:solidFill>
          <a:ln w="12700">
            <a:solidFill>
              <a:srgbClr val="4E74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28032" y="1883664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748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《卫风》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5212080" y="2761488"/>
            <a:ext cx="2112264" cy="0"/>
          </a:xfrm>
          <a:prstGeom prst="line">
            <a:avLst/>
          </a:prstGeom>
          <a:noFill/>
          <a:ln w="15240">
            <a:solidFill>
              <a:srgbClr val="4E74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090672"/>
            <a:ext cx="2660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B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风、雅、颂｜《氓》属于《卫风》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375904" y="1389888"/>
            <a:ext cx="3429000" cy="2962656"/>
          </a:xfrm>
          <a:prstGeom prst="roundRect">
            <a:avLst>
              <a:gd name="adj" fmla="val 1852"/>
            </a:avLst>
          </a:prstGeom>
          <a:solidFill>
            <a:srgbClr val="F1DCD5"/>
          </a:solidFill>
          <a:ln w="12700">
            <a:solidFill>
              <a:srgbClr val="A84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50224" y="1883664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84A3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女子第一人称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9034272" y="2761488"/>
            <a:ext cx="2112264" cy="0"/>
          </a:xfrm>
          <a:prstGeom prst="line">
            <a:avLst/>
          </a:prstGeom>
          <a:noFill/>
          <a:ln w="15240">
            <a:solidFill>
              <a:srgbClr val="A84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59952" y="3090672"/>
            <a:ext cx="2660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B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她回望自己的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4B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婚姻经历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2267712" y="5102352"/>
            <a:ext cx="7653528" cy="731520"/>
          </a:xfrm>
          <a:prstGeom prst="roundRect">
            <a:avLst>
              <a:gd name="adj" fmla="val 7500"/>
            </a:avLst>
          </a:prstGeom>
          <a:solidFill>
            <a:srgbClr val="E1E7D9"/>
          </a:solidFill>
          <a:ln w="12700">
            <a:solidFill>
              <a:srgbClr val="6477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87752" y="5294376"/>
            <a:ext cx="7013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4775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先写下三个词｜下一屏撤答后再开口</a:t>
            </a:r>
            <a:endParaRPr lang="en-US" sz="2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82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18B52"/>
          </a:solidFill>
          <a:ln w="12700">
            <a:solidFill>
              <a:srgbClr val="B18B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把答案收起来，说出三块路标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49808" y="1444752"/>
            <a:ext cx="3429000" cy="3127248"/>
          </a:xfrm>
          <a:prstGeom prst="roundRect">
            <a:avLst>
              <a:gd name="adj" fmla="val 1754"/>
            </a:avLst>
          </a:prstGeom>
          <a:solidFill>
            <a:srgbClr val="37322D"/>
          </a:solidFill>
          <a:ln w="12700">
            <a:solidFill>
              <a:srgbClr val="B18B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57984" y="1810512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DCC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33856" y="2505456"/>
            <a:ext cx="266090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这是怎样的一部</a:t>
            </a:r>
            <a:endParaRPr lang="en-US" sz="2900" dirty="0"/>
          </a:p>
          <a:p>
            <a:pPr algn="ctr" indent="0" marL="0">
              <a:buNone/>
            </a:pPr>
            <a:r>
              <a:rPr lang="en-US" sz="29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诗歌总集？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4572000" y="1444752"/>
            <a:ext cx="3429000" cy="3127248"/>
          </a:xfrm>
          <a:prstGeom prst="roundRect">
            <a:avLst>
              <a:gd name="adj" fmla="val 1754"/>
            </a:avLst>
          </a:prstGeom>
          <a:solidFill>
            <a:srgbClr val="323C3F"/>
          </a:solidFill>
          <a:ln w="12700">
            <a:solidFill>
              <a:srgbClr val="4E74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80176" y="1810512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E9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956048" y="2505456"/>
            <a:ext cx="266090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《氓》属于</a:t>
            </a:r>
            <a:endParaRPr lang="en-US" sz="2900" dirty="0"/>
          </a:p>
          <a:p>
            <a:pPr algn="ctr" indent="0" marL="0">
              <a:buNone/>
            </a:pPr>
            <a:r>
              <a:rPr lang="en-US" sz="29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哪一部分？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8394192" y="1444752"/>
            <a:ext cx="3429000" cy="3127248"/>
          </a:xfrm>
          <a:prstGeom prst="roundRect">
            <a:avLst>
              <a:gd name="adj" fmla="val 1754"/>
            </a:avLst>
          </a:prstGeom>
          <a:solidFill>
            <a:srgbClr val="37322D"/>
          </a:solidFill>
          <a:ln w="12700">
            <a:solidFill>
              <a:srgbClr val="A84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02368" y="1810512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1DCD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778240" y="2505456"/>
            <a:ext cx="266090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谁在回望</a:t>
            </a:r>
            <a:endParaRPr lang="en-US" sz="2900" dirty="0"/>
          </a:p>
          <a:p>
            <a:pPr algn="ctr" indent="0" marL="0">
              <a:buNone/>
            </a:pPr>
            <a:r>
              <a:rPr lang="en-US" sz="29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什么？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1847088" y="5248656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7DCC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扣住路标卡｜同桌一人复述，一人核对，再交换</a:t>
            </a:r>
            <a:endParaRPr lang="en-US" sz="2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7231F"/>
          </a:solidFill>
          <a:ln w="12700">
            <a:solidFill>
              <a:srgbClr val="2723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先借四言节奏走进声音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49808" y="1225296"/>
            <a:ext cx="10698480" cy="2926080"/>
          </a:xfrm>
          <a:prstGeom prst="roundRect">
            <a:avLst>
              <a:gd name="adj" fmla="val 1875"/>
            </a:avLst>
          </a:prstGeom>
          <a:solidFill>
            <a:srgbClr val="FFFCF6"/>
          </a:solidFill>
          <a:ln w="12700">
            <a:solidFill>
              <a:srgbClr val="4E74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682496"/>
            <a:ext cx="9912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氓之／蚩蚩，抱布／贸丝。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143000" y="2697480"/>
            <a:ext cx="9912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723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匪来／贸丝，来即／我谋。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154680" y="3712464"/>
            <a:ext cx="5879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4E74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／只提示节奏，不切碎完整动作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914400" y="4379976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50" b="1" dirty="0">
                <a:solidFill>
                  <a:srgbClr val="B18B5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跟读一遍  →  听到“看教材”，转看第一章开头的无斜线原句</a:t>
            </a:r>
            <a:endParaRPr lang="en-US" sz="2350" dirty="0"/>
          </a:p>
        </p:txBody>
      </p:sp>
      <p:sp>
        <p:nvSpPr>
          <p:cNvPr id="9" name="Shape 7"/>
          <p:cNvSpPr/>
          <p:nvPr/>
        </p:nvSpPr>
        <p:spPr>
          <a:xfrm>
            <a:off x="868680" y="4965192"/>
            <a:ext cx="4956048" cy="1133856"/>
          </a:xfrm>
          <a:prstGeom prst="roundRect">
            <a:avLst>
              <a:gd name="adj" fmla="val 4839"/>
            </a:avLst>
          </a:prstGeom>
          <a:solidFill>
            <a:srgbClr val="F1DCD5"/>
          </a:solidFill>
          <a:ln w="12700">
            <a:solidFill>
              <a:srgbClr val="A84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5111496"/>
            <a:ext cx="4407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50" b="1" dirty="0">
                <a:solidFill>
                  <a:srgbClr val="A84A3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停顿需要调整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1143000" y="5504688"/>
            <a:ext cx="4407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723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听者问“谁做什么？”</a:t>
            </a:r>
            <a:endParaRPr lang="en-US" sz="1950" dirty="0"/>
          </a:p>
          <a:p>
            <a:pPr algn="ctr" indent="0" marL="0">
              <a:buNone/>
            </a:pPr>
            <a:r>
              <a:rPr lang="en-US" sz="1950" b="1" dirty="0">
                <a:solidFill>
                  <a:srgbClr val="2723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读者带着完整动作再读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6373368" y="4965192"/>
            <a:ext cx="4956048" cy="1133856"/>
          </a:xfrm>
          <a:prstGeom prst="roundRect">
            <a:avLst>
              <a:gd name="adj" fmla="val 4839"/>
            </a:avLst>
          </a:prstGeom>
          <a:solidFill>
            <a:srgbClr val="E1E7D9"/>
          </a:solidFill>
          <a:ln w="12700">
            <a:solidFill>
              <a:srgbClr val="6477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47688" y="5111496"/>
            <a:ext cx="4407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50" b="1" dirty="0">
                <a:solidFill>
                  <a:srgbClr val="64775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原本读顺</a:t>
            </a:r>
            <a:endParaRPr lang="en-US" sz="2150" dirty="0"/>
          </a:p>
        </p:txBody>
      </p:sp>
      <p:sp>
        <p:nvSpPr>
          <p:cNvPr id="14" name="Text 12"/>
          <p:cNvSpPr/>
          <p:nvPr/>
        </p:nvSpPr>
        <p:spPr>
          <a:xfrm>
            <a:off x="6647688" y="5504688"/>
            <a:ext cx="4407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723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圈出连续动作</a:t>
            </a:r>
            <a:endParaRPr lang="en-US" sz="1950" dirty="0"/>
          </a:p>
          <a:p>
            <a:pPr algn="ctr" indent="0" marL="0">
              <a:buNone/>
            </a:pPr>
            <a:r>
              <a:rPr lang="en-US" sz="1950" b="1" dirty="0">
                <a:solidFill>
                  <a:srgbClr val="2723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再读给同桌听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语文备课系统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《氓》V6导入课堂课件</dc:title>
  <dc:subject>《氓》V6导入课堂课件</dc:subject>
  <dc:creator>语文备课系统</dc:creator>
  <cp:lastModifiedBy>语文备课系统</cp:lastModifiedBy>
  <cp:revision>1</cp:revision>
  <dcterms:created xsi:type="dcterms:W3CDTF">2026-08-15T06:48:49Z</dcterms:created>
  <dcterms:modified xsi:type="dcterms:W3CDTF">2026-08-15T06:48:49Z</dcterms:modified>
</cp:coreProperties>
</file>
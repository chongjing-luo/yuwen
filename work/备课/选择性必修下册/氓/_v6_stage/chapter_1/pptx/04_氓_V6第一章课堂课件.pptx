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【V6页ID】N013｜第一章｜先看两个人怎样行动｜3分钟
【教师逐字稿】
四言的句子很短，我们很容易一头扎进字词，却忘了这是两个人正在相遇、说话。先把第一章完整读一遍，不急着判断谁好谁坏。请圈出男子做的动作，划出女子做的动作。读完后和同桌逐项核对，只问一句：这是谁做的？有不同，就把手指落回原句，再换笔改。
【场面与走位】
N012的节奏互读刚结束。教师不另设口号页，直接让第一章全文回到屏幕中央；学生翻回教材第一章。
（教师完整读一遍）
（学生各自朗读并标人物动作）
（同桌逐项核对行动主体）
（换笔修订后再次连读）
【时间盒】
教师连读与交代标记：35秒；学生朗读并圈划：70秒；同桌核对：45秒；修订与重读：30秒
【现场分支】
subject_confusion：把‘送子’误标为男子动作时，只问‘诗中是谁用“我”说话’，让学生回到称谓重新判断。
word_block：被一个词卡住时先保留问号，继续把全章读完；相应词义到逐句页再解决。
【听者同步任务】
同桌只问‘这是谁做的’，不先报完整章意
【证据位置】
教材第一章原句旁
【自然切页句】
行动已经有了轮廓。现在从第一个镜头看起：他怎样出场？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【V6页ID】N014｜氓之蚩蚩，抱布贸丝｜4分钟
【教师逐字稿】
先不要看我给出的现代话，借注释自己说：谁，以怎样的样子，拿着什么来做什么？说给同桌听。现在核对三个词：氓，这里是诗中的男主人公；蚩蚩，是忠厚的样子；贸，是交换。请换笔改一处不够准确的说法，再读原句。注意，我们此刻知道的是他出场时看起来怎样，还不是他一生的品格证明。
【场面与走位】
屏幕放大第一句，章内五句轨道仍在下方。教师先巡视学生口译，不在他们开口前报答案。
（个人先口译）
（同桌按四项核对）
（教师定点解释三个词）
（学生换笔修订）
（回读原句）
【时间盒】
个人口译：45秒；同桌核对：35秒；定点释义：55秒；换笔修订：45秒；回诗重读与边界提醒：60秒
【现场分支】
literal_stacking：若只把注释逐词堆在一起，追问‘这句话里谁在做什么’，要求重新组织成自然话。
hindsight_label：若直接说‘装老实’，请把判断移到‘尚不能断言’，此刻只保留‘看起来忠厚’。
【听者同步任务】
核对话中是否同时有男子、样子、布和交换动作
【证据位置】
学习单·第一章逐句札记L001
【自然切页句】
这个出场动作很平常，下一句却立即告诉我们：他真正来做什么。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【V6页ID】N015｜匪来贸丝，来即我谋｜5分钟
【教师逐字稿】
这一句自己把前一句翻了过来。请先写两格：诗句先写了他什么动作；女子随后又说明他此来要商量什么。哪个字让意思转过来？对，是‘匪’。再核对‘即’是走近、到这里，‘谋’在这里是商量婚事。现在用‘不是……而是……’说完整。诗句能证明动作和来意之间有转折；至于他是否有意伪装或欺骗，单凭这一句还不能断言。
【场面与走位】
学生先分别写诗句先写的动作与女子随后说明的来意。教师只在两格都有内容后解释‘匪、即、谋’，不先展示成品翻译。
（个人补两格并圈转折字）
（同桌核对原词）
（教师定点释义）
（学生用‘不是—而是’复述）
（删除越界词）
【时间盒】
独立补写：55秒；同桌核对：40秒；定点释义：60秒；口头复述：55秒；边界质询与修订：90秒
【现场分支】
intent_overreach：若写成‘有预谋欺骗’，追问这一句哪几个字足以证明；证据不足就改为‘先写贸丝动作，随后说明议婚来意’。
transition_missing：若两格都写成贸丝，指向‘匪’并让学生重新读出否定转折。
【听者同步任务】
只核对‘贸丝、谋婚、匪’是否对应，不替对方贴人物标签
【证据位置】
学习单·第一章逐句札记L002
【自然切页句】
求婚来意已经说明。接下来，诗没有说她感动，只写她走了多远。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【V6页ID】N016｜送子涉淇，至于顿丘｜4分钟
【教师逐字稿】
这句没有直接说‘不舍’，只写了一段路。请沿着三个字画线：送、涉、至。是谁在送？从哪里越过去？最后到了哪里？把人物和终点补上，再说成一句现代话：我送你渡过淇水，一直送到顿丘。现在再读原句，让三个动作一口气走到‘顿丘’，不要把这段路读断。
【场面与走位】
屏幕以‘送—涉—至’为路线骨架，学生在学习单上补人物和终点；教师不补写未见于诗中的出发地。
（个人画行动线）
（标出行动主体和终点）
（同桌找断点）
（教师解释涉、淇、顿丘）
（连说并回读）
【时间盒】
个人画线：45秒；同桌核对：35秒；定点释义：40秒；现代话复述：50秒；回诗连读：70秒
【现场分支】
map_fiction：若补画具体村落、距离或方向，提醒这些不在诗中，只保留渡淇与到顿丘。
emotion_label：若只写‘很爱他’，请先用‘送—涉—至’说清行动，再把情感作为有依据的印象。
【听者同步任务】
寻找路线是否漏了渡淇或终点，指出断点而不代画
【证据位置】
学习单·第一章送行路线
【自然切页句】
她一直送到顿丘，却没有立刻把婚期定下。下一句说明原因。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【V6页ID】N017｜匪我愆期，子无良媒｜4分钟
【教师逐字稿】
这里第二次出现‘匪’。先不听我的解释，只看原句，在两种读法里圈出更贴近的一项：她是在拒绝这门婚事，还是在说明此刻不能成婚的条件？再抄下托住判断的原词。（停四十五秒，教师巡视，不报答案。）现在同桌互相看一眼：你的选择由哪个词托住？（等待核对。）我们再校准词义：‘愆期’是拖延婚期，‘良媒’是合适的媒人。请回到刚才的选择，用‘不是……而是……’说成一句自然话；若原先把话说成拒绝或故意拖延，就依据‘匪我愆期，子无良媒’换笔改得更准确。
【场面与走位】
屏幕并列两种读法，不显示正确项。学生先圈选并抄原词；教师停足四十五秒并完成同桌核对后，才处理愆期与良媒。
（教师只读两种读法，不解释）
（个人圈选并抄原词）
（同桌核对选择由哪个词托住）
（教师定点释义）
（学生换笔改写）
（按解释语气重读）
【时间盒】
个人补写：45秒；同桌核对：40秒；定点释义：45秒；换笔修订：50秒；解释语气重读：60秒
【现场分支】
rejection_misread：若说女子拒婚，让学生指出她是否给出以后成婚的可能，再把判断改为条件尚未具备。
victim_blame：若把未立即成婚说成女子拖延导致矛盾，回到‘匪我愆期’，明确诗句正在否定这一说法。
【听者同步任务】
核对是否误说成女子拒绝婚姻，或漏掉媒人条件
【证据位置】
学习单·第一章逐句札记L004
【自然切页句】
她解释了条件，还要怎样把对话继续下去？听章末这一句。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【V6页ID】N018｜将子无怒，秋以为期｜5分钟
【教师逐字稿】
‘将’在这里读qiāng。先别听我的释义，请借教材注释，把这句话分成两层：她先在劝什么？又把什么定下来？（停四十五秒，教师巡视，不报两层答案。）现在和同桌比较，看看两层话有没有混在一起。（等待核对。）我们再校准：‘将’是愿、请，‘无’同‘毋’，是不要；‘以……为期’是把……定作婚期。请换笔修订，再说成一句自然话。然后标一处重音、一处停顿，读给同桌听。听的人不先贴情绪标签，只说自己从‘将、无怒、秋、期’里实际听见了哪一层。读者根据反馈改读一次。‘无怒’值得以后重看，但此刻不能把它直接说成已经发生了暴力。
【场面与走位】
屏幕只给两层话的两个问句，不显示成品释义。教师只正音‘将’后停足四十五秒；学生先借注释分层，再接受词义校准和听者检验。
（只正音将，不解释词义）
（个人借注释写两层话）
（同桌比较是否混层）
（教师解释将、无、以为）
（学生标朗读谱）
（同桌说实际听见的一层）
（读者调整后重读）
【时间盒】
个人口译：45秒；定点释义：55秒；朗读标记：45秒；同桌互读反馈：85秒；边界提醒与重读：70秒
【现场分支】
single_tone：若只读出命令或只读出喜悦，让听者指出另一层话在哪个原词里，再调整重音。
violence_overreach：若把‘无怒’直接说成婚前施暴，提醒它只显示安抚或对愤怒的预期，具体程度未写明。
【听者同步任务】
不用情绪标签打分，只指出听见安抚或约期的原词
【证据位置】
学习单·第一章朗读谱L005
【自然切页句】
五句都读过了。现在把答案收起来，看看它们能不能重新接成一场相遇。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【V6页ID】N019｜合上书，把这场相遇接起来｜4分钟
【教师逐字稿】
现在把书轻轻合上，屏幕也不给行动答案。请独立写五步，只写谁做了什么，不抄原句。写完和同桌交换。听的人只找断点：这里是不是突然跳了？这个动作是谁做的？不要顺口把完整答案报出来。作者再翻书定位，用另一种颜色补回或调序。最后合上书，把五步连着说一遍。
【场面与走位】
学生合书，屏幕不显示完成的五步链。教师在过道巡视，只提醒动作数量，不口头顺序报答案。
（全班合书）
（独立写五步）
（同桌只找断点）
（本人翻书定位）
（换笔修订并合书复述）
【时间盒】
交代撤答规则：25秒；独立重建：75秒；同桌找断点：45秒；翻书定位并换笔修订：55秒；合书连说：40秒
【现场分支】
blank_retrieval：完全空白者先写记得最清的一步，再翻书只找它的前一步和后一步，不抄整章。
partner_gives_answer：听者开始报答案时立即改问‘断点在第几步’，把修订权还给作者。
【听者同步任务】
只说‘这里少了一步/主体变了’，不顺口报出完整答案
【证据位置】
学习单·第一章五步行动链
【自然切页句】
故事已经能够接起来。接下来保存第一次看见这场接近时的判断。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【V6页ID】N020｜只读第一章，你怎样看这次接近？｜5分钟
【教师逐字稿】
这一次只站在第一章里，不借用后来结局。请写三栏：诗里写着什么；初读时你觉得怎样；还有什么现在仍说不准。前两栏各补一个原词。同桌挑一条问：这是诗里写着的，还是你此刻的感觉？有没有说得比原词更满？作者可以保留，可以把话说轻一点，也可以移到‘现在还说不准’。把这张初见札记保存好，全文读完后我们再回来。
【场面与走位】
屏幕只有‘诗里写着／初读时我觉得／现在还说不准’三栏，没有预制人物结论。学生先独立填写，再用第一章原词互相质询判断强度。
（个人三栏各写一条）
（给前两栏补原词）
（同桌质询一条）
（作者保留、说轻一点或移栏）
（保存到全文后）
【时间盒】
说明三栏差异：45秒；个人填写与补证：105秒；同桌质询：60秒；作者修订：55秒；抽取两条边界示例：35秒
【现场分支】
all_facts：若三栏都写成事实，让学生把带‘我觉得、似乎’的内容移到印象栏。
all_condemnation：若直接用后来结局判定第一章，要求暂时遮住后五章，只保留本章原词能够支撑的强度。
【听者同步任务】
查一条判断：它是诗中明写、个人印象，还是已经说过了证据
【证据位置】
学习单·第一章初见档案
【自然切页句】
这张档案先不定稿。全文走完，我们带着后来发生的一切重新打开它。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【V6页ID】N021｜让第一章重新成为一段话｜4分钟
【教师逐字稿】
把第一章重新打开，完整读一遍。刚才学过的字词不要抢在诗句前面，让两个人的行动和对话连起来。读完合上书，用三十秒讲清三件事：男子怎样来，女子怎样回应，婚期怎样定。听的人只按这三项找遗漏。若少了一项，讲述者回到原句定位，再补说一次，最后把本章写成一句自然话。下一章，约定婚期以后，等待真正开始。
【场面与走位】
屏幕重新呈现第一章全文。教师先让完整声音回来，再要求学生合书作三十秒旁白。
（全班完整重读）
（个人合书旁白）
（听者按三项找遗漏）
（讲述者回诗补说）
（写一句章意）
【时间盒】
完整重读：45秒；第一轮三十秒旁白：60秒；听者反馈：35秒；回诗补说：55秒；一句章意与转场：45秒
【现场分支】
word_dump：若旁白只报字词释义，提醒只讲人物行动与对话，词义留在札记里。
missing_condition：若只讲求婚成功，听者追问婚期为何不是当下，讲述者回到良媒和秋期补说。
【听者同步任务】
只检查三项是否齐全：男子怎样来、女子怎样回应、婚期怎样定
【证据位置】
学习单·第一章一句章意；同桌口头旁白
【自然切页句】
第一章把相遇、议婚与秋期放在一起。下一章，女子开始等待复关。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第一章｜先看两个人怎样行动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143000"/>
            <a:ext cx="10771632" cy="3310128"/>
          </a:xfrm>
          <a:prstGeom prst="roundRect">
            <a:avLst>
              <a:gd name="adj" fmla="val 1657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35608"/>
            <a:ext cx="10012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97280" y="1975104"/>
            <a:ext cx="10012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10012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97280" y="3054096"/>
            <a:ext cx="10012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097280" y="3593592"/>
            <a:ext cx="10012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1444752" y="4919472"/>
            <a:ext cx="9308592" cy="749808"/>
          </a:xfrm>
          <a:prstGeom prst="roundRect">
            <a:avLst>
              <a:gd name="adj" fmla="val 7317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5129784"/>
            <a:ext cx="8577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圈男子动作｜划女子动作｜同桌只问：这是谁做的？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767328" y="5989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暂时只追踪“谁做了什么”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143000"/>
          </a:xfrm>
          <a:prstGeom prst="roundRect">
            <a:avLst>
              <a:gd name="adj" fmla="val 4800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10222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先看眼前这个出场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32688" y="309067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44752" y="3675888"/>
            <a:ext cx="1307592" cy="0"/>
          </a:xfrm>
          <a:prstGeom prst="line">
            <a:avLst/>
          </a:prstGeom>
          <a:noFill/>
          <a:ln w="13970">
            <a:solidFill>
              <a:srgbClr val="4E74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309067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7DCCB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05656" y="3675888"/>
            <a:ext cx="1307592" cy="0"/>
          </a:xfrm>
          <a:prstGeom prst="line">
            <a:avLst/>
          </a:prstGeom>
          <a:noFill/>
          <a:ln w="13970">
            <a:solidFill>
              <a:srgbClr val="B18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309067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拿什么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3675888"/>
            <a:ext cx="1307592" cy="0"/>
          </a:xfrm>
          <a:prstGeom prst="line">
            <a:avLst/>
          </a:prstGeom>
          <a:noFill/>
          <a:ln w="13970">
            <a:solidFill>
              <a:srgbClr val="6477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309067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做什么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27464" y="3675888"/>
            <a:ext cx="1307592" cy="0"/>
          </a:xfrm>
          <a:prstGeom prst="line">
            <a:avLst/>
          </a:prstGeom>
          <a:noFill/>
          <a:ln w="13970">
            <a:solidFill>
              <a:srgbClr val="A84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41696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把四格说成一句自然话｜只写眼前，不忙替后来下结论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713232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第一章原文轨道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76656" y="4892040"/>
            <a:ext cx="10844784" cy="310896"/>
          </a:xfrm>
          <a:prstGeom prst="roundRect">
            <a:avLst>
              <a:gd name="adj" fmla="val 1764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919472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" y="52578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" y="559612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2688" y="5934456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" y="6272784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143000"/>
          </a:xfrm>
          <a:prstGeom prst="roundRect">
            <a:avLst>
              <a:gd name="adj" fmla="val 4800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10222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先看诗句写什么，再圈出让意思转过来的字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1207008" y="3337560"/>
            <a:ext cx="9784080" cy="859536"/>
          </a:xfrm>
          <a:prstGeom prst="roundRect">
            <a:avLst>
              <a:gd name="adj" fmla="val 6383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35753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诗句先写的动作：________　｜　女子随后说明的来意：________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13232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第一章原文轨道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32688" y="4919472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" y="5230368"/>
            <a:ext cx="10844784" cy="310896"/>
          </a:xfrm>
          <a:prstGeom prst="roundRect">
            <a:avLst>
              <a:gd name="adj" fmla="val 1764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52578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559612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688" y="5934456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6272784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143000"/>
          </a:xfrm>
          <a:prstGeom prst="roundRect">
            <a:avLst>
              <a:gd name="adj" fmla="val 4800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10222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沿三个动作画一条送行路线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1207008" y="3337560"/>
            <a:ext cx="9784080" cy="859536"/>
          </a:xfrm>
          <a:prstGeom prst="roundRect">
            <a:avLst>
              <a:gd name="adj" fmla="val 6383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35753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送　→　涉　→　至　｜　是谁在送？送到哪里？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13232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第一章原文轨道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32688" y="4919472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52578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6656" y="5568696"/>
            <a:ext cx="10844784" cy="310896"/>
          </a:xfrm>
          <a:prstGeom prst="roundRect">
            <a:avLst>
              <a:gd name="adj" fmla="val 1764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559612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688" y="5934456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6272784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143000"/>
          </a:xfrm>
          <a:prstGeom prst="roundRect">
            <a:avLst>
              <a:gd name="adj" fmla="val 4800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10222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两种读法，哪一种更贴近原句？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3072384"/>
            <a:ext cx="5010912" cy="841248"/>
          </a:xfrm>
          <a:prstGeom prst="roundRect">
            <a:avLst>
              <a:gd name="adj" fmla="val 6522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30098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她在拒绝这门婚事？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36208" y="3072384"/>
            <a:ext cx="5010912" cy="841248"/>
          </a:xfrm>
          <a:prstGeom prst="roundRect">
            <a:avLst>
              <a:gd name="adj" fmla="val 6522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30098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她在说明此刻不能成婚的条件？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43584" y="4160520"/>
            <a:ext cx="971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先圈一项，再抄下托住判断的原词：________________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第一章原文轨道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32688" y="4919472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688" y="52578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559612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76656" y="5907024"/>
            <a:ext cx="10844784" cy="310896"/>
          </a:xfrm>
          <a:prstGeom prst="roundRect">
            <a:avLst>
              <a:gd name="adj" fmla="val 1764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934456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2688" y="6272784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10771632" cy="1143000"/>
          </a:xfrm>
          <a:prstGeom prst="roundRect">
            <a:avLst>
              <a:gd name="adj" fmla="val 4800"/>
            </a:avLst>
          </a:prstGeom>
          <a:solidFill>
            <a:srgbClr val="FFFCF6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10222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一句话里同时有哪两层话？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1207008" y="3337560"/>
            <a:ext cx="9784080" cy="859536"/>
          </a:xfrm>
          <a:prstGeom prst="roundRect">
            <a:avLst>
              <a:gd name="adj" fmla="val 6383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3575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她先在劝什么：________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26280" y="35753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她又把什么定下来：________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53528" y="35753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再标重音和停顿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13232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第一章原文轨道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32688" y="4919472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52578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688" y="559612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5934456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76656" y="6245352"/>
            <a:ext cx="10844784" cy="310896"/>
          </a:xfrm>
          <a:prstGeom prst="roundRect">
            <a:avLst>
              <a:gd name="adj" fmla="val 1764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6272784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合上书，把这场相遇接起来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1612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独立写五步，只写人物和动作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86384" y="2084832"/>
            <a:ext cx="1938528" cy="1874520"/>
          </a:xfrm>
          <a:prstGeom prst="roundRect">
            <a:avLst>
              <a:gd name="adj" fmla="val 2927"/>
            </a:avLst>
          </a:prstGeom>
          <a:solidFill>
            <a:srgbClr val="37322D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2423160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170432" y="3163824"/>
            <a:ext cx="1170432" cy="0"/>
          </a:xfrm>
          <a:prstGeom prst="line">
            <a:avLst/>
          </a:prstGeom>
          <a:noFill/>
          <a:ln w="15240">
            <a:solidFill>
              <a:srgbClr val="B18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2084832"/>
            <a:ext cx="1938528" cy="1874520"/>
          </a:xfrm>
          <a:prstGeom prst="roundRect">
            <a:avLst>
              <a:gd name="adj" fmla="val 2927"/>
            </a:avLst>
          </a:prstGeom>
          <a:solidFill>
            <a:srgbClr val="323C3F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2423160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E9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438144" y="3163824"/>
            <a:ext cx="1170432" cy="0"/>
          </a:xfrm>
          <a:prstGeom prst="line">
            <a:avLst/>
          </a:prstGeom>
          <a:noFill/>
          <a:ln w="15240">
            <a:solidFill>
              <a:srgbClr val="4E74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1808" y="2084832"/>
            <a:ext cx="1938528" cy="1874520"/>
          </a:xfrm>
          <a:prstGeom prst="roundRect">
            <a:avLst>
              <a:gd name="adj" fmla="val 2927"/>
            </a:avLst>
          </a:prstGeom>
          <a:solidFill>
            <a:srgbClr val="37322D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2423160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5705856" y="3163824"/>
            <a:ext cx="1170432" cy="0"/>
          </a:xfrm>
          <a:prstGeom prst="line">
            <a:avLst/>
          </a:prstGeom>
          <a:noFill/>
          <a:ln w="15240">
            <a:solidFill>
              <a:srgbClr val="B18B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084832"/>
            <a:ext cx="1938528" cy="1874520"/>
          </a:xfrm>
          <a:prstGeom prst="roundRect">
            <a:avLst>
              <a:gd name="adj" fmla="val 2927"/>
            </a:avLst>
          </a:prstGeom>
          <a:solidFill>
            <a:srgbClr val="323C3F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423160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E9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7973568" y="3163824"/>
            <a:ext cx="1170432" cy="0"/>
          </a:xfrm>
          <a:prstGeom prst="line">
            <a:avLst/>
          </a:prstGeom>
          <a:noFill/>
          <a:ln w="15240">
            <a:solidFill>
              <a:srgbClr val="4E74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57232" y="2084832"/>
            <a:ext cx="1938528" cy="1874520"/>
          </a:xfrm>
          <a:prstGeom prst="roundRect">
            <a:avLst>
              <a:gd name="adj" fmla="val 2927"/>
            </a:avLst>
          </a:prstGeom>
          <a:solidFill>
            <a:srgbClr val="37322D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0" y="2423160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0241280" y="3163824"/>
            <a:ext cx="1170432" cy="0"/>
          </a:xfrm>
          <a:prstGeom prst="line">
            <a:avLst/>
          </a:prstGeom>
          <a:noFill/>
          <a:ln w="15240">
            <a:solidFill>
              <a:srgbClr val="B18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08576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同桌只找断点，不报答案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733288" y="46177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0" y="4608576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E9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翻书定位，换笔修订，再合书连说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只读第一章，你怎样看这次接近？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11556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每栏写一条；给前两栏各补一个第一章原词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" y="1700784"/>
            <a:ext cx="3429000" cy="3108960"/>
          </a:xfrm>
          <a:prstGeom prst="roundRect">
            <a:avLst>
              <a:gd name="adj" fmla="val 1765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482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诗里写着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43584" y="2761488"/>
            <a:ext cx="2368296" cy="0"/>
          </a:xfrm>
          <a:prstGeom prst="line">
            <a:avLst/>
          </a:prstGeom>
          <a:noFill/>
          <a:ln w="15240">
            <a:solidFill>
              <a:srgbClr val="4E7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407822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原词：____________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26280" y="1700784"/>
            <a:ext cx="3429000" cy="3108960"/>
          </a:xfrm>
          <a:prstGeom prst="roundRect">
            <a:avLst>
              <a:gd name="adj" fmla="val 1765"/>
            </a:avLst>
          </a:prstGeom>
          <a:solidFill>
            <a:srgbClr val="F0E6D3"/>
          </a:solidFill>
          <a:ln w="12700">
            <a:solidFill>
              <a:srgbClr val="8A6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482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6A3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初读时我觉得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56632" y="2761488"/>
            <a:ext cx="2368296" cy="0"/>
          </a:xfrm>
          <a:prstGeom prst="line">
            <a:avLst/>
          </a:prstGeom>
          <a:noFill/>
          <a:ln w="15240">
            <a:solidFill>
              <a:srgbClr val="8A6A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407822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原词：____________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39328" y="1700784"/>
            <a:ext cx="3429000" cy="3108960"/>
          </a:xfrm>
          <a:prstGeom prst="roundRect">
            <a:avLst>
              <a:gd name="adj" fmla="val 1765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20482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现在还说不准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869680" y="2761488"/>
            <a:ext cx="2368296" cy="0"/>
          </a:xfrm>
          <a:prstGeom prst="line">
            <a:avLst/>
          </a:prstGeom>
          <a:noFill/>
          <a:ln w="15240">
            <a:solidFill>
              <a:srgbClr val="A84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407822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先留一句：________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57400" y="5166360"/>
            <a:ext cx="8074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同桌问一句：这是诗里写着的，还是我此刻的感觉？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127248" y="55778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我再决定：保留｜说轻一点｜移栏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95344" y="60533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全文读完后，我们再回来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让第一章重新成为一段话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10241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第一章全文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1353312"/>
            <a:ext cx="6903720" cy="4297680"/>
          </a:xfrm>
          <a:prstGeom prst="roundRect">
            <a:avLst>
              <a:gd name="adj" fmla="val 1277"/>
            </a:avLst>
          </a:prstGeom>
          <a:solidFill>
            <a:srgbClr val="FFFCF6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19072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987552" y="2386584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87552" y="305409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987552" y="372160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87552" y="438912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065008" y="1572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完整重读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372600" y="21031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65008" y="25146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合书讲30秒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138160" y="33558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05088" y="32918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男子怎样来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138160" y="39410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05088" y="387705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女子怎样回应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138160" y="45262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05088" y="44622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婚期怎样定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444752" y="5925312"/>
            <a:ext cx="9308592" cy="548640"/>
          </a:xfrm>
          <a:prstGeom prst="roundRect">
            <a:avLst>
              <a:gd name="adj" fmla="val 10000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6062472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听者找遗漏｜回诗补说｜写一句章意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《氓》V6第一章课堂课件</dc:title>
  <dc:subject>第一章逐句讲读</dc:subject>
  <dc:creator>语文备课系统</dc:creator>
  <cp:lastModifiedBy>语文备课系统</cp:lastModifiedBy>
  <cp:revision>1</cp:revision>
  <dcterms:created xsi:type="dcterms:W3CDTF">2026-08-15T07:07:26Z</dcterms:created>
  <dcterms:modified xsi:type="dcterms:W3CDTF">2026-08-15T07:07:26Z</dcterms:modified>
</cp:coreProperties>
</file>
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【V6页ID】N022｜第二章｜先听见等待怎样起伏｜3分钟
【教师逐字稿】
第一章的婚期定在秋天，第二章从等待真正开始。先让这一章完整地响一遍。每读到一个人物动作，就用指尖轻点桌面一下；带着感受的动作也可以写，不必先把动作和感受硬分开。读完后，只写你最确定的三个动作，按先后排好。同桌不报完整答案，只看顺序有没有倒置；有分歧，就一起把手指落回诗句。把这三步留好，章末我们会看它们怎样长成完整的一章。
【场面与走位】
N021第一章旁白收束后，教师不另设章节口号页，直接让第二章全文出现；学生翻到‘乘彼垝垣’。
（教师连读第二章）
（学生个人朗读并以指尖轻点动作）
（写三个最确定的动作）
（同桌核序）
（换笔调序后重读）
【时间盒】
教师连读与交代动作脉冲：35秒；个人朗读与轻点：60秒；写三个动作：35秒；同桌核序：30秒；修订、重读与转场：20秒
【现场分支】
valid_emotional_actions：望、泣、笑本身都是动作；只要来自原句且先后正确就保留，不因兼有情绪意味而改答。
word_block：被垝垣、卜筮卡住时先留问号，继续读完；词义到相应页解决。
【听者同步任务】
同桌只检查三个动作在诗中的先后，不替对方补完整行动链
【证据位置】
学习单·第二章动作脉冲
【自然切页句】
三个动作已经把等待撑起来。先看她的目光怎样越过一堵残墙。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【V6页ID】N023｜乘彼垝垣，以望复关｜4分钟
【教师逐字稿】
先借注释把这句说清：‘乘’是登上，‘垝垣’是残破的墙，‘以’是来、用来；‘复关’是氓所住的地方，诗中也借地名指向他。现在不要画地图，只画一条目光：女子已站在哪里，她由此望向哪里？如果你把人画在墙下，就回到‘乘’；如果画到复关，就回到‘望’。修好以后，由垝垣上向复关轻轻一指，再把原句读到底。
【场面与走位】
屏幕只放大第一句、三个空白提示和作答边界，不显示人物站位、墙体或完整箭头；学生在学习单上先画，教师巡视。
（个人先口译）
（教师定点释义）
（学生画视线）
（同桌判断视线/路线）
（改画并沿线回读）
【时间盒】
个人口译：40秒；定点释义：55秒；个人画线：55秒；同桌核对：45秒；改画与回读：45秒
【现场分支】
wrong_station：若把女子留在墙下，只追问‘乘’发生以后她在哪里，再让学生改图。
walks_to_fuguan：若把女子画到复关，只追问‘她是在走，还是在望’，让学生依据‘望’改图。
exact_map：若补画确定村落、方位或距离，提醒诗只给出垝垣、望和复关，不把不确定项画实。
【听者同步任务】
检查画的是目光还是人物行走；只问‘望’指向哪里
【证据位置】
学习单·第二章视线线条
【自然切页句】
目光已经抵达复关，接下来两句却用‘看不见’和‘已经看见’把声音猛地翻转。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【V6页ID】N024｜不见与既见，两句怎样突然转身｜5分钟
【教师逐字稿】
这两句必须放在一起读。先各自说成一句自然话，先别报答案。现在只校准四个词：‘泣涕’是哭泣流泪，‘涟涟’是泪流不断；‘既’是已经，两个‘载’是加强语气的助词。屏幕下面三格还是空的：从两句里各找出视线条件、人物动作和语势原词，上下对齐。同桌不报整套答案，只指出哪一格找不到原词。作者换笔修订后，再遮住‘失落、喜悦’这类情绪词，只用原句把转折说清。
【场面与走位】
屏幕将两句上下并列，下方只留视线条件、人物动作、语势原词三组空格；教师不指向完成配对，不用表情图替学生给情绪答案。
（个人口译两句）
（教师定点释义）
（学生纵向对齐原词）
（同桌遮标签讲转折）
（换笔补词并连读）
【时间盒】
两句口译：60秒；定点释义：55秒；纵向对齐：55秒；同桌遮答核对：65秒；修订和连读：65秒
【现场分支】
only_emotion_labels：若只说伤心、开心，遮住标签，请学生用不见/既见和泣涕/笑言重说。
zai_as_again：若把两个‘载’都机械译作‘又’，先按教材说明它们是加强语气的助词，再听两个动作怎样接连出现。
【听者同步任务】
遮住‘失落/喜悦’等标签，检查讲述是否仍能由不见、既见、涟涟、载站住
【证据位置】
学习单·第二章两句对照
【自然切页句】
对照已经看见了。下一步不听我的示范，先把这次转折写进你自己的声音。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【V6页ID】N025｜先把转折写进声音｜5分钟
【教师逐字稿】
先别急着互读。把刚才看见的转折写进自己的声音：哪一处慢下来，哪一处快起来？再各标一处重音或停顿。至少选一处写明理由，理由必须落在‘不见、既见、涟涟、载’这样的原词上。你可以和别人读得不同，但不能只写‘因为她很伤心’。轻声试一遍，若纸上的标记自己都读不出来，就先改谱。
【场面与走位】
屏幕保留两句和空白朗读谱；全班先静默设计，教师不范读、不请展示。
（个人标快慢）
（标重音和停顿）
（写一处原词理由）
（轻声试读）
（教师巡视追问并促成一次纸面修订）
【时间盒】
交代朗读谱：25秒；个人设计：100秒；写原词依据：45秒；轻声试读：55秒；巡视修订与收束：75秒
【现场分支】
imitates_teacher：有人等待教师示范时，明确本页没有标准读法，先让自己的依据发声。
emotion_reason：若理由只有‘她很伤心/开心’，追问哪一个原词使速度或停顿这样安排。
【听者同步任务】
本页先做个人准备；提前完成者只检查标记是否能由原词解释，不向同伴示范答案
【证据位置】
学习单·第二章我的朗读谱
【自然切页句】
纸上的谱只是设想。现在把它交给一双闭着的眼睛，看看声音是否真的被听见。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【V6页ID】N026｜让听者闭眼，只凭声音找转轴｜5分钟
【教师逐字稿】
现在才交给同桌。听的人先闭上眼，不看对方的朗读谱；读的人按自己的标记连读两句。听者只写：我在哪个原词附近听见声音转了；哪一处纸上也许标了，但耳朵没听见。读者不争辩，只从速度、停顿、重音里改一处，再读第二遍。听者勾选‘更清楚’或‘仍需调整’。若仍需调整，不必假装成功，就在谱旁标一个‘△待调整’，章末完整重读时再试一次。然后交换角色。我们检验的不是表演得像不像，而是文字能不能经由你的声音被别人听见。
【场面与走位】
同桌面对面，一人闭眼一人读；教师在后排听，不用全班齐读掩盖个人差异。
（甲读乙闭眼听）
（乙写转轴与未听清处）
（甲改一处再读）
（乙勾选）
（交换角色）
【时间盒】
说明盲听规则：35秒；甲第一遍与乙回执：65秒；甲改读与乙勾选：55秒；交换角色完成两遍：110秒；全班收束：35秒
【现场分支】
praise_only：听者只说‘很好’时，要求写下具体在哪个原词附近听见变化。
too_many_changes：读者准备全部重做时，只允许选择速度、停顿或重音中的一项，保留可比较痕迹。
【听者同步任务】
只写听见变化的原词和一处没听清的标记，不评价‘有感情/没感情’
【证据位置】
学习单·第二章听者回执与改读记录
【自然切页句】
第二遍，有的转轴已经清楚，有的还标着‘待调整’。把回执留下，章末重读时再验证；故事先接着走向卜与筮。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【V6页ID】N027｜尔卜尔筮，体无咎言｜5分钟
【教师逐字稿】
这句需要一小段文化支架。‘卜’是烧灼龟板看裂纹，‘筮’是用蓍草占卦；‘体’是占卜显示的兆象，‘咎言’是不祥之语。先不听完整翻译，请先各写一句自然话；再把两件事分开写：此次占问能说到哪里？后来相处中的什么，原句尚不能告诉我们？（停四十五秒，教师巡视，不报两格答案；再留时间完成边界句。）同桌只圈出‘一定、保证、证明’这类把时间推远的词，作者先自己改。（等待互查与修订。）现在校准：‘无咎言’是此次占问没有显示不祥；它推进了当时的婚前程序，却不能替后来长期相处作保证。请保留前稿，用另一种颜色修订。
【场面与走位】
教师以四个词的极简路标解释卜筮，不播放考古视频，不把背景扩展成先秦婚俗讲座。
（看四词路标）
（个人先口译并写时间边界）
（教师真实等待）
（同桌圈越界词）
（教师后校准）
（学生保留前稿修订并回读）
【时间盒】
四词文化支架：55秒；个人口译与两句边界（含四十五秒静默）：90秒；同桌越界词核查：55秒；教师后校准：45秒；保留前稿修订并回读：55秒
【现场分支】
future_guarantee：若写成证明婚姻幸福，要求把时间退回此次占问，改为没有显示不祥。
rejects_culture：若简单说迷信无用，先要求回答它在当时叙事中怎样推进婚前程序，再保留现代看法。
【听者同步任务】
查找‘一定、保证、证明’是否把此次占问说成后来结果
【证据位置】
学习单·第二章卜筮小注
【自然切页句】
占问没有显示不祥，叙事便走向迎娶。最后一句用一组整齐的‘以尔/以我’写两个人的动作。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【V6页ID】N028｜以尔车来，以我贿迁｜4分钟
【教师逐字稿】
最后一句看上去整齐，却不能一口吞成‘他们结婚了’。沿‘以尔’和‘以我’拆开：你用什么来？我带着什么迁？‘贿’在这里是财物，也就是嫁妆；‘迁’是迁往男子家。请一人读左栏，一人读右栏，再一起合回原句。听的人检查：车是谁带来的，嫁妆是谁带着的，谁的生活位置发生了迁移。错一项，就回到‘以尔、以我’换笔。
【场面与走位】
屏幕把原句拆成左右两栏；教师指向词序，让学生对读，不先出现完成译文。
（个人拆两栏）
（教师释贿、迁）
（同桌核对主体与物件）
（两人对读）
（换笔修订并合读）
【时间盒】
个人拆句：50秒；定点释义：45秒；同桌核对：45秒；双人对读：45秒；修订与合读：55秒
【现场分支】
generic_marriage：只写‘他们结婚’时，要求补出车、嫁妆和迁移动作。
dowry_owner：把嫁妆写成男子带来时，回到‘以我贿迁’重新判断主体。
【听者同步任务】
检查两栏的主体、车、嫁妆和迁移动作是否错位
【证据位置】
学习单·第二章以尔／以我对称行动
【自然切页句】
五组诗句都已走完。现在撤掉答案，用七个乱序词检验它们是否真的接成了一章。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【V6页ID】N029｜从章首三步补出七个关键节点｜4分钟
【教师逐字稿】
请先把章首写下的三个动作抄回这一格。再看屏幕七词：找得到的就圈出来；像‘乘、来’这样没有出现在七词里的，照样保留，只要它来自原诗。现在把书合上。七词不是整章全部动作，而是七个关键节点：迁、笑言、望、卜筮、泣、既见、不见。请按诗中的先后标一到七。排完以后，只看你自己的序列：声音在哪两个相邻节点之间突然转了？圈出这一处，再用一道转折线连住前后两个节点。写完交给同桌；听的人只说顺序断点在哪里，或你连住的两项是否相邻，不报完整顺序，也不说正确转折词。作者再翻诗，只定位断点，用另一种颜色修订，然后合书连说一次。看看章首三步，现在怎样和七个关键节点接在一起。
【场面与走位】
学生打开章首动作脉冲记录但合上教材，先写回原来抓到的三步；七词中能对应的才圈出，像‘乘、来’这样未出现的合理动作照样保留。随后独立排列七个关键节点，并只在自己的排序中寻找声音转折；屏幕和教师都不预先摆出任意两项的正确相对顺序。
（取回章首三步）
（圈出七词中能对应的动作并保留其余）
（合书独立编号）
（在自己的排序中圈转折并连住前后节点）
（同桌只找断点）
（翻诗定位）
（换笔修订并合书连说）
【时间盒】
取回并圈出章首三步：35秒；独立编号：60秒；画一道转折线：25秒；同桌找断点：45秒；翻诗修订和连说：75秒
【现场分支】
blank_retrieval：完全空白者先用章首三个动作定位其中三处，再翻书只找它们之间缺少的步骤。
opening_action_absent：若章首写的是‘乘、来、迁’等，而七词中没有‘乘、来’，明确说明七词只是七个关键节点；合理动作照样保留，不得为凑七词而删去。
partner_answers：同桌开始报完整顺序或正确转折词时，立即改成只指出第几号后发生跳跃，或所连两项是否相邻。
【听者同步任务】
只说哪一处顺序跳跃，或转折线所连的两个节点是否相邻，不报完整顺序和正确转折词
【证据位置】
学习单·第二章章首三步与七词复位
【自然切页句】
动作和声音都能从记忆里接回来了。最后让第二章重新成为一段完整的话。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【V6页ID】N030｜让第二章从等待走到迁嫁｜4分钟
【教师逐字稿】
把第二章重新完整读一遍。若你的朗读谱还标着‘△待调整’，读到‘不见／既见’两句时就按最后一次修改再试；同桌只在旁边勾‘更清楚’或保留‘待调整’，不必假装已经解决。视线线条、两句对照、卜筮小注都退到诗句后面，让这一章重新成为一段话。读完合书，用三十秒讲清三件事：她怎样等，声音怎样转，婚事怎样推进。听的人只按这三项找遗漏；少一项，讲述者回到相应原句补说。最后写一句有动作、有转折的章意。下一章，叙事会忽然转向桑叶。
【场面与走位】
屏幕重新呈现第二章全文；教师先让全章声音回来，再要求合书旁白。
（待调整者在完整重读中再验证）
（完整重读）
（个人合书旁白）
（听者按三项找遗漏）
（讲述者回诗补说）
（写一句章意）
【时间盒】
完整重读：45秒；第一轮三十秒旁白：60秒；听者反馈：35秒；回诗补说：55秒；一句章意与转场：45秒
【现场分支】
activity_dump：若旁白只报视线图、朗读谱、卜筮定义，提醒只讲人物怎样等、怎样转、怎样迁。
fortune_as_cause：若说因占卜保证幸福所以迁嫁，改为占问无不祥后婚前程序继续推进。
【听者同步任务】
只检查三项：她怎样等、声音怎样转、婚事怎样推进
【证据位置】
学习单·第二章一句章意；同桌三十秒旁白
【自然切页句】
第二章从登高等待走到乘车迁嫁。下一章，人物动作暂时隐去，桑叶先进入我们的眼睛。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231F"/>
          </a:solidFill>
          <a:ln w="12700">
            <a:solidFill>
              <a:srgbClr val="272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第二章｜先听见等待怎样起伏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921240" y="4389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　2 / 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3232" y="1143000"/>
            <a:ext cx="10771632" cy="3182112"/>
          </a:xfrm>
          <a:prstGeom prst="roundRect">
            <a:avLst>
              <a:gd name="adj" fmla="val 1724"/>
            </a:avLst>
          </a:prstGeom>
          <a:solidFill>
            <a:srgbClr val="FFFCF6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408176"/>
            <a:ext cx="10012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乘彼垝垣，以望复关。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1097280" y="1920240"/>
            <a:ext cx="10012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4B443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不见复关，泣涕涟涟。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1097280" y="2432304"/>
            <a:ext cx="10012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既见复关，载笑载言。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1097280" y="2944368"/>
            <a:ext cx="10012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4B443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尔卜尔筮，体无咎言。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1097280" y="3456432"/>
            <a:ext cx="10012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以尔车来，以我贿迁。</a:t>
            </a:r>
            <a:endParaRPr lang="en-US" sz="2900" dirty="0"/>
          </a:p>
        </p:txBody>
      </p:sp>
      <p:sp>
        <p:nvSpPr>
          <p:cNvPr id="11" name="Shape 9"/>
          <p:cNvSpPr/>
          <p:nvPr/>
        </p:nvSpPr>
        <p:spPr>
          <a:xfrm>
            <a:off x="841248" y="4663440"/>
            <a:ext cx="3218688" cy="1170432"/>
          </a:xfrm>
          <a:prstGeom prst="roundRect">
            <a:avLst>
              <a:gd name="adj" fmla="val 4688"/>
            </a:avLst>
          </a:prstGeom>
          <a:solidFill>
            <a:srgbClr val="DCE9EA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855464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E74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读到动作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97280" y="5294376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指尖轻点一下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169664" y="501091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B18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4736592" y="4663440"/>
            <a:ext cx="6565392" cy="1170432"/>
          </a:xfrm>
          <a:prstGeom prst="roundRect">
            <a:avLst>
              <a:gd name="adj" fmla="val 4688"/>
            </a:avLst>
          </a:prstGeom>
          <a:solidFill>
            <a:srgbClr val="F1E5CE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10912" y="4818888"/>
            <a:ext cx="6016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B18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读完，留下三个最确定的动作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5074920" y="5285232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FFFCF6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84648" y="531266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　____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059168" y="5285232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FFFCF6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68896" y="531266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　____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043416" y="5285232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FFFCF6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53144" y="531266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　____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096512" y="6053328"/>
            <a:ext cx="3995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dirty="0">
                <a:solidFill>
                  <a:srgbClr val="766E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带着感受的动作也可以写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231F"/>
          </a:solidFill>
          <a:ln w="12700">
            <a:solidFill>
              <a:srgbClr val="272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乘彼垝垣，以望复关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921240" y="4389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　2 / 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3232" y="1097280"/>
            <a:ext cx="10771632" cy="1097280"/>
          </a:xfrm>
          <a:prstGeom prst="roundRect">
            <a:avLst>
              <a:gd name="adj" fmla="val 5000"/>
            </a:avLst>
          </a:prstGeom>
          <a:solidFill>
            <a:srgbClr val="FFFCF6"/>
          </a:solidFill>
          <a:ln w="12700">
            <a:solidFill>
              <a:srgbClr val="A84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38988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乘彼垝垣，以望复关。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2523744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她站在哪里？目光从哪里出发？望向谁所在的地方？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969264" y="3200400"/>
            <a:ext cx="10241280" cy="2240280"/>
          </a:xfrm>
          <a:prstGeom prst="roundRect">
            <a:avLst>
              <a:gd name="adj" fmla="val 2449"/>
            </a:avLst>
          </a:prstGeom>
          <a:solidFill>
            <a:srgbClr val="DCE9EA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61872" y="3657600"/>
            <a:ext cx="2880360" cy="1170432"/>
          </a:xfrm>
          <a:prstGeom prst="roundRect">
            <a:avLst>
              <a:gd name="adj" fmla="val 4688"/>
            </a:avLst>
          </a:prstGeom>
          <a:solidFill>
            <a:srgbClr val="F1DCD5"/>
          </a:solidFill>
          <a:ln w="12700">
            <a:solidFill>
              <a:srgbClr val="A84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4752" y="3840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人物站位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44752" y="426110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________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572000" y="3657600"/>
            <a:ext cx="2880360" cy="1170432"/>
          </a:xfrm>
          <a:prstGeom prst="roundRect">
            <a:avLst>
              <a:gd name="adj" fmla="val 4688"/>
            </a:avLst>
          </a:prstGeom>
          <a:solidFill>
            <a:srgbClr val="FFFCF6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3840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74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视线方向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54880" y="426110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____  →  ____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7882128" y="3657600"/>
            <a:ext cx="2880360" cy="1170432"/>
          </a:xfrm>
          <a:prstGeom prst="roundRect">
            <a:avLst>
              <a:gd name="adj" fmla="val 4688"/>
            </a:avLst>
          </a:prstGeom>
          <a:solidFill>
            <a:srgbClr val="F1E5CE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65008" y="3840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18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065008" y="426110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375904" y="41605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□ 目光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528048" y="4160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□ 行走路线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874520" y="5650992"/>
            <a:ext cx="8439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E74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先在纸上画　→　同桌只核对‘乘’和‘望’　→　换笔改图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231F"/>
          </a:solidFill>
          <a:ln w="12700">
            <a:solidFill>
              <a:srgbClr val="272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不见与既见，两句怎样突然转身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921240" y="4389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　2 / 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4672" y="1234440"/>
            <a:ext cx="10588752" cy="1188720"/>
          </a:xfrm>
          <a:prstGeom prst="roundRect">
            <a:avLst>
              <a:gd name="adj" fmla="val 4615"/>
            </a:avLst>
          </a:prstGeom>
          <a:solidFill>
            <a:srgbClr val="DCE9EA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0432" y="1545336"/>
            <a:ext cx="9857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E748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不见复关，泣涕涟涟。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04672" y="2779776"/>
            <a:ext cx="10588752" cy="1188720"/>
          </a:xfrm>
          <a:prstGeom prst="roundRect">
            <a:avLst>
              <a:gd name="adj" fmla="val 4615"/>
            </a:avLst>
          </a:prstGeom>
          <a:solidFill>
            <a:srgbClr val="F1E5CE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3090672"/>
            <a:ext cx="9857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18B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既见复关，载笑载言。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1115568" y="4617720"/>
            <a:ext cx="3154680" cy="1051560"/>
          </a:xfrm>
          <a:prstGeom prst="roundRect">
            <a:avLst>
              <a:gd name="adj" fmla="val 5217"/>
            </a:avLst>
          </a:prstGeom>
          <a:solidFill>
            <a:srgbClr val="FFFCF6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16736" y="4736592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视线条件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316736" y="5102352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____  ↕  ____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800600" y="4617720"/>
            <a:ext cx="3154680" cy="1051560"/>
          </a:xfrm>
          <a:prstGeom prst="roundRect">
            <a:avLst>
              <a:gd name="adj" fmla="val 5217"/>
            </a:avLst>
          </a:prstGeom>
          <a:solidFill>
            <a:srgbClr val="F1DCD5"/>
          </a:solidFill>
          <a:ln w="12700">
            <a:solidFill>
              <a:srgbClr val="A84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1768" y="4736592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人物动作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001768" y="5102352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____  ↕  ____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485632" y="4617720"/>
            <a:ext cx="3154680" cy="1051560"/>
          </a:xfrm>
          <a:prstGeom prst="roundRect">
            <a:avLst>
              <a:gd name="adj" fmla="val 5217"/>
            </a:avLst>
          </a:prstGeom>
          <a:solidFill>
            <a:srgbClr val="FFFCF6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0" y="4736592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语势原词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686800" y="5102352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____  ↕  ____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965960" y="5998464"/>
            <a:ext cx="8257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66E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独立填三组　→　同桌只找无原词依据的一格　→　换笔修订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82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18B52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先把转折写进声音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921240" y="4389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　2 / 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07899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E7DC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先写朗读谱，再开口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41248" y="1792224"/>
            <a:ext cx="10515600" cy="1901952"/>
          </a:xfrm>
          <a:prstGeom prst="roundRect">
            <a:avLst>
              <a:gd name="adj" fmla="val 2885"/>
            </a:avLst>
          </a:prstGeom>
          <a:solidFill>
            <a:srgbClr val="35312D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5296" y="2084832"/>
            <a:ext cx="9747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E9E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不见复关，泣涕涟涟。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225296" y="2898648"/>
            <a:ext cx="9747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E5C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既见复关，载笑载言。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841248" y="4133088"/>
            <a:ext cx="3310128" cy="1280160"/>
          </a:xfrm>
          <a:prstGeom prst="roundRect">
            <a:avLst>
              <a:gd name="adj" fmla="val 4286"/>
            </a:avLst>
          </a:prstGeom>
          <a:solidFill>
            <a:srgbClr val="DCE9EA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4370832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74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慢下来的一处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344168" y="5001768"/>
            <a:ext cx="2304288" cy="0"/>
          </a:xfrm>
          <a:prstGeom prst="line">
            <a:avLst/>
          </a:prstGeom>
          <a:noFill/>
          <a:ln w="15240">
            <a:solidFill>
              <a:srgbClr val="4E7480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4526280" y="4133088"/>
            <a:ext cx="3310128" cy="1280160"/>
          </a:xfrm>
          <a:prstGeom prst="roundRect">
            <a:avLst>
              <a:gd name="adj" fmla="val 4286"/>
            </a:avLst>
          </a:prstGeom>
          <a:solidFill>
            <a:srgbClr val="F1E5CE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4370832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8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快起来的一处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029200" y="5001768"/>
            <a:ext cx="2304288" cy="0"/>
          </a:xfrm>
          <a:prstGeom prst="line">
            <a:avLst/>
          </a:prstGeom>
          <a:noFill/>
          <a:ln w="15240">
            <a:solidFill>
              <a:srgbClr val="B18B52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8211312" y="4133088"/>
            <a:ext cx="3310128" cy="1280160"/>
          </a:xfrm>
          <a:prstGeom prst="roundRect">
            <a:avLst>
              <a:gd name="adj" fmla="val 4286"/>
            </a:avLst>
          </a:prstGeom>
          <a:solidFill>
            <a:srgbClr val="F1DCD5"/>
          </a:solidFill>
          <a:ln w="12700">
            <a:solidFill>
              <a:srgbClr val="A84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4370832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重音或停顿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714232" y="5001768"/>
            <a:ext cx="2304288" cy="0"/>
          </a:xfrm>
          <a:prstGeom prst="line">
            <a:avLst/>
          </a:prstGeom>
          <a:noFill/>
          <a:ln w="15240">
            <a:solidFill>
              <a:srgbClr val="A84A3A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3200400" y="5852160"/>
            <a:ext cx="5788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DCC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为其中一处写下原词理由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231F"/>
          </a:solidFill>
          <a:ln w="12700">
            <a:solidFill>
              <a:srgbClr val="272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让听者闭眼，只凭声音找转轴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921240" y="4389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　2 / 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097280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不见复关，泣涕涟涟。　既见复关，载笑载言。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42416" y="1865376"/>
            <a:ext cx="10104120" cy="786384"/>
          </a:xfrm>
          <a:prstGeom prst="roundRect">
            <a:avLst>
              <a:gd name="adj" fmla="val 6977"/>
            </a:avLst>
          </a:prstGeom>
          <a:solidFill>
            <a:srgbClr val="DCE9EA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2011680"/>
            <a:ext cx="512064" cy="493776"/>
          </a:xfrm>
          <a:prstGeom prst="roundRect">
            <a:avLst>
              <a:gd name="adj" fmla="val 11111"/>
            </a:avLst>
          </a:prstGeom>
          <a:solidFill>
            <a:srgbClr val="4E7480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89888" y="211226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048256" y="206654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E74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读者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041648" y="2066544"/>
            <a:ext cx="6720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按自己的朗读谱读两句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042416" y="2907792"/>
            <a:ext cx="10104120" cy="786384"/>
          </a:xfrm>
          <a:prstGeom prst="roundRect">
            <a:avLst>
              <a:gd name="adj" fmla="val 6977"/>
            </a:avLst>
          </a:prstGeom>
          <a:solidFill>
            <a:srgbClr val="F1E5CE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80160" y="3054096"/>
            <a:ext cx="512064" cy="493776"/>
          </a:xfrm>
          <a:prstGeom prst="roundRect">
            <a:avLst>
              <a:gd name="adj" fmla="val 11111"/>
            </a:avLst>
          </a:prstGeom>
          <a:solidFill>
            <a:srgbClr val="B18B52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89888" y="31546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048256" y="31089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18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听者闭眼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041648" y="3108960"/>
            <a:ext cx="6720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在哪个原词附近，声音开始变化？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042416" y="3950208"/>
            <a:ext cx="10104120" cy="786384"/>
          </a:xfrm>
          <a:prstGeom prst="roundRect">
            <a:avLst>
              <a:gd name="adj" fmla="val 6977"/>
            </a:avLst>
          </a:prstGeom>
          <a:solidFill>
            <a:srgbClr val="F1DCD5"/>
          </a:solidFill>
          <a:ln w="12700">
            <a:solidFill>
              <a:srgbClr val="A84A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80160" y="4096512"/>
            <a:ext cx="512064" cy="493776"/>
          </a:xfrm>
          <a:prstGeom prst="roundRect">
            <a:avLst>
              <a:gd name="adj" fmla="val 11111"/>
            </a:avLst>
          </a:prstGeom>
          <a:solidFill>
            <a:srgbClr val="A84A3A"/>
          </a:solidFill>
          <a:ln w="12700">
            <a:solidFill>
              <a:srgbClr val="A84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89888" y="419709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2048256" y="415137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读者改一处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041648" y="4151376"/>
            <a:ext cx="6720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速度｜停顿｜重音，只选一项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042416" y="4992624"/>
            <a:ext cx="10104120" cy="786384"/>
          </a:xfrm>
          <a:prstGeom prst="roundRect">
            <a:avLst>
              <a:gd name="adj" fmla="val 6977"/>
            </a:avLst>
          </a:prstGeom>
          <a:solidFill>
            <a:srgbClr val="E1E7D9"/>
          </a:solidFill>
          <a:ln w="12700">
            <a:solidFill>
              <a:srgbClr val="6477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80160" y="5138928"/>
            <a:ext cx="512064" cy="493776"/>
          </a:xfrm>
          <a:prstGeom prst="roundRect">
            <a:avLst>
              <a:gd name="adj" fmla="val 11111"/>
            </a:avLst>
          </a:prstGeom>
          <a:solidFill>
            <a:srgbClr val="647752"/>
          </a:solidFill>
          <a:ln w="12700">
            <a:solidFill>
              <a:srgbClr val="6477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89888" y="523951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2048256" y="51937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477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第二遍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041648" y="5193792"/>
            <a:ext cx="6720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更清楚｜仍需调整；待调整者章末再试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590288" y="61813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66E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再交换角色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231F"/>
          </a:solidFill>
          <a:ln w="12700">
            <a:solidFill>
              <a:srgbClr val="272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尔卜尔筮，体无咎言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921240" y="4389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　2 / 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3232" y="1078992"/>
            <a:ext cx="10771632" cy="1060704"/>
          </a:xfrm>
          <a:prstGeom prst="roundRect">
            <a:avLst>
              <a:gd name="adj" fmla="val 5172"/>
            </a:avLst>
          </a:prstGeom>
          <a:solidFill>
            <a:srgbClr val="FFFCF6"/>
          </a:solidFill>
          <a:ln w="12700">
            <a:solidFill>
              <a:srgbClr val="A84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353312"/>
            <a:ext cx="10222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尔卜尔筮，体无咎言。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795528" y="2514600"/>
            <a:ext cx="2514600" cy="1078992"/>
          </a:xfrm>
          <a:prstGeom prst="roundRect">
            <a:avLst>
              <a:gd name="adj" fmla="val 5085"/>
            </a:avLst>
          </a:prstGeom>
          <a:solidFill>
            <a:srgbClr val="DCE9EA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2642616"/>
            <a:ext cx="2148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4E748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卜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905256" y="3099816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龟板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3621024" y="2514600"/>
            <a:ext cx="2514600" cy="1078992"/>
          </a:xfrm>
          <a:prstGeom prst="roundRect">
            <a:avLst>
              <a:gd name="adj" fmla="val 5085"/>
            </a:avLst>
          </a:prstGeom>
          <a:solidFill>
            <a:srgbClr val="F1E5CE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03904" y="2642616"/>
            <a:ext cx="2148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B18B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筮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3730752" y="3099816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蓍草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6446520" y="2514600"/>
            <a:ext cx="2514600" cy="1078992"/>
          </a:xfrm>
          <a:prstGeom prst="roundRect">
            <a:avLst>
              <a:gd name="adj" fmla="val 5085"/>
            </a:avLst>
          </a:prstGeom>
          <a:solidFill>
            <a:srgbClr val="DCE9EA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642616"/>
            <a:ext cx="2148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4E748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体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6556248" y="3099816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兆象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9272016" y="2514600"/>
            <a:ext cx="2514600" cy="1078992"/>
          </a:xfrm>
          <a:prstGeom prst="roundRect">
            <a:avLst>
              <a:gd name="adj" fmla="val 5085"/>
            </a:avLst>
          </a:prstGeom>
          <a:solidFill>
            <a:srgbClr val="F1E5CE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54896" y="2642616"/>
            <a:ext cx="2148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B18B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无咎言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9381744" y="3099816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没有不祥之语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078992" y="4114800"/>
            <a:ext cx="4754880" cy="1261872"/>
          </a:xfrm>
          <a:prstGeom prst="roundRect">
            <a:avLst>
              <a:gd name="adj" fmla="val 4348"/>
            </a:avLst>
          </a:prstGeom>
          <a:solidFill>
            <a:srgbClr val="E1E7D9"/>
          </a:solidFill>
          <a:ln w="12700">
            <a:solidFill>
              <a:srgbClr val="6477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45936" y="4114800"/>
            <a:ext cx="4754880" cy="1261872"/>
          </a:xfrm>
          <a:prstGeom prst="roundRect">
            <a:avLst>
              <a:gd name="adj" fmla="val 4348"/>
            </a:avLst>
          </a:prstGeom>
          <a:solidFill>
            <a:srgbClr val="F1DCD5"/>
          </a:solidFill>
          <a:ln w="12700">
            <a:solidFill>
              <a:srgbClr val="A84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08176" y="434340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7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此次占问告诉他们什么？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675120" y="434340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它不能替后来什么作保证？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874520" y="5010912"/>
            <a:ext cx="3182112" cy="0"/>
          </a:xfrm>
          <a:prstGeom prst="line">
            <a:avLst/>
          </a:prstGeom>
          <a:noFill/>
          <a:ln w="15240">
            <a:solidFill>
              <a:srgbClr val="647752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7141464" y="5010912"/>
            <a:ext cx="3182112" cy="0"/>
          </a:xfrm>
          <a:prstGeom prst="line">
            <a:avLst/>
          </a:prstGeom>
          <a:noFill/>
          <a:ln w="15240">
            <a:solidFill>
              <a:srgbClr val="A84A3A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3794760" y="5833872"/>
            <a:ext cx="4599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66E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先口译，再把两件事分开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231F"/>
          </a:solidFill>
          <a:ln w="12700">
            <a:solidFill>
              <a:srgbClr val="272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921240" y="4389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　2 / 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3232" y="1078992"/>
            <a:ext cx="10771632" cy="1060704"/>
          </a:xfrm>
          <a:prstGeom prst="roundRect">
            <a:avLst>
              <a:gd name="adj" fmla="val 5172"/>
            </a:avLst>
          </a:prstGeom>
          <a:solidFill>
            <a:srgbClr val="FFFCF6"/>
          </a:solidFill>
          <a:ln w="12700">
            <a:solidFill>
              <a:srgbClr val="A84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353312"/>
            <a:ext cx="10222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以尔车来，以我贿迁。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868680" y="2542032"/>
            <a:ext cx="5010912" cy="2468880"/>
          </a:xfrm>
          <a:prstGeom prst="roundRect">
            <a:avLst>
              <a:gd name="adj" fmla="val 2222"/>
            </a:avLst>
          </a:prstGeom>
          <a:solidFill>
            <a:srgbClr val="DCE9EA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880360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E748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188720" y="3794760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谁来？　带来什么？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1828800" y="4453128"/>
            <a:ext cx="3090672" cy="0"/>
          </a:xfrm>
          <a:prstGeom prst="line">
            <a:avLst/>
          </a:prstGeom>
          <a:noFill/>
          <a:ln w="16510">
            <a:solidFill>
              <a:srgbClr val="4E7480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6300216" y="2542032"/>
            <a:ext cx="5010912" cy="2468880"/>
          </a:xfrm>
          <a:prstGeom prst="roundRect">
            <a:avLst>
              <a:gd name="adj" fmla="val 2222"/>
            </a:avLst>
          </a:prstGeom>
          <a:solidFill>
            <a:srgbClr val="F1E5CE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0256" y="2880360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18B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以我贿迁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620256" y="3794760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谁迁？　带着什么？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7260336" y="4453128"/>
            <a:ext cx="3090672" cy="0"/>
          </a:xfrm>
          <a:prstGeom prst="line">
            <a:avLst/>
          </a:prstGeom>
          <a:noFill/>
          <a:ln w="16510">
            <a:solidFill>
              <a:srgbClr val="B18B52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2249424" y="5577840"/>
            <a:ext cx="7690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6477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先拆成两人的动作　→　两人对读　→　再合回一句诗</a:t>
            </a:r>
            <a:endParaRPr lang="en-US" sz="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82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18B52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从章首三步补出七个关键节点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921240" y="4389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　2 / 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078992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E7DC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写回章首三步｜能对应的圈出｜没有出现的照样保留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02920" y="1847088"/>
            <a:ext cx="1371600" cy="1078992"/>
          </a:xfrm>
          <a:prstGeom prst="roundRect">
            <a:avLst>
              <a:gd name="adj" fmla="val 5085"/>
            </a:avLst>
          </a:prstGeom>
          <a:solidFill>
            <a:srgbClr val="3B3530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2057400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1E5C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迁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49808" y="252374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E7DCC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序号 __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2130552" y="1847088"/>
            <a:ext cx="1371600" cy="1078992"/>
          </a:xfrm>
          <a:prstGeom prst="roundRect">
            <a:avLst>
              <a:gd name="adj" fmla="val 5085"/>
            </a:avLst>
          </a:prstGeom>
          <a:solidFill>
            <a:srgbClr val="323C3F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0280" y="2057400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E9E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笑言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377440" y="252374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E7DCC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序号 __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3758184" y="1847088"/>
            <a:ext cx="1371600" cy="1078992"/>
          </a:xfrm>
          <a:prstGeom prst="roundRect">
            <a:avLst>
              <a:gd name="adj" fmla="val 5085"/>
            </a:avLst>
          </a:prstGeom>
          <a:solidFill>
            <a:srgbClr val="3B3530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67912" y="2057400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1E5C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望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005072" y="252374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E7DCC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序号 __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5385816" y="1847088"/>
            <a:ext cx="1371600" cy="1078992"/>
          </a:xfrm>
          <a:prstGeom prst="roundRect">
            <a:avLst>
              <a:gd name="adj" fmla="val 5085"/>
            </a:avLst>
          </a:prstGeom>
          <a:solidFill>
            <a:srgbClr val="323C3F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95544" y="2057400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E9E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卜筮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632704" y="252374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E7DCC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序号 __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013448" y="1847088"/>
            <a:ext cx="1371600" cy="1078992"/>
          </a:xfrm>
          <a:prstGeom prst="roundRect">
            <a:avLst>
              <a:gd name="adj" fmla="val 5085"/>
            </a:avLst>
          </a:prstGeom>
          <a:solidFill>
            <a:srgbClr val="3B3530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23176" y="2057400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1E5C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泣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260336" y="252374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E7DCC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序号 __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8641080" y="1847088"/>
            <a:ext cx="1371600" cy="1078992"/>
          </a:xfrm>
          <a:prstGeom prst="roundRect">
            <a:avLst>
              <a:gd name="adj" fmla="val 5085"/>
            </a:avLst>
          </a:prstGeom>
          <a:solidFill>
            <a:srgbClr val="323C3F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50808" y="2057400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E9E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887968" y="252374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E7DCC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序号 __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10268712" y="1847088"/>
            <a:ext cx="1371600" cy="1078992"/>
          </a:xfrm>
          <a:prstGeom prst="roundRect">
            <a:avLst>
              <a:gd name="adj" fmla="val 5085"/>
            </a:avLst>
          </a:prstGeom>
          <a:solidFill>
            <a:srgbClr val="3B3530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78440" y="2057400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1E5C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0515600" y="252374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E7DCC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序号 __</a:t>
            </a:r>
            <a:endParaRPr lang="en-US" sz="1750" dirty="0"/>
          </a:p>
        </p:txBody>
      </p:sp>
      <p:sp>
        <p:nvSpPr>
          <p:cNvPr id="27" name="Shape 25"/>
          <p:cNvSpPr/>
          <p:nvPr/>
        </p:nvSpPr>
        <p:spPr>
          <a:xfrm>
            <a:off x="1170432" y="3438144"/>
            <a:ext cx="9857232" cy="1261872"/>
          </a:xfrm>
          <a:prstGeom prst="roundRect">
            <a:avLst>
              <a:gd name="adj" fmla="val 4348"/>
            </a:avLst>
          </a:prstGeom>
          <a:solidFill>
            <a:srgbClr val="343C3E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08760" y="360273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CE9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排序完成后，再找声音转折</a:t>
            </a:r>
            <a:endParaRPr lang="en-US" sz="2300" dirty="0"/>
          </a:p>
        </p:txBody>
      </p:sp>
      <p:sp>
        <p:nvSpPr>
          <p:cNvPr id="29" name="Text 27"/>
          <p:cNvSpPr/>
          <p:nvPr/>
        </p:nvSpPr>
        <p:spPr>
          <a:xfrm>
            <a:off x="5468112" y="360273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7DCC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落在第 ____ 与第 ____ 个节点之间</a:t>
            </a:r>
            <a:endParaRPr lang="en-US" sz="2300" dirty="0"/>
          </a:p>
        </p:txBody>
      </p:sp>
      <p:sp>
        <p:nvSpPr>
          <p:cNvPr id="30" name="Text 28"/>
          <p:cNvSpPr/>
          <p:nvPr/>
        </p:nvSpPr>
        <p:spPr>
          <a:xfrm>
            <a:off x="1965960" y="4160520"/>
            <a:ext cx="8257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dirty="0">
                <a:solidFill>
                  <a:srgbClr val="DCE9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在自己的七词序列中，圈出这一处；用一道线连住前后两个节点</a:t>
            </a:r>
            <a:endParaRPr lang="en-US" sz="2050" dirty="0"/>
          </a:p>
        </p:txBody>
      </p:sp>
      <p:sp>
        <p:nvSpPr>
          <p:cNvPr id="31" name="Text 29"/>
          <p:cNvSpPr/>
          <p:nvPr/>
        </p:nvSpPr>
        <p:spPr>
          <a:xfrm>
            <a:off x="1600200" y="5266944"/>
            <a:ext cx="8988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DCC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同桌只找顺序断点　→　翻诗定位，换笔修订　→　合书连说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2606040" y="5870448"/>
            <a:ext cx="6976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766E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章首三步，现在怎样和七个关键节点接起来？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231F"/>
          </a:solidFill>
          <a:ln w="12700">
            <a:solidFill>
              <a:srgbClr val="272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让第二章从等待走到迁嫁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921240" y="4389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　2 / 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" y="9875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第二章全文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13232" y="1353312"/>
            <a:ext cx="10771632" cy="2798064"/>
          </a:xfrm>
          <a:prstGeom prst="roundRect">
            <a:avLst>
              <a:gd name="adj" fmla="val 1961"/>
            </a:avLst>
          </a:prstGeom>
          <a:solidFill>
            <a:srgbClr val="FFFCF6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6276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乘彼垝垣，以望复关。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051560" y="206654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不见复关，泣涕涟涟。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051560" y="2505456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既见复关，载笑载言。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051560" y="29443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尔卜尔筮，体无咎言。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051560" y="338328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以尔车来，以我贿迁。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77824" y="4517136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E74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重读全章 → 合书讲30秒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434840" y="4517136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B18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她怎样等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492240" y="45171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6477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声音怎样转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8577072" y="4517136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婚事怎样推进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1993392" y="5394960"/>
            <a:ext cx="8211312" cy="621792"/>
          </a:xfrm>
          <a:prstGeom prst="roundRect">
            <a:avLst>
              <a:gd name="adj" fmla="val 8824"/>
            </a:avLst>
          </a:prstGeom>
          <a:solidFill>
            <a:srgbClr val="DCE9EA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04288" y="5559552"/>
            <a:ext cx="7589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74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听者找遗漏｜讲述者回诗补说｜写一句章意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《氓》V6第二章课堂课件</dc:title>
  <dc:subject>第二章逐句讲读与双速度朗读</dc:subject>
  <dc:creator>语文备课系统</dc:creator>
  <cp:lastModifiedBy>语文备课系统</cp:lastModifiedBy>
  <cp:revision>1</cp:revision>
  <dcterms:created xsi:type="dcterms:W3CDTF">2026-08-15T06:35:50Z</dcterms:created>
  <dcterms:modified xsi:type="dcterms:W3CDTF">2026-08-15T06:35:50Z</dcterms:modified>
</cp:coreProperties>
</file>
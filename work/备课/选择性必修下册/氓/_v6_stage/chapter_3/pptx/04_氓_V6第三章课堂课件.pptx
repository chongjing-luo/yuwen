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【V6页ID】N031｜第三章｜迁嫁之后，诗接着写了什么｜4分钟
【教师逐字稿】
第二章最后，她带着嫁妆迁往男子家。请先用你们留下的两句章意，把故事接到这里：初见议婚，等待迁嫁。第三个格子先空着。现在完整读第三章。不急着解释；读到你感觉说话方式与前面不同的地方，就自己轻停半拍。如果暂时没有感觉到变化，也照原来的节奏读完。读后只写三件最确定的事：最先看见什么，第一声在劝谁，后来又转向谁。同桌只核对这些人和物有没有从原句里来，不替对方解释。把三处落点留好，章末再看它们怎样连成一段话。
【场面与走位】
屏幕顶部只保留前两章故事轨道和一个空格，主体区域呈现第三章全文；教师先让学生从自己的章意恢复故事，再读新章。
（同桌各用一句恢复前两章）
（完整读第三章）
（自己感觉说话变化处轻停）
（独立写三处落点）
（同桌核对来源）
（换笔修订）
【时间盒】
前两章故事接续：45秒；教师示范与个人完整读：70秒；三处落点独立生成：55秒；同桌核对与换笔：45秒；收束转场：25秒
【现场分支】
activity_words：若写‘朗读、圈词、比较’，追问诗里先出现了谁或什么，改成人、物、声音对象。
theme_first：若先报‘比兴、劝诫、男女不平等’，暂时保留在纸边问号区，本页只登记初读落点。
【听者同步任务】
同桌只检查三个落点是否来自第三章原句，不解释比兴、不替对方概括章意
【证据位置】
学习单·第三章镜头落点与六章故事轨道
【自然切页句】
故事的脚步停了，一片润泽的桑叶先占满眼睛。先只看这片叶子。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【V6页ID】N032｜桑之未落，其叶沃若｜6分钟
【教师逐字稿】
先把这句说成自然话。‘沃若’是润泽的样子，但我们先不把它翻成一个抽象道理。请闭口看这片叶子十秒：它的颜色、质地、生命状态怎样？先写两个能被‘沃若’托住的感官词。现在才允许联想：它可能让你想到怎样的青春、情感或关系状态？至少留下两种可能，每一种都要由刚才的感官词托住。同桌不选谁对，只追问依据。若你只写‘象征爱情’，请把话说轻一点，改成‘可能让我想到……’，因为第四章还有一片‘黄而陨’的桑叶要回来检验。今天先保留分歧。
【场面与走位】
屏幕放大一行原诗，两个感官词和两项假设保持空白；教师不展示桑叶等于青春或爱情的标准图解。
（个人口译）
（闭口观察十秒）
（写两个感官词）
（写两种可能联想）
（同桌追问依据）
（换笔改弱并保存）
【时间盒】
口译与定点释义：70秒；静默感受与写词：70秒；两种假设生成：90秒；同桌依据追问：60秒；换笔修订与转场：70秒
【现场分支】
one_password：若只写‘桑叶象征青春’，要求再写一种可能，并把‘象征’改为‘可能让人想到’。
no_sensory_basis：若联想找不到沃若依据，先删去联想，只保留色泽、质地或生命状态。
honest_uncertainty：两种解释都拿不准者可以各留一个问号；第四章必须回来筛选。
【听者同步任务】
只问‘这个联想由沃若的哪一种感觉生出’，不替作者选择唯一解释
【证据位置】
学习单·桑叶假设卡
【自然切页句】
桑叶的意思暂不封口。下一句，画面里飞来一只斑鸠，声音也从描写变成了呼告。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【V6页ID】N033｜两声‘于嗟’，各自在劝谁｜5分钟
【教师逐字稿】
这两句先分别说成自然话。‘于嗟’读xū jiē，是感叹词；‘无’同‘毋’，是不要；旧说斑鸠吃多桑葚会昏醉；‘耽’是沉溺、沉醉。现在一人读鸠句，一人接女句，用同一节拍读两遍。不要先报手法名，只听什么声音没有变，劝告的对象和内容怎样变了。把重复处圈起来，把变化处框起来。同桌只说哪一格找不到原词。修订后再合读：一声叹息先落在斑鸠身上，下一声已经落到女子身上。到这里，物象开始转向人的处境。
【场面与走位】
两句上下并列，释义只提供完成口译所需的五个词；重复与变化三格为空，两名学生面对面分句对读。
（个人口译两句）
（教师定点释义）
（圈重复框变化）
（两人同节拍对读）
（交换角色）
（用自然话说两声劝告怎样相接）
【时间盒】
个人口译：60秒；定点释义：60秒；重复与变化标记：55秒；两轮对读：70秒；同桌核查和修订：35秒；自然话收束：20秒
【现场分支】
only_terms：若只说反复、呼告，要求遮住术语，用鸠、女、桑葚、耽讲一次变化。
bird_lecture：若讨论斑鸠生物学真假，提醒教材只登记旧说及诗中劝告功能，不扩成自然科学争论。
【听者同步任务】
只指出重复或改变的哪一处没有落在原词上，不把完整配对报给读者
【证据位置】
学习单·两声于嗟回声记录
【自然切页句】
劝告已经从斑鸠落到女子。接下来两句不再换对象，而把男子和女子并排放在同一句势里。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【V6页ID】N034｜同是‘耽’，为何一边可说，一边不可说｜5分钟
【教师逐字稿】
最后两句必须并在一起。‘说’在这里读tuō，同‘脱’，是摆脱、脱身。先把两句各说成自然话，然后圈出完全相同的词，再框住真正改变判断的词。现在只做一件克制的事：用一句话说清诗中明写的处境差异，不解释为什么。若你的句子出现‘女性天生脆弱’‘她爱得深所以受伤’‘所以男子才变’之类的话，请同桌只把越界词圈出来。作者自己删掉，把原因写成‘后文待证’。这两句提醒我们退出并不对等，但女子的投入不能分担男子后来失信或粗暴的责任；接下来的婚后事实会继续回答这份不对等怎样落到生活里。
【场面与走位】
两句正面对举，屏幕只给‘说’的通假义；相同词、改变词和自然话均为空，教师不先解释性别差异的社会原因。
（个人口译）
（圈同词框异词）
（写无归因对照句）
（同桌圈越界词）
（作者删改）
（连读验证）
【时间盒】
个人口译与释义：65秒；同异词标记：55秒；对照句独立生成：65秒；同桌越界词核查：50秒；修订和连读：65秒
【现场分支】
gender_essence：若出现‘女性天生更脆弱’，圈出‘天生’，改为诗中明写的可说/不可说处境差异。
victim_blame：若说女子沉溺导致男子失信或粗暴，立即区分退出困难与伤害责任，删除致因关系。
asks_why：学生追问为什么不等时，把问题登记到第四、五章待证栏，不凭空补造原因。
【听者同步任务】
圈出同伴句中的‘天生、活该、所以他才’等越界词，只标问题，不替对方重写
【证据位置】
学习单·可说/不可说处境对照
【自然切页句】
诗已经把不平等写进两个相反的词里。但它为什么不直接劝女子，偏要先写桑叶和斑鸠？我们做一次删句比较。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【V6页ID】N035｜若诗直接从‘于嗟女兮’开始，会失去什么｜5分钟
【教师逐字稿】
这一次不分析，先听两种写法。左边三句是原诗，右边把桑叶和斑鸠删去，直接劝女子。第一组读A，第二组读B，其余同学闭眼听。两遍之间停十秒。请先写两种写法怎样不同——可以比较画面、回声或劝告抵达前的情感铺垫；也可以认为删改句更直接，但必须抄一处原词托住。只写‘用了比兴’还没有回答问题。等大家先说完听见的差异，我们再给这种经验命名：先言桑叶、斑鸠以引出所咏，是兴；物与人的相似又引发比的联想。手法不是贴在诗外的标签，它改变了劝诫到来的方式。
【场面与走位】
屏幕左右呈现原诗三句和删去桑叶、斑鸠后的单句；两组朗读，其余学生闭眼听，教师在生成前不说比兴。
（A组读原诗）
（静默十秒）
（B组读删改句）
（个人写多出的可感效果）
（同桌追问原词）
（教师后置命名比兴）
（带理解重读）
【时间盒】
两种听读与间隔：70秒；个人写不可替代处：65秒；同桌原词追问：55秒；公开两例：40秒；教师后置命名：45秒；修订与重读：25秒
【现场分支】
term_only：只写‘用了比兴’者必须补一个删去后真正消失的画面、回声或铺垫。
same_effect：若认为两段完全一样，请先分别说出两段第一眼看见什么、第一耳听到谁，再保留判断。
【听者同步任务】
只追问‘如果删去这一句，哪种画面或声音真的消失’，不接受只报比兴两个字
【证据位置】
学习单·删句听读比较
【自然切页句】
比兴不是额外知识，它改变了劝诫到来的路。现在撤掉全文，看这条路能不能从记忆里重新长出来。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【V6页ID】N036｜把章首三处落点接成四级声音阶梯｜4分钟
【教师逐字稿】
请翻回章首，把最先看见什么、先劝谁、后来劝谁抄回来；随后合上书。屏幕四张短签是乱序的：劝女子勿耽、桑叶沃若、比较脱身处境、劝斑鸠勿食。按诗中声音的推进标一到四，每张旁边至少补一处原词。同桌不报完整顺序，只说哪一级以后忽然断了。作者再翻诗，只定位断层，用另一种颜色修订。最后别告诉我你画了线、排了卡；请用人物和处境说一句：故事走到迁嫁以后，女子为什么暂时停下来，她的声音怎样从一片桑叶走到对女子处境的劝诫。
【场面与走位】
学生取回N031三处落点但合上教材，给四张乱序短签编号；屏幕没有正确顺序，教师不口头报答案。
（取回三处落点）
（合书独立编号）
（每签补一处原词）
（同桌只找断层）
（翻诗换笔）
（用自然话说回故事）
【时间盒】
取回旧产物：25秒；独立排序和补词：70秒；同桌找断层：45秒；翻诗修订：45秒；自然话回译：40秒；转场：15秒
【现场分支】
partner_answers：同桌开始报完整顺序时，改为只指出第几张后声音突然跳跃。
activity_dump：只说写词、对读、排序者必须改用桑叶、斑鸠、女子、士女处境重说。
different_wording：短签可用不同自然话表达，只要顺序、对象和原词依据成立，不强求标准术语。
【听者同步任务】
只指出哪一级之后声音跳跃或缺少原词，不报完整顺序；检查结尾是否说回人物处境而非活动流程
【证据位置】
学习单·第三章四级声音阶梯
【自然切页句】
声音阶梯已经复位。最后让五句原诗重新成为女子回望中的一段话，并接回整个故事。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【V6页ID】N037｜让第三章成为回望中的一段话｜5分钟
【教师逐字稿】
现在让第三章重新完整地响一遍。读完合书，用三十秒讲清三件事：迁嫁之后眼前先出现什么；两声劝告先后落在谁身上；最后两句写出谁更难脱身。听的人只报哪一项遗漏，不代说完整答案。讲述者自己回到原诗，把漏掉的那一处补说一次。现在才把修订后的自然话写进故事轨道第三格；不要抄术语，也不要照搬同桌的句子。写完后，两人从第一章连说到第三章，听一听故事是否真的接上。下一章会出现‘黄而陨’和婚后生活，今天留下的桑叶假设与处境问题都要再经事实筛选。
【场面与走位】
屏幕重新呈现第三章全文和故事轨道第三空格；先全章重读，后合书旁白，教师不先展示完成章意。
（完整重读）
（个人合书旁白）
（听者按三项找遗漏）
（讲述者回诗补说）
（写入故事轨道第三格）
（两人连说前三章）
【时间盒】
完整重读：50秒；第一轮三十秒旁白：70秒；听者反馈：40秒；回诗补说：55秒；写轨道与连说：65秒；转场：20秒
【现场分支】
method_summary：若章意写成‘运用比兴、反复、对比’，要求改为叙事停在哪里、声音怎样转、女子看见何种处境。
fixed_mulberry：若把桑叶写成唯一象征，提醒假设仍待第四章黄而陨筛选。
【听者同步任务】
只检查桑叶、两声劝告的对象、谁更难脱身三项是否齐全，不替讲述者说完整章意
【证据位置】
学习单·第三章三十秒旁白与六章故事轨道第三格
【自然切页句】
故事第三格已经接上。现在才把这一章的字词、声音和手法收进可复习的书页。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【V6页ID】N038｜把第三章收进书页｜4分钟
【教师逐字稿】
第三章的故事已经说成自然话，现在才把知识收进书页。先不要看屏幕，请翻回你自己的五份记录：桑叶假设、两声记录、脱身对照、删句比较、故事旁白。再用它们核对屏幕上的五层：字词是否读准，声音怎样推进，手法为何必要，什么仍待后文，责任不能怎样混淆。我们不整页抄写，只给仍不稳的一项加一颗星，然后回到原句补证。若屏幕上的说法与你的记录不同，先比较依据，不因它出现在屏幕上就直接涂掉自己的版本。字词要记住沃若、于嗟、无、耽和说；语言上要能说出由物起兴、由物及人的比兴，于嗟的反复呼告，以及士女、可不可的正面对照。桑叶要等黄而陨再筛选；本章只明写脱身处境不等，具体原因要看婚后事实；女子投入绝不分担男子后来失信或粗暴的责任。带着星标和假设卡，进入第四章。
【场面与走位】
学生已经完成章意后，屏幕才出现知识收纳；教师不逐条领抄，只处理星标项。
（个人对照学习单核验）
（只星标一项）
（回原句补证）
（同桌听补证）
（保留未解决星标）
（带假设卡进入第四章）
【时间盒】
取回五份记录并核对：70秒；个人星标与补证：65秒；同桌听证：45秒；教师处理共性星标：40秒；保留问题与转场：20秒
【现场分支】
copies_all：准备整页抄写者停笔，只写自己星标项的原句证据。
pretends_mastery：仍不稳者可保留星标到第四章，不要求当堂抹去问号。
blame_returns：若总结中再出现女子投入导致伤害，回到边界栏删除责任混淆。
【听者同步任务】
同桌只听星标项的原句补证，确认依据是否落在第三章，不替对方重抄知识
【证据位置】
学习单·第三章知识收纳星标
【自然切页句】
把桑叶假设、脱身问题和星标都带上。第四章第一句，那片桑叶将由沃若转为黄而陨。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第三章｜迁嫁之后，诗接着写了什么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故事走到这里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09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初见议婚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913632" y="157276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35424" y="1417320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609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等待迁嫁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534656" y="157276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609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49808" y="2468880"/>
            <a:ext cx="10698480" cy="2670048"/>
          </a:xfrm>
          <a:prstGeom prst="roundRect">
            <a:avLst>
              <a:gd name="adj" fmla="val 2055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7614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750" dirty="0"/>
          </a:p>
        </p:txBody>
      </p:sp>
      <p:sp>
        <p:nvSpPr>
          <p:cNvPr id="16" name="Text 14"/>
          <p:cNvSpPr/>
          <p:nvPr/>
        </p:nvSpPr>
        <p:spPr>
          <a:xfrm>
            <a:off x="1051560" y="3200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2750" dirty="0"/>
          </a:p>
        </p:txBody>
      </p:sp>
      <p:sp>
        <p:nvSpPr>
          <p:cNvPr id="17" name="Text 15"/>
          <p:cNvSpPr/>
          <p:nvPr/>
        </p:nvSpPr>
        <p:spPr>
          <a:xfrm>
            <a:off x="1051560" y="36393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2750" dirty="0"/>
          </a:p>
        </p:txBody>
      </p:sp>
      <p:sp>
        <p:nvSpPr>
          <p:cNvPr id="18" name="Text 16"/>
          <p:cNvSpPr/>
          <p:nvPr/>
        </p:nvSpPr>
        <p:spPr>
          <a:xfrm>
            <a:off x="1051560" y="40782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750" dirty="0"/>
          </a:p>
        </p:txBody>
      </p:sp>
      <p:sp>
        <p:nvSpPr>
          <p:cNvPr id="19" name="Text 17"/>
          <p:cNvSpPr/>
          <p:nvPr/>
        </p:nvSpPr>
        <p:spPr>
          <a:xfrm>
            <a:off x="1051560" y="45171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750" dirty="0"/>
          </a:p>
        </p:txBody>
      </p:sp>
      <p:sp>
        <p:nvSpPr>
          <p:cNvPr id="20" name="Text 18"/>
          <p:cNvSpPr/>
          <p:nvPr/>
        </p:nvSpPr>
        <p:spPr>
          <a:xfrm>
            <a:off x="914400" y="54132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感觉说话方式有变化时，自己轻停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02352" y="541324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51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最先看见 ____　先劝 ____　后来劝 ____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108960" y="605332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766E6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读完再落笔｜每一处回答都请抄回一个原词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1078992"/>
            <a:ext cx="10698480" cy="1024128"/>
          </a:xfrm>
          <a:prstGeom prst="roundRect">
            <a:avLst>
              <a:gd name="adj" fmla="val 5357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53312"/>
            <a:ext cx="10186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023360" y="2331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沃若：润泽的样子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880360" y="2816352"/>
            <a:ext cx="6446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一片‘沃若’的桑叶，唤起了怎样的感觉？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68680" y="3364992"/>
            <a:ext cx="2971800" cy="1938528"/>
          </a:xfrm>
          <a:prstGeom prst="roundRect">
            <a:avLst>
              <a:gd name="adj" fmla="val 2830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62102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色泽・质地・生命感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34440" y="42336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0280" y="42336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78608" y="42336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33088" y="3364992"/>
            <a:ext cx="3246120" cy="1938528"/>
          </a:xfrm>
          <a:prstGeom prst="roundRect">
            <a:avLst>
              <a:gd name="adj" fmla="val 2830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360273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 A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389120" y="4069080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可能让我想到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636008" y="4590288"/>
            <a:ext cx="2240280" cy="0"/>
          </a:xfrm>
          <a:prstGeom prst="line">
            <a:avLst/>
          </a:prstGeom>
          <a:noFill/>
          <a:ln w="13970">
            <a:solidFill>
              <a:srgbClr val="B18B52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4544568" y="4846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感官依据 ______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54112" y="3364992"/>
            <a:ext cx="3246120" cy="1938528"/>
          </a:xfrm>
          <a:prstGeom prst="roundRect">
            <a:avLst>
              <a:gd name="adj" fmla="val 2830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2712" y="360273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 B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010144" y="4069080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可能让我想到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257032" y="4590288"/>
            <a:ext cx="2240280" cy="0"/>
          </a:xfrm>
          <a:prstGeom prst="line">
            <a:avLst/>
          </a:prstGeom>
          <a:noFill/>
          <a:ln w="13970">
            <a:solidFill>
              <a:srgbClr val="4E7480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8165592" y="4846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感官依据 ______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93392" y="5715000"/>
            <a:ext cx="8211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两种可能先都保留　→　第四章‘黄而陨’出现后再筛选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925E"/>
          </a:solidFill>
          <a:ln w="12700">
            <a:solidFill>
              <a:srgbClr val="7B92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两声‘于嗟’，各自在劝谁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" y="1170432"/>
            <a:ext cx="10588752" cy="896112"/>
          </a:xfrm>
          <a:prstGeom prst="roundRect">
            <a:avLst>
              <a:gd name="adj" fmla="val 6122"/>
            </a:avLst>
          </a:prstGeom>
          <a:solidFill>
            <a:srgbClr val="343C32"/>
          </a:solidFill>
          <a:ln w="12700">
            <a:solidFill>
              <a:srgbClr val="7B92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99032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E7D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04672" y="2359152"/>
            <a:ext cx="10588752" cy="896112"/>
          </a:xfrm>
          <a:prstGeom prst="roundRect">
            <a:avLst>
              <a:gd name="adj" fmla="val 6122"/>
            </a:avLst>
          </a:prstGeom>
          <a:solidFill>
            <a:srgbClr val="3D3436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87752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60120" y="349300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于嗟 xū jiē｜无同‘毋’｜旧说斑鸠多食桑葚会昏醉｜耽：沉溺、沉醉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41248" y="4069080"/>
            <a:ext cx="3310128" cy="1234440"/>
          </a:xfrm>
          <a:prstGeom prst="roundRect">
            <a:avLst>
              <a:gd name="adj" fmla="val 4444"/>
            </a:avLst>
          </a:prstGeom>
          <a:solidFill>
            <a:srgbClr val="3B372F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2976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反复的声音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4128" y="475488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26280" y="4069080"/>
            <a:ext cx="3310128" cy="1234440"/>
          </a:xfrm>
          <a:prstGeom prst="roundRect">
            <a:avLst>
              <a:gd name="adj" fmla="val 4444"/>
            </a:avLst>
          </a:prstGeom>
          <a:solidFill>
            <a:srgbClr val="303933"/>
          </a:solidFill>
          <a:ln w="12700">
            <a:solidFill>
              <a:srgbClr val="7B92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42976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B92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改变的对象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09160" y="475488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  →  ____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11312" y="4069080"/>
            <a:ext cx="3310128" cy="1234440"/>
          </a:xfrm>
          <a:prstGeom prst="roundRect">
            <a:avLst>
              <a:gd name="adj" fmla="val 4444"/>
            </a:avLst>
          </a:prstGeom>
          <a:solidFill>
            <a:srgbClr val="3B3034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42976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551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改变的劝告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94192" y="475488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  →  ____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576072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两人同节拍对读　→　交换角色　→　用一句自然话说两声劝告怎样接过去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同是‘耽’，为何一边可说，一边不可说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170432"/>
            <a:ext cx="5102352" cy="1078992"/>
          </a:xfrm>
          <a:prstGeom prst="roundRect">
            <a:avLst>
              <a:gd name="adj" fmla="val 5085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53896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245352" y="1170432"/>
            <a:ext cx="5102352" cy="1078992"/>
          </a:xfrm>
          <a:prstGeom prst="roundRect">
            <a:avLst>
              <a:gd name="adj" fmla="val 5085"/>
            </a:avLst>
          </a:prstGeom>
          <a:solidFill>
            <a:srgbClr val="EADDE1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453896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487168"/>
            <a:ext cx="5330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说（tuō）：同‘脱’，摆脱、脱身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96112" y="3054096"/>
            <a:ext cx="4937760" cy="1078992"/>
          </a:xfrm>
          <a:prstGeom prst="roundRect">
            <a:avLst>
              <a:gd name="adj" fmla="val 5085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45936" y="3054096"/>
            <a:ext cx="4937760" cy="1078992"/>
          </a:xfrm>
          <a:prstGeom prst="roundRect">
            <a:avLst>
              <a:gd name="adj" fmla="val 5085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2735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两句完全相同的词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0256" y="32735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真正改变判断的词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17320" y="3703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________________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67144" y="3703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________________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34440" y="4526280"/>
            <a:ext cx="9720072" cy="1133856"/>
          </a:xfrm>
          <a:prstGeom prst="roundRect">
            <a:avLst>
              <a:gd name="adj" fmla="val 4839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4736592"/>
            <a:ext cx="9079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两句写出了怎样不同的脱身处境？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2240280" y="5321808"/>
            <a:ext cx="7708392" cy="0"/>
          </a:xfrm>
          <a:prstGeom prst="line">
            <a:avLst/>
          </a:prstGeom>
          <a:noFill/>
          <a:ln w="13970">
            <a:solidFill>
              <a:srgbClr val="B18B52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2011680" y="5907024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此刻能确认的是 __________　仍待追问：为什么会有这种差别？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925E"/>
          </a:solidFill>
          <a:ln w="12700">
            <a:solidFill>
              <a:srgbClr val="7B92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若诗直接从‘于嗟女兮’开始，会失去什么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99232" y="102412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读两遍，听劝诫怎样来到耳边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04672" y="1645920"/>
            <a:ext cx="5303520" cy="2971800"/>
          </a:xfrm>
          <a:prstGeom prst="roundRect">
            <a:avLst>
              <a:gd name="adj" fmla="val 1846"/>
            </a:avLst>
          </a:prstGeom>
          <a:solidFill>
            <a:srgbClr val="343A31"/>
          </a:solidFill>
          <a:ln w="12700">
            <a:solidFill>
              <a:srgbClr val="7B92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27648" y="1645920"/>
            <a:ext cx="5074920" cy="2971800"/>
          </a:xfrm>
          <a:prstGeom prst="roundRect">
            <a:avLst>
              <a:gd name="adj" fmla="val 1846"/>
            </a:avLst>
          </a:prstGeom>
          <a:solidFill>
            <a:srgbClr val="3D3336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A｜原诗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51560" y="2487168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51560" y="3072384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51560" y="3657600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62940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ADD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B｜删去桑叶与斑鸠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62940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29400" y="3730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两种写法，劝告怎样不同地来到耳边？</a:t>
            </a:r>
            <a:endParaRPr lang="en-US" sz="2050" dirty="0"/>
          </a:p>
        </p:txBody>
      </p:sp>
      <p:sp>
        <p:nvSpPr>
          <p:cNvPr id="15" name="Shape 13"/>
          <p:cNvSpPr/>
          <p:nvPr/>
        </p:nvSpPr>
        <p:spPr>
          <a:xfrm>
            <a:off x="1298448" y="5001768"/>
            <a:ext cx="9601200" cy="868680"/>
          </a:xfrm>
          <a:prstGeom prst="roundRect">
            <a:avLst>
              <a:gd name="adj" fmla="val 6316"/>
            </a:avLst>
          </a:prstGeom>
          <a:solidFill>
            <a:srgbClr val="34312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2768" y="525780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F1E5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　□画面　□声音　□情感铺垫　□删改句更直接　原词依据 ______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3794760" y="609904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哪一种更打动你？请让原词替你说话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把章首三处落点接成四级声音阶梯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08960" y="1078992"/>
            <a:ext cx="5971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取回章首三处落点　→　合上书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12648" y="1874520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EADDE1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848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劝女子勿耽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61518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　原词 ______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3502152" y="1874520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20848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桑叶沃若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66744" y="261518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　原词 ______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391656" y="1874520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F1E5CE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20848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比较脱身处境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56248" y="261518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　原词 ______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281160" y="1874520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0848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劝斑鸠勿食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445752" y="261518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__　原词 ______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1005840" y="3703320"/>
            <a:ext cx="10177272" cy="896112"/>
          </a:xfrm>
          <a:prstGeom prst="roundRect">
            <a:avLst>
              <a:gd name="adj" fmla="val 6122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977640"/>
            <a:ext cx="9537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同桌只找声音断层　→　翻诗定位，换笔修订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1005840" y="4892040"/>
            <a:ext cx="10177272" cy="1024128"/>
          </a:xfrm>
          <a:prstGeom prst="roundRect">
            <a:avLst>
              <a:gd name="adj" fmla="val 5357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5138928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合上书，替这一章补一句故事旁白：________________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2743200" y="5669280"/>
            <a:ext cx="6702552" cy="0"/>
          </a:xfrm>
          <a:prstGeom prst="line">
            <a:avLst/>
          </a:prstGeom>
          <a:noFill/>
          <a:ln w="13970">
            <a:solidFill>
              <a:srgbClr val="64775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让第三章成为回望中的一段话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051560"/>
            <a:ext cx="10771632" cy="2542032"/>
          </a:xfrm>
          <a:prstGeom prst="roundRect">
            <a:avLst>
              <a:gd name="adj" fmla="val 2158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441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560" y="17556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051560" y="2167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051560" y="25786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1051560" y="29900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868680" y="3950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完整重读　→　合书讲30秒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041648" y="395020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眼前先出现什么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6053328" y="395020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7551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两声劝告先后落在谁身上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089136" y="3950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最后谁更难脱身</a:t>
            </a:r>
            <a:endParaRPr lang="en-US" sz="2050" dirty="0"/>
          </a:p>
        </p:txBody>
      </p:sp>
      <p:sp>
        <p:nvSpPr>
          <p:cNvPr id="15" name="Shape 13"/>
          <p:cNvSpPr/>
          <p:nvPr/>
        </p:nvSpPr>
        <p:spPr>
          <a:xfrm>
            <a:off x="896112" y="4663440"/>
            <a:ext cx="10396728" cy="932688"/>
          </a:xfrm>
          <a:prstGeom prst="roundRect">
            <a:avLst>
              <a:gd name="adj" fmla="val 5882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946904"/>
            <a:ext cx="9811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听见遗漏，只报一处｜讲述者回到诗中，把它补上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2148840" y="5897880"/>
            <a:ext cx="7891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初见议婚　→　等待迁嫁　→　____________________________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B925E"/>
          </a:solidFill>
          <a:ln w="12700">
            <a:solidFill>
              <a:srgbClr val="7B92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把第三章收进书页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" y="987552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313A31"/>
          </a:solidFill>
          <a:ln w="12700">
            <a:solidFill>
              <a:srgbClr val="7B92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06424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7B925E"/>
          </a:solidFill>
          <a:ln w="12700">
            <a:solidFill>
              <a:srgbClr val="7B9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2070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字词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267712" y="1152144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沃若：润泽｜于嗟 xū jiē｜无同‘毋’｜耽：沉溺｜说 tuō 同‘脱’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41248" y="1865376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303A3D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984248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4E7480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0848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声音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267712" y="2029968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桑叶入眼 → 劝鸠 → 劝女 → 士/女、可/不可正面对照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41248" y="27432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3B372F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2862072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962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手法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267712" y="2907792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由物起兴、由物及人的比兴｜‘于嗟’反复与呼告｜正面对照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41248" y="3621024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3C3236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739896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8404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待证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267712" y="3785616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ADD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桑叶待‘黄而陨’筛选｜男女处境为何不同，要看婚后事实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41248" y="4498848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3D302D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4617720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A84A3A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7183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267712" y="4663440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1DC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女子的投入，不分担男子失信或粗暴的责任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61872" y="5422392"/>
            <a:ext cx="9674352" cy="896112"/>
          </a:xfrm>
          <a:prstGeom prst="roundRect">
            <a:avLst>
              <a:gd name="adj" fmla="val 6122"/>
            </a:avLst>
          </a:prstGeom>
          <a:solidFill>
            <a:srgbClr val="35312E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555955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翻回自己的学习单：桑叶假设｜两声记录｜脱身对照｜删句比较｜故事旁白</a:t>
            </a:r>
            <a:endParaRPr lang="en-US" sz="1820" dirty="0"/>
          </a:p>
          <a:p>
            <a:pPr algn="ctr" indent="0" marL="0">
              <a:buNone/>
            </a:pPr>
            <a:r>
              <a:rPr lang="en-US" sz="1820" b="1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给仍未站稳的一项加 ★；回到原句，让诗句把它托住</a:t>
            </a:r>
            <a:endParaRPr lang="en-US" sz="1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《氓》V6第三章课堂课件</dc:title>
  <dc:subject>第三章由桑叶物象进入劝诫与处境对照</dc:subject>
  <dc:creator>语文备课系统</dc:creator>
  <cp:lastModifiedBy>语文备课系统</cp:lastModifiedBy>
  <cp:revision>1</cp:revision>
  <dcterms:created xsi:type="dcterms:W3CDTF">2026-08-13T11:01:35Z</dcterms:created>
  <dcterms:modified xsi:type="dcterms:W3CDTF">2026-08-13T11:01:35Z</dcterms:modified>
</cp:coreProperties>
</file>
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【模块课件】M4-P1｜母版P74
【页码与模块】P74｜模块四·回望六章，把她的日子讲出来
【连续课堂剧本】
【承接上一页】教师在新的内容模块开始时，不用复习题轰炸学生，只恢复故事位置。
【教师原话】“上次故事走到这里：婚后食贫、长期劳动、粗暴与家人不解 请用十五秒找到最后读懂的一句，再看今天要继续进入哪里。”
【学生动作与等待】学生翻到对应诗句，先自己复述，再由一名学生用不超过三十秒连接前后。
【可能回应与接话】若遗忘，教师给行动链首尾词；若复述过长，只保留人物行动和未回答的问题。
【可观察证据】能够说清上次停点、本次起点和尚未回答的问题。
【明确切页句】“位置恢复了，让下一章完整出现。”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【模块课件】M4-P2｜母版P75
【页码与模块】P75｜模块四·回望六章，把她的日子讲出来
【连续课堂剧本】
【承接上一页】教师在进入第六章逐句解释前，先让一章完整出现。
【教师原话】“先完整读第六章，遇到人物动作就轻点桌面，遇到声音变化就停半拍。暂时不翻译，也不要求现在讲出章意。”
【学生动作与等待】全班按四言节奏完整朗读一次；学生只在人物动作处轻点桌面，在声音变化处停半拍，不闭书、不提前概括。
【可能回应与接话】若朗读漏行，教师只从自然句首带回；若学生急着解释主题，教师提醒先保存停顿，逐句教学后再形成连续章意。
【可观察证据】一次不中断的章读，以及对本章动作或声音变化的一处初步标记。
【明确切页句】“整章声音已经在场，接下来逐句把行动和意思照亮。”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【模块课件】M4-P3｜母版P76
【页码与模块】P76｜模块四·回望六章，把她的日子讲出来
【连续课堂剧本】
【承接上一页】教师指向第六章 1/5和累计行动链，不让这句脱离整章。
【教师原话】“先读：‘及尔偕老，老使我怨’。谁在做什么？”【等回答后】“用现代汉语说就是：原想同你白头到老，如今想到老去却使我怨恨。 关键词只处理及：同、跟；偕老：共同到老；怨：怨恨。”教师随后补充：“旧日偕老愿望与现实正面碰撞。”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【可观察证据】准确口译“及尔偕老，老使我怨”并指出：旧日偕老愿望与现实正面碰撞。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【模块课件】M4-P4｜母版P77
【页码与模块】P77｜模块四·回望六章，把她的日子讲出来
【连续课堂剧本】
【承接上一页】教师指向第六章 2/5和累计行动链，不让这句脱离整章。
【教师原话】“先读：‘淇则有岸，隰则有泮’。谁在做什么？”【等回答后】“用现代汉语说就是：淇水尚且有岸，低湿地尚且有边。 关键词只处理隰 xí：低湿的地方；泮 pàn：同“畔”，边、岸。”教师随后补充：“由自然边界转入关系或怨苦的反衬。”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【可观察证据】准确口译“淇则有岸，隰则有泮”并指出：由自然边界转入关系或怨苦的反衬。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【模块课件】M4-P5｜母版P78
【页码与模块】P78｜模块四·回望六章，把她的日子讲出来
【连续课堂剧本】
【承接上一页】教师指向第六章 3/5和累计行动链，不让这句脱离整章。
【教师原话】“先读：‘总角之宴，言笑晏晏’。谁在做什么？”【等回答后】“用现代汉语说就是：回想少年时代一起欢乐，言谈笑语和悦。 关键词只处理总角：少年时代；宴：欢乐；晏晏：和悦的样子。”教师随后补充：“叙述跳回少年共同记忆。”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【可观察证据】准确口译“总角之宴，言笑晏晏”并指出：叙述跳回少年共同记忆。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【模块课件】M4-P6｜母版P79
【页码与模块】P79｜模块四·回望六章，把她的日子讲出来
【连续课堂剧本】
【承接上一页】教师指向第六章 4/5和累计行动链，不让这句脱离整章。
【教师原话】“先读：‘信誓旦旦，不思其反’。谁在做什么？”【等回答后】“译意先不出现；请借关键词把它说完整。 关键词只处理旦旦：诚恳的样子；反：违背。”教师随后补充：“女子核验当初誓言与后来行为。”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【可观察证据】准确口译“信誓旦旦，不思其反”并指出：女子核验当初誓言与后来行为。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【模块课件】M4-P7｜母版P80
【页码与模块】P80｜模块四·回望六章，把她的日子讲出来
【连续课堂剧本】
【承接上一页】上一页已确认“信誓旦旦，不思其反”的基本意思，本页只增加一个关键观察。
【教师原话】“请把译意先放下，再读原句。你看见的形式是：誓言/违誓对照；“不思”进入结尾回环。 它怎样改变我们对处境的理解？”教师在学生回应后用边界语收束：“结尾不是突然“觉醒”。她先调回总角、言笑和誓言，再用后来行为逐项核验；判断由长期经历形成。”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承诺与行动断裂；Q3 失信责任。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【模块课件】M4-P8｜母版P81
【页码与模块】P81｜模块四·回望六章，把她的日子讲出来
【连续课堂剧本】
【承接上一页】教师指向第六章 5/5和累计行动链，不让这句脱离整章。
【教师原话】“先读：‘反是不思，亦已焉哉’。谁在做什么？”【等回答后】“译意先不出现；请借关键词把它说完整。 关键词只处理是：这，指誓言；已：止、了结；焉、哉：语气词连用。”教师随后补充：“女子形成停止这段关系的判断。”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【可观察证据】准确口译“反是不思，亦已焉哉”并指出：女子形成停止这段关系的判断。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【模块课件】M4-P9｜母版P82
【页码与模块】P82｜模块四·回望六章，把她的日子讲出来
【连续课堂剧本】
【承接上一页】上一页已确认“反是不思，亦已焉哉”的基本意思，本页只增加一个关键观察。
【教师原话】“请把译意先放下，再读原句。你看见的形式是：“反/不思”回环；语气词强化收束。 它怎样改变我们对处境的理解？”教师在学生回应后用边界语收束：““亦已”可以有疲惫克制和清醒决绝两种声音。诗写出了判断，没有继续叙述现实行动；朗读可以多解，事实边界必须一致。”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【可观察证据】一条“原词—形式—处境”解释，且不越过边界：Q1 核验违誓后作出停止判断；实际离开与退出条件未写。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【模块课件】M4-P10｜母版P83
【页码与模块】P83｜模块四·回望六章，把她的日子讲出来
【连续课堂剧本】
【承接上一页】教师把本章讲解暂时停住，只保留活动所需原句和空白。
【教师原话】“设计A“疲惫克制”和B“清醒决绝”两版：标出停顿、重音、速度，并为每版写一条经历依据。 产出只要一张图、一组朗读标记或一句判断，不需要长篇发言。”
【学生动作与等待】学生独立准备六十秒，再同桌或四人组交流两分钟；记录者只写原句依据和一句产出。
【可能回应与接话】若讨论离开原文，教师只问“这来自哪句”；若出现不同答案，先检查证据和推理强度，不强求统一；若涉及私人经历，提醒只谈作品或第三人称案例。
【可观察证据】一份未被预制答案覆盖的学生产出。
【明确切页句】“请先保留你们的版本，下一页才出现共同核对。”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【模块课件】M4-P11｜母版P84
【页码与模块】P84｜模块四·回望六章，把她的日子讲出来
【连续课堂剧本】
【承接上一页】教师确认学生已经形成个人或小组产出，才切到回收页。
【教师原话】“先别抄屏幕。请用你自己的产出核对：疲惫克制：多年投入、劳作、孤立使“已”带着耗尽。；清醒决绝：核验反复与违誓后，“已”成为明确判断。；诗写出停止判断，是否实际离开及其现实条件仍保持开放。 哪一点需要修改？”
【学生动作与等待】学生用另一颜色修改一处，二十秒后自愿读出“我保留/修正了……因为……”。
【可能回应与接话】若讨论离开原文，教师只问“这来自哪句”；若出现不同答案，先检查证据和推理强度，不强求统一；若涉及私人经历，提醒只谈作品或第三人称案例。
【可观察证据】一处可见修订和一条有原句依据的阶段结论。
【明确切页句】“活动留下的不是热闹，而是一条可以放回整章的证据。现在完整重读本章。”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【模块课件】M4-P12｜母版P85
【页码与模块】P85｜模块四·回望六章，把她的日子讲出来
【连续课堂剧本】
【承接上一页】教师把第六章五组诗句重新放回同一页。
【教师原话】“现在完整重读第六章。读完不用列点，请用一口气讲清：偕老愿望破裂 → 自然边界反衬 → 回忆少年 → 核验违誓 → 作出停止判断之间怎样连接？”
【学生动作与等待】全班按四言节奏完整重读；学生闭书二十秒，向同桌连续口述章意，听者只补遗漏的行动。
【可能回应与接话】如果口述变成主题标签，教师指向行动链；如果顺序混乱，让学生回到本页逐句寻找。可接受多种情绪，但事件顺序必须准确。
【可观察证据】一次完整章读和一句连续章意：“女子将偕老愿望、少年欢笑与当下违誓并置，核验男子“不思其反”，最终说出“亦已焉哉”。”
【明确切页句】“六章已经逐句走完。现在让整首诗重新连成一个声音。”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【模块课件】M4-P13｜母版P86
【页码与模块】P86｜模块四·回望六章，把她的日子讲出来
【连续课堂剧本】
【承接上一页】教师确认六章已经逐句走完，现在把所有分析暂时放下。
【教师原话】“从第一章一直读到第六章，中间不提问。读到初读停顿点时轻按纸面，等最后一句结束再回看。”
【学生动作与等待】教师或全班连续朗读本页内容；本页结束只无声切到下一半，不作口头插入。全部读完后静默十五秒。
【可能回应与接话】出现漏读时教师只用手势从自然句首带回；有人急着解释时，教师以手势示意保存。没有停顿点也可写“尚未找到”。
【可观察证据】一次不中断全文重读以及初读点的保留或变化。
【明确切页句】教师不说话，直接无声切到下半首。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【模块课件】M4-P14｜母版P87
【页码与模块】P87｜模块四·回望六章，把她的日子讲出来
【连续课堂剧本】
【承接上一页】教师确认六章已经逐句走完，现在把所有分析暂时放下。
【教师原话】“从第一章一直读到第六章，中间不提问。读到初读停顿点时轻按纸面，等最后一句结束再回看。”
【学生动作与等待】教师或全班连续朗读本页内容；本页结束只无声切到下一半，不作口头插入。全部读完后静默十五秒。
【可能回应与接话】出现漏读时教师只用手势从自然句首带回；有人急着解释时，教师以手势示意保存。没有停顿点也可写“尚未找到”。
【可观察证据】一次不中断全文重读以及初读点的保留或变化。
【明确切页句】“六章重新连成了一首诗。现在翻回最初的停顿点，看你的判断保留、修正还是推翻。”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【模块课件】M4-P15｜母版P88
【页码与模块】P88｜模块四·回望六章，把她的日子讲出来
【连续课堂剧本】
【承接上一页】教师让全文重读后的安静再停几秒，请学生翻回第一次听读时留下的句子或问号。
【教师原话】“先读当时的自己，不忙着否定。现在请在旁边写：我仍保留什么，什么已经改变；再添一句后来读到的诗，说明它为什么改变了你。”
【学生动作与等待】找回初读记录30秒；独立写下变化与新增诗句1分钟；同桌只交换新增证据30秒。总用时2分钟。
【可能回应与接话】若学生只把‘痴情’改成‘清醒’，教师追问：“是哪一章让这个词变重了？”若判断没有变化，只要能说明诗句依据，也允许保留。
【可观察证据】初读记录仍可辨认，旁边有一处变化说明和一处新增原诗。
【明确切页句】“变化已经写在纸上。现在不看我的概括，由你们把她的六章重新讲成一生。”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【模块课件】M4-P16｜母版P89
【页码与模块】P89｜模块四·回望六章，把她的日子讲出来
【连续课堂剧本】
【承接上一页】教师把开课时的三问重新投出，请学生先看自己当初写下的短句。
【教师原话】“六章已经读完。先别急着听我的结论：她怎样走到结尾，她的日子苦在哪里，这场婚姻为什么走到这一步——接下来要由你们把故事重新讲出来。”
【学生动作与等待】找回初始短句20秒；默读问题并圈出最想回答的部分20秒；写下一处准备使用的诗句20秒。总用时1分钟。
【可能回应与接话】如果回答仍只有‘痴情、负心、觉醒’，教师问：“你准备讲哪一个生活时刻？”若证据不足，允许保留问题，不催成统一答案。
【可观察证据】原有短句仍可辨认，旁边添有一处准备进入活动的原诗。
【明确切页句】“三问重新回来了。下一页，先把第一问读完整，再让六章拥有自己的讲述者。”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【模块课件】M4-P17｜母版P90
【页码与模块】P90｜模块四·回望六章，把她的日子讲出来
【连续课堂剧本】
【承接上一页】教师把开课时的三问重新投出，请学生先看自己当初写下的短句。
【教师原话】“我们回到原来的问题：她怎样从“送子涉淇”一步步走到“亦已焉哉”？ 先读自己最初那句话，等会儿用讲述和讨论让它变得更完整。”
【学生动作与等待】找回初始短句20秒；默读问题并圈出最想回答的部分20秒；写下一处准备使用的诗句20秒。总用时1分钟。
【可能回应与接话】如果回答仍只有‘痴情、负心、觉醒’，教师问：“你准备讲哪一个生活时刻？”若证据不足，允许保留问题，不催成统一答案。
【可观察证据】原有短句仍可辨认，旁边添有一处准备进入活动的原诗。
【明确切页句】“问题重新打开了。下一页，让六章分别拥有自己的讲述者。”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【模块课件】M4-P18｜母版P91
【页码与模块】P91｜模块四·回望六章，把她的日子讲出来
【连续课堂剧本】
【承接上一页】教师把六章并排呈现，不给阶段答案，只给每组一章和一个讲述位置。
【教师原话】“每组认领一章。先各自在章旁写一句：这一章，她经历了什么。然后把几个人的句子放在一起，选出最能接住上一章、又能把故事送往下一章的说法。”
【学生动作与等待】每名学生独立重读本组一章并写一句1分20秒；小组轮流读句子并合成讲述2分钟；确定讲述者与原诗40秒。总用时4分钟。
【可能回应与接话】若组内直接抄章意，教师问：“她在这里做了什么、心里有什么变化？”若一人包办，要求每名学生先读自己的句子再合成。
【可观察证据】每名学生一条章内经历短句；每组一段共同讲述和一处原诗。
【明确切页句】“故事已经有了六位讲述者。下一页把每段话收紧成三句，让它既准确，又有人物的温度。”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【模块课件】M4-P19｜母版P92
【页码与模块】P92｜模块四·回望六章，把她的日子讲出来
【连续课堂剧本】
【承接上一页】各组已经找到了本章发生的事，教师把注意力转向人物声音和前后衔接。
【教师原话】“三句话就够：第一句说她经历了什么；第二句说她的心境或认识怎样变；第三句让一处原诗开口。读给组员听，哪一句像论文，哪一句听不见人，就把它改掉。”
【学生动作与等待】小组写成三句话1分10秒；全组朗读并删去生硬概念1分10秒；与相邻章小组试接首尾40秒。总用时3分钟。
【可能回应与接话】若出现‘完成关系结构转变’一类抽象话，教师请学生换成动作和处境；若擅自补写情节，请回到原诗删改。
【可观察证据】六段可在三十秒内讲完、含行动、心境和原诗的讲述稿。
【明确切页句】“六段话已经能首尾相接。接下来，请让她的一生在教室里真正走一遍。”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【模块课件】M4-P20｜母版P93
【页码与模块】P93｜模块四·回望六章，把她的日子讲出来
【连续课堂剧本】
【承接上一页】教师走到屏幕侧面，把讲台让给六组；其余学生翻到‘故事守门人’位置。
【教师原话】“从第一章开始，每组不超过三十秒。台下的同学不是等答案：记下一处你听得最清楚的转折，也记下一处仍没说清的空缺。每两章讲完，可以向讲述者追问一次。”
【学生动作与等待】六组依次接力，听众同步记录转折与空缺4分钟；每两章一次追问、讲述者回应并补一句2分钟。总用时6分钟。
【可能回应与接话】若追问变成评价表演，教师把它拉回“她为什么这样做”“这一步把她带向哪里”“前文哪处到这里变了意味”；若故事断裂，让相邻两组共同补一句过桥话。
【可观察证据】六段公开讲述、每名听众的转折与空缺记录、至少一次由追问促成的现场补充。
【明确切页句】“故事已经完整走过一遍，但哪一步最重要，我们未必同意。把你的判断单独写下来。”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【模块课件】M4-P21｜母版P94
【页码与模块】P94｜模块四·回望六章，把她的日子讲出来
【连续课堂剧本】
【承接上一页】接力讲述结束，教师不公布所谓标准转折，只把几个可能发生改变的时刻重新留在学生记忆中。
【教师原话】“六章里不只有一个转折。请先选出你认为最重要的一步，再写清：这一处怎样把她带向后来的生活。”
【学生动作与等待】每名学生独立写出转折判断和诗句1分20秒；四人组寻找不同答案1分20秒；全班听取两种相左判断并追问1分20秒。总用时4分钟。
【可能回应与接话】若学生认为第一章已经决定一切，追问文本能否证明宿命；若认为只有‘至于暴矣’才是转折，追问此前的投入和失衡是否已经改变处境。
【可观察证据】每名学生一条‘重要转折—诗句—影响’判断；全班保留至少两种有证据的答案。
【明确切页句】“转折可以有分歧，故事顺序不能散。把同伴提醒你的那一步补回自己的讲述。”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【模块课件】M4-P22｜母版P95
【页码与模块】P95｜模块四·回望六章，把她的日子讲出来
【连续课堂剧本】
【承接上一页】教师指向刚才由六组共同讲出的板书，屏幕只给出故事骨架，不替学生解释每一步。
【教师原话】“读一遍你现在写出的她的一生。若刚才有人让你看见了一处遗漏，就把它添进去；若你仍坚持自己的转折，也请把那句诗留在旁边。”
【学生动作与等待】个人补回遗漏或改写连接1分30秒；同桌互读完整故事45秒；全班用一句话回答第一问45秒。总用时3分钟。
【可能回应与接话】若学生把第三章当成新的事件，教师提醒那是多年后的回望之声；若只剩八个标签，请重新说出至少一个具体动作。
【可观察证据】一段能够从‘送子涉淇’讲到‘亦已焉哉’的个人叙述，以及一处受同伴影响的可见修订。
【明确切页句】“我们已经知道她经历了什么。接下来，不再站在故事外面概括，去看看这些年究竟是怎样的日子。”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【模块课件】M4-P23｜母版P96
【页码与模块】P96｜模块四·回望六章，把她的日子讲出来
【连续课堂剧本】
【承接上一页】教师把开课时的三问重新投出，请学生先看自己当初写下的短句。
【教师原话】“我们回到原来的问题：她婚后的日子，究竟苦在哪里？ 先读自己最初那句话，等会儿用讲述和讨论让它变得更完整。”
【学生动作与等待】找回初始短句20秒；默读问题并圈出最想回答的部分20秒；写下一处准备使用的诗句20秒。总用时1分钟。
【可能回应与接话】如果回答仍只有‘痴情、负心、觉醒’，教师问：“你准备讲哪一个生活时刻？”若证据不足，允许保留问题，不催成统一答案。
【可观察证据】原有短句仍可辨认，旁边添有一处准备进入活动的原诗。
【明确切页句】“问题重新打开了。下一页，请从她婚后的日子里选一幕真正看见的生活。”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【模块课件】M4-P24｜母版P97
【页码与模块】P97｜模块四·回望六章，把她的日子讲出来
【连续课堂剧本】
【承接上一页】教师把概括性的故事骨架收起，屏幕出现五个可进入的生活时刻。
【教师原话】“选一个你最能看见的时刻：天还没亮、终于停下劳作、丈夫态度已经改变、兄弟的笑声响起，或她独自静下来。只谈作品；你可以只写旁白，不必表演。先别抄诗，把它在脑中看成一幕生活。”
【学生动作与等待】每名学生独立选择并写下看见的动作1分10秒；按选择进入小组35秒；组内说明为什么选这一幕1分15秒。总用时3分钟。
【可能回应与接话】若学生虚构具体暴力或对白，教师说：“可以想象气氛，不能替诗补写事实。”若只写‘她很惨’，追问此刻她正在做什么。
【可观察证据】每名学生一个生活时刻、一项具体动作和一处准备回查的原诗。
【明确切页句】“画面已经出现。现在把它讲给一个从没读过《氓》的人听。”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【模块课件】M4-P25｜母版P98
【页码与模块】P98｜模块四·回望六章，把她的日子讲出来
【连续课堂剧本】
【承接上一页】各组已经选定时刻，教师给出旁白、定格或双人讲述三种呈现方式。
【教师原话】“四十秒以内，让今天的人听懂她过着怎样的生活。可以只用第三人称旁白，不必表演；但必须留一处原诗作根，诗里没有的对白和伤害方式，不要替她编出来。”
【学生动作与等待】小组共同写出生活镜头2分5秒；分配讲述、定格和引诗1分25秒；完整试演并删去无据细节1分30秒。总用时5分钟。
【可能回应与接话】若呈现变成搞笑表演，教师把语气带回人物处境；若全部照译原文，追问“今天的人怎样听懂这种生活”。
【可观察证据】每组一段四十秒以内、以原诗为根且不虚构伤害细节的生活镜头。
【明确切页句】“表演者已经准备好。听的人也有任务：既要听见生活，也要守住原诗。”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【模块课件】M4-P26｜母版P99
【页码与模块】P99｜模块四·回望六章，把她的日子讲出来
【连续课堂剧本】
【承接上一页】教师请各组依次呈现，屏幕只保留听众的两道追问。
【教师原话】“每组呈现以后，台下先别评价好不好。请回答：哪一句诗托住了这一幕？哪一处只是合理想象，不能当成诗里明写的事实？”
【学生动作与等待】各组公开呈现，听众同步记录原诗与想象边界3分20秒；听众追问、呈现组回应并现场改一句1分40秒。总用时5分钟。
【可能回应与接话】若听众只报诗句不解释，追问原词如何变成生活动作；若把推断当事实，教师请全班翻回原诗确认。
【可观察证据】公开生活镜头、听众的诗句依据和边界判断，以及至少一处现场修改。
【明确切页句】“几幕生活合在一起，才是她所谓的多年。请各自写一句：她的苦，不只是什么，更是什么。”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【模块课件】M4-P27｜母版P100
【页码与模块】P100｜模块四·回望六章，把她的日子讲出来
【连续课堂剧本】
【承接上一页】生活镜头结束，教师撤下表演提示，让学生独自面对一句尚未写完的话。
【教师原话】“不要把刚才五幕重新列一遍。请把它们压成一句有层次的话：她的苦，不只是______，更是______。两个空格之间，应当有你真正看见的加深。”
【学生动作与等待】学生独立写一句1分30秒；同桌互读并追问一处诗句45秒；自愿读出不同层次的表达45秒。总用时3分钟。
【可能回应与接话】若写成‘不只是穷，更是惨’，教师追问生活中的具体失衡；若只责怪她爱得深，请回到劳动、粗暴与家人讥笑。
【可观察证据】每名学生一条同时包含生活负担和关系伤害的总结句，并能指出原诗来源。
【明确切页句】“先读自己的话，再听全班刚才共同看见了哪些重量。”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【模块课件】M4-P28｜母版P101
【页码与模块】P101｜模块四·回望六章，把她的日子讲出来
【连续课堂剧本】
【承接上一页】教师从学生刚才的表达中选择有代表性的原话写在板书上，屏幕只留下三个等待现场补写的位置。
【教师原话】“请用刚才真正出现过的话补全这三处：她的一天怎样过，别人怎样待她，她身边的人怎样回应。每补一处，都在旁边写下托住它的原诗；没有出现过的话，不替全班编出来。”
【学生动作与等待】全班用学生原话现场补全三处并添原诗1分30秒；个人对照板书修改自己的句子45秒；两人互读修改前后并保留有证据的差异45秒。总用时3分钟。
【可能回应与接话】若学生的原句已经完整，允许不改，只在旁边添诗句；若出现整齐划一的答案，教师请保留不同表达。
【可观察证据】每名学生一条最终生活处境句及其原诗；至少一处可见的增加、删改或有理由的保留。
【明确切页句】“她的日子已经被看见。下一步先辨明谁造成了伤害，再看她说出停止后会面对哪些阻力。”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故事走到这里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0241280" cy="2194560"/>
          </a:xfrm>
          <a:prstGeom prst="roundRect">
            <a:avLst>
              <a:gd name="adj" fmla="val 2500"/>
            </a:avLst>
          </a:prstGeom>
          <a:solidFill>
            <a:srgbClr val="332B25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59152"/>
            <a:ext cx="9601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婚后食贫、长期劳动、粗暴与家人不解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第六章回到旧日誓言。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第六章｜回望盟誓与作出停止判断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及尔偕老，老使我怨。淇则有岸，隰则有泮。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总角之宴，言笑晏晏。信誓旦旦，不思其反。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先完整朗读，再逐句照亮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 · 1/5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原想同你白头到老，如今想到老去却使我怨恨。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及：同、跟；偕老：共同到老；怨：怨恨。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A44132"/>
          </a:solidFill>
          <a:ln w="12700">
            <a:solidFill>
              <a:srgbClr val="A441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自然边界反衬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回忆少年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核验违誓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作出停止判断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 · 2/5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淇水尚且有岸，低湿地尚且有边。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隰 xí：低湿的地方；泮 pàn：同“畔”，边、岸。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A44132"/>
          </a:solidFill>
          <a:ln w="12700">
            <a:solidFill>
              <a:srgbClr val="A441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自然边界反衬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回忆少年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核验违誓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作出停止判断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 · 3/5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回想少年时代一起欢乐，言谈笑语和悦。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总角：少年时代；宴：欢乐；晏晏：和悦的样子。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自然边界反衬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A44132"/>
          </a:solidFill>
          <a:ln w="12700">
            <a:solidFill>
              <a:srgbClr val="A441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回忆少年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核验违誓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作出停止判断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 · 4/5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自然边界反衬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回忆少年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A44132"/>
          </a:solidFill>
          <a:ln w="12700">
            <a:solidFill>
              <a:srgbClr val="A441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核验违誓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作出停止判断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 · 4/5｜读懂关键变化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不思其反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当初誓言诚恳，没想到你竟会违背。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誓言/违誓对照；“不思”进入结尾回环。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结尾不是突然“觉醒”。她先调回总角、言笑和誓言，再用后来行为逐项核验；判断由长期经历形成。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自然边界反衬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回忆少年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A44132"/>
          </a:solidFill>
          <a:ln w="12700">
            <a:solidFill>
              <a:srgbClr val="A441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核验违誓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作出停止判断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 · 5/5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自然边界反衬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回忆少年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核验违誓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A44132"/>
          </a:solidFill>
          <a:ln w="12700">
            <a:solidFill>
              <a:srgbClr val="A441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作出停止判断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 · 5/5｜读懂关键变化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亦已焉哉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你违背誓言而不念旧情，那就到此为止吧。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“反/不思”回环；语气词强化收束。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“亦已”可以有疲惫克制和清醒决绝两种声音。诗写出了判断，没有继续叙述现实行动；朗读可以多解，事实边界必须一致。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自然边界反衬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回忆少年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核验违誓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A44132"/>
          </a:solidFill>
          <a:ln w="12700">
            <a:solidFill>
              <a:srgbClr val="A441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作出停止判断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把“亦已”读出两种声音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1508760"/>
          </a:xfrm>
          <a:prstGeom prst="roundRect">
            <a:avLst>
              <a:gd name="adj" fmla="val 3636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74520"/>
            <a:ext cx="9555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设计A“疲惫克制”和B“清醒决绝”两版：标出停顿、重音、速度，并为每版写一条经历依据。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51560" y="3401568"/>
            <a:ext cx="10104120" cy="1965960"/>
          </a:xfrm>
          <a:prstGeom prst="roundRect">
            <a:avLst>
              <a:gd name="adj" fmla="val 2791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858768"/>
            <a:ext cx="9189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A版：停顿____ 重音____ 速度____ 依据____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B版：停顿____ 重音____ 速度____ 依据____</a:t>
            </a:r>
            <a:endParaRPr lang="en-US" sz="2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声音可以不同，证据必须完整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013204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680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疲惫克制：多年投入、劳作、孤立使“已”带着耗尽。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68680" y="3011424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15868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707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30296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清醒决绝：核验反复与违誓后，“已”成为明确判断。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68680" y="4514088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18532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733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2960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诗写出停止判断，是否实际离开及其现实条件仍保持开放。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05840" y="6016752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先核对自己的产出，再修改一处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第六章｜完整重读，连成一句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332B25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及尔偕老，老使我怨。淇则有岸，隰则有泮。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总角之宴，言笑晏晏。信誓旦旦，不思其反。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 → 自然边界反衬 → 回忆少年 → 核验违誓 → 作出停止判断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再次完整朗读｜第一至第三章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01312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82F28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7344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52816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再次完整朗读｜第四至第六章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桑之落矣，其黄而陨。自我徂尔，三岁食贫。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淇水汤汤，渐车帷裳。女也不爽，士贰其行。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01312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82F28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7344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三岁为妇，靡室劳矣。夙兴夜寐，靡有朝矣。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言既遂矣，至于暴矣。兄弟不知，咥其笑矣。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52816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及尔偕老，老使我怨。淇则有岸，隰则有泮。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总角之宴，言笑晏晏。信誓旦旦，不思其反。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回到最初的停顿点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3840480"/>
          </a:xfrm>
          <a:prstGeom prst="roundRect">
            <a:avLst>
              <a:gd name="adj" fmla="val 1429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331720"/>
            <a:ext cx="9555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我的初读判断：__________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现在：□保留　□修正　□推翻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因为新增证据：________________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六章读完，再问这三件事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801368" y="1828800"/>
            <a:ext cx="1234440" cy="123444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01368" y="20848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182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她经历了什么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504688" y="1828800"/>
            <a:ext cx="1234440" cy="123444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04688" y="20848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3182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她的日子苦在哪里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208008" y="1828800"/>
            <a:ext cx="1234440" cy="123444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08008" y="20848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21040" y="3182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这场婚姻为什么走到这一步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4800600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带着六章诗句，重新回答</a:t>
            </a:r>
            <a:endParaRPr lang="en-US" sz="2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回到问题一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10469880" cy="3246120"/>
          </a:xfrm>
          <a:prstGeom prst="roundRect">
            <a:avLst>
              <a:gd name="adj" fmla="val 1690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48840"/>
            <a:ext cx="9464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她怎样从“送子涉淇”一步步走到“亦已焉哉”？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1097280" y="52303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回看最初的猜想：保留 / 修正 / 推翻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六章，六位讲述者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53312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每组认领一章：先各写一句，再把几个人的句子合成一段讲述。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276856"/>
            <a:ext cx="402336" cy="402336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350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2240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相识、求婚与婚期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6190488" y="205740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276856"/>
            <a:ext cx="402336" cy="402336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350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59168" y="2240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等待、占卜与迁嫁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868680" y="320040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419856"/>
            <a:ext cx="402336" cy="402336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3493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3383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桑叶、斑鸠与回望中的劝诫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6190488" y="320040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419856"/>
            <a:ext cx="402336" cy="402336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493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59168" y="3383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桑叶转黄与责任判断</a:t>
            </a:r>
            <a:endParaRPr lang="en-US" sz="2500" dirty="0"/>
          </a:p>
        </p:txBody>
      </p:sp>
      <p:sp>
        <p:nvSpPr>
          <p:cNvPr id="24" name="Shape 22"/>
          <p:cNvSpPr/>
          <p:nvPr/>
        </p:nvSpPr>
        <p:spPr>
          <a:xfrm>
            <a:off x="868680" y="434340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4712" y="4562856"/>
            <a:ext cx="402336" cy="402336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4712" y="4636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37360" y="4526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长期劳动、粗暴与孤立</a:t>
            </a:r>
            <a:endParaRPr lang="en-US" sz="2500" dirty="0"/>
          </a:p>
        </p:txBody>
      </p:sp>
      <p:sp>
        <p:nvSpPr>
          <p:cNvPr id="28" name="Shape 26"/>
          <p:cNvSpPr/>
          <p:nvPr/>
        </p:nvSpPr>
        <p:spPr>
          <a:xfrm>
            <a:off x="6190488" y="434340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4562856"/>
            <a:ext cx="402336" cy="402336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636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59168" y="4526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回望盟誓与作出停止判断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1097280" y="574243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先让每个人写一句，再把几个人的句子合成一段。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三句话，把这一章讲活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914400" y="13990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每组不超过30秒。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914400" y="2304288"/>
            <a:ext cx="10241280" cy="1048512"/>
          </a:xfrm>
          <a:prstGeom prst="roundRect">
            <a:avLst>
              <a:gd name="adj" fmla="val 5233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2663952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71881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423160"/>
            <a:ext cx="932688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她经历了什么？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14400" y="3517392"/>
            <a:ext cx="10241280" cy="1048512"/>
          </a:xfrm>
          <a:prstGeom prst="roundRect">
            <a:avLst>
              <a:gd name="adj" fmla="val 5233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3877056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9319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636264"/>
            <a:ext cx="932688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她的心境或认识怎样变化？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914400" y="4730496"/>
            <a:ext cx="10241280" cy="1048512"/>
          </a:xfrm>
          <a:prstGeom prst="roundRect">
            <a:avLst>
              <a:gd name="adj" fmla="val 5233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" y="5090160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51450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849368"/>
            <a:ext cx="932688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哪一句诗最能托住这段讲述？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把她的一生讲出来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六组依次接力；每两章讲完，可以追问一次。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455164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5100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听众：记下一处最清楚的转折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68680" y="3346704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3744468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7993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465576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听众：记下一处仍没说清的空缺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868680" y="4636008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5033772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50886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754880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追问：她为什么这样做？这一步把她带向哪里？</a:t>
            </a:r>
            <a:endParaRPr lang="en-US" sz="2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哪一步让她的生活明显转向？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69880" cy="1463040"/>
          </a:xfrm>
          <a:prstGeom prst="roundRect">
            <a:avLst>
              <a:gd name="adj" fmla="val 375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1051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六章不只有一个转折；先选出你认为最重要的一步。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960120" y="3273552"/>
            <a:ext cx="10287000" cy="2011680"/>
          </a:xfrm>
          <a:prstGeom prst="roundRect">
            <a:avLst>
              <a:gd name="adj" fmla="val 2727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685032"/>
            <a:ext cx="937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我认为重要的转折是________，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因为诗中写道________，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从这里以后________。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她从“送子涉淇”走到“亦已焉哉”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81328"/>
            <a:ext cx="10469880" cy="2148840"/>
          </a:xfrm>
          <a:prstGeom prst="roundRect">
            <a:avLst>
              <a:gd name="adj" fmla="val 2553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74520"/>
            <a:ext cx="9738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相识远送 → 等待迁嫁 → 婚后食贫 → 日复一日的劳作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b="1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失信粗暴 → 家人讥笑 → 回望旧誓 → ‘亦已焉哉’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960120" y="4041648"/>
            <a:ext cx="10241280" cy="640080"/>
          </a:xfrm>
          <a:prstGeom prst="roundRect">
            <a:avLst>
              <a:gd name="adj" fmla="val 8571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1288" y="4197096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4251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4160520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把同伴提醒你的那一步补回自己的讲述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" y="4846320"/>
            <a:ext cx="10241280" cy="640080"/>
          </a:xfrm>
          <a:prstGeom prst="roundRect">
            <a:avLst>
              <a:gd name="adj" fmla="val 8571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1288" y="5001768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50566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4965192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对哪一步最重要，仍可保留不同判断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回到问题二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10469880" cy="3246120"/>
          </a:xfrm>
          <a:prstGeom prst="roundRect">
            <a:avLst>
              <a:gd name="adj" fmla="val 1690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48840"/>
            <a:ext cx="9464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她婚后的日子，究竟苦在哪里？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1097280" y="52303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回看最初的猜想：保留 / 修正 / 推翻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让诗句重新长成日子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只谈作品；选择一个你最能看见的生活时刻。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608990"/>
          </a:xfrm>
          <a:prstGeom prst="roundRect">
            <a:avLst>
              <a:gd name="adj" fmla="val 9009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203704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252167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一个天还没亮的清晨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68680" y="2830982"/>
            <a:ext cx="10469880" cy="608990"/>
          </a:xfrm>
          <a:prstGeom prst="roundRect">
            <a:avLst>
              <a:gd name="adj" fmla="val 900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2977286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02575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949854"/>
            <a:ext cx="955548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一个她终于停下劳作的夜晚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68680" y="3604565"/>
            <a:ext cx="10469880" cy="608990"/>
          </a:xfrm>
          <a:prstGeom prst="roundRect">
            <a:avLst>
              <a:gd name="adj" fmla="val 9009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3750869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37993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723437"/>
            <a:ext cx="955548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一个她已经感到丈夫态度改变的时刻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68680" y="4378147"/>
            <a:ext cx="10469880" cy="608990"/>
          </a:xfrm>
          <a:prstGeom prst="roundRect">
            <a:avLst>
              <a:gd name="adj" fmla="val 900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" y="4524451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57291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497019"/>
            <a:ext cx="955548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一次她面对兄弟讥笑的时刻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68680" y="5151730"/>
            <a:ext cx="10469880" cy="608990"/>
          </a:xfrm>
          <a:prstGeom prst="roundRect">
            <a:avLst>
              <a:gd name="adj" fmla="val 9009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9848" y="5298034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" y="5346497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5270602"/>
            <a:ext cx="955548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一个她独自静下来回想的时刻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把这一幕讲给今天的人听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四十秒以内，可以只用第三人称旁白，不必表演。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455164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5100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让人看见她正在怎样生活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68680" y="3346704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3744468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7993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465576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留一处原诗作根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868680" y="4636008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5033772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50886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754880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不替诗补写具体伤害和对白</a:t>
            </a:r>
            <a:endParaRPr lang="en-US" sz="2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听见生活，也守住原诗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每组呈现以后，听众回答两问。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1769364"/>
          </a:xfrm>
          <a:prstGeom prst="roundRect">
            <a:avLst>
              <a:gd name="adj" fmla="val 3101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777490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83235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哪一句诗托住了这一幕？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68680" y="3991356"/>
            <a:ext cx="10469880" cy="1769364"/>
          </a:xfrm>
          <a:prstGeom prst="roundRect">
            <a:avLst>
              <a:gd name="adj" fmla="val 3101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4711446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476631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110228"/>
            <a:ext cx="955548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哪一处只是合理想象，不能当成诗中明写？</a:t>
            </a:r>
            <a:endParaRPr lang="en-US" sz="2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她的苦，不只是一件事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69880" cy="1463040"/>
          </a:xfrm>
          <a:prstGeom prst="roundRect">
            <a:avLst>
              <a:gd name="adj" fmla="val 375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1051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让第二层比第一层更深。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960120" y="3273552"/>
            <a:ext cx="10287000" cy="2011680"/>
          </a:xfrm>
          <a:prstGeom prst="roundRect">
            <a:avLst>
              <a:gd name="adj" fmla="val 2727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685032"/>
            <a:ext cx="937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她的不幸，不只是________________，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更是____________________________。</a:t>
            </a:r>
            <a:endParaRPr lang="en-US" sz="3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把刚才看见的日子留下来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只用刚才真正出现过的学生原话补写；每一处都添上原诗。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2455164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5100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176272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她的一天怎样度过：________________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868680" y="3346704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9848" y="3744468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7993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465576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丈夫怎样待她：____________________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868680" y="4636008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848" y="5033772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50886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754880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她身边的人怎样回应：______________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《氓》V5模块四：回望六章，把她的日子讲出来</dc:title>
  <dc:subject>《氓》V5全文逐句教学母版</dc:subject>
  <dc:creator>语文备课系统</dc:creator>
  <cp:lastModifiedBy>语文备课系统</cp:lastModifiedBy>
  <cp:revision>1</cp:revision>
  <dcterms:created xsi:type="dcterms:W3CDTF">2026-08-11T13:56:36Z</dcterms:created>
  <dcterms:modified xsi:type="dcterms:W3CDTF">2026-08-11T13:56:36Z</dcterms:modified>
</cp:coreProperties>
</file>
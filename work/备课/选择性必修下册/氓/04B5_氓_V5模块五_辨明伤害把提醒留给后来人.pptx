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【模块课件】M5-P1｜母版P102
【页码与模块】P102｜模块五·辨明伤害，把提醒留给后来人
【连续课堂剧本】
【承接上一页】教师在新的内容模块开始时，不用复习题轰炸学生，只恢复故事位置。
【教师原话】“上次故事走到这里：谁应为伤害负责？
她说出“亦已焉哉”以后，还会面对哪些阻力？ 请用十五秒找到最后读懂的一句，再看今天要继续进入哪里。”
【学生动作与等待】学生翻到对应诗句，先自己复述，再由一名学生用不超过三十秒连接前后。
【可能回应与接话】若遗忘，教师给行动链首尾词；若复述过长，只保留人物行动和未回答的问题。
【可观察证据】能够说清上次停点，并指出本次要分开回答的两个问题。
【明确切页句】“故事和生活已经被看见。现在先辨明谁造成伤害，再看她说出停止后会面对哪些阻力。”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【模块课件】M5-P2｜母版P103
【页码与模块】P103｜模块五·辨明伤害，把提醒留给后来人
【连续课堂剧本】
【承接上一页】教师把开课时的三问重新投出，请学生先看自己当初写下的短句。
【教师原话】“请把第三问慢慢读完：这场婚姻为什么会走到这一步？谁应为伤害负责？当她说出“亦已焉哉”，还要面对哪些阻力？ 这两件事别混在一起——谁做出了伤害，她说出停止以后还会遇到什么。”
【学生动作与等待】找回初始短句40秒；默读问题并圈出最想回答的部分40秒；写下一处准备使用的诗句40秒。总用时2分钟。
【可能回应与接话】如果回答仍只有‘负心、觉醒’，教师问：“哪一句能判断他的行为？哪一句能说明她面对的处境？”若证据不足，允许保留问题，不催成统一答案。
【可观察证据】原有短句仍可辨认，旁边添有一处准备进入活动的原诗。
【明确切页句】“问题重新打开了。下一页，先从原诗里辨明谁应为伤害负责。”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【模块课件】M5-P3｜母版P104
【页码与模块】P104｜模块五·辨明伤害，把提醒留给后来人
【连续课堂剧本】
【承接上一页】教师将‘她过得很苦’暂时放下，屏幕只留下四处诗中直接指向男子行为的话。
【教师原话】“请从四句里选你认为最有力的一句，写清：他应当为哪一项行为负责？诗中的依据是什么？最后把原诗读出来。”
【学生动作与等待】每名学生独立选择并写句子1分10秒；小组轮流读出判断1分10秒；小组选出最能守住诗意的一句40秒。总用时3分钟。
【可能回应与接话】若回答转去评价女子，教师问：“这句话回答的是她的处境，还是他的行为责任？”若补写男子心理动机，请回到行为本身。
【可观察证据】每名学生一条责任判断；每组一条以原诗为依据、不归咎受伤者的公开表达。
【明确切页句】“判断写出来还不够，要经得住别人的追问。下一页，另一组来问证据。”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【模块课件】M5-P4｜母版P105
【页码与模块】P105｜模块五·辨明伤害，把提醒留给后来人
【连续课堂剧本】
【承接上一页】每组已经形成一句责任判断，教师指定相邻组交换并追问。
【教师原话】“听完对方的句子，只追问一件事：你说的是诗中明写的行为，还是替人物补出的动机？被问的小组必须回到原句回答，可以当场改词。”
【学生动作与等待】各组公开读出责任判断1分钟；另一组追问事实或动机1分钟；原组回到诗句回应并修改1分钟。总用时3分钟。
【可能回应与接话】若追问变成替男子辩护，教师重申只审查证据强度；若学生认为‘恋爱脑导致被伤害’，请分开‘她面对哪些现实阻力’与‘谁选择伤害’。
【可观察证据】一次组际追问、一处原诗回应和一条经过质询的责任表达。
【明确切页句】“诗没有写出他的全部心理，却把他的行为写得很清楚。把这份清楚留住。”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【模块课件】M5-P5｜母版P106
【页码与模块】P106｜模块五·辨明伤害，把提醒留给后来人
【连续课堂剧本】
【承接上一页】组际质询结束，教师按诗中出现的行为依次指向四句，不为男子补写动机。
【教师原话】“‘贰其行’、‘二三其德’、‘至于暴矣’、‘不思其反’，这些词各自指向怎样的行为？用动词回答，不用心理诊断。”
【学生动作与等待】全班逐句说出行为40秒；个人检查自己的责任句是否混入女子投入40秒；教师以四句原诗收束40秒。总用时2分钟。
【可能回应与接话】若只说‘渣’，要求换成失信、反复、粗暴、违誓等可由诗句指认的行为；若说得过满，提醒文本未写男子动机。
【可观察证据】四处原诗与四项行为对应；个人责任句不含对受伤者的归责。
【明确切页句】“责任说清以后，另一个问题才可以被认真理解：当她说出‘亦已焉哉’，转身还会面对什么？”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【模块课件】M5-P6｜母版P107
【页码与模块】P107｜模块五·辨明伤害，把提醒留给后来人
【连续课堂剧本】
【承接上一页】教师明确这是理解处境，不是重新分配责任；四组分别接过一个贴近人物的问题。
【教师原话】“四组各守一个问题：最初哪些事情尚未展开；她已经交付了什么；受伤时谁真正接住她；在那个时代，女子离开容易吗。先找诗，再用自己的话说。”
【学生动作与等待】每名学生在本组问题下独立找诗句1分20秒；四个小组合并证据并写解释2分钟；准备回应听众质疑40秒。总用时4分钟。
【可能回应与接话】若把诗未写的制度细节说成事实，教师请改成时代处境的谨慎判断；若把投入说成男子伤害的原因，再次分开两个问题。
【可观察证据】四组分别形成一条‘人物问题—原诗—解释’，每名学生参与找句或表述。
【明确切页句】“四个问题不是四个格子，而是四种真实的阻力。请讲给其他组听，让他们来补足。”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【模块课件】M5-P7｜母版P108
【页码与模块】P108｜模块五·辨明伤害，把提醒留给后来人
【连续课堂剧本】
【承接上一页】四组已完成准备，教师依次邀请发言；其余三组承担补诗、质疑和连接任务。
【教师原话】“每组先读诗，再解释。听众要做三件事之一：补一处诗，质疑一句说得太满的话，或把这个回答和另一个组连接起来。”
【学生动作与等待】四组依次呈现1分40秒；听众补充、质疑或连接1分40秒；原组回应并改写一句40秒。总用时4分钟。
【可能回应与接话】若台下只等教师总结，教师随机请一组选择“补诗/质疑/连接”；若结论互相矛盾，先检查两边是否谈的是不同阶段。
【可观察证据】四项公开解释、至少三次听众介入，以及一处因同伴意见发生的修改。
【明确切页句】“现在我们能说清，不是一件东西拦住她，而是许多现实一起压在她身上。”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【模块课件】M5-P8｜母版P109
【页码与模块】P109｜模块五·辨明伤害，把提醒留给后来人
【连续课堂剧本】
【承接上一页】教师不显示预先写好的结论，屏幕只留下四组问题与等待现场补入的原话。
【教师原话】“请把四组真正说出的答案补在屏幕或板书上，每一处都添一行原诗。再从中选一处最容易被旁观者忽略的阻力，用自己的话说。”
【学生动作与等待】个人选取最易被忽略的困难并写句子1分钟；同桌补一处原诗30秒；全班听两种不同解释30秒。总用时2分钟。
【可能回应与接话】若句子替她断言此前已经想离开，教师追问诗能证明到哪一步；若忽略时代性，回到‘士可说/女不可说’。
【可观察证据】每名学生一条对现实阻力的解释及原诗，不将阻力转写为责任。
【明确切页句】“理解这些现实阻力，并不等于伤害可以被原谅。这条界线必须单独说清。”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【模块课件】M5-P9｜母版P110
【页码与模块】P110｜模块五·辨明伤害，把提醒留给后来人
【连续课堂剧本】
【承接上一页】教师将两个问题左右分开，让学生先各自读一遍，再读中间的结论。
【教师原话】“她说出停止判断后会面对哪些阻力，和他为什么失信、粗暴，不是同一道题。她的迁嫁、劳作、孤立与时代处境可以说明阻力，却不能制造、减轻或合理化他的伤害。”
【学生动作与等待】学生默读两个问题40秒；用自己的话向同桌复述界线40秒；检查并改掉此前可能出现的归责句40秒。总用时2分钟。
【可能回应与接话】若学生问她是否毫无选择，教师说明可以讨论选择，但选择空间不等于施害责任；若有人分享私人经历，允许停止并转回作品。
【可观察证据】能够分别回答‘谁造成伤害’与‘她说出停止后会面对哪些阻力’，且没有因果偷换。
【明确切页句】“责任和困境分开以后，我们才能重新回到最初那场看似热烈的相遇。”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【模块课件】M5-P10｜母版P111
【页码与模块】P111｜模块五·辨明伤害，把提醒留给后来人
【连续课堂剧本】
【承接上一页】教师重新投出第一章四个细节，让学生把初读印象和全文结局放在同一张纸上。
【教师原话】“当初只读第一章，你看见怎样的男子？现在读到结局，哪些细节值得多看一眼？最后还要问：哪些判断可以想到，却不能说得太满？”
【学生动作与等待】个人重读四处原词并写初见/再看1分钟；小组寻找彼此判断强弱的差别1分钟；全班讨论；听众记下一处要追问的证据并提出追问1分钟。总用时3分钟。
【可能回应与接话】若断言男子有计划伪装完整人格，教师追问诗能证明到哪一步；若把‘无怒’直接等同婚前暴力，提醒只能确认怒意进入关系现场。
【可观察证据】至少一条初读与再读的判断变化，以及一条对判断强度的说明。
【明确切页句】“回头看可以让我们更警醒，也容易让人把后来知道的事强塞回最初。下一页把能说和不能说满的地方分清。”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【模块课件】M5-P11｜母版P112
【页码与模块】P112｜模块五·辨明伤害，把提醒留给后来人
【连续课堂剧本】
【承接上一页】教师依据刚才的争议，把第一章的明写、可想和不可断言分别放好。
【教师原话】“诗明写：贸丝只是表面来意，‘蚩蚩’是当时所见的样子，女子说过‘无怒’。我们可以想到初期印象与后来行为的反差；却不能断言他怎样策划，也不能责怪她为什么没有预知全部后来。”
【学生动作与等待】学生把自己一句话放到‘明写/可想/不能说满’1分钟；同桌检查是否需要降一档语气30秒；个人完成可见修订30秒。总用时2分钟。
【可能回应与接话】若学生说‘恋爱脑’，教师接话：“这个词可以提醒今天的读者：投入感情时，也要长久观察一个人的言行。但它不能替背叛和粗暴分担责任，更不能倒过来责怪她没有预知后来。”
【可观察证据】一处对第一章判断强度的准确修订，能区分明写、可想与不能断言。
【明确切页句】“到这里，我们不仅读懂了她，也开始知道怎样看待一段共同生活。现在把话交给全班。”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【模块课件】M5-P12｜母版P113
【页码与模块】P113｜模块五·辨明伤害，把提醒留给后来人
【连续课堂剧本】
【承接上一页】教师说明只谈作品或第三人称案例，不追问任何同学的私人关系；圆桌从《氓》的反面经验出发。
【教师原话】“如果把《氓》说给后来人听，你认为一段值得珍惜的婚姻，最不能缺少什么？先说你的判断，再说诗中哪一处让你这样想。”
【学生动作与等待】个人独立形成观点和原诗1分钟；四人圆桌依次发言、不得打断1分钟；小组寻找共同点和保留分歧1分钟。总用时3分钟。
【可能回应与接话】若讨论变成空泛鸡汤，教师追问诗中反面经验；若要求同学分享私人经历，立即制止并转回作品或第三人称案例。
【可观察证据】每名学生一次有原诗依据的婚姻观点；每组一个共同点和一个可保留分歧。
【明确切页句】“观点已经在圆桌上出现。现在不要替别人概括，只写你真正愿意留下的一句提醒。”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【模块课件】M5-P13｜母版P114
【页码与模块】P114｜模块五·辨明伤害，把提醒留给后来人
【连续课堂剧本】
【承接上一页】圆桌讨论暂停，教师让教室安静下来，屏幕只保留四个可选句首。
【教师原话】“从四个句首里选一个，也可以不用它们。把一句提醒留给后来人：不要写口号，要让人看见怎样的行动才值得相信，怎样的生活不能由一个人独自承担。”
【学生动作与等待】每名学生独立写一句1分30秒；为句子补一处《氓》的反面依据45秒；默读并删去空泛词45秒。总用时3分钟。
【可能回应与接话】若写成‘擦亮眼睛’等单向劝诫，教师追问关系双方应怎样行动；若只写‘要相爱’，追问怎样在岁月中看见相爱。
【可观察证据】每名学生一句具体、有原诗根基且不归责受伤者的婚姻提醒。
【明确切页句】“句子已经属于你。下一页，先让同桌真正听见，再决定哪一句值得进入全班的声音。”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【模块课件】M5-P14｜母版P115
【页码与模块】P115｜模块五·辨明伤害，把提醒留给后来人
【连续课堂剧本】
【承接上一页】每名学生已经完成一句提醒，教师不先展示自己的总结，只给分享留下空白。
【教师原话】“两人互读，不评价成熟不成熟，只告诉对方：哪一个词最有力量，哪一处还可以更具体。各自修改后，再选一句你们最想让全班听见的话。”
【学生动作与等待】同桌互读并指出有力量/需具体处1分20秒；个人修改40秒；各桌推选并向全班分享1分20秒；教师原样记录学生关键词40秒。总用时4分钟。
【可能回应与接话】若全班句子趋同，教师邀请一条不同意见；若出现指责受伤者或美化忍耐，追问它能否经得住《氓》的多年生活。
【可观察证据】一次同伴反馈、一处个人修改和多条进入全班板书的学生原话。
【明确切页句】“屏幕还留着空白。最后请用全班刚才真正说出的意思，把它补完。”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【模块课件】M5-P15｜母版P116
【页码与模块】P116｜模块五·辨明伤害，把提醒留给后来人
【连续课堂剧本】
【承接上一页】教师保留学生板书，屏幕显示四句尚未完成的话，等待全班原话进入。
【教师原话】“请从刚才的板书中选择最准确的词，把这四句补完：怎样看一个人，怎样共同生活，受伤时怎样得到支持，想要停止伤害时应当守住什么。有分歧，就把两种有证据的说法都留下。”
【学生动作与等待】全班从学生板书中为四句话选词30秒；学生指出说得过满之处并保留分歧30秒；教师只记录学生原话和对应诗句30秒；个人修订并写下自己的最终版本30秒。总用时2分钟。
【可能回应与接话】若学生认为离开并非唯一选择，教师保留讨论，但重申伤害不能被忍耐合理化；若收束过于整齐，以学生有证据的异议修正。
【可观察证据】四句由学生原话与原诗共同完成的班级收束，以及每名学生最终保留的婚姻提醒。
【明确切页句】“现实的提醒已经从诗里生长出来。最后把故事、字词和写法收回原诗，再让六章完整响一次。”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【模块课件】M5-P16｜母版P117
【页码与模块】P117｜模块五·辨明伤害，把提醒留给后来人
【连续课堂剧本】
【承接上一页】教师不再重讲全文，把主动权交给学生检索。
【教师原话】“不看答案：用六个动作写出叙事结构，再写人物认识怎样变化。 请先遮住回收区，从今天真正读过的诗句中找答案。”
【学生动作与等待】学生个人检索四十秒，同桌互补四十秒；只写关键词和原句。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【模块课件】M5-P17｜母版P118
【页码与模块】P118｜模块五·辨明伤害，把提醒留给后来人
【连续课堂剧本】
【承接上一页】教师不再重讲全文，把主动权交给学生检索。
【教师原话】“知识收纳｜故事与人物 请先遮住回收区，从今天真正读过的诗句中找答案。”
【学生动作与等待】学生对照回收页，勾出已找到项，给遗漏项补一处原句；用时六十秒。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【模块课件】M5-P18｜母版P119
【页码与模块】P119｜模块五·辨明伤害，把提醒留给后来人
【连续课堂剧本】
【承接上一页】教师不再重讲全文，把主动权交给学生检索。
【教师原话】“找出本课最容易误读、误解的八个字词，并说明《氓》属于哪一类诗。 请先遮住回收区，从今天真正读过的诗句中找答案。”
【学生动作与等待】学生个人检索四十秒，同桌互补四十秒；只写关键词和原句。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【模块课件】M5-P19｜母版P120
【页码与模块】P120｜模块五·辨明伤害，把提醒留给后来人
【连续课堂剧本】
【承接上一页】教师不再重讲全文，把主动权交给学生检索。
【教师原话】“知识收纳｜字词与《诗经》 请先遮住回收区，从今天真正读过的诗句中找答案。”
【学生动作与等待】学生对照回收页，勾出已找到项，给遗漏项补一处原句；用时六十秒。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【模块课件】M5-P20｜母版P121
【页码与模块】P121｜模块五·辨明伤害，把提醒留给后来人
【连续课堂剧本】
【承接上一页】教师不再重讲全文，把主动权交给学生检索。
【教师原话】“各找一组原句说明：桑叶、淇水、对照、反复怎样参与理解。 请先遮住回收区，从今天真正读过的诗句中找答案。”
【学生动作与等待】学生个人检索四十秒，同桌互补四十秒；只写关键词和原句。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【模块课件】M5-P21｜母版P122
【页码与模块】P122｜模块五·辨明伤害，把提醒留给后来人
【连续课堂剧本】
【承接上一页】教师不再重讲全文，把主动权交给学生检索。
【教师原话】“知识收纳｜意象与写法 请先遮住回收区，从今天真正读过的诗句中找答案。”
【学生动作与等待】学生对照回收页，勾出已找到项，给遗漏项补一处原句；用时六十秒。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【模块课件】M5-P22｜母版P123
【页码与模块】P123｜模块五·辨明伤害，把提醒留给后来人
【连续课堂剧本】
【承接上一页】教师不再重讲全文，把主动权交给学生检索。
【教师原话】“用一条证据回答每问，再写出可迁移到其他叙事诗的阅读顺序。 请先遮住回收区，从今天真正读过的诗句中找答案。”
【学生动作与等待】学生个人检索四十秒，同桌互补四十秒；只写关键词和原句。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【模块课件】M5-P23｜母版P124
【页码与模块】P124｜模块五·辨明伤害，把提醒留给后来人
【连续课堂剧本】
【承接上一页】教师不再重讲全文，把主动权交给学生检索。
【教师原话】“知识收纳｜三问与阅读方法 请先遮住回收区，从今天真正读过的诗句中找答案。”
【学生动作与等待】学生对照回收页，勾出已找到项，给遗漏项补一处原句；用时六十秒。
【可能回应与接话】如果只背术语，追问术语解释了哪句；如果知识过多，优先保留能回到全文结构和阅读方法的内容。
【可观察证据】一组由学生先检索、再核对的知识收纳。
【明确切页句】“知识已经归位，但诗还要以完整声音结束。”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【模块课件】M5-P24｜母版P125
【页码与模块】P125｜模块五·辨明伤害，把提醒留给后来人
【连续课堂剧本】
【承接上一页】知识收纳完成，教师把板书和分析暂时放下，让全诗以完整声音结束。
【教师原话】“这是最后一次完整朗读。不要表演结论，只让六章的声音和你现在的理解一起走到‘亦已焉哉’。”
【学生动作与等待】教师或全班连续朗读本页内容；本页结束只无声切到下一半，不作口头插入。全部读完后静默十五秒。
【可能回应与接话】出现漏读时教师只用手势从自然句首带回；有人急着解释时，教师以手势示意保存。没有停顿点也可写“尚未找到”。
【可观察证据】一次不中断的最终朗读，以及读法或理解相对初读的一处变化。
【明确切页句】教师不说话，直接无声切到下半首。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【模块课件】M5-P25｜母版P126
【页码与模块】P126｜模块五·辨明伤害，把提醒留给后来人
【连续课堂剧本】
【承接上一页】知识收纳完成，教师把板书和分析暂时放下，让全诗以完整声音结束。
【教师原话】“这是最后一次完整朗读。不要表演结论，只让六章的声音和你现在的理解一起走到‘亦已焉哉’。”
【学生动作与等待】教师或全班连续朗读本页内容；本页结束只无声切到下一半，不作口头插入。全部读完后静默十五秒。
【可能回应与接话】出现漏读时教师只用手势从自然句首带回；有人急着解释时，教师以手势示意保存。没有停顿点也可写“尚未找到”。
【可观察证据】一次不中断的最终朗读，以及读法或理解相对初读的一处变化。
【明确切页句】“声音停在这里。最后只写下你能证明的理解，以及你仍愿意保留的问题。”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【模块课件】M5-P26｜母版P127
【页码与模块】P127｜模块五·辨明伤害，把提醒留给后来人
【连续课堂剧本】
【承接上一页】全文最后一次朗读结束，教师让屏幕只留下结尾和两个空格。
【教师原话】“请完成两句：我现在最愿意用______理解她；我仍愿意保留的问题是______。不要求同一种声音，也不要求公开分享。”
【学生动作与等待】学生静默一分钟完成退出条；愿意者读出问题。教师收取或拍照保存，不现场给所有问题盖章。
【可能回应与接话】若无人分享，教师允许问题随学生离开；若答案仍是单一标签，只追问一处跨章证据。
【可观察证据】一个最终理解词、一处跨章依据和一个保留问题。
【明确切页句】“我们没有把她的多年经历缩成口号。请带着你能证明的理解和仍愿意追问的地方离开。”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故事讲完，判断还要说清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241280" cy="2194560"/>
          </a:xfrm>
          <a:prstGeom prst="roundRect">
            <a:avLst>
              <a:gd name="adj" fmla="val 2500"/>
            </a:avLst>
          </a:prstGeom>
          <a:solidFill>
            <a:srgbClr val="332B25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59152"/>
            <a:ext cx="9601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谁应为伤害负责？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她说出“亦已焉哉”以后，还会面对哪些阻力？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先说谁造成伤害，再说她还会遇到什么；责任不能推给她。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回到问题三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664208"/>
          </a:xfrm>
          <a:prstGeom prst="roundRect">
            <a:avLst>
              <a:gd name="adj" fmla="val 3297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谁伤害了她？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337560" y="165506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诗把哪些行为清楚地写在男子身上？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3337560" y="2560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读一读最初那句话，再用六章诗句回答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68680" y="3538728"/>
            <a:ext cx="10469880" cy="1664208"/>
          </a:xfrm>
          <a:prstGeom prst="roundRect">
            <a:avLst>
              <a:gd name="adj" fmla="val 3297"/>
            </a:avLst>
          </a:prstGeom>
          <a:solidFill>
            <a:srgbClr val="3A322B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721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停止以后呢？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337560" y="368503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她说出“亦已焉哉”，还会面对哪些现实阻力？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3337560" y="4590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读一读最初那句话，再用六章诗句回答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先把责任说清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从四句中选择你认为最有力的一句。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68680" y="184708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03911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6190488" y="184708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203911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868680" y="2871216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0632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6190488" y="2871216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30632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1051560" y="4187952"/>
            <a:ext cx="10104120" cy="1417320"/>
          </a:xfrm>
          <a:prstGeom prst="roundRect">
            <a:avLst>
              <a:gd name="adj" fmla="val 3871"/>
            </a:avLst>
          </a:prstGeom>
          <a:solidFill>
            <a:srgbClr val="FCF8F0"/>
          </a:solidFill>
          <a:ln w="15240">
            <a:solidFill>
              <a:srgbClr val="A441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4517136"/>
            <a:ext cx="9189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我认为他应为________负责。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诗中的依据是________________。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让判断经得住追问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你说的是诗中明写的行为，还是替人物补出的动机？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455164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5100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另一组只追问这一件事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68680" y="3346704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744468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7993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465576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发言组必须回到原句回答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868680" y="4636008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5033772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50886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754880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可以当场改掉一个说得太满的词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诗把这些行为写得很清楚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诗没有写出他的全部心理，却没有模糊他的行为。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3A322B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贰其行：失信　　二三其德：反复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至于暴矣：粗暴　　不思其反：违背誓言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她要停下这段关系，会面对什么？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四组各守一个问题：先找诗，再用自己的话说。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294001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34886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最初，哪些事情还没有展开？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" y="3024378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260979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315843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143250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为这段关系，她已经交付了什么？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68680" y="3991356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4227957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4282821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110228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她受伤时，身边有没有人真正接住她？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68680" y="4958334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" y="5194935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5249799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077206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在她所处的时代，女子离开一段婚姻容易吗？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哪些东西绊住了她的脚步？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每组先读诗，再解释；听众选择一种方式回应。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455164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5100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补一处诗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68680" y="3346704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744468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7993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465576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质疑一句说得太满的话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868680" y="4636008"/>
            <a:ext cx="10469880" cy="1124712"/>
          </a:xfrm>
          <a:prstGeom prst="roundRect">
            <a:avLst>
              <a:gd name="adj" fmla="val 487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5033772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50886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754880"/>
            <a:ext cx="95554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把这个回答和另一个组连接起来</a:t>
            </a:r>
            <a:endParaRPr lang="en-US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把她面对的阻力写在诗句旁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用四组刚才真正说出的原话现场补全；每一处都添上原诗。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294001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34886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最初，哪些事情尚未展开：____________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" y="3024378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260979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315843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143250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她已经交付了什么：__________________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68680" y="3991356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4227957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4282821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110228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受伤时，谁真正接住了她：____________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68680" y="4958334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" y="5194935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5249799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077206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时代给女子留下多少选择：____________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理解阻力，不替伤害开脱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谁造成伤害，她还会遇到什么，要分开说。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3A322B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迁嫁、劳作、孤立与时代处境，会使她作出停止判断后面对更多阻力；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却不能制造、减轻或合理化他的失信与粗暴。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回到最初的热烈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读到结局以后，哪些细节值得多看一眼？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哪些判断仍不能说得太满？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EDE3D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听别人发言时，记下一处你想追问的证据。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回头看，也不能把话说满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81328"/>
            <a:ext cx="10469880" cy="1353312"/>
          </a:xfrm>
          <a:prstGeom prst="roundRect">
            <a:avLst>
              <a:gd name="adj" fmla="val 4054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1993392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4825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00200"/>
            <a:ext cx="9555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诗明写：贸丝只是表面来意；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‘蚩蚩’是初见的样子；她劝他‘无怒’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868680" y="2999232"/>
            <a:ext cx="10469880" cy="1353312"/>
          </a:xfrm>
          <a:prstGeom prst="roundRect">
            <a:avLst>
              <a:gd name="adj" fmla="val 4054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1296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661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18104"/>
            <a:ext cx="9555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可以想到：初见形象与婚后行动反差明显；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‘贸丝 / 谋’、‘无怒’值得重看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868680" y="4517136"/>
            <a:ext cx="10469880" cy="1353312"/>
          </a:xfrm>
          <a:prstGeom prst="roundRect">
            <a:avLst>
              <a:gd name="adj" fmla="val 4054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29200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840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6008"/>
            <a:ext cx="9555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不能断言：他有意伪装整个人格；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‘无怒’不等于婚前施暴；也不能说她早已看清后来</a:t>
            </a:r>
            <a:endParaRPr lang="en-US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如果把《氓》说给后来人听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一段值得珍惜的婚姻，最不能缺少什么？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EDE3D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先说你的判断，再说诗中哪一处让你这样想。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只谈作品或第三人称案例。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把一句提醒留给后来人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68680" y="1335024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可以选一个句首，也可以写自己的句子。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294001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34886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176272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不要只听一个人怎样许诺，还要看________。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8680" y="3024378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" y="3260979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315843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143250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两个人共同生活，不能总让一个人________。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68680" y="3991356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4227957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4282821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110228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当伤害发生时，________。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68680" y="4958334"/>
            <a:ext cx="10469880" cy="802386"/>
          </a:xfrm>
          <a:prstGeom prst="roundRect">
            <a:avLst>
              <a:gd name="adj" fmla="val 6838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" y="5194935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5249799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077206"/>
            <a:ext cx="955548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一段值得珍惜的婚姻，应当________。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让彼此的句子被听见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63040"/>
            <a:ext cx="10469880" cy="1463040"/>
          </a:xfrm>
          <a:prstGeom prst="roundRect">
            <a:avLst>
              <a:gd name="adj" fmla="val 375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810512"/>
            <a:ext cx="9738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同桌互读：哪一个词最有力量？哪一处还可以更具体？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960120" y="3273552"/>
            <a:ext cx="10287000" cy="2011680"/>
          </a:xfrm>
          <a:prstGeom prst="roundRect">
            <a:avLst>
              <a:gd name="adj" fmla="val 2727"/>
            </a:avLst>
          </a:prstGeom>
          <a:solidFill>
            <a:srgbClr val="EDE3D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685032"/>
            <a:ext cx="9372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修改以后，各桌选一句最想让全班听见的话。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诗没有替后来人写完答案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4160520"/>
          </a:xfrm>
          <a:prstGeom prst="roundRect">
            <a:avLst>
              <a:gd name="adj" fmla="val 1319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874520"/>
            <a:ext cx="9464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怎样看一个人：________________________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怎样共同生活：________________________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受伤时怎样得到支持：__________________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想要停止伤害时，应当守住：____________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43000" y="580644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用班级刚才真正写出的句子现场补全；有证据的分歧可以并存。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知识检索｜故事与人物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241280" cy="3383280"/>
          </a:xfrm>
          <a:prstGeom prst="roundRect">
            <a:avLst>
              <a:gd name="adj" fmla="val 1622"/>
            </a:avLst>
          </a:prstGeom>
          <a:solidFill>
            <a:srgbClr val="FCF8F0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514600"/>
            <a:ext cx="9235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不看答案：用六个动作写出叙事结构，再写人物认识怎样变化。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先检索，再翻页核对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知识收纳｜故事与人物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2135124"/>
          </a:xfrm>
          <a:prstGeom prst="roundRect">
            <a:avLst>
              <a:gd name="adj" fmla="val 2570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411730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46659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相识议婚—等待迁嫁—婚后食贫—长期劳作—失信孤立—停止判断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68680" y="3808476"/>
            <a:ext cx="10469880" cy="2135124"/>
          </a:xfrm>
          <a:prstGeom prst="roundRect">
            <a:avLst>
              <a:gd name="adj" fmla="val 257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4711446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476631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927348"/>
            <a:ext cx="955548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期待—投入—承受—自悼—核验违誓—形成停止判断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知识检索｜字词与《诗经》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241280" cy="3383280"/>
          </a:xfrm>
          <a:prstGeom prst="roundRect">
            <a:avLst>
              <a:gd name="adj" fmla="val 1622"/>
            </a:avLst>
          </a:prstGeom>
          <a:solidFill>
            <a:srgbClr val="FCF8F0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514600"/>
            <a:ext cx="9235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找出本课最容易误读、误解的八个字词，并说明《氓》属于哪一类诗。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先检索，再翻页核对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知识收纳｜字词与《诗经》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2135124"/>
          </a:xfrm>
          <a:prstGeom prst="roundRect">
            <a:avLst>
              <a:gd name="adj" fmla="val 2570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411730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46659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《诗经》305篇；风、雅、颂；《氓》属于《卫风》；以四言为主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68680" y="3808476"/>
            <a:ext cx="10469880" cy="2135124"/>
          </a:xfrm>
          <a:prstGeom prst="roundRect">
            <a:avLst>
              <a:gd name="adj" fmla="val 257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4711446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476631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927348"/>
            <a:ext cx="955548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愆 qiān｜将 qiāng｜筮 shì｜说 tuō｜徂 cú｜汤汤 shāng shāng｜渐 jiān｜咥 xì｜隰 xí｜泮 pàn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知识检索｜意象与写法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241280" cy="3383280"/>
          </a:xfrm>
          <a:prstGeom prst="roundRect">
            <a:avLst>
              <a:gd name="adj" fmla="val 1622"/>
            </a:avLst>
          </a:prstGeom>
          <a:solidFill>
            <a:srgbClr val="FCF8F0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514600"/>
            <a:ext cx="9235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各找一组原句说明：桑叶、淇水、对照、反复怎样参与理解。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先检索，再翻页核对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知识收纳｜意象与写法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68552"/>
          </a:xfrm>
          <a:prstGeom prst="roundRect">
            <a:avLst>
              <a:gd name="adj" fmla="val 4009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28444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833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桑叶｜沃若/黄而陨：比兴、状态对照，意义由语境筛选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868680" y="3041904"/>
            <a:ext cx="10469880" cy="1368552"/>
          </a:xfrm>
          <a:prstGeom prst="roundRect">
            <a:avLst>
              <a:gd name="adj" fmla="val 400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61588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6164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60776"/>
            <a:ext cx="95554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淇水｜三处语言连接空间与回望，方向不强行补写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868680" y="4575048"/>
            <a:ext cx="10469880" cy="1368552"/>
          </a:xfrm>
          <a:prstGeom prst="roundRect">
            <a:avLst>
              <a:gd name="adj" fmla="val 4009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94732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1495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93920"/>
            <a:ext cx="9555480" cy="113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赋、比、兴｜对照、反复、叠词、呼告｜时间压缩、时间回环、第一人称回望</a:t>
            </a:r>
            <a:endParaRPr lang="en-US" sz="2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DE3D5"/>
          </a:solidFill>
          <a:ln w="12700">
            <a:solidFill>
              <a:srgbClr val="EDE3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知识检索｜三问与阅读方法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241280" cy="3383280"/>
          </a:xfrm>
          <a:prstGeom prst="roundRect">
            <a:avLst>
              <a:gd name="adj" fmla="val 1622"/>
            </a:avLst>
          </a:prstGeom>
          <a:solidFill>
            <a:srgbClr val="FCF8F0"/>
          </a:solidFill>
          <a:ln w="15240">
            <a:solidFill>
              <a:srgbClr val="2821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514600"/>
            <a:ext cx="9235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用一条证据回答每问，再写出可迁移到其他叙事诗的阅读顺序。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97280" y="54406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先检索，再翻页核对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知识收纳｜三问与阅读方法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2135124"/>
          </a:xfrm>
          <a:prstGeom prst="roundRect">
            <a:avLst>
              <a:gd name="adj" fmla="val 2570"/>
            </a:avLst>
          </a:prstGeom>
          <a:solidFill>
            <a:srgbClr val="EDE3D5"/>
          </a:solidFill>
          <a:ln w="15240">
            <a:solidFill>
              <a:srgbClr val="EDE3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411730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46659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她怎样走到结尾｜她的日子苦在哪里｜谁造成伤害、她还要面对什么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68680" y="3808476"/>
            <a:ext cx="10469880" cy="2135124"/>
          </a:xfrm>
          <a:prstGeom prst="roundRect">
            <a:avLst>
              <a:gd name="adj" fmla="val 257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4711446"/>
            <a:ext cx="329184" cy="329184"/>
          </a:xfrm>
          <a:prstGeom prst="ellipse">
            <a:avLst/>
          </a:prstGeom>
          <a:solidFill>
            <a:srgbClr val="28211B"/>
          </a:solidFill>
          <a:ln w="12700">
            <a:solidFill>
              <a:srgbClr val="28211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476631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927348"/>
            <a:ext cx="9555480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准确释义 → 追踪行动 → 听见声音 → 观察写法 → 用证据判断 → 联系真实生活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最后一次完整朗读｜第一至第三章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01312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82F28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7344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52816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最后一次完整朗读｜第四至第六章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01312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82F28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7344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52816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把理解和问题一起带走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10241280" cy="3383280"/>
          </a:xfrm>
          <a:prstGeom prst="roundRect">
            <a:avLst>
              <a:gd name="adj" fmla="val 1622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377440"/>
            <a:ext cx="9235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我现在最愿意用________理解她，因为________。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我仍愿意保留的问题是________________。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97280" y="539496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E1C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《氓》V5模块五：辨明伤害，把提醒留给后来人</dc:title>
  <dc:subject>《氓》V5全文逐句教学母版</dc:subject>
  <dc:creator>语文备课系统</dc:creator>
  <cp:lastModifiedBy>语文备课系统</cp:lastModifiedBy>
  <cp:revision>1</cp:revision>
  <dcterms:created xsi:type="dcterms:W3CDTF">2026-08-11T13:56:36Z</dcterms:created>
  <dcterms:modified xsi:type="dcterms:W3CDTF">2026-08-11T13:56:36Z</dcterms:modified>
</cp:coreProperties>
</file>